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3"/>
    <p:sldId id="257" r:id="rId2"/>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364"/>
  </p:normalViewPr>
  <p:slideViewPr>
    <p:cSldViewPr snapToGrid="0">
      <p:cViewPr varScale="1">
        <p:scale>
          <a:sx n="117" d="100"/>
          <a:sy n="117" d="100"/>
        </p:scale>
        <p:origin x="36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dPt>
            <c:idx val="0"/>
            <c:spPr>
              <a:solidFill>
                <a:srgbClr val="A3AAB8"/>
              </a:solidFill>
            </c:spPr>
          </c:dPt>
          <c:dPt>
            <c:idx val="1"/>
            <c:spPr>
              <a:solidFill>
                <a:srgbClr val="D29B08"/>
              </a:solidFill>
            </c:spPr>
          </c:dPt>
          <c:dPt>
            <c:idx val="2"/>
            <c:spPr>
              <a:solidFill>
                <a:srgbClr val="5C6FA6"/>
              </a:solidFill>
            </c:spPr>
          </c:dPt>
          <c:cat>
            <c:strRef>
              <c:f>Sheet1!$A$2:$A$4</c:f>
              <c:strCache>
                <c:ptCount val="3"/>
                <c:pt idx="0">
                  <c:v>VADER</c:v>
                </c:pt>
                <c:pt idx="1">
                  <c:v>GPT-4o-mini</c:v>
                </c:pt>
                <c:pt idx="2">
                  <c:v>GPT-4o</c:v>
                </c:pt>
              </c:strCache>
            </c:strRef>
          </c:cat>
          <c:val>
            <c:numRef>
              <c:f>Sheet1!$B$2:$B$4</c:f>
              <c:numCache>
                <c:formatCode>General</c:formatCode>
                <c:ptCount val="3"/>
                <c:pt idx="0">
                  <c:v>0.36</c:v>
                </c:pt>
                <c:pt idx="1">
                  <c:v>0.631</c:v>
                </c:pt>
                <c:pt idx="2">
                  <c:v>0.623</c:v>
                </c:pt>
              </c:numCache>
            </c:numRef>
          </c:val>
        </c:ser>
        <c:dLbls>
          <c:numFmt formatCode="0.000" sourceLinked="0"/>
          <c:txPr>
            <a:bodyPr/>
            <a:lstStyle/>
            <a:p>
              <a:pPr>
                <a:defRPr sz="1400" b="1">
                  <a:solidFill>
                    <a:srgbClr val="1E293B"/>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5DAE5"/>
            </a:solidFill>
          </a:ln>
        </c:spPr>
        <c:txPr>
          <a:bodyPr/>
          <a:lstStyle/>
          <a:p>
            <a:pPr>
              <a:defRPr sz="1200">
                <a:solidFill>
                  <a:srgbClr val="1E293B"/>
                </a:solidFill>
                <a:latin typeface="Calibri"/>
              </a:defRPr>
            </a:pPr>
          </a:p>
        </c:txPr>
        <c:crossAx val="-2113994440"/>
        <c:crosses val="autoZero"/>
        <c:auto val="1"/>
        <c:lblAlgn val="ctr"/>
        <c:lblOffset val="100"/>
        <c:noMultiLvlLbl val="0"/>
      </c:catAx>
      <c:valAx>
        <c:axId val="-2113994440"/>
        <c:scaling>
          <c:max val="0.8"/>
          <c:min val="0.0"/>
        </c:scaling>
        <c:delete val="0"/>
        <c:axPos val="l"/>
        <c:majorGridlines>
          <c:spPr>
            <a:ln>
              <a:solidFill>
                <a:srgbClr val="D5DAE5"/>
              </a:solidFill>
            </a:ln>
          </c:spPr>
        </c:majorGridlines>
        <c:numFmt formatCode="0.0" sourceLinked="0"/>
        <c:majorTickMark val="out"/>
        <c:minorTickMark val="none"/>
        <c:tickLblPos val="nextTo"/>
        <c:spPr>
          <a:ln>
            <a:noFill/>
          </a:ln>
        </c:spPr>
        <c:txPr>
          <a:bodyPr/>
          <a:lstStyle/>
          <a:p>
            <a:pPr>
              <a:defRPr sz="1200">
                <a:solidFill>
                  <a:srgbClr val="5B6475"/>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dPt>
            <c:idx val="0"/>
            <c:spPr>
              <a:solidFill>
                <a:srgbClr val="5C6FA6"/>
              </a:solidFill>
            </c:spPr>
          </c:dPt>
          <c:dPt>
            <c:idx val="1"/>
            <c:spPr>
              <a:solidFill>
                <a:srgbClr val="A3AAB8"/>
              </a:solidFill>
            </c:spPr>
          </c:dPt>
          <c:dPt>
            <c:idx val="2"/>
            <c:spPr>
              <a:solidFill>
                <a:srgbClr val="A3AAB8"/>
              </a:solidFill>
            </c:spPr>
          </c:dPt>
          <c:dPt>
            <c:idx val="3"/>
            <c:spPr>
              <a:solidFill>
                <a:srgbClr val="D29B08"/>
              </a:solidFill>
            </c:spPr>
          </c:dPt>
          <c:cat>
            <c:strRef>
              <c:f>Sheet1!$A$2:$A$5</c:f>
              <c:strCache>
                <c:ptCount val="4"/>
                <c:pt idx="0">
                  <c:v>Keyword rules</c:v>
                </c:pt>
                <c:pt idx="1">
                  <c:v>GPT-4o-mini
all posts</c:v>
                </c:pt>
                <c:pt idx="2">
                  <c:v>GPT-4o
all posts</c:v>
                </c:pt>
                <c:pt idx="3">
                  <c:v>Hybrid</c:v>
                </c:pt>
              </c:strCache>
            </c:strRef>
          </c:cat>
          <c:val>
            <c:numRef>
              <c:f>Sheet1!$B$2:$B$5</c:f>
              <c:numCache>
                <c:formatCode>General</c:formatCode>
                <c:ptCount val="4"/>
                <c:pt idx="0">
                  <c:v>0.639</c:v>
                </c:pt>
                <c:pt idx="1">
                  <c:v>0.504</c:v>
                </c:pt>
                <c:pt idx="2">
                  <c:v>0.6</c:v>
                </c:pt>
                <c:pt idx="3">
                  <c:v>0.68</c:v>
                </c:pt>
              </c:numCache>
            </c:numRef>
          </c:val>
        </c:ser>
        <c:dLbls>
          <c:numFmt formatCode="0.000" sourceLinked="0"/>
          <c:txPr>
            <a:bodyPr/>
            <a:lstStyle/>
            <a:p>
              <a:pPr>
                <a:defRPr sz="1400" b="1">
                  <a:solidFill>
                    <a:srgbClr val="1E293B"/>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5DAE5"/>
            </a:solidFill>
          </a:ln>
        </c:spPr>
        <c:txPr>
          <a:bodyPr/>
          <a:lstStyle/>
          <a:p>
            <a:pPr>
              <a:defRPr sz="1200">
                <a:solidFill>
                  <a:srgbClr val="1E293B"/>
                </a:solidFill>
                <a:latin typeface="Calibri"/>
              </a:defRPr>
            </a:pPr>
          </a:p>
        </c:txPr>
        <c:crossAx val="-2113994440"/>
        <c:crosses val="autoZero"/>
        <c:auto val="1"/>
        <c:lblAlgn val="ctr"/>
        <c:lblOffset val="100"/>
        <c:noMultiLvlLbl val="0"/>
      </c:catAx>
      <c:valAx>
        <c:axId val="-2113994440"/>
        <c:scaling>
          <c:max val="0.8"/>
          <c:min val="0.0"/>
        </c:scaling>
        <c:delete val="0"/>
        <c:axPos val="l"/>
        <c:majorGridlines>
          <c:spPr>
            <a:ln>
              <a:solidFill>
                <a:srgbClr val="D5DAE5"/>
              </a:solidFill>
            </a:ln>
          </c:spPr>
        </c:majorGridlines>
        <c:numFmt formatCode="0.0" sourceLinked="0"/>
        <c:majorTickMark val="out"/>
        <c:minorTickMark val="none"/>
        <c:tickLblPos val="nextTo"/>
        <c:spPr>
          <a:ln>
            <a:noFill/>
          </a:ln>
        </c:spPr>
        <c:txPr>
          <a:bodyPr/>
          <a:lstStyle/>
          <a:p>
            <a:pPr>
              <a:defRPr sz="1200">
                <a:solidFill>
                  <a:srgbClr val="5B6475"/>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Representative (n = 295)</c:v>
                </c:pt>
              </c:strCache>
            </c:strRef>
          </c:tx>
          <c:spPr>
            <a:solidFill>
              <a:srgbClr val="A3AAB8"/>
            </a:solidFill>
          </c:spPr>
          <c:cat>
            <c:strRef>
              <c:f>Sheet1!$A$2:$A$4</c:f>
              <c:strCache>
                <c:ptCount val="3"/>
                <c:pt idx="0">
                  <c:v>Keyword rules</c:v>
                </c:pt>
                <c:pt idx="1">
                  <c:v>GPT-4o all posts</c:v>
                </c:pt>
                <c:pt idx="2">
                  <c:v>Hybrid</c:v>
                </c:pt>
              </c:strCache>
            </c:strRef>
          </c:cat>
          <c:val>
            <c:numRef>
              <c:f>Sheet1!$B$2:$B$4</c:f>
              <c:numCache>
                <c:formatCode>General</c:formatCode>
                <c:ptCount val="3"/>
                <c:pt idx="0">
                  <c:v>0.639</c:v>
                </c:pt>
                <c:pt idx="1">
                  <c:v>0.6</c:v>
                </c:pt>
                <c:pt idx="2">
                  <c:v>0.68</c:v>
                </c:pt>
              </c:numCache>
            </c:numRef>
          </c:val>
        </c:ser>
        <c:ser>
          <c:idx val="1"/>
          <c:order val="1"/>
          <c:tx>
            <c:strRef>
              <c:f>Sheet1!$C$1</c:f>
              <c:strCache>
                <c:ptCount val="1"/>
                <c:pt idx="0">
                  <c:v>Challenge, held out (n = 100)</c:v>
                </c:pt>
              </c:strCache>
            </c:strRef>
          </c:tx>
          <c:spPr>
            <a:solidFill>
              <a:srgbClr val="1C2E6E"/>
            </a:solidFill>
          </c:spPr>
          <c:cat>
            <c:strRef>
              <c:f>Sheet1!$A$2:$A$4</c:f>
              <c:strCache>
                <c:ptCount val="3"/>
                <c:pt idx="0">
                  <c:v>Keyword rules</c:v>
                </c:pt>
                <c:pt idx="1">
                  <c:v>GPT-4o all posts</c:v>
                </c:pt>
                <c:pt idx="2">
                  <c:v>Hybrid</c:v>
                </c:pt>
              </c:strCache>
            </c:strRef>
          </c:cat>
          <c:val>
            <c:numRef>
              <c:f>Sheet1!$C$2:$C$4</c:f>
              <c:numCache>
                <c:formatCode>General</c:formatCode>
                <c:ptCount val="3"/>
                <c:pt idx="0">
                  <c:v>0.499</c:v>
                </c:pt>
                <c:pt idx="1">
                  <c:v>0.596</c:v>
                </c:pt>
                <c:pt idx="2">
                  <c:v>0.509</c:v>
                </c:pt>
              </c:numCache>
            </c:numRef>
          </c:val>
        </c:ser>
        <c:dLbls>
          <c:numFmt formatCode="0.000" sourceLinked="0"/>
          <c:txPr>
            <a:bodyPr/>
            <a:lstStyle/>
            <a:p>
              <a:pPr>
                <a:defRPr sz="1100">
                  <a:solidFill>
                    <a:srgbClr val="1E293B"/>
                  </a:solidFill>
                  <a:latin typeface="Calibri"/>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5DAE5"/>
            </a:solidFill>
          </a:ln>
        </c:spPr>
        <c:txPr>
          <a:bodyPr/>
          <a:lstStyle/>
          <a:p>
            <a:pPr>
              <a:defRPr sz="1200">
                <a:solidFill>
                  <a:srgbClr val="1E293B"/>
                </a:solidFill>
                <a:latin typeface="Calibri"/>
              </a:defRPr>
            </a:pPr>
          </a:p>
        </c:txPr>
        <c:crossAx val="-2113994440"/>
        <c:crosses val="autoZero"/>
        <c:auto val="1"/>
        <c:lblAlgn val="ctr"/>
        <c:lblOffset val="100"/>
        <c:noMultiLvlLbl val="0"/>
      </c:catAx>
      <c:valAx>
        <c:axId val="-2113994440"/>
        <c:scaling>
          <c:max val="0.8"/>
          <c:min val="0.0"/>
        </c:scaling>
        <c:delete/>
        <c:axPos val="l"/>
        <c:majorTickMark val="out"/>
        <c:minorTickMark val="none"/>
        <c:tickLblPos val="nextTo"/>
        <c:crossAx val="-2068027336"/>
        <c:crosses val="autoZero"/>
      </c:valAx>
    </c:plotArea>
    <c:legend>
      <c:legendPos val="t"/>
      <c:overlay val="0"/>
      <c:txPr>
        <a:bodyPr/>
        <a:lstStyle/>
        <a:p>
          <a:pPr>
            <a:defRPr sz="1200">
              <a:solidFill>
                <a:srgbClr val="1E293B"/>
              </a:solidFill>
              <a:latin typeface="Calibri"/>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dPt>
            <c:idx val="0"/>
            <c:spPr>
              <a:solidFill>
                <a:srgbClr val="5C6FA6"/>
              </a:solidFill>
            </c:spPr>
          </c:dPt>
          <c:dPt>
            <c:idx val="1"/>
            <c:spPr>
              <a:solidFill>
                <a:srgbClr val="A3AAB8"/>
              </a:solidFill>
            </c:spPr>
          </c:dPt>
          <c:dPt>
            <c:idx val="2"/>
            <c:spPr>
              <a:solidFill>
                <a:srgbClr val="A3AAB8"/>
              </a:solidFill>
            </c:spPr>
          </c:dPt>
          <c:cat>
            <c:strRef>
              <c:f>Sheet1!$A$2:$A$4</c:f>
              <c:strCache>
                <c:ptCount val="3"/>
                <c:pt idx="0">
                  <c:v>Keyword rules</c:v>
                </c:pt>
                <c:pt idx="1">
                  <c:v>GPT-4o</c:v>
                </c:pt>
                <c:pt idx="2">
                  <c:v>GPT-4o-mini</c:v>
                </c:pt>
              </c:strCache>
            </c:strRef>
          </c:cat>
          <c:val>
            <c:numRef>
              <c:f>Sheet1!$B$2:$B$4</c:f>
              <c:numCache>
                <c:formatCode>General</c:formatCode>
                <c:ptCount val="3"/>
                <c:pt idx="0">
                  <c:v>0.81</c:v>
                </c:pt>
                <c:pt idx="1">
                  <c:v>0.25</c:v>
                </c:pt>
                <c:pt idx="2">
                  <c:v>0.06</c:v>
                </c:pt>
              </c:numCache>
            </c:numRef>
          </c:val>
        </c:ser>
        <c:dLbls>
          <c:numFmt formatCode="0%" sourceLinked="0"/>
          <c:txPr>
            <a:bodyPr/>
            <a:lstStyle/>
            <a:p>
              <a:pPr>
                <a:defRPr sz="1600" b="1">
                  <a:solidFill>
                    <a:srgbClr val="1E293B"/>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5DAE5"/>
            </a:solidFill>
          </a:ln>
        </c:spPr>
        <c:txPr>
          <a:bodyPr/>
          <a:lstStyle/>
          <a:p>
            <a:pPr>
              <a:defRPr sz="1400">
                <a:solidFill>
                  <a:srgbClr val="1E293B"/>
                </a:solidFill>
                <a:latin typeface="Calibri"/>
              </a:defRPr>
            </a:pPr>
          </a:p>
        </c:txPr>
        <c:crossAx val="-2113994440"/>
        <c:crosses val="autoZero"/>
        <c:auto val="1"/>
        <c:lblAlgn val="ctr"/>
        <c:lblOffset val="100"/>
        <c:noMultiLvlLbl val="0"/>
      </c:catAx>
      <c:valAx>
        <c:axId val="-2113994440"/>
        <c:scaling>
          <c:max val="1.0"/>
          <c:min val="0.0"/>
        </c:scaling>
        <c:delete/>
        <c:axPos val="b"/>
        <c:numFmt formatCode="0%" sourceLinked="0"/>
        <c:majorTickMark val="out"/>
        <c:minorTickMark val="none"/>
        <c:tickLblPos val="nextTo"/>
        <c:spPr>
          <a:ln>
            <a:noFill/>
          </a:ln>
        </c:spPr>
        <c:txPr>
          <a:bodyPr/>
          <a:lstStyle/>
          <a:p>
            <a:pPr>
              <a:defRPr sz="1400">
                <a:solidFill>
                  <a:srgbClr val="5B6475"/>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Keyword rules</c:v>
                </c:pt>
              </c:strCache>
            </c:strRef>
          </c:tx>
          <c:spPr>
            <a:solidFill>
              <a:srgbClr val="A3AAB8"/>
            </a:solidFill>
          </c:spPr>
          <c:cat>
            <c:strRef>
              <c:f>Sheet1!$A$2:$A$7</c:f>
              <c:strCache>
                <c:ptCount val="6"/>
                <c:pt idx="0">
                  <c:v>General
Discussion</c:v>
                </c:pt>
                <c:pt idx="1">
                  <c:v>Network
Quality</c:v>
                </c:pt>
                <c:pt idx="2">
                  <c:v>Devices</c:v>
                </c:pt>
                <c:pt idx="3">
                  <c:v>Mobile
Plans</c:v>
                </c:pt>
                <c:pt idx="4">
                  <c:v>Pricing &amp;
Promotions</c:v>
                </c:pt>
                <c:pt idx="5">
                  <c:v>Customer
Service</c:v>
                </c:pt>
              </c:strCache>
            </c:strRef>
          </c:cat>
          <c:val>
            <c:numRef>
              <c:f>Sheet1!$B$2:$B$7</c:f>
              <c:numCache>
                <c:formatCode>General</c:formatCode>
                <c:ptCount val="6"/>
                <c:pt idx="0">
                  <c:v>8786</c:v>
                </c:pt>
                <c:pt idx="1">
                  <c:v>3607</c:v>
                </c:pt>
                <c:pt idx="2">
                  <c:v>1574</c:v>
                </c:pt>
                <c:pt idx="3">
                  <c:v>1348</c:v>
                </c:pt>
                <c:pt idx="4">
                  <c:v>1028</c:v>
                </c:pt>
                <c:pt idx="5">
                  <c:v>811</c:v>
                </c:pt>
              </c:numCache>
            </c:numRef>
          </c:val>
        </c:ser>
        <c:ser>
          <c:idx val="1"/>
          <c:order val="1"/>
          <c:tx>
            <c:strRef>
              <c:f>Sheet1!$C$1</c:f>
              <c:strCache>
                <c:ptCount val="1"/>
                <c:pt idx="0">
                  <c:v>Rules + GPT-4o hybrid</c:v>
                </c:pt>
              </c:strCache>
            </c:strRef>
          </c:tx>
          <c:spPr>
            <a:solidFill>
              <a:srgbClr val="D29B08"/>
            </a:solidFill>
          </c:spPr>
          <c:cat>
            <c:strRef>
              <c:f>Sheet1!$A$2:$A$7</c:f>
              <c:strCache>
                <c:ptCount val="6"/>
                <c:pt idx="0">
                  <c:v>General
Discussion</c:v>
                </c:pt>
                <c:pt idx="1">
                  <c:v>Network
Quality</c:v>
                </c:pt>
                <c:pt idx="2">
                  <c:v>Devices</c:v>
                </c:pt>
                <c:pt idx="3">
                  <c:v>Mobile
Plans</c:v>
                </c:pt>
                <c:pt idx="4">
                  <c:v>Pricing &amp;
Promotions</c:v>
                </c:pt>
                <c:pt idx="5">
                  <c:v>Customer
Service</c:v>
                </c:pt>
              </c:strCache>
            </c:strRef>
          </c:cat>
          <c:val>
            <c:numRef>
              <c:f>Sheet1!$C$2:$C$7</c:f>
              <c:numCache>
                <c:formatCode>General</c:formatCode>
                <c:ptCount val="6"/>
                <c:pt idx="0">
                  <c:v>6180</c:v>
                </c:pt>
                <c:pt idx="1">
                  <c:v>5687</c:v>
                </c:pt>
                <c:pt idx="2">
                  <c:v>1610</c:v>
                </c:pt>
                <c:pt idx="3">
                  <c:v>1524</c:v>
                </c:pt>
                <c:pt idx="4">
                  <c:v>1300</c:v>
                </c:pt>
                <c:pt idx="5">
                  <c:v>1016</c:v>
                </c:pt>
              </c:numCache>
            </c:numRef>
          </c:val>
        </c:ser>
        <c:dLbls>
          <c:numFmt formatCode="#,##0" sourceLinked="0"/>
          <c:txPr>
            <a:bodyPr/>
            <a:lstStyle/>
            <a:p>
              <a:pPr>
                <a:defRPr sz="1100">
                  <a:solidFill>
                    <a:srgbClr val="1E293B"/>
                  </a:solidFill>
                  <a:latin typeface="Calibri"/>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5DAE5"/>
            </a:solidFill>
          </a:ln>
        </c:spPr>
        <c:txPr>
          <a:bodyPr/>
          <a:lstStyle/>
          <a:p>
            <a:pPr>
              <a:defRPr sz="1200">
                <a:solidFill>
                  <a:srgbClr val="1E293B"/>
                </a:solidFill>
                <a:latin typeface="Calibri"/>
              </a:defRPr>
            </a:pPr>
          </a:p>
        </c:txPr>
        <c:crossAx val="-2113994440"/>
        <c:crosses val="autoZero"/>
        <c:auto val="1"/>
        <c:lblAlgn val="ctr"/>
        <c:lblOffset val="100"/>
        <c:noMultiLvlLbl val="0"/>
      </c:catAx>
      <c:valAx>
        <c:axId val="-2113994440"/>
        <c:scaling>
          <c:max val="10000.0"/>
          <c:min val="0.0"/>
        </c:scaling>
        <c:delete/>
        <c:axPos val="l"/>
        <c:majorTickMark val="out"/>
        <c:minorTickMark val="none"/>
        <c:tickLblPos val="nextTo"/>
        <c:crossAx val="-2068027336"/>
        <c:crosses val="autoZero"/>
      </c:valAx>
    </c:plotArea>
    <c:legend>
      <c:legendPos val="t"/>
      <c:overlay val="0"/>
      <c:txPr>
        <a:bodyPr/>
        <a:lstStyle/>
        <a:p>
          <a:pPr>
            <a:defRPr sz="1200">
              <a:solidFill>
                <a:srgbClr val="1E293B"/>
              </a:solidFill>
              <a:latin typeface="Calibri"/>
            </a:defRPr>
          </a:pPr>
        </a:p>
      </c:txPr>
    </c:legend>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VADER, clean corpus</c:v>
                </c:pt>
              </c:strCache>
            </c:strRef>
          </c:tx>
          <c:spPr>
            <a:solidFill>
              <a:srgbClr val="A3AAB8"/>
            </a:solidFill>
          </c:spPr>
          <c:cat>
            <c:strRef>
              <c:f>Sheet1!$A$2:$A$4</c:f>
              <c:strCache>
                <c:ptCount val="3"/>
                <c:pt idx="0">
                  <c:v>Happy</c:v>
                </c:pt>
                <c:pt idx="1">
                  <c:v>Not happy</c:v>
                </c:pt>
                <c:pt idx="2">
                  <c:v>Neutral</c:v>
                </c:pt>
              </c:strCache>
            </c:strRef>
          </c:cat>
          <c:val>
            <c:numRef>
              <c:f>Sheet1!$B$2:$B$4</c:f>
              <c:numCache>
                <c:formatCode>General</c:formatCode>
                <c:ptCount val="3"/>
                <c:pt idx="0">
                  <c:v>40</c:v>
                </c:pt>
                <c:pt idx="1">
                  <c:v>32</c:v>
                </c:pt>
                <c:pt idx="2">
                  <c:v>28</c:v>
                </c:pt>
              </c:numCache>
            </c:numRef>
          </c:val>
        </c:ser>
        <c:ser>
          <c:idx val="1"/>
          <c:order val="1"/>
          <c:tx>
            <c:strRef>
              <c:f>Sheet1!$C$1</c:f>
              <c:strCache>
                <c:ptCount val="1"/>
                <c:pt idx="0">
                  <c:v>GPT-4o-mini, clean corpus</c:v>
                </c:pt>
              </c:strCache>
            </c:strRef>
          </c:tx>
          <c:spPr>
            <a:solidFill>
              <a:srgbClr val="D29B08"/>
            </a:solidFill>
          </c:spPr>
          <c:cat>
            <c:strRef>
              <c:f>Sheet1!$A$2:$A$4</c:f>
              <c:strCache>
                <c:ptCount val="3"/>
                <c:pt idx="0">
                  <c:v>Happy</c:v>
                </c:pt>
                <c:pt idx="1">
                  <c:v>Not happy</c:v>
                </c:pt>
                <c:pt idx="2">
                  <c:v>Neutral</c:v>
                </c:pt>
              </c:strCache>
            </c:strRef>
          </c:cat>
          <c:val>
            <c:numRef>
              <c:f>Sheet1!$C$2:$C$4</c:f>
              <c:numCache>
                <c:formatCode>General</c:formatCode>
                <c:ptCount val="3"/>
                <c:pt idx="0">
                  <c:v>18</c:v>
                </c:pt>
                <c:pt idx="1">
                  <c:v>55</c:v>
                </c:pt>
                <c:pt idx="2">
                  <c:v>27</c:v>
                </c:pt>
              </c:numCache>
            </c:numRef>
          </c:val>
        </c:ser>
        <c:ser>
          <c:idx val="2"/>
          <c:order val="2"/>
          <c:tx>
            <c:strRef>
              <c:f>Sheet1!$D$1</c:f>
              <c:strCache>
                <c:ptCount val="1"/>
                <c:pt idx="0">
                  <c:v>Human labels, gold set</c:v>
                </c:pt>
              </c:strCache>
            </c:strRef>
          </c:tx>
          <c:spPr>
            <a:solidFill>
              <a:srgbClr val="1C2E6E"/>
            </a:solidFill>
          </c:spPr>
          <c:cat>
            <c:strRef>
              <c:f>Sheet1!$A$2:$A$4</c:f>
              <c:strCache>
                <c:ptCount val="3"/>
                <c:pt idx="0">
                  <c:v>Happy</c:v>
                </c:pt>
                <c:pt idx="1">
                  <c:v>Not happy</c:v>
                </c:pt>
                <c:pt idx="2">
                  <c:v>Neutral</c:v>
                </c:pt>
              </c:strCache>
            </c:strRef>
          </c:cat>
          <c:val>
            <c:numRef>
              <c:f>Sheet1!$D$2:$D$4</c:f>
              <c:numCache>
                <c:formatCode>General</c:formatCode>
                <c:ptCount val="3"/>
                <c:pt idx="0">
                  <c:v>18</c:v>
                </c:pt>
                <c:pt idx="1">
                  <c:v>50</c:v>
                </c:pt>
                <c:pt idx="2">
                  <c:v>32</c:v>
                </c:pt>
              </c:numCache>
            </c:numRef>
          </c:val>
        </c:ser>
        <c:dLbls>
          <c:numFmt formatCode="0&quot;%&quot;" sourceLinked="0"/>
          <c:txPr>
            <a:bodyPr/>
            <a:lstStyle/>
            <a:p>
              <a:pPr>
                <a:defRPr sz="1100">
                  <a:solidFill>
                    <a:srgbClr val="1E293B"/>
                  </a:solidFill>
                  <a:latin typeface="Calibri"/>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5DAE5"/>
            </a:solidFill>
          </a:ln>
        </c:spPr>
        <c:txPr>
          <a:bodyPr/>
          <a:lstStyle/>
          <a:p>
            <a:pPr>
              <a:defRPr sz="1200">
                <a:solidFill>
                  <a:srgbClr val="1E293B"/>
                </a:solidFill>
                <a:latin typeface="Calibri"/>
              </a:defRPr>
            </a:pPr>
          </a:p>
        </c:txPr>
        <c:crossAx val="-2113994440"/>
        <c:crosses val="autoZero"/>
        <c:auto val="1"/>
        <c:lblAlgn val="ctr"/>
        <c:lblOffset val="100"/>
        <c:noMultiLvlLbl val="0"/>
      </c:catAx>
      <c:valAx>
        <c:axId val="-2113994440"/>
        <c:scaling>
          <c:max val="70.0"/>
          <c:min val="0.0"/>
        </c:scaling>
        <c:delete/>
        <c:axPos val="l"/>
        <c:majorTickMark val="out"/>
        <c:minorTickMark val="none"/>
        <c:tickLblPos val="nextTo"/>
        <c:crossAx val="-2068027336"/>
        <c:crosses val="autoZero"/>
      </c:valAx>
    </c:plotArea>
    <c:legend>
      <c:legendPos val="t"/>
      <c:overlay val="0"/>
      <c:txPr>
        <a:bodyPr/>
        <a:lstStyle/>
        <a:p>
          <a:pPr>
            <a:defRPr sz="1200">
              <a:solidFill>
                <a:srgbClr val="1E293B"/>
              </a:solidFill>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7B7642-B353-2B4B-B2B1-5200A78C1ED7}" type="datetimeFigureOut">
              <a:rPr lang="en-US" smtClean="0"/>
              <a:t>7/6/26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0DB06B-229C-144D-A3B7-AAAA8C5554AE}" type="slidenum">
              <a:rPr lang="en-US" smtClean="0"/>
              <a:t>‹#›</a:t>
            </a:fld>
            <a:endParaRPr lang="en-US"/>
          </a:p>
        </p:txBody>
      </p:sp>
    </p:spTree>
    <p:extLst>
      <p:ext uri="{BB962C8B-B14F-4D97-AF65-F5344CB8AC3E}">
        <p14:creationId xmlns:p14="http://schemas.microsoft.com/office/powerpoint/2010/main" val="405800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Professor. Today I'll walk you through my capstone from the start: the problem, the data and pipeline, how I evaluated the models, what the data shows, and what I'd recommend.</a:t>
            </a:r>
          </a:p>
          <a:p/>
          <a:p>
            <a:r>
              <a:t>One-sentence summary: I built a pipeline that turns Reddit and HardwareZone posts about Singapore telcos into routed issue queues. My evaluation shows an LLM should label sentiment; for issues, keyword rules plus a targeted GPT-4o pass win on typical posts but not on hard 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I've split the talk into five parts. Most of the time goes to evaluation, because that's where the project's main finding is. I'll show the live dashboard in part D, and I've kept backup slides with the detailed tables and answers to questions I expect.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A: why this problem matters and the four research questions that shape the rest of the talk.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Singapore customers talk about plans, coverage, roaming and porting on Reddit and HardwareZone every day. That's unsolicited feedback an operator doesn't have to pay for, but it's messy: Singlish, sarcasm, quoted replies, several brands in one post.</a:t>
            </a:r>
          </a:p>
          <a:p/>
          <a:p>
            <a:r>
              <a:t>I framed the goal as an early-warning screen. It tells a team what to look at this week. It is not a satisfaction score or NPS, and I'm careful about that throughout. These four research questions structure the evaluation and findings.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B: the data sources, the six pipeline stages, and two data problems I had to solve.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system. Scrapers pull Reddit through its public JSON interface and HardwareZone threads from its XenForo forums. Preprocessing maps both into one schema. The telco labeler detects brands and scores sentiment with VADER. Issue extraction applies ten keyword-rule labels, then GPT-4o on the posts the rules couldn't place. The evaluation script scores every method against blind human labels, and the dashboard generator writes a static HTML report.</a:t>
            </a:r>
          </a:p>
          <a:p/>
          <a:p>
            <a:r>
              <a:t>Each stage writes a CSV to data/processed, so I can trace any number in the report back to a file.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scraped corpus has 15,504 rows, but only 2,686 unique posts: successive keyword rounds collected the same posts again, a median of four times. Then 47 of 152 threads turned out to be off-topic. The biggest was an insurance lawsuit thread with 98 posts that matched a keyword by accident.</a:t>
            </a:r>
          </a:p>
          <a:p/>
          <a:p>
            <a:r>
              <a:t>So I built a clean corpus: one row per post, and a thread is kept only if at least 20% of its posts name a telco or its title is about one. That leaves 1,706 posts in 105 threads. Every number from here on is on that corpus, and I show shares both per post and with every thread weighted equally.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problem that looks trivial but wasn't: Eight is a telco brand and an ordinary word. A naive match turned 'I took eight buses' into an Eight Telecom mention. So is_eight_telco_reference() first blocks number phrases like 'eight buses' or 'eight people', then accepts strong patterns like 'Eight Telecom', and otherwise needs telco context within 60 characters. Posts that fail are marked not telco-relevant, and get no sentiment or issue label, instead of polluting the brand chart.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designed the taxonomy around who would act on it. Each label maps to a team, so a spike becomes a routed task rather than a chart. Issues are multi-label, because one post can complain about roaming and billing at once. Sentiment is one label per post. General Discussion is the residual: used only when no specific label fits, never alongside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C is the core of the project: how I built trustworthy gold labels and what they say about VADER, keyword rules, GPT-4o-mini and GPT-4o.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Early on I had a 150-post file showing VADER at 100% accuracy. That was too good, and when I checked, every 'manual' label matched VADER exactly: the sheet had been prefilled by the model. So I discarded it and rebuilt the evaluation properly.</a:t>
            </a:r>
          </a:p>
          <a:p/>
          <a:p>
            <a:r>
              <a:t>The new package hides every model column. Threads are split so the representative and challenge sets never share a thread, with at most five comments per thread. I labelled 300 representative posts (295 telco-relevant, used for headline metrics) and 100 challenge posts chosen for sarcasm, Singlish, mixed brands and long text. Challenge results are reported separately, never pooled. A second annotator has since labelled 100 overlap posts.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295 representative posts, VADER's macro F1 is 0.360; GPT-4o-mini reaches 0.631. The clearest failure: of 147 posts I labelled not happy, VADER called 61 of them happy. Its lexicon sees words like 'better' and '$12' and misses that the person just switched away.</a:t>
            </a:r>
          </a:p>
          <a:p/>
          <a:p>
            <a:r>
              <a:t>I bootstrapped the difference: mini beats VADER by 0.27, 95% interval 0.19 to 0.35, so this is not noise. GPT-4o is statistically tied with mini (interval −0.04 to +0.06) at about 17 times the cost, so mini is the right choice for sentiment. It also holds on the hard challenge posts: mini 0.773, GPT-4o 0.712, VADER 0.491. And a second mini run reproduced 292 of 295 labels, so it's stable.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Issues surprised me. Keyword rules score 0.639 macro F1. Running GPT-4o-mini on every post scores only 0.504, and GPT-4o 0.600, which is statistically a tie with rules. The LLMs are precise but incomplete: they return one or two topics when the post has several.</a:t>
            </a:r>
          </a:p>
          <a:p/>
          <a:p>
            <a:r>
              <a:t>So I built a hybrid. Rules label everything; the 98 gold posts that rules left as General Discussion go to GPT-4o, which reassigned 70 of them. That scores 0.680, the only method that beats rules on this set, with a bootstrap interval of +0.011 to +0.072. But I designed it after seeing these results, so the next slide tests it on posts it wasn't designed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result I'm most careful about. On the 100 challenge posts, which the hybrid never saw, its gain over rules shrinks to 0.01, well inside the noise: the interval is −0.04 to +0.07. GPT-4o labelling every post wins there instead, 0.596, beating both rules and the hybrid with intervals clear of zero. It does better on customer service, roaming and billing, while rules still catch more device posts.</a:t>
            </a:r>
          </a:p>
          <a:p/>
          <a:p>
            <a:r>
              <a:t>So the honest reading is split. On typical posts, which is what the corpus looks like, the hybrid is best, but its 0.680 is optimistic. On hard posts, GPT-4o on every post is best. Sentiment, by contrast, held up on both sets.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all-row LLMs lose on issues? Devices is the clearest case. Rules recall 81% of device posts; GPT-4o recalls 25% and GPT-4o-mini 6%. Posts like 'Starhub, no ONR, no CGNAT' are pure equipment jargon: an optical network router and carrier-grade NAT. The rules have those terms; the LLM reads the post as general chat, and mini even flips its sentiment to happy.</a:t>
            </a:r>
          </a:p>
          <a:p/>
          <a:p>
            <a:r>
              <a:t>This is why the hybrid keeps rule hits and only uses the LLM where rules have nothing. The gap holds on the challenge set too: rules 75%, GPT-4o 33%.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real examples, paraphrased. A short status update like 'eSIM still down' has no sentiment words, so VADER says neutral. A switching story with 'better' and 'just $12' reads as happy to VADER, but it's a complaint about 5G drops. Elongated slang is outside the lexicon. And a user ready to port out after an outage is unhappy, whatever words they use. The LLM gets all four right.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was a design constraint. Evaluating mini on 295 posts cost under one cent; GPT-4o on the same posts cost 15 cents. The biggest job sent 8,786 unresolved posts to GPT-4o in 879 batches with a resumable checkpoint: about 30 minutes, zero failed batches, $3.45. Labelling sentiment on the whole clean corpus with mini cost under five cents. VADER and the rules label the same posts in a fraction of a second for free.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D: what GPT-4o-mini sentiment and the hybrid issue labels show on the 1,706-post clean corpus, then a short dashboard demo.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full corpus, rules alone left 8,786 posts, 57%, in General Discussion. After GPT-4o relabelled them, that dropped to 6,180. Most of the reassigned posts became Network Quality, which gained 2,080. Devices barely moved, which matches the gold result: rules already catch device posts.</a:t>
            </a:r>
          </a:p>
          <a:p/>
          <a:p>
            <a:r>
              <a:t>These corpus reassignments have no human check yet. Before they drive an alert, I'd sample them.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clean corpus, GPT-4o-mini labels 55% of posts not happy and 18% happy. My human labels on the gold set are 50% and 18%, so the corpus shares land close to human judgement. VADER on the same posts says the opposite: 40% happy. Of the 681 posts VADER calls happy, mini reads 300 as not happy.</a:t>
            </a:r>
          </a:p>
          <a:p/>
          <a:p>
            <a:r>
              <a:t>Weighting every thread equally gives 49% not happy, so this isn't one thread. But one event does drive it: the 22 outage threads hold 39% of posts, and outside them not happy is 42%.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post, Reddit is 60% not happy and HWZ 40%, and Singtel is 63% not happy, far above everyone else. Both are the outage. Every Reddit post is from 2026 and Reddit holds the outage threads; HWZ posts are mostly 2019 to 2025. Outside the outage threads, Reddit and HWZ are 43% and 40%, matching my human labels, 51% and 47%. Singtel drops to 45%, level with StarHub at 47%.</a:t>
            </a:r>
          </a:p>
          <a:p/>
          <a:p>
            <a:r>
              <a:t>So I don't rank brands. The smaller brands sit around 27 to 35% outside outages, but their thread-weighted shares move by up to eleven points, and each post's one label is copied to every brand it names.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is built around one meeting. Step one, the queue: not-happy posts in Network Quality, App &amp; Account or Porting, and only act if there are at least 20. Step two, open ten source posts and drop sarcasm and mislabels. Step three, match what's left to tickets or outages. Step four, one owner and a date. Step five, next week, check whether that issue's share fell.</a:t>
            </a:r>
          </a:p>
          <a:p/>
          <a:p>
            <a:r>
              <a:t>On the real data only three weeks cross the threshold, all in March 2026: 349, 70 and 42 posts, the Singtel outage and its aftermath. Every other week stays quiet. That's the alert working.</a:t>
            </a:r>
          </a:p>
          <a:p/>
          <a:p>
            <a:r>
              <a:t>[Demo] Open dashboard/index.html. Walk through: executive summary, the weekly queue chart, the tone chart next to VADER and human labels, issue shares per post and per thread, and the recommendations ordered by not-happy share.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E: recommendations for operators, the points I found most interesting, limitations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 comes from the data: each issue's share of not-happy discussion. Network is first by far, and 412 of its 599 not-happy posts are in outage threads, so the first action is incident communication, not coverage claims. Billing and customer service are small but the most negative themes, 65% and 60% not happy, and their posts follow the outage: refund or goodwill credit, support lines that couldn't be reached. Plan posts are about terms people discover late, like fair-use limits and Caller ID charges.</a:t>
            </a:r>
          </a:p>
          <a:p/>
          <a:p>
            <a:r>
              <a:t>App &amp; Account is now last. My earlier sample had it at 25%; the corpus says 1 to 3%. I withdrew that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surprised me.</a:t>
            </a:r>
          </a:p>
          <a:p/>
          <a:p>
            <a:r>
              <a:t>First, the perfect score. A 100% result was the warning sign, not the achievement, and catching it changed how I ran the whole evaluation.</a:t>
            </a:r>
          </a:p>
          <a:p/>
          <a:p>
            <a:r>
              <a:t>Second, the bigger model didn't win on sentiment. GPT-4o ties mini at 17 times the cost, on typical and hard posts.</a:t>
            </a:r>
          </a:p>
          <a:p/>
          <a:p>
            <a:r>
              <a:t>Third, my best issue method didn't survive a held-out test. That's exactly why you keep a test set you don't tune on.</a:t>
            </a:r>
          </a:p>
          <a:p/>
          <a:p>
            <a:r>
              <a:t>Fourth, two gaps that looked like insights, Reddit versus HWZ and Singtel versus everyone, were one outage.</a:t>
            </a:r>
          </a:p>
          <a:p/>
          <a:p>
            <a:r>
              <a:t>Fifth, row counts lie: 15,504 rows were 2,686 unique posts, and 47 threads weren't about telcos.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upfront about the limits. On the data side: forum users choose to post, so they aren't Singapore subscribers at large; replies cluster by thread; 39% of the clean posts sit in outage threads, and every Reddit post is from 2026, so the findings describe one incident period as much as the market; and I have no tickets or NPS to validate against.</a:t>
            </a:r>
          </a:p>
          <a:p/>
          <a:p>
            <a:r>
              <a:t>On the method side: mini matches my labels on about two-thirds of posts, and two humans only agree at kappa 0.57; the hybrid's 0.680 is optimistic; the 2,606 corpus reassignments aren't human-checked; and a multi-brand post gives its one sentiment to every brand it names.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next steps. One: confirm the second annotator labelled the challenge posts independently, then adjudicate disagreements in a separate file. Two: settle hybrid versus GPT-4o on every post with a fresh held-out sample, since my two gold sets disagree. Three: collect beyond the 2026 outage, with more HWZ threads from 2024 to 2026 and more MVNOs. Four: brand-level sentiment, so a post praising StarHub and criticising Singtel gets two labels, and validation against real tickets.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an LLM for sentiment, keyword rules plus a targeted GPT-4o pass for issues, and a weekly human huddle before anyone acts. Thank you, Professor. I'm happy to take questions, and I have backup slides with the detailed tables and agreement numbers.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slides. I'll only show these if the question comes up.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Why not use GPT-4o for everything?</a:t>
            </a:r>
          </a:p>
          <a:p>
            <a:r>
              <a:t>A: On typical posts GPT-4o on every post ties rules (0.600 vs 0.639) and costs ~17× mini. On hard posts it wins (0.596 vs 0.499). At ~$0.0005 a post it’s affordable on a deduplicated feed; I’d settle it on fresh held-out data.</a:t>
            </a:r>
          </a:p>
          <a:p>
            <a:r>
              <a:t>If pushed on cost: the whole clean corpus with GPT-4o on every post would be about $0.85.</a:t>
            </a:r>
          </a:p>
          <a:p/>
          <a:p>
            <a:r>
              <a:t>Q: Is the hybrid’s gain real?</a:t>
            </a:r>
          </a:p>
          <a:p>
            <a:r>
              <a:t>A: On the set I tuned it on, yes: +0.041, 95% CI +0.011 to +0.072. On the held-out challenge set, no: +0.010, CI −0.04 to +0.07. So I report 0.680 as optimistic.</a:t>
            </a:r>
          </a:p>
          <a:p>
            <a:r>
              <a:t>Paired bootstrap, 2,000 resamples of posts. Challenge-set gain of GPT-4o over the hybrid: +0.087, CI +0.017 to +0.151.</a:t>
            </a:r>
          </a:p>
          <a:p/>
          <a:p>
            <a:r>
              <a:t>Q: How reliable are your labels?</a:t>
            </a:r>
          </a:p>
          <a:p>
            <a:r>
              <a:t>A: Headline metrics use one annotator. Two annotators agree at κ 0.57 on representative posts. Challenge agreement (0.76) is unusually high, so I’m confirming it was independent.</a:t>
            </a:r>
          </a:p>
          <a:p>
            <a:r>
              <a:t>Per-label issue κ on the representative overlap is low for Devices (0.14) and Customer Service (0.18). On the challenge overlap 21 of 40 rows are identical on every field, and four notes match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How good is GPT-4o-mini on the corpus?</a:t>
            </a:r>
          </a:p>
          <a:p>
            <a:r>
              <a:t>A: It matches humans on ~2/3 of gold posts (F1 0.631), its corpus shares (18/55/27) sit near the gold shares (18/50/32), and a rerun reproduced 292 of 295 labels.</a:t>
            </a:r>
          </a:p>
          <a:p>
            <a:r>
              <a:t>Mini's weakest class is happy (F1 0.54). Corpus shares are estimates, not measurements.</a:t>
            </a:r>
          </a:p>
          <a:p/>
          <a:p>
            <a:r>
              <a:t>Q: How do you handle sarcasm and Singlish?</a:t>
            </a:r>
          </a:p>
          <a:p>
            <a:r>
              <a:t>A: VADER can’t; the challenge set targets these cases. There GPT-4o-mini reaches 0.773 macro F1 vs VADER 0.491 and GPT-4o 0.712.</a:t>
            </a:r>
          </a:p>
          <a:p/>
          <a:p>
            <a:r>
              <a:t>Q: Why keep VADER at all?</a:t>
            </a:r>
          </a:p>
          <a:p>
            <a:r>
              <a:t>A: It’s free, local and deterministic: a baseline to beat. I no longer use it for any headline share.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Is Reddit more negative than HWZ? Is Singtel worst?</a:t>
            </a:r>
          </a:p>
          <a:p>
            <a:r>
              <a:t>A: Neither, once the 22 outage threads are removed: Reddit 43% vs HWZ 40%, Singtel 45% vs StarHub 47%.</a:t>
            </a:r>
          </a:p>
          <a:p/>
          <a:p>
            <a:r>
              <a:t>Q: What about privacy and ethics?</a:t>
            </a:r>
          </a:p>
          <a:p>
            <a:r>
              <a:t>A: Public posts only, no usernames in outputs, no identifiers sent to the API, and API keys kept in environment variables, never in code.</a:t>
            </a:r>
          </a:p>
          <a:p/>
          <a:p>
            <a:r>
              <a:t>Q: Can this estimate NPS or market share?</a:t>
            </a:r>
          </a:p>
          <a:p>
            <a:r>
              <a:t>A: No. Posters self-select, replies cluster by thread, and one outage dominates. It’s a triage queue, not a population measure.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preliminary numbers from the 100 overlap posts, computed per set as the project rules require. Representative sentiment kappa is 0.57, moderate; challenge is 0.76. The per-label issue kappas show that humans also disagree on Devices and Customer Service, which caps how well any model can score on them. The challenge set's near-perfect issue agreement is unusual for hard cases, so I'm confirming the second annotator worked independently before I report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Per-class detail. VADER's weakness is not-happy recall: 0.34. GPT-4o-mini recovers 79% of complaints. GPT-4o is more conservative on happy, with recall 0.38, which is why it doesn't beat mini overall.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5D93A-A78D-456C-F1BA-C5BF20B8D42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A78692F-B32A-169A-745A-C3A71CBDBA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0808EA3-7C93-10F3-146A-44FFC8D82DFA}"/>
              </a:ext>
            </a:extLst>
          </p:cNvPr>
          <p:cNvSpPr>
            <a:spLocks noGrp="1"/>
          </p:cNvSpPr>
          <p:nvPr>
            <p:ph type="dt" sz="half" idx="10"/>
          </p:nvPr>
        </p:nvSpPr>
        <p:spPr/>
        <p:txBody>
          <a:bodyPr/>
          <a:lstStyle/>
          <a:p>
            <a:fld id="{E19AD244-9817-3047-A477-01BB4324E821}" type="datetimeFigureOut">
              <a:rPr lang="en-US" smtClean="0"/>
              <a:t>7/6/26</a:t>
            </a:fld>
            <a:endParaRPr lang="en-US"/>
          </a:p>
        </p:txBody>
      </p:sp>
      <p:sp>
        <p:nvSpPr>
          <p:cNvPr id="5" name="Footer Placeholder 4">
            <a:extLst>
              <a:ext uri="{FF2B5EF4-FFF2-40B4-BE49-F238E27FC236}">
                <a16:creationId xmlns:a16="http://schemas.microsoft.com/office/drawing/2014/main" id="{183EE075-8833-3C5C-C71C-BE8CB66F95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E93EC6-D01C-BFF2-3749-9CD174CCA840}"/>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677055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7E07-11EA-F563-1F9C-0AE786CF12E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D98740D-D49C-40BC-4390-2249BC1583B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023ED43-67BA-16A3-A7F3-C3D0A98E25B2}"/>
              </a:ext>
            </a:extLst>
          </p:cNvPr>
          <p:cNvSpPr>
            <a:spLocks noGrp="1"/>
          </p:cNvSpPr>
          <p:nvPr>
            <p:ph type="dt" sz="half" idx="10"/>
          </p:nvPr>
        </p:nvSpPr>
        <p:spPr/>
        <p:txBody>
          <a:bodyPr/>
          <a:lstStyle/>
          <a:p>
            <a:fld id="{E19AD244-9817-3047-A477-01BB4324E821}" type="datetimeFigureOut">
              <a:rPr lang="en-US" smtClean="0"/>
              <a:t>7/6/26</a:t>
            </a:fld>
            <a:endParaRPr lang="en-US"/>
          </a:p>
        </p:txBody>
      </p:sp>
      <p:sp>
        <p:nvSpPr>
          <p:cNvPr id="5" name="Footer Placeholder 4">
            <a:extLst>
              <a:ext uri="{FF2B5EF4-FFF2-40B4-BE49-F238E27FC236}">
                <a16:creationId xmlns:a16="http://schemas.microsoft.com/office/drawing/2014/main" id="{8B722EB8-E5BF-463E-F3FE-18471E2970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0D48C-AD49-50E4-82CF-D1A68C52AEE8}"/>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1945207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72EF-75C9-2E16-0370-7750DB5C649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963D0E5-3F98-571A-907B-1BE411D23B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13AC597-EFF4-69FF-D84C-F9FE4370DA99}"/>
              </a:ext>
            </a:extLst>
          </p:cNvPr>
          <p:cNvSpPr>
            <a:spLocks noGrp="1"/>
          </p:cNvSpPr>
          <p:nvPr>
            <p:ph type="dt" sz="half" idx="10"/>
          </p:nvPr>
        </p:nvSpPr>
        <p:spPr/>
        <p:txBody>
          <a:bodyPr/>
          <a:lstStyle/>
          <a:p>
            <a:fld id="{E19AD244-9817-3047-A477-01BB4324E821}" type="datetimeFigureOut">
              <a:rPr lang="en-US" smtClean="0"/>
              <a:t>7/6/26</a:t>
            </a:fld>
            <a:endParaRPr lang="en-US"/>
          </a:p>
        </p:txBody>
      </p:sp>
      <p:sp>
        <p:nvSpPr>
          <p:cNvPr id="5" name="Footer Placeholder 4">
            <a:extLst>
              <a:ext uri="{FF2B5EF4-FFF2-40B4-BE49-F238E27FC236}">
                <a16:creationId xmlns:a16="http://schemas.microsoft.com/office/drawing/2014/main" id="{05F943EC-46E5-AE54-23D0-82DB819033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4F4554-8AE4-8312-F8E2-FDB1F9967BFE}"/>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684756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5B14E-EC1A-CEB7-3DD9-FC55628A9C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2CFC9A5-B5E6-C23B-3DAF-851168FB7F1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9E52D71-CE41-A530-E2A9-8A34AE6A57F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EF3C509-125D-EFFE-7A85-3D82B6446203}"/>
              </a:ext>
            </a:extLst>
          </p:cNvPr>
          <p:cNvSpPr>
            <a:spLocks noGrp="1"/>
          </p:cNvSpPr>
          <p:nvPr>
            <p:ph type="dt" sz="half" idx="10"/>
          </p:nvPr>
        </p:nvSpPr>
        <p:spPr/>
        <p:txBody>
          <a:bodyPr/>
          <a:lstStyle/>
          <a:p>
            <a:fld id="{E19AD244-9817-3047-A477-01BB4324E821}" type="datetimeFigureOut">
              <a:rPr lang="en-US" smtClean="0"/>
              <a:t>7/6/26</a:t>
            </a:fld>
            <a:endParaRPr lang="en-US"/>
          </a:p>
        </p:txBody>
      </p:sp>
      <p:sp>
        <p:nvSpPr>
          <p:cNvPr id="6" name="Footer Placeholder 5">
            <a:extLst>
              <a:ext uri="{FF2B5EF4-FFF2-40B4-BE49-F238E27FC236}">
                <a16:creationId xmlns:a16="http://schemas.microsoft.com/office/drawing/2014/main" id="{E70C51B3-076F-63FC-7BB1-985DF75617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63FD6E-B166-5C00-0CB4-9FC2570FBAE0}"/>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2500150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BA6DF-0F05-E6C7-2805-9C9C995D8DE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3CED22C-3A89-A029-AB65-907D88E562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372B57E-C6AC-E68E-61CB-DD1707A4A6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9E59FC8-F21E-CA83-82B3-0127A97F6A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45968AB-CA15-E8FE-4FBF-19E9A51FF1E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82BED5E-115E-4FB1-E015-7843EAF3A505}"/>
              </a:ext>
            </a:extLst>
          </p:cNvPr>
          <p:cNvSpPr>
            <a:spLocks noGrp="1"/>
          </p:cNvSpPr>
          <p:nvPr>
            <p:ph type="dt" sz="half" idx="10"/>
          </p:nvPr>
        </p:nvSpPr>
        <p:spPr/>
        <p:txBody>
          <a:bodyPr/>
          <a:lstStyle/>
          <a:p>
            <a:fld id="{E19AD244-9817-3047-A477-01BB4324E821}" type="datetimeFigureOut">
              <a:rPr lang="en-US" smtClean="0"/>
              <a:t>7/6/26</a:t>
            </a:fld>
            <a:endParaRPr lang="en-US"/>
          </a:p>
        </p:txBody>
      </p:sp>
      <p:sp>
        <p:nvSpPr>
          <p:cNvPr id="8" name="Footer Placeholder 7">
            <a:extLst>
              <a:ext uri="{FF2B5EF4-FFF2-40B4-BE49-F238E27FC236}">
                <a16:creationId xmlns:a16="http://schemas.microsoft.com/office/drawing/2014/main" id="{2AE0651A-B93D-949B-46F6-F962BB566A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81BCBC-FF65-6343-4349-4C9E35E2A359}"/>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614080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7C978-B833-9211-A322-1907EE2B33F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DB7869B-0DA1-1A4F-B73F-D49D0BEE0A9A}"/>
              </a:ext>
            </a:extLst>
          </p:cNvPr>
          <p:cNvSpPr>
            <a:spLocks noGrp="1"/>
          </p:cNvSpPr>
          <p:nvPr>
            <p:ph type="dt" sz="half" idx="10"/>
          </p:nvPr>
        </p:nvSpPr>
        <p:spPr/>
        <p:txBody>
          <a:bodyPr/>
          <a:lstStyle/>
          <a:p>
            <a:fld id="{E19AD244-9817-3047-A477-01BB4324E821}" type="datetimeFigureOut">
              <a:rPr lang="en-US" smtClean="0"/>
              <a:t>7/6/26</a:t>
            </a:fld>
            <a:endParaRPr lang="en-US"/>
          </a:p>
        </p:txBody>
      </p:sp>
      <p:sp>
        <p:nvSpPr>
          <p:cNvPr id="4" name="Footer Placeholder 3">
            <a:extLst>
              <a:ext uri="{FF2B5EF4-FFF2-40B4-BE49-F238E27FC236}">
                <a16:creationId xmlns:a16="http://schemas.microsoft.com/office/drawing/2014/main" id="{C1B1C5F0-293E-1718-606A-4C5A6A305A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397E27-3F50-3DFC-04E7-DC7823E0D839}"/>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90693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03F74F-D7A7-9C62-7E6C-E902134E7761}"/>
              </a:ext>
            </a:extLst>
          </p:cNvPr>
          <p:cNvSpPr>
            <a:spLocks noGrp="1"/>
          </p:cNvSpPr>
          <p:nvPr>
            <p:ph type="dt" sz="half" idx="10"/>
          </p:nvPr>
        </p:nvSpPr>
        <p:spPr/>
        <p:txBody>
          <a:bodyPr/>
          <a:lstStyle/>
          <a:p>
            <a:fld id="{E19AD244-9817-3047-A477-01BB4324E821}" type="datetimeFigureOut">
              <a:rPr lang="en-US" smtClean="0"/>
              <a:t>7/6/26</a:t>
            </a:fld>
            <a:endParaRPr lang="en-US"/>
          </a:p>
        </p:txBody>
      </p:sp>
      <p:sp>
        <p:nvSpPr>
          <p:cNvPr id="3" name="Footer Placeholder 2">
            <a:extLst>
              <a:ext uri="{FF2B5EF4-FFF2-40B4-BE49-F238E27FC236}">
                <a16:creationId xmlns:a16="http://schemas.microsoft.com/office/drawing/2014/main" id="{ED4DF2B7-8126-E8F1-B5B8-AC75F60817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D22276-0EA4-C769-712B-96406B40DE80}"/>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749927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73AD2-9D3C-5150-D437-15D421F1BA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D13E28F-87A5-40AC-B60D-9489BA2325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3A44B67-8155-7EC9-1A06-8BA387F345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14F341F-50F0-5397-23A0-8117B6EDB456}"/>
              </a:ext>
            </a:extLst>
          </p:cNvPr>
          <p:cNvSpPr>
            <a:spLocks noGrp="1"/>
          </p:cNvSpPr>
          <p:nvPr>
            <p:ph type="dt" sz="half" idx="10"/>
          </p:nvPr>
        </p:nvSpPr>
        <p:spPr/>
        <p:txBody>
          <a:bodyPr/>
          <a:lstStyle/>
          <a:p>
            <a:fld id="{E19AD244-9817-3047-A477-01BB4324E821}" type="datetimeFigureOut">
              <a:rPr lang="en-US" smtClean="0"/>
              <a:t>7/6/26</a:t>
            </a:fld>
            <a:endParaRPr lang="en-US"/>
          </a:p>
        </p:txBody>
      </p:sp>
      <p:sp>
        <p:nvSpPr>
          <p:cNvPr id="6" name="Footer Placeholder 5">
            <a:extLst>
              <a:ext uri="{FF2B5EF4-FFF2-40B4-BE49-F238E27FC236}">
                <a16:creationId xmlns:a16="http://schemas.microsoft.com/office/drawing/2014/main" id="{A07862B8-8739-0123-8D80-D1AB6AF71D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E4B092-2DAD-4C07-BD9E-31DB7CDCBA03}"/>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732348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72020-6A6C-B368-D46A-1C98B40EFFF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A29D2D6-51AF-B2CF-15D0-95666FB7A8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06F60A-1702-A309-3FEC-7B39FE5ABB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6AD23A4-0EB1-3CF3-B6AA-38A9C6629B57}"/>
              </a:ext>
            </a:extLst>
          </p:cNvPr>
          <p:cNvSpPr>
            <a:spLocks noGrp="1"/>
          </p:cNvSpPr>
          <p:nvPr>
            <p:ph type="dt" sz="half" idx="10"/>
          </p:nvPr>
        </p:nvSpPr>
        <p:spPr/>
        <p:txBody>
          <a:bodyPr/>
          <a:lstStyle/>
          <a:p>
            <a:fld id="{E19AD244-9817-3047-A477-01BB4324E821}" type="datetimeFigureOut">
              <a:rPr lang="en-US" smtClean="0"/>
              <a:t>7/6/26</a:t>
            </a:fld>
            <a:endParaRPr lang="en-US"/>
          </a:p>
        </p:txBody>
      </p:sp>
      <p:sp>
        <p:nvSpPr>
          <p:cNvPr id="6" name="Footer Placeholder 5">
            <a:extLst>
              <a:ext uri="{FF2B5EF4-FFF2-40B4-BE49-F238E27FC236}">
                <a16:creationId xmlns:a16="http://schemas.microsoft.com/office/drawing/2014/main" id="{F59A9EDD-8DA4-073C-FE48-7F932F9731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303D31-F6FC-8FA6-B178-73DE54167299}"/>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402692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A48DD-BAD4-AAEE-CB1A-8586FAFEA20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EBBFBC6-D2A8-42C7-CD7F-D4D1E58086A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B5CEE1B-FE4D-B5A9-D7C0-2B4D01E584A2}"/>
              </a:ext>
            </a:extLst>
          </p:cNvPr>
          <p:cNvSpPr>
            <a:spLocks noGrp="1"/>
          </p:cNvSpPr>
          <p:nvPr>
            <p:ph type="dt" sz="half" idx="10"/>
          </p:nvPr>
        </p:nvSpPr>
        <p:spPr/>
        <p:txBody>
          <a:bodyPr/>
          <a:lstStyle/>
          <a:p>
            <a:fld id="{E19AD244-9817-3047-A477-01BB4324E821}" type="datetimeFigureOut">
              <a:rPr lang="en-US" smtClean="0"/>
              <a:t>7/6/26</a:t>
            </a:fld>
            <a:endParaRPr lang="en-US"/>
          </a:p>
        </p:txBody>
      </p:sp>
      <p:sp>
        <p:nvSpPr>
          <p:cNvPr id="5" name="Footer Placeholder 4">
            <a:extLst>
              <a:ext uri="{FF2B5EF4-FFF2-40B4-BE49-F238E27FC236}">
                <a16:creationId xmlns:a16="http://schemas.microsoft.com/office/drawing/2014/main" id="{645C7891-942A-46F2-66C2-0A86A81882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BA9B9F-0006-FD0C-BAEA-9C3C96E7E9EE}"/>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899939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AFCF34-E3EC-5BDA-2554-C980D8244C8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0329B9C-D8B0-5BD1-55CF-5ADD9945D4F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49A80F5-A5FB-FFBB-9F51-3F12C4FBD532}"/>
              </a:ext>
            </a:extLst>
          </p:cNvPr>
          <p:cNvSpPr>
            <a:spLocks noGrp="1"/>
          </p:cNvSpPr>
          <p:nvPr>
            <p:ph type="dt" sz="half" idx="10"/>
          </p:nvPr>
        </p:nvSpPr>
        <p:spPr/>
        <p:txBody>
          <a:bodyPr/>
          <a:lstStyle/>
          <a:p>
            <a:fld id="{E19AD244-9817-3047-A477-01BB4324E821}" type="datetimeFigureOut">
              <a:rPr lang="en-US" smtClean="0"/>
              <a:t>7/6/26</a:t>
            </a:fld>
            <a:endParaRPr lang="en-US"/>
          </a:p>
        </p:txBody>
      </p:sp>
      <p:sp>
        <p:nvSpPr>
          <p:cNvPr id="5" name="Footer Placeholder 4">
            <a:extLst>
              <a:ext uri="{FF2B5EF4-FFF2-40B4-BE49-F238E27FC236}">
                <a16:creationId xmlns:a16="http://schemas.microsoft.com/office/drawing/2014/main" id="{01703F68-56C9-33AC-BF47-969C054B7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D6FEE-5CE8-9322-DBFC-1CA839332647}"/>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705565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5"/>
        <p:cNvGrpSpPr/>
        <p:nvPr/>
      </p:nvGrpSpPr>
      <p:grpSpPr>
        <a:xfrm>
          <a:off x="0" y="0"/>
          <a:ext cx="0" cy="0"/>
          <a:chOff x="0" y="0"/>
          <a:chExt cx="0" cy="0"/>
        </a:xfrm>
      </p:grpSpPr>
      <p:pic>
        <p:nvPicPr>
          <p:cNvPr id="16" name="Google Shape;16;p7"/>
          <p:cNvPicPr preferRelativeResize="0"/>
          <p:nvPr/>
        </p:nvPicPr>
        <p:blipFill rotWithShape="1">
          <a:blip r:embed="rId2">
            <a:alphaModFix/>
          </a:blip>
          <a:srcRect l="-1" r="49658"/>
          <a:stretch/>
        </p:blipFill>
        <p:spPr>
          <a:xfrm>
            <a:off x="1" y="1"/>
            <a:ext cx="12191999" cy="1362268"/>
          </a:xfrm>
          <a:prstGeom prst="rect">
            <a:avLst/>
          </a:prstGeom>
          <a:noFill/>
          <a:ln>
            <a:noFill/>
          </a:ln>
        </p:spPr>
      </p:pic>
      <p:cxnSp>
        <p:nvCxnSpPr>
          <p:cNvPr id="17" name="Google Shape;17;p7"/>
          <p:cNvCxnSpPr/>
          <p:nvPr/>
        </p:nvCxnSpPr>
        <p:spPr>
          <a:xfrm>
            <a:off x="0" y="1362269"/>
            <a:ext cx="12192000" cy="0"/>
          </a:xfrm>
          <a:prstGeom prst="straightConnector1">
            <a:avLst/>
          </a:prstGeom>
          <a:noFill/>
          <a:ln w="9525" cap="flat" cmpd="sng">
            <a:solidFill>
              <a:srgbClr val="D5A10F"/>
            </a:solidFill>
            <a:prstDash val="solid"/>
            <a:miter lim="800000"/>
            <a:headEnd type="none" w="sm" len="sm"/>
            <a:tailEnd type="none" w="sm" len="sm"/>
          </a:ln>
        </p:spPr>
      </p:cxnSp>
    </p:spTree>
    <p:extLst>
      <p:ext uri="{BB962C8B-B14F-4D97-AF65-F5344CB8AC3E}">
        <p14:creationId xmlns:p14="http://schemas.microsoft.com/office/powerpoint/2010/main" val="2954208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26"/>
        <p:cNvGrpSpPr/>
        <p:nvPr/>
      </p:nvGrpSpPr>
      <p:grpSpPr>
        <a:xfrm>
          <a:off x="0" y="0"/>
          <a:ext cx="0" cy="0"/>
          <a:chOff x="0" y="0"/>
          <a:chExt cx="0" cy="0"/>
        </a:xfrm>
      </p:grpSpPr>
      <p:pic>
        <p:nvPicPr>
          <p:cNvPr id="27" name="Google Shape;27;p8"/>
          <p:cNvPicPr preferRelativeResize="0"/>
          <p:nvPr/>
        </p:nvPicPr>
        <p:blipFill rotWithShape="1">
          <a:blip r:embed="rId2">
            <a:alphaModFix/>
          </a:blip>
          <a:srcRect/>
          <a:stretch/>
        </p:blipFill>
        <p:spPr>
          <a:xfrm>
            <a:off x="0" y="-4761"/>
            <a:ext cx="12192000" cy="685800"/>
          </a:xfrm>
          <a:prstGeom prst="rect">
            <a:avLst/>
          </a:prstGeom>
          <a:noFill/>
          <a:ln>
            <a:noFill/>
          </a:ln>
        </p:spPr>
      </p:pic>
    </p:spTree>
    <p:extLst>
      <p:ext uri="{BB962C8B-B14F-4D97-AF65-F5344CB8AC3E}">
        <p14:creationId xmlns:p14="http://schemas.microsoft.com/office/powerpoint/2010/main" val="2013897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86BB02-548D-7AC0-FD1C-85568EC083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2FE936F-5919-04F5-1F76-7305520289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097F57-260C-C8C2-904E-8DCCA2FBAF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9AD244-9817-3047-A477-01BB4324E821}" type="datetimeFigureOut">
              <a:rPr lang="en-US" smtClean="0"/>
              <a:t>7/6/26</a:t>
            </a:fld>
            <a:endParaRPr lang="en-US"/>
          </a:p>
        </p:txBody>
      </p:sp>
      <p:sp>
        <p:nvSpPr>
          <p:cNvPr id="5" name="Footer Placeholder 4">
            <a:extLst>
              <a:ext uri="{FF2B5EF4-FFF2-40B4-BE49-F238E27FC236}">
                <a16:creationId xmlns:a16="http://schemas.microsoft.com/office/drawing/2014/main" id="{0D763691-8C8F-D460-C5C9-01D86DBE76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247E2E-EA0A-5DEA-BE96-30CB532606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2FB5B2-ACED-4C4A-A8C8-EE412B7C9949}" type="slidenum">
              <a:rPr lang="en-US" smtClean="0"/>
              <a:t>‹#›</a:t>
            </a:fld>
            <a:endParaRPr lang="en-US"/>
          </a:p>
        </p:txBody>
      </p:sp>
    </p:spTree>
    <p:extLst>
      <p:ext uri="{BB962C8B-B14F-4D97-AF65-F5344CB8AC3E}">
        <p14:creationId xmlns:p14="http://schemas.microsoft.com/office/powerpoint/2010/main" val="16724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chart" Target="../charts/char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chart" Target="../charts/char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1</a:t>
            </a:r>
          </a:p>
        </p:txBody>
      </p:sp>
      <p:sp>
        <p:nvSpPr>
          <p:cNvPr id="3" name="TextBox 2"/>
          <p:cNvSpPr txBox="1"/>
          <p:nvPr/>
        </p:nvSpPr>
        <p:spPr>
          <a:xfrm>
            <a:off x="822959" y="1417320"/>
            <a:ext cx="6949440" cy="1737360"/>
          </a:xfrm>
          <a:prstGeom prst="rect">
            <a:avLst/>
          </a:prstGeom>
          <a:noFill/>
        </p:spPr>
        <p:txBody>
          <a:bodyPr wrap="square" lIns="0" rIns="0" tIns="0" bIns="0" anchor="t">
            <a:spAutoFit/>
          </a:bodyPr>
          <a:lstStyle/>
          <a:p>
            <a:pPr algn="l">
              <a:spcAft>
                <a:spcPts val="0"/>
              </a:spcAft>
            </a:pPr>
            <a:r>
              <a:rPr sz="4400" b="1" i="0">
                <a:solidFill>
                  <a:srgbClr val="1C2E6E"/>
                </a:solidFill>
                <a:latin typeface="Calibri"/>
              </a:rPr>
              <a:t>From Forum Posts</a:t>
            </a:r>
          </a:p>
          <a:p>
            <a:pPr algn="l">
              <a:spcAft>
                <a:spcPts val="0"/>
              </a:spcAft>
            </a:pPr>
            <a:r>
              <a:rPr sz="4400" b="1" i="0">
                <a:solidFill>
                  <a:srgbClr val="1C2E6E"/>
                </a:solidFill>
                <a:latin typeface="Calibri"/>
              </a:rPr>
              <a:t>to Telco Actions</a:t>
            </a:r>
          </a:p>
        </p:txBody>
      </p:sp>
      <p:sp>
        <p:nvSpPr>
          <p:cNvPr id="4" name="TextBox 3"/>
          <p:cNvSpPr txBox="1"/>
          <p:nvPr/>
        </p:nvSpPr>
        <p:spPr>
          <a:xfrm>
            <a:off x="822959" y="3246120"/>
            <a:ext cx="6766560" cy="1097280"/>
          </a:xfrm>
          <a:prstGeom prst="rect">
            <a:avLst/>
          </a:prstGeom>
          <a:noFill/>
        </p:spPr>
        <p:txBody>
          <a:bodyPr wrap="square" lIns="0" rIns="0" tIns="0" bIns="0" anchor="t">
            <a:spAutoFit/>
          </a:bodyPr>
          <a:lstStyle/>
          <a:p>
            <a:pPr algn="l">
              <a:spcAft>
                <a:spcPts val="600"/>
              </a:spcAft>
            </a:pPr>
            <a:r>
              <a:rPr sz="2000" b="0" i="0">
                <a:solidFill>
                  <a:srgbClr val="5B6475"/>
                </a:solidFill>
                <a:latin typeface="Calibri"/>
              </a:rPr>
              <a:t>Public sentiment analysis of Singapore mobile-plan discussions with LLM-powered issue extraction</a:t>
            </a:r>
          </a:p>
        </p:txBody>
      </p:sp>
      <p:sp>
        <p:nvSpPr>
          <p:cNvPr id="5" name="TextBox 4"/>
          <p:cNvSpPr txBox="1"/>
          <p:nvPr/>
        </p:nvSpPr>
        <p:spPr>
          <a:xfrm>
            <a:off x="822959" y="4983480"/>
            <a:ext cx="6766560" cy="822960"/>
          </a:xfrm>
          <a:prstGeom prst="rect">
            <a:avLst/>
          </a:prstGeom>
          <a:noFill/>
        </p:spPr>
        <p:txBody>
          <a:bodyPr wrap="square" lIns="0" rIns="0" tIns="0" bIns="0" anchor="t">
            <a:spAutoFit/>
          </a:bodyPr>
          <a:lstStyle/>
          <a:p>
            <a:pPr algn="l">
              <a:spcAft>
                <a:spcPts val="200"/>
              </a:spcAft>
            </a:pPr>
            <a:r>
              <a:rPr sz="1400" b="0" i="0">
                <a:solidFill>
                  <a:srgbClr val="1E293B"/>
                </a:solidFill>
                <a:latin typeface="Calibri"/>
              </a:rPr>
              <a:t>Zixin  ·  Capstone project walkthrough</a:t>
            </a:r>
          </a:p>
          <a:p>
            <a:pPr algn="l">
              <a:spcAft>
                <a:spcPts val="200"/>
              </a:spcAft>
            </a:pPr>
            <a:r>
              <a:rPr sz="1400" b="0" i="0">
                <a:solidFill>
                  <a:srgbClr val="1E293B"/>
                </a:solidFill>
                <a:latin typeface="Calibri"/>
              </a:rPr>
              <a:t>SMU School of Computing and Information Systems  ·  September 2026</a:t>
            </a:r>
          </a:p>
        </p:txBody>
      </p:sp>
      <p:sp>
        <p:nvSpPr>
          <p:cNvPr id="6" name="Rounded Rectangle 5"/>
          <p:cNvSpPr/>
          <p:nvPr/>
        </p:nvSpPr>
        <p:spPr>
          <a:xfrm>
            <a:off x="8001000" y="1234440"/>
            <a:ext cx="3611880" cy="4892040"/>
          </a:xfrm>
          <a:prstGeom prst="roundRect">
            <a:avLst>
              <a:gd name="adj" fmla="val 5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0" y="1463040"/>
            <a:ext cx="3108960" cy="457200"/>
          </a:xfrm>
          <a:prstGeom prst="rect">
            <a:avLst/>
          </a:prstGeom>
          <a:noFill/>
        </p:spPr>
        <p:txBody>
          <a:bodyPr wrap="square" lIns="0" rIns="0" tIns="0" bIns="0" anchor="t">
            <a:spAutoFit/>
          </a:bodyPr>
          <a:lstStyle/>
          <a:p>
            <a:pPr algn="l">
              <a:spcAft>
                <a:spcPts val="600"/>
              </a:spcAft>
            </a:pPr>
            <a:r>
              <a:rPr sz="3000" b="1" i="0">
                <a:solidFill>
                  <a:srgbClr val="D29B08"/>
                </a:solidFill>
                <a:latin typeface="Calibri"/>
              </a:rPr>
              <a:t>1,706</a:t>
            </a:r>
          </a:p>
        </p:txBody>
      </p:sp>
      <p:sp>
        <p:nvSpPr>
          <p:cNvPr id="8" name="TextBox 7"/>
          <p:cNvSpPr txBox="1"/>
          <p:nvPr/>
        </p:nvSpPr>
        <p:spPr>
          <a:xfrm>
            <a:off x="8321040" y="1965960"/>
            <a:ext cx="3108960" cy="822960"/>
          </a:xfrm>
          <a:prstGeom prst="rect">
            <a:avLst/>
          </a:prstGeom>
          <a:noFill/>
        </p:spPr>
        <p:txBody>
          <a:bodyPr wrap="square" lIns="0" rIns="0" tIns="0" bIns="0" anchor="t">
            <a:spAutoFit/>
          </a:bodyPr>
          <a:lstStyle/>
          <a:p>
            <a:pPr algn="l">
              <a:spcAft>
                <a:spcPts val="600"/>
              </a:spcAft>
            </a:pPr>
            <a:r>
              <a:rPr sz="1300" b="0" i="0">
                <a:solidFill>
                  <a:srgbClr val="FFFFFF"/>
                </a:solidFill>
                <a:latin typeface="Calibri"/>
              </a:rPr>
              <a:t>unique posts in 105 telco threads</a:t>
            </a:r>
          </a:p>
        </p:txBody>
      </p:sp>
      <p:sp>
        <p:nvSpPr>
          <p:cNvPr id="9" name="TextBox 8"/>
          <p:cNvSpPr txBox="1"/>
          <p:nvPr/>
        </p:nvSpPr>
        <p:spPr>
          <a:xfrm>
            <a:off x="8321040" y="2606040"/>
            <a:ext cx="3108960" cy="457200"/>
          </a:xfrm>
          <a:prstGeom prst="rect">
            <a:avLst/>
          </a:prstGeom>
          <a:noFill/>
        </p:spPr>
        <p:txBody>
          <a:bodyPr wrap="square" lIns="0" rIns="0" tIns="0" bIns="0" anchor="t">
            <a:spAutoFit/>
          </a:bodyPr>
          <a:lstStyle/>
          <a:p>
            <a:pPr algn="l">
              <a:spcAft>
                <a:spcPts val="600"/>
              </a:spcAft>
            </a:pPr>
            <a:r>
              <a:rPr sz="3000" b="1" i="0">
                <a:solidFill>
                  <a:srgbClr val="D29B08"/>
                </a:solidFill>
                <a:latin typeface="Calibri"/>
              </a:rPr>
              <a:t>395</a:t>
            </a:r>
          </a:p>
        </p:txBody>
      </p:sp>
      <p:sp>
        <p:nvSpPr>
          <p:cNvPr id="10" name="TextBox 9"/>
          <p:cNvSpPr txBox="1"/>
          <p:nvPr/>
        </p:nvSpPr>
        <p:spPr>
          <a:xfrm>
            <a:off x="8321040" y="3108960"/>
            <a:ext cx="3108960" cy="822960"/>
          </a:xfrm>
          <a:prstGeom prst="rect">
            <a:avLst/>
          </a:prstGeom>
          <a:noFill/>
        </p:spPr>
        <p:txBody>
          <a:bodyPr wrap="square" lIns="0" rIns="0" tIns="0" bIns="0" anchor="t">
            <a:spAutoFit/>
          </a:bodyPr>
          <a:lstStyle/>
          <a:p>
            <a:pPr algn="l">
              <a:spcAft>
                <a:spcPts val="600"/>
              </a:spcAft>
            </a:pPr>
            <a:r>
              <a:rPr sz="1300" b="0" i="0">
                <a:solidFill>
                  <a:srgbClr val="FFFFFF"/>
                </a:solidFill>
                <a:latin typeface="Calibri"/>
              </a:rPr>
              <a:t>posts hand-labelled for evaluation</a:t>
            </a:r>
          </a:p>
        </p:txBody>
      </p:sp>
      <p:sp>
        <p:nvSpPr>
          <p:cNvPr id="11" name="TextBox 10"/>
          <p:cNvSpPr txBox="1"/>
          <p:nvPr/>
        </p:nvSpPr>
        <p:spPr>
          <a:xfrm>
            <a:off x="8321040" y="3749039"/>
            <a:ext cx="3108960" cy="457200"/>
          </a:xfrm>
          <a:prstGeom prst="rect">
            <a:avLst/>
          </a:prstGeom>
          <a:noFill/>
        </p:spPr>
        <p:txBody>
          <a:bodyPr wrap="square" lIns="0" rIns="0" tIns="0" bIns="0" anchor="t">
            <a:spAutoFit/>
          </a:bodyPr>
          <a:lstStyle/>
          <a:p>
            <a:pPr algn="l">
              <a:spcAft>
                <a:spcPts val="600"/>
              </a:spcAft>
            </a:pPr>
            <a:r>
              <a:rPr sz="3000" b="1" i="0">
                <a:solidFill>
                  <a:srgbClr val="D29B08"/>
                </a:solidFill>
                <a:latin typeface="Calibri"/>
              </a:rPr>
              <a:t>0.631</a:t>
            </a:r>
          </a:p>
        </p:txBody>
      </p:sp>
      <p:sp>
        <p:nvSpPr>
          <p:cNvPr id="12" name="TextBox 11"/>
          <p:cNvSpPr txBox="1"/>
          <p:nvPr/>
        </p:nvSpPr>
        <p:spPr>
          <a:xfrm>
            <a:off x="8321040" y="4251959"/>
            <a:ext cx="3108960" cy="822960"/>
          </a:xfrm>
          <a:prstGeom prst="rect">
            <a:avLst/>
          </a:prstGeom>
          <a:noFill/>
        </p:spPr>
        <p:txBody>
          <a:bodyPr wrap="square" lIns="0" rIns="0" tIns="0" bIns="0" anchor="t">
            <a:spAutoFit/>
          </a:bodyPr>
          <a:lstStyle/>
          <a:p>
            <a:pPr algn="l">
              <a:spcAft>
                <a:spcPts val="600"/>
              </a:spcAft>
            </a:pPr>
            <a:r>
              <a:rPr sz="1300" b="0" i="0">
                <a:solidFill>
                  <a:srgbClr val="FFFFFF"/>
                </a:solidFill>
                <a:latin typeface="Calibri"/>
              </a:rPr>
              <a:t>sentiment macro F1, GPT-4o-mini (VADER 0.360)</a:t>
            </a:r>
          </a:p>
        </p:txBody>
      </p:sp>
      <p:sp>
        <p:nvSpPr>
          <p:cNvPr id="13" name="TextBox 12"/>
          <p:cNvSpPr txBox="1"/>
          <p:nvPr/>
        </p:nvSpPr>
        <p:spPr>
          <a:xfrm>
            <a:off x="8321040" y="4892040"/>
            <a:ext cx="3108960" cy="457200"/>
          </a:xfrm>
          <a:prstGeom prst="rect">
            <a:avLst/>
          </a:prstGeom>
          <a:noFill/>
        </p:spPr>
        <p:txBody>
          <a:bodyPr wrap="square" lIns="0" rIns="0" tIns="0" bIns="0" anchor="t">
            <a:spAutoFit/>
          </a:bodyPr>
          <a:lstStyle/>
          <a:p>
            <a:pPr algn="l">
              <a:spcAft>
                <a:spcPts val="600"/>
              </a:spcAft>
            </a:pPr>
            <a:r>
              <a:rPr sz="3000" b="1" i="0">
                <a:solidFill>
                  <a:srgbClr val="D29B08"/>
                </a:solidFill>
                <a:latin typeface="Calibri"/>
              </a:rPr>
              <a:t>&lt; $4</a:t>
            </a:r>
          </a:p>
        </p:txBody>
      </p:sp>
      <p:sp>
        <p:nvSpPr>
          <p:cNvPr id="14" name="TextBox 13"/>
          <p:cNvSpPr txBox="1"/>
          <p:nvPr/>
        </p:nvSpPr>
        <p:spPr>
          <a:xfrm>
            <a:off x="8321040" y="5394959"/>
            <a:ext cx="3108960" cy="822960"/>
          </a:xfrm>
          <a:prstGeom prst="rect">
            <a:avLst/>
          </a:prstGeom>
          <a:noFill/>
        </p:spPr>
        <p:txBody>
          <a:bodyPr wrap="square" lIns="0" rIns="0" tIns="0" bIns="0" anchor="t">
            <a:spAutoFit/>
          </a:bodyPr>
          <a:lstStyle/>
          <a:p>
            <a:pPr algn="l">
              <a:spcAft>
                <a:spcPts val="600"/>
              </a:spcAft>
            </a:pPr>
            <a:r>
              <a:rPr sz="1300" b="0" i="0">
                <a:solidFill>
                  <a:srgbClr val="FFFFFF"/>
                </a:solidFill>
                <a:latin typeface="Calibri"/>
              </a:rPr>
              <a:t>for every LLM job combined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Roadmap for the next 22 minutes</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2</a:t>
            </a:r>
          </a:p>
        </p:txBody>
      </p:sp>
      <p:sp>
        <p:nvSpPr>
          <p:cNvPr id="4" name="Pentagon 3"/>
          <p:cNvSpPr/>
          <p:nvPr/>
        </p:nvSpPr>
        <p:spPr>
          <a:xfrm>
            <a:off x="548640" y="1920240"/>
            <a:ext cx="2159812" cy="1143000"/>
          </a:xfrm>
          <a:prstGeom prst="homePlate">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A  Problem</a:t>
            </a:r>
          </a:p>
          <a:p>
            <a:pPr algn="ctr"/>
            <a:r>
              <a:rPr sz="1300" b="0">
                <a:solidFill>
                  <a:srgbClr val="FFFFFF"/>
                </a:solidFill>
                <a:latin typeface="Calibri"/>
              </a:rPr>
              <a:t>2 min</a:t>
            </a:r>
          </a:p>
        </p:txBody>
      </p:sp>
      <p:sp>
        <p:nvSpPr>
          <p:cNvPr id="5" name="Chevron 4"/>
          <p:cNvSpPr/>
          <p:nvPr/>
        </p:nvSpPr>
        <p:spPr>
          <a:xfrm>
            <a:off x="2781604" y="1920240"/>
            <a:ext cx="2159812" cy="114300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B  Data &amp; pipeline</a:t>
            </a:r>
          </a:p>
          <a:p>
            <a:pPr algn="ctr"/>
            <a:r>
              <a:rPr sz="1300" b="0">
                <a:solidFill>
                  <a:srgbClr val="FFFFFF"/>
                </a:solidFill>
                <a:latin typeface="Calibri"/>
              </a:rPr>
              <a:t>4 min</a:t>
            </a:r>
          </a:p>
        </p:txBody>
      </p:sp>
      <p:sp>
        <p:nvSpPr>
          <p:cNvPr id="6" name="Chevron 5"/>
          <p:cNvSpPr/>
          <p:nvPr/>
        </p:nvSpPr>
        <p:spPr>
          <a:xfrm>
            <a:off x="5014569" y="1920240"/>
            <a:ext cx="2159812" cy="114300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C  Evaluation</a:t>
            </a:r>
          </a:p>
          <a:p>
            <a:pPr algn="ctr"/>
            <a:r>
              <a:rPr sz="1300" b="0">
                <a:solidFill>
                  <a:srgbClr val="FFFFFF"/>
                </a:solidFill>
                <a:latin typeface="Calibri"/>
              </a:rPr>
              <a:t>7 min</a:t>
            </a:r>
          </a:p>
        </p:txBody>
      </p:sp>
      <p:sp>
        <p:nvSpPr>
          <p:cNvPr id="7" name="Chevron 6"/>
          <p:cNvSpPr/>
          <p:nvPr/>
        </p:nvSpPr>
        <p:spPr>
          <a:xfrm>
            <a:off x="7247534" y="1920240"/>
            <a:ext cx="2159812" cy="114300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D  Findings</a:t>
            </a:r>
          </a:p>
          <a:p>
            <a:pPr algn="ctr"/>
            <a:r>
              <a:rPr sz="1300" b="0">
                <a:solidFill>
                  <a:srgbClr val="FFFFFF"/>
                </a:solidFill>
                <a:latin typeface="Calibri"/>
              </a:rPr>
              <a:t>5 min</a:t>
            </a:r>
          </a:p>
        </p:txBody>
      </p:sp>
      <p:sp>
        <p:nvSpPr>
          <p:cNvPr id="8" name="Chevron 7"/>
          <p:cNvSpPr/>
          <p:nvPr/>
        </p:nvSpPr>
        <p:spPr>
          <a:xfrm>
            <a:off x="9480499" y="1920240"/>
            <a:ext cx="2159812" cy="114300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E  Actions</a:t>
            </a:r>
          </a:p>
          <a:p>
            <a:pPr algn="ctr"/>
            <a:r>
              <a:rPr sz="1300" b="0">
                <a:solidFill>
                  <a:srgbClr val="FFFFFF"/>
                </a:solidFill>
                <a:latin typeface="Calibri"/>
              </a:rPr>
              <a:t>4 min</a:t>
            </a:r>
          </a:p>
        </p:txBody>
      </p:sp>
      <p:sp>
        <p:nvSpPr>
          <p:cNvPr id="9" name="Rounded Rectangle 8"/>
          <p:cNvSpPr/>
          <p:nvPr/>
        </p:nvSpPr>
        <p:spPr>
          <a:xfrm>
            <a:off x="548640" y="3657600"/>
            <a:ext cx="11091672" cy="16002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840480"/>
            <a:ext cx="10634472" cy="365760"/>
          </a:xfrm>
          <a:prstGeom prst="rect">
            <a:avLst/>
          </a:prstGeom>
          <a:noFill/>
        </p:spPr>
        <p:txBody>
          <a:bodyPr wrap="square" lIns="0" rIns="0" tIns="0" bIns="0" anchor="t">
            <a:spAutoFit/>
          </a:bodyPr>
          <a:lstStyle/>
          <a:p>
            <a:pPr algn="l">
              <a:spcAft>
                <a:spcPts val="600"/>
              </a:spcAft>
            </a:pPr>
            <a:r>
              <a:rPr sz="2000" b="1" i="0">
                <a:solidFill>
                  <a:srgbClr val="1C2E6E"/>
                </a:solidFill>
                <a:latin typeface="Calibri"/>
              </a:rPr>
              <a:t>The claim I'll defend</a:t>
            </a:r>
          </a:p>
        </p:txBody>
      </p:sp>
      <p:sp>
        <p:nvSpPr>
          <p:cNvPr id="11" name="TextBox 10"/>
          <p:cNvSpPr txBox="1"/>
          <p:nvPr/>
        </p:nvSpPr>
        <p:spPr>
          <a:xfrm>
            <a:off x="777240" y="4224528"/>
            <a:ext cx="10634472" cy="868680"/>
          </a:xfrm>
          <a:prstGeom prst="rect">
            <a:avLst/>
          </a:prstGeom>
          <a:noFill/>
        </p:spPr>
        <p:txBody>
          <a:bodyPr wrap="square" lIns="0" rIns="0" tIns="0" bIns="0" anchor="t">
            <a:spAutoFit/>
          </a:bodyPr>
          <a:lstStyle/>
          <a:p>
            <a:pPr algn="l">
              <a:spcAft>
                <a:spcPts val="600"/>
              </a:spcAft>
            </a:pPr>
            <a:r>
              <a:rPr sz="1800" b="1" i="0">
                <a:solidFill>
                  <a:srgbClr val="1E293B"/>
                </a:solidFill>
                <a:latin typeface="Calibri"/>
              </a:rPr>
              <a:t>Use an LLM for sentiment. </a:t>
            </a:r>
            <a:r>
              <a:rPr sz="1800" b="0" i="0">
                <a:solidFill>
                  <a:srgbClr val="1E293B"/>
                </a:solidFill>
                <a:latin typeface="Calibri"/>
              </a:rPr>
              <a:t>For issues, use keyword rules plus a targeted GPT-4o pass, and report honestly where that fails. </a:t>
            </a:r>
            <a:r>
              <a:rPr sz="1800" b="1" i="0">
                <a:solidFill>
                  <a:srgbClr val="1E293B"/>
                </a:solidFill>
                <a:latin typeface="Calibri"/>
              </a:rPr>
              <a:t>Put a person in the loop before acting. </a:t>
            </a:r>
            <a:r>
              <a:rPr sz="1800" b="0" i="0">
                <a:solidFill>
                  <a:srgbClr val="1E293B"/>
                </a:solidFill>
                <a:latin typeface="Calibri"/>
              </a:rPr>
              <a:t>Every number in this deck traces to a file in the repository.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4800" b="1">
                <a:solidFill>
                  <a:srgbClr val="FFFFFF"/>
                </a:solidFill>
                <a:latin typeface="Calibri"/>
              </a:rPr>
              <a:t>A</a:t>
            </a:r>
          </a:p>
        </p:txBody>
      </p:sp>
      <p:sp>
        <p:nvSpPr>
          <p:cNvPr id="3" name="TextBox 2"/>
          <p:cNvSpPr txBox="1"/>
          <p:nvPr/>
        </p:nvSpPr>
        <p:spPr>
          <a:xfrm>
            <a:off x="2423160" y="2011680"/>
            <a:ext cx="8686800" cy="822960"/>
          </a:xfrm>
          <a:prstGeom prst="rect">
            <a:avLst/>
          </a:prstGeom>
          <a:noFill/>
        </p:spPr>
        <p:txBody>
          <a:bodyPr wrap="square" lIns="0" rIns="0" tIns="0" bIns="0" anchor="t">
            <a:spAutoFit/>
          </a:bodyPr>
          <a:lstStyle/>
          <a:p>
            <a:pPr algn="l">
              <a:spcAft>
                <a:spcPts val="600"/>
              </a:spcAft>
            </a:pPr>
            <a:r>
              <a:rPr sz="4000" b="1" i="0">
                <a:solidFill>
                  <a:srgbClr val="1C2E6E"/>
                </a:solidFill>
                <a:latin typeface="Calibri"/>
              </a:rPr>
              <a:t>Problem and research questions</a:t>
            </a:r>
          </a:p>
        </p:txBody>
      </p:sp>
      <p:sp>
        <p:nvSpPr>
          <p:cNvPr id="4" name="TextBox 3"/>
          <p:cNvSpPr txBox="1"/>
          <p:nvPr/>
        </p:nvSpPr>
        <p:spPr>
          <a:xfrm>
            <a:off x="2423160" y="2834640"/>
            <a:ext cx="8686800" cy="548640"/>
          </a:xfrm>
          <a:prstGeom prst="rect">
            <a:avLst/>
          </a:prstGeom>
          <a:noFill/>
        </p:spPr>
        <p:txBody>
          <a:bodyPr wrap="square" lIns="0" rIns="0" tIns="0" bIns="0" anchor="t">
            <a:spAutoFit/>
          </a:bodyPr>
          <a:lstStyle/>
          <a:p>
            <a:pPr algn="l">
              <a:spcAft>
                <a:spcPts val="600"/>
              </a:spcAft>
            </a:pPr>
            <a:r>
              <a:rPr sz="2000" b="0" i="0">
                <a:solidFill>
                  <a:srgbClr val="5B6475"/>
                </a:solidFill>
                <a:latin typeface="Calibri"/>
              </a:rPr>
              <a:t>Why forum posts, and what I set out to answer</a:t>
            </a:r>
          </a:p>
        </p:txBody>
      </p:sp>
      <p:sp>
        <p:nvSpPr>
          <p:cNvPr id="5" name="TextBox 4"/>
          <p:cNvSpPr txBox="1"/>
          <p:nvPr/>
        </p:nvSpPr>
        <p:spPr>
          <a:xfrm>
            <a:off x="2423160" y="3520440"/>
            <a:ext cx="8686800" cy="365760"/>
          </a:xfrm>
          <a:prstGeom prst="rect">
            <a:avLst/>
          </a:prstGeom>
          <a:noFill/>
        </p:spPr>
        <p:txBody>
          <a:bodyPr wrap="square" lIns="0" rIns="0" tIns="0" bIns="0" anchor="t">
            <a:spAutoFit/>
          </a:bodyPr>
          <a:lstStyle/>
          <a:p>
            <a:pPr algn="l">
              <a:spcAft>
                <a:spcPts val="600"/>
              </a:spcAft>
            </a:pPr>
            <a:r>
              <a:rPr sz="1600" b="1" i="0">
                <a:solidFill>
                  <a:srgbClr val="D29B08"/>
                </a:solidFill>
                <a:latin typeface="Calibri"/>
              </a:rPr>
              <a:t>About 2 minutes</a:t>
            </a:r>
          </a:p>
        </p:txBody>
      </p:sp>
      <p:sp>
        <p:nvSpPr>
          <p:cNvPr id="6" name="TextBox 5"/>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Forums surface pain points before surveys do</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4</a:t>
            </a:r>
          </a:p>
        </p:txBody>
      </p:sp>
      <p:sp>
        <p:nvSpPr>
          <p:cNvPr id="4" name="TextBox 3"/>
          <p:cNvSpPr txBox="1"/>
          <p:nvPr/>
        </p:nvSpPr>
        <p:spPr>
          <a:xfrm>
            <a:off x="548640" y="1737360"/>
            <a:ext cx="4937760" cy="4206240"/>
          </a:xfrm>
          <a:prstGeom prst="rect">
            <a:avLst/>
          </a:prstGeom>
          <a:noFill/>
        </p:spPr>
        <p:txBody>
          <a:bodyPr wrap="square" lIns="0" rIns="0" tIns="0" bIns="0" anchor="t">
            <a:spAutoFit/>
          </a:bodyPr>
          <a:lstStyle/>
          <a:p>
            <a:pPr algn="l" marL="256032" indent="-256032">
              <a:spcAft>
                <a:spcPts val="1400"/>
              </a:spcAft>
              <a:buClr>
                <a:srgbClr val="D29B08"/>
              </a:buClr>
              <a:buFont typeface="Arial"/>
              <a:buChar char="•"/>
            </a:pPr>
            <a:r>
              <a:rPr sz="1700" b="0" i="0">
                <a:solidFill>
                  <a:srgbClr val="1E293B"/>
                </a:solidFill>
                <a:latin typeface="Calibri"/>
              </a:rPr>
              <a:t>Customers discuss plans, coverage, roaming and porting in public, unprompted</a:t>
            </a:r>
          </a:p>
          <a:p>
            <a:pPr algn="l" marL="256032" indent="-256032">
              <a:spcAft>
                <a:spcPts val="1400"/>
              </a:spcAft>
              <a:buClr>
                <a:srgbClr val="D29B08"/>
              </a:buClr>
              <a:buFont typeface="Arial"/>
              <a:buChar char="•"/>
            </a:pPr>
            <a:r>
              <a:rPr sz="1700" b="0" i="0">
                <a:solidFill>
                  <a:srgbClr val="1E293B"/>
                </a:solidFill>
                <a:latin typeface="Calibri"/>
              </a:rPr>
              <a:t>The text is hard: Singlish, sarcasm, quoted replies, several brands in one post</a:t>
            </a:r>
          </a:p>
          <a:p>
            <a:pPr algn="l" marL="256032" indent="-256032">
              <a:spcAft>
                <a:spcPts val="1400"/>
              </a:spcAft>
              <a:buClr>
                <a:srgbClr val="D29B08"/>
              </a:buClr>
              <a:buFont typeface="Arial"/>
              <a:buChar char="•"/>
            </a:pPr>
            <a:r>
              <a:rPr sz="1700" b="0" i="0">
                <a:solidFill>
                  <a:srgbClr val="1E293B"/>
                </a:solidFill>
                <a:latin typeface="Calibri"/>
              </a:rPr>
              <a:t>Brand names collide with ordinary words: “Eight”, “M1”, “Giga”</a:t>
            </a:r>
          </a:p>
          <a:p>
            <a:pPr algn="l" marL="256032" indent="-256032">
              <a:spcAft>
                <a:spcPts val="1400"/>
              </a:spcAft>
              <a:buClr>
                <a:srgbClr val="D29B08"/>
              </a:buClr>
              <a:buFont typeface="Arial"/>
              <a:buChar char="•"/>
            </a:pPr>
            <a:r>
              <a:rPr sz="1700" b="0" i="0">
                <a:solidFill>
                  <a:srgbClr val="1E293B"/>
                </a:solidFill>
                <a:latin typeface="Calibri"/>
              </a:rPr>
              <a:t>Goal: an early-warning screen that routes issues to owners, not a CSAT or NPS score</a:t>
            </a:r>
          </a:p>
        </p:txBody>
      </p:sp>
      <p:sp>
        <p:nvSpPr>
          <p:cNvPr id="5" name="Rounded Rectangle 4"/>
          <p:cNvSpPr/>
          <p:nvPr/>
        </p:nvSpPr>
        <p:spPr>
          <a:xfrm>
            <a:off x="5943600" y="1737360"/>
            <a:ext cx="5696712" cy="93268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0" y="1737360"/>
            <a:ext cx="822960" cy="932688"/>
          </a:xfrm>
          <a:prstGeom prst="rect">
            <a:avLst/>
          </a:prstGeom>
          <a:noFill/>
        </p:spPr>
        <p:txBody>
          <a:bodyPr wrap="square" lIns="0" rIns="0" tIns="0" bIns="0" anchor="ctr">
            <a:spAutoFit/>
          </a:bodyPr>
          <a:lstStyle/>
          <a:p>
            <a:pPr algn="l">
              <a:spcAft>
                <a:spcPts val="600"/>
              </a:spcAft>
            </a:pPr>
            <a:r>
              <a:rPr sz="2000" b="1" i="0">
                <a:solidFill>
                  <a:srgbClr val="D29B08"/>
                </a:solidFill>
                <a:latin typeface="Calibri"/>
              </a:rPr>
              <a:t>RQ1</a:t>
            </a:r>
          </a:p>
        </p:txBody>
      </p:sp>
      <p:sp>
        <p:nvSpPr>
          <p:cNvPr id="7" name="TextBox 6"/>
          <p:cNvSpPr txBox="1"/>
          <p:nvPr/>
        </p:nvSpPr>
        <p:spPr>
          <a:xfrm>
            <a:off x="6995160" y="1737360"/>
            <a:ext cx="4480560" cy="932688"/>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Which sentiment and issue themes appear most often?</a:t>
            </a:r>
          </a:p>
        </p:txBody>
      </p:sp>
      <p:sp>
        <p:nvSpPr>
          <p:cNvPr id="8" name="Rounded Rectangle 7"/>
          <p:cNvSpPr/>
          <p:nvPr/>
        </p:nvSpPr>
        <p:spPr>
          <a:xfrm>
            <a:off x="5943600" y="2834640"/>
            <a:ext cx="5696712" cy="93268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2834640"/>
            <a:ext cx="822960" cy="932688"/>
          </a:xfrm>
          <a:prstGeom prst="rect">
            <a:avLst/>
          </a:prstGeom>
          <a:noFill/>
        </p:spPr>
        <p:txBody>
          <a:bodyPr wrap="square" lIns="0" rIns="0" tIns="0" bIns="0" anchor="ctr">
            <a:spAutoFit/>
          </a:bodyPr>
          <a:lstStyle/>
          <a:p>
            <a:pPr algn="l">
              <a:spcAft>
                <a:spcPts val="600"/>
              </a:spcAft>
            </a:pPr>
            <a:r>
              <a:rPr sz="2000" b="1" i="0">
                <a:solidFill>
                  <a:srgbClr val="D29B08"/>
                </a:solidFill>
                <a:latin typeface="Calibri"/>
              </a:rPr>
              <a:t>RQ2</a:t>
            </a:r>
          </a:p>
        </p:txBody>
      </p:sp>
      <p:sp>
        <p:nvSpPr>
          <p:cNvPr id="10" name="TextBox 9"/>
          <p:cNvSpPr txBox="1"/>
          <p:nvPr/>
        </p:nvSpPr>
        <p:spPr>
          <a:xfrm>
            <a:off x="6995160" y="2834640"/>
            <a:ext cx="4480560" cy="932688"/>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How do Reddit and HWZ, and the brands, differ?</a:t>
            </a:r>
          </a:p>
        </p:txBody>
      </p:sp>
      <p:sp>
        <p:nvSpPr>
          <p:cNvPr id="11" name="Rounded Rectangle 10"/>
          <p:cNvSpPr/>
          <p:nvPr/>
        </p:nvSpPr>
        <p:spPr>
          <a:xfrm>
            <a:off x="5943600" y="3931920"/>
            <a:ext cx="5696712" cy="93268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3931920"/>
            <a:ext cx="822960" cy="932688"/>
          </a:xfrm>
          <a:prstGeom prst="rect">
            <a:avLst/>
          </a:prstGeom>
          <a:noFill/>
        </p:spPr>
        <p:txBody>
          <a:bodyPr wrap="square" lIns="0" rIns="0" tIns="0" bIns="0" anchor="ctr">
            <a:spAutoFit/>
          </a:bodyPr>
          <a:lstStyle/>
          <a:p>
            <a:pPr algn="l">
              <a:spcAft>
                <a:spcPts val="600"/>
              </a:spcAft>
            </a:pPr>
            <a:r>
              <a:rPr sz="2000" b="1" i="0">
                <a:solidFill>
                  <a:srgbClr val="D29B08"/>
                </a:solidFill>
                <a:latin typeface="Calibri"/>
              </a:rPr>
              <a:t>RQ3</a:t>
            </a:r>
          </a:p>
        </p:txBody>
      </p:sp>
      <p:sp>
        <p:nvSpPr>
          <p:cNvPr id="13" name="TextBox 12"/>
          <p:cNvSpPr txBox="1"/>
          <p:nvPr/>
        </p:nvSpPr>
        <p:spPr>
          <a:xfrm>
            <a:off x="6995160" y="3931920"/>
            <a:ext cx="4480560" cy="932688"/>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What does an LLM add over VADER and keyword rules?</a:t>
            </a:r>
          </a:p>
        </p:txBody>
      </p:sp>
      <p:sp>
        <p:nvSpPr>
          <p:cNvPr id="14" name="Rounded Rectangle 13"/>
          <p:cNvSpPr/>
          <p:nvPr/>
        </p:nvSpPr>
        <p:spPr>
          <a:xfrm>
            <a:off x="5943600" y="5029200"/>
            <a:ext cx="5696712" cy="93268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5029200"/>
            <a:ext cx="822960" cy="932688"/>
          </a:xfrm>
          <a:prstGeom prst="rect">
            <a:avLst/>
          </a:prstGeom>
          <a:noFill/>
        </p:spPr>
        <p:txBody>
          <a:bodyPr wrap="square" lIns="0" rIns="0" tIns="0" bIns="0" anchor="ctr">
            <a:spAutoFit/>
          </a:bodyPr>
          <a:lstStyle/>
          <a:p>
            <a:pPr algn="l">
              <a:spcAft>
                <a:spcPts val="600"/>
              </a:spcAft>
            </a:pPr>
            <a:r>
              <a:rPr sz="2000" b="1" i="0">
                <a:solidFill>
                  <a:srgbClr val="D29B08"/>
                </a:solidFill>
                <a:latin typeface="Calibri"/>
              </a:rPr>
              <a:t>RQ4</a:t>
            </a:r>
          </a:p>
        </p:txBody>
      </p:sp>
      <p:sp>
        <p:nvSpPr>
          <p:cNvPr id="16" name="TextBox 15"/>
          <p:cNvSpPr txBox="1"/>
          <p:nvPr/>
        </p:nvSpPr>
        <p:spPr>
          <a:xfrm>
            <a:off x="6995160" y="5029200"/>
            <a:ext cx="4480560" cy="932688"/>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How can the signals drive operator decisions?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4800" b="1">
                <a:solidFill>
                  <a:srgbClr val="FFFFFF"/>
                </a:solidFill>
                <a:latin typeface="Calibri"/>
              </a:rPr>
              <a:t>B</a:t>
            </a:r>
          </a:p>
        </p:txBody>
      </p:sp>
      <p:sp>
        <p:nvSpPr>
          <p:cNvPr id="3" name="TextBox 2"/>
          <p:cNvSpPr txBox="1"/>
          <p:nvPr/>
        </p:nvSpPr>
        <p:spPr>
          <a:xfrm>
            <a:off x="2423160" y="2011680"/>
            <a:ext cx="8686800" cy="822960"/>
          </a:xfrm>
          <a:prstGeom prst="rect">
            <a:avLst/>
          </a:prstGeom>
          <a:noFill/>
        </p:spPr>
        <p:txBody>
          <a:bodyPr wrap="square" lIns="0" rIns="0" tIns="0" bIns="0" anchor="t">
            <a:spAutoFit/>
          </a:bodyPr>
          <a:lstStyle/>
          <a:p>
            <a:pPr algn="l">
              <a:spcAft>
                <a:spcPts val="600"/>
              </a:spcAft>
            </a:pPr>
            <a:r>
              <a:rPr sz="4000" b="1" i="0">
                <a:solidFill>
                  <a:srgbClr val="1C2E6E"/>
                </a:solidFill>
                <a:latin typeface="Calibri"/>
              </a:rPr>
              <a:t>Data and pipeline</a:t>
            </a:r>
          </a:p>
        </p:txBody>
      </p:sp>
      <p:sp>
        <p:nvSpPr>
          <p:cNvPr id="4" name="TextBox 3"/>
          <p:cNvSpPr txBox="1"/>
          <p:nvPr/>
        </p:nvSpPr>
        <p:spPr>
          <a:xfrm>
            <a:off x="2423160" y="2834640"/>
            <a:ext cx="8686800" cy="548640"/>
          </a:xfrm>
          <a:prstGeom prst="rect">
            <a:avLst/>
          </a:prstGeom>
          <a:noFill/>
        </p:spPr>
        <p:txBody>
          <a:bodyPr wrap="square" lIns="0" rIns="0" tIns="0" bIns="0" anchor="t">
            <a:spAutoFit/>
          </a:bodyPr>
          <a:lstStyle/>
          <a:p>
            <a:pPr algn="l">
              <a:spcAft>
                <a:spcPts val="600"/>
              </a:spcAft>
            </a:pPr>
            <a:r>
              <a:rPr sz="2000" b="0" i="0">
                <a:solidFill>
                  <a:srgbClr val="5B6475"/>
                </a:solidFill>
                <a:latin typeface="Calibri"/>
              </a:rPr>
              <a:t>What I collected and how it flows</a:t>
            </a:r>
          </a:p>
        </p:txBody>
      </p:sp>
      <p:sp>
        <p:nvSpPr>
          <p:cNvPr id="5" name="TextBox 4"/>
          <p:cNvSpPr txBox="1"/>
          <p:nvPr/>
        </p:nvSpPr>
        <p:spPr>
          <a:xfrm>
            <a:off x="2423160" y="3520440"/>
            <a:ext cx="8686800" cy="365760"/>
          </a:xfrm>
          <a:prstGeom prst="rect">
            <a:avLst/>
          </a:prstGeom>
          <a:noFill/>
        </p:spPr>
        <p:txBody>
          <a:bodyPr wrap="square" lIns="0" rIns="0" tIns="0" bIns="0" anchor="t">
            <a:spAutoFit/>
          </a:bodyPr>
          <a:lstStyle/>
          <a:p>
            <a:pPr algn="l">
              <a:spcAft>
                <a:spcPts val="600"/>
              </a:spcAft>
            </a:pPr>
            <a:r>
              <a:rPr sz="1600" b="1" i="0">
                <a:solidFill>
                  <a:srgbClr val="D29B08"/>
                </a:solidFill>
                <a:latin typeface="Calibri"/>
              </a:rPr>
              <a:t>About 4 minutes</a:t>
            </a:r>
          </a:p>
        </p:txBody>
      </p:sp>
      <p:sp>
        <p:nvSpPr>
          <p:cNvPr id="6" name="TextBox 5"/>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One reproducible pipeline in six stages</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6</a:t>
            </a:r>
          </a:p>
        </p:txBody>
      </p:sp>
      <p:sp>
        <p:nvSpPr>
          <p:cNvPr id="4" name="Pentagon 3"/>
          <p:cNvSpPr/>
          <p:nvPr/>
        </p:nvSpPr>
        <p:spPr>
          <a:xfrm>
            <a:off x="548640" y="1828800"/>
            <a:ext cx="1787652" cy="1188720"/>
          </a:xfrm>
          <a:prstGeom prst="homePlate">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Scrape</a:t>
            </a:r>
          </a:p>
        </p:txBody>
      </p:sp>
      <p:sp>
        <p:nvSpPr>
          <p:cNvPr id="5" name="Chevron 4"/>
          <p:cNvSpPr/>
          <p:nvPr/>
        </p:nvSpPr>
        <p:spPr>
          <a:xfrm>
            <a:off x="2409444"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Clean</a:t>
            </a:r>
          </a:p>
        </p:txBody>
      </p:sp>
      <p:sp>
        <p:nvSpPr>
          <p:cNvPr id="6" name="Chevron 5"/>
          <p:cNvSpPr/>
          <p:nvPr/>
        </p:nvSpPr>
        <p:spPr>
          <a:xfrm>
            <a:off x="4270248"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Label</a:t>
            </a:r>
          </a:p>
        </p:txBody>
      </p:sp>
      <p:sp>
        <p:nvSpPr>
          <p:cNvPr id="7" name="Chevron 6"/>
          <p:cNvSpPr/>
          <p:nvPr/>
        </p:nvSpPr>
        <p:spPr>
          <a:xfrm>
            <a:off x="6131052"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Issues</a:t>
            </a:r>
          </a:p>
        </p:txBody>
      </p:sp>
      <p:sp>
        <p:nvSpPr>
          <p:cNvPr id="8" name="Chevron 7"/>
          <p:cNvSpPr/>
          <p:nvPr/>
        </p:nvSpPr>
        <p:spPr>
          <a:xfrm>
            <a:off x="7991856"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Evaluate</a:t>
            </a:r>
          </a:p>
        </p:txBody>
      </p:sp>
      <p:sp>
        <p:nvSpPr>
          <p:cNvPr id="9" name="Chevron 8"/>
          <p:cNvSpPr/>
          <p:nvPr/>
        </p:nvSpPr>
        <p:spPr>
          <a:xfrm>
            <a:off x="9852660"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Dashboard</a:t>
            </a:r>
          </a:p>
        </p:txBody>
      </p:sp>
      <p:sp>
        <p:nvSpPr>
          <p:cNvPr id="10" name="TextBox 9"/>
          <p:cNvSpPr txBox="1"/>
          <p:nvPr/>
        </p:nvSpPr>
        <p:spPr>
          <a:xfrm>
            <a:off x="594360" y="3246120"/>
            <a:ext cx="1696212" cy="457200"/>
          </a:xfrm>
          <a:prstGeom prst="rect">
            <a:avLst/>
          </a:prstGeom>
          <a:noFill/>
        </p:spPr>
        <p:txBody>
          <a:bodyPr wrap="square" lIns="0" rIns="0" tIns="0" bIns="0" anchor="t">
            <a:spAutoFit/>
          </a:bodyPr>
          <a:lstStyle/>
          <a:p>
            <a:pPr algn="l">
              <a:spcAft>
                <a:spcPts val="600"/>
              </a:spcAft>
            </a:pPr>
            <a:r>
              <a:rPr sz="1200" b="1" i="0">
                <a:solidFill>
                  <a:srgbClr val="1C2E6E"/>
                </a:solidFill>
                <a:latin typeface="Calibri"/>
              </a:rPr>
              <a:t>scrapers/</a:t>
            </a:r>
          </a:p>
        </p:txBody>
      </p:sp>
      <p:sp>
        <p:nvSpPr>
          <p:cNvPr id="11" name="TextBox 10"/>
          <p:cNvSpPr txBox="1"/>
          <p:nvPr/>
        </p:nvSpPr>
        <p:spPr>
          <a:xfrm>
            <a:off x="594360" y="3657600"/>
            <a:ext cx="1696212" cy="118872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Reddit JSON API, HWZ XenForo threads</a:t>
            </a:r>
          </a:p>
        </p:txBody>
      </p:sp>
      <p:sp>
        <p:nvSpPr>
          <p:cNvPr id="12" name="TextBox 11"/>
          <p:cNvSpPr txBox="1"/>
          <p:nvPr/>
        </p:nvSpPr>
        <p:spPr>
          <a:xfrm>
            <a:off x="2455164" y="3246120"/>
            <a:ext cx="1696212" cy="457200"/>
          </a:xfrm>
          <a:prstGeom prst="rect">
            <a:avLst/>
          </a:prstGeom>
          <a:noFill/>
        </p:spPr>
        <p:txBody>
          <a:bodyPr wrap="square" lIns="0" rIns="0" tIns="0" bIns="0" anchor="t">
            <a:spAutoFit/>
          </a:bodyPr>
          <a:lstStyle/>
          <a:p>
            <a:pPr algn="l">
              <a:spcAft>
                <a:spcPts val="600"/>
              </a:spcAft>
            </a:pPr>
            <a:r>
              <a:rPr sz="1200" b="1" i="0">
                <a:solidFill>
                  <a:srgbClr val="1C2E6E"/>
                </a:solidFill>
                <a:latin typeface="Calibri"/>
              </a:rPr>
              <a:t>preprocess.py</a:t>
            </a:r>
          </a:p>
        </p:txBody>
      </p:sp>
      <p:sp>
        <p:nvSpPr>
          <p:cNvPr id="13" name="TextBox 12"/>
          <p:cNvSpPr txBox="1"/>
          <p:nvPr/>
        </p:nvSpPr>
        <p:spPr>
          <a:xfrm>
            <a:off x="2455164" y="3657600"/>
            <a:ext cx="1696212" cy="118872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One schema, drop empty and short posts</a:t>
            </a:r>
          </a:p>
        </p:txBody>
      </p:sp>
      <p:sp>
        <p:nvSpPr>
          <p:cNvPr id="14" name="TextBox 13"/>
          <p:cNvSpPr txBox="1"/>
          <p:nvPr/>
        </p:nvSpPr>
        <p:spPr>
          <a:xfrm>
            <a:off x="4315968" y="3246120"/>
            <a:ext cx="1696212" cy="457200"/>
          </a:xfrm>
          <a:prstGeom prst="rect">
            <a:avLst/>
          </a:prstGeom>
          <a:noFill/>
        </p:spPr>
        <p:txBody>
          <a:bodyPr wrap="square" lIns="0" rIns="0" tIns="0" bIns="0" anchor="t">
            <a:spAutoFit/>
          </a:bodyPr>
          <a:lstStyle/>
          <a:p>
            <a:pPr algn="l">
              <a:spcAft>
                <a:spcPts val="600"/>
              </a:spcAft>
            </a:pPr>
            <a:r>
              <a:rPr sz="1200" b="1" i="0">
                <a:solidFill>
                  <a:srgbClr val="1C2E6E"/>
                </a:solidFill>
                <a:latin typeface="Calibri"/>
              </a:rPr>
              <a:t>telco_labeler.py</a:t>
            </a:r>
          </a:p>
        </p:txBody>
      </p:sp>
      <p:sp>
        <p:nvSpPr>
          <p:cNvPr id="15" name="TextBox 14"/>
          <p:cNvSpPr txBox="1"/>
          <p:nvPr/>
        </p:nvSpPr>
        <p:spPr>
          <a:xfrm>
            <a:off x="4315968" y="3657600"/>
            <a:ext cx="1696212" cy="118872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Brand regex with context, VADER score</a:t>
            </a:r>
          </a:p>
        </p:txBody>
      </p:sp>
      <p:sp>
        <p:nvSpPr>
          <p:cNvPr id="16" name="TextBox 15"/>
          <p:cNvSpPr txBox="1"/>
          <p:nvPr/>
        </p:nvSpPr>
        <p:spPr>
          <a:xfrm>
            <a:off x="6176772" y="3246120"/>
            <a:ext cx="1696212" cy="457200"/>
          </a:xfrm>
          <a:prstGeom prst="rect">
            <a:avLst/>
          </a:prstGeom>
          <a:noFill/>
        </p:spPr>
        <p:txBody>
          <a:bodyPr wrap="square" lIns="0" rIns="0" tIns="0" bIns="0" anchor="t">
            <a:spAutoFit/>
          </a:bodyPr>
          <a:lstStyle/>
          <a:p>
            <a:pPr algn="l">
              <a:spcAft>
                <a:spcPts val="600"/>
              </a:spcAft>
            </a:pPr>
            <a:r>
              <a:rPr sz="1200" b="1" i="0">
                <a:solidFill>
                  <a:srgbClr val="1C2E6E"/>
                </a:solidFill>
                <a:latin typeface="Calibri"/>
              </a:rPr>
              <a:t>issue_extraction.py</a:t>
            </a:r>
          </a:p>
        </p:txBody>
      </p:sp>
      <p:sp>
        <p:nvSpPr>
          <p:cNvPr id="17" name="TextBox 16"/>
          <p:cNvSpPr txBox="1"/>
          <p:nvPr/>
        </p:nvSpPr>
        <p:spPr>
          <a:xfrm>
            <a:off x="6176772" y="3657600"/>
            <a:ext cx="1696212" cy="118872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10 keyword labels, then GPT-4o on leftovers</a:t>
            </a:r>
          </a:p>
        </p:txBody>
      </p:sp>
      <p:sp>
        <p:nvSpPr>
          <p:cNvPr id="18" name="TextBox 17"/>
          <p:cNvSpPr txBox="1"/>
          <p:nvPr/>
        </p:nvSpPr>
        <p:spPr>
          <a:xfrm>
            <a:off x="8037576" y="3246120"/>
            <a:ext cx="1696212" cy="457200"/>
          </a:xfrm>
          <a:prstGeom prst="rect">
            <a:avLst/>
          </a:prstGeom>
          <a:noFill/>
        </p:spPr>
        <p:txBody>
          <a:bodyPr wrap="square" lIns="0" rIns="0" tIns="0" bIns="0" anchor="t">
            <a:spAutoFit/>
          </a:bodyPr>
          <a:lstStyle/>
          <a:p>
            <a:pPr algn="l">
              <a:spcAft>
                <a:spcPts val="600"/>
              </a:spcAft>
            </a:pPr>
            <a:r>
              <a:rPr sz="1200" b="1" i="0">
                <a:solidFill>
                  <a:srgbClr val="1C2E6E"/>
                </a:solidFill>
                <a:latin typeface="Calibri"/>
              </a:rPr>
              <a:t>llm_evaluation.py</a:t>
            </a:r>
          </a:p>
        </p:txBody>
      </p:sp>
      <p:sp>
        <p:nvSpPr>
          <p:cNvPr id="19" name="TextBox 18"/>
          <p:cNvSpPr txBox="1"/>
          <p:nvPr/>
        </p:nvSpPr>
        <p:spPr>
          <a:xfrm>
            <a:off x="8037576" y="3657600"/>
            <a:ext cx="1696212" cy="118872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VADER, rules, GPT-4o-mini, GPT-4o vs humans</a:t>
            </a:r>
          </a:p>
        </p:txBody>
      </p:sp>
      <p:sp>
        <p:nvSpPr>
          <p:cNvPr id="20" name="TextBox 19"/>
          <p:cNvSpPr txBox="1"/>
          <p:nvPr/>
        </p:nvSpPr>
        <p:spPr>
          <a:xfrm>
            <a:off x="9898380" y="3246120"/>
            <a:ext cx="1696212" cy="457200"/>
          </a:xfrm>
          <a:prstGeom prst="rect">
            <a:avLst/>
          </a:prstGeom>
          <a:noFill/>
        </p:spPr>
        <p:txBody>
          <a:bodyPr wrap="square" lIns="0" rIns="0" tIns="0" bIns="0" anchor="t">
            <a:spAutoFit/>
          </a:bodyPr>
          <a:lstStyle/>
          <a:p>
            <a:pPr algn="l">
              <a:spcAft>
                <a:spcPts val="600"/>
              </a:spcAft>
            </a:pPr>
            <a:r>
              <a:rPr sz="1200" b="1" i="0">
                <a:solidFill>
                  <a:srgbClr val="1C2E6E"/>
                </a:solidFill>
                <a:latin typeface="Calibri"/>
              </a:rPr>
              <a:t>generate_dashboard.py</a:t>
            </a:r>
          </a:p>
        </p:txBody>
      </p:sp>
      <p:sp>
        <p:nvSpPr>
          <p:cNvPr id="21" name="TextBox 20"/>
          <p:cNvSpPr txBox="1"/>
          <p:nvPr/>
        </p:nvSpPr>
        <p:spPr>
          <a:xfrm>
            <a:off x="9898380" y="3657600"/>
            <a:ext cx="1696212" cy="118872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Static Chart.js HTML, no server</a:t>
            </a:r>
          </a:p>
        </p:txBody>
      </p:sp>
      <p:sp>
        <p:nvSpPr>
          <p:cNvPr id="22" name="Rounded Rectangle 21"/>
          <p:cNvSpPr/>
          <p:nvPr/>
        </p:nvSpPr>
        <p:spPr>
          <a:xfrm>
            <a:off x="548640" y="5074920"/>
            <a:ext cx="11091672" cy="86868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074920"/>
            <a:ext cx="10634472" cy="868680"/>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Every stage writes a CSV to data/processed/, so every number in the report traces to a 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15,504 rows, but 1,706 posts worth analysing</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7</a:t>
            </a:r>
          </a:p>
        </p:txBody>
      </p:sp>
      <p:sp>
        <p:nvSpPr>
          <p:cNvPr id="4" name="Rounded Rectangle 3"/>
          <p:cNvSpPr/>
          <p:nvPr/>
        </p:nvSpPr>
        <p:spPr>
          <a:xfrm>
            <a:off x="548640" y="1828800"/>
            <a:ext cx="2606040" cy="201168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57400"/>
            <a:ext cx="2194560" cy="579120"/>
          </a:xfrm>
          <a:prstGeom prst="rect">
            <a:avLst/>
          </a:prstGeom>
          <a:noFill/>
        </p:spPr>
        <p:txBody>
          <a:bodyPr wrap="square" lIns="0" rIns="0" tIns="0" bIns="0" anchor="t">
            <a:spAutoFit/>
          </a:bodyPr>
          <a:lstStyle/>
          <a:p>
            <a:pPr algn="l">
              <a:spcAft>
                <a:spcPts val="600"/>
              </a:spcAft>
            </a:pPr>
            <a:r>
              <a:rPr sz="3800" b="1" i="0">
                <a:solidFill>
                  <a:srgbClr val="1C2E6E"/>
                </a:solidFill>
                <a:latin typeface="Calibri"/>
              </a:rPr>
              <a:t>15,504</a:t>
            </a:r>
          </a:p>
        </p:txBody>
      </p:sp>
      <p:sp>
        <p:nvSpPr>
          <p:cNvPr id="6" name="TextBox 5"/>
          <p:cNvSpPr txBox="1"/>
          <p:nvPr/>
        </p:nvSpPr>
        <p:spPr>
          <a:xfrm>
            <a:off x="777240" y="2682240"/>
            <a:ext cx="2194560" cy="822960"/>
          </a:xfrm>
          <a:prstGeom prst="rect">
            <a:avLst/>
          </a:prstGeom>
          <a:noFill/>
        </p:spPr>
        <p:txBody>
          <a:bodyPr wrap="square" lIns="0" rIns="0" tIns="0" bIns="0" anchor="t">
            <a:spAutoFit/>
          </a:bodyPr>
          <a:lstStyle/>
          <a:p>
            <a:pPr algn="l">
              <a:spcAft>
                <a:spcPts val="600"/>
              </a:spcAft>
            </a:pPr>
            <a:r>
              <a:rPr sz="1500" b="0" i="0">
                <a:solidFill>
                  <a:srgbClr val="5B6475"/>
                </a:solidFill>
                <a:latin typeface="Calibri"/>
              </a:rPr>
              <a:t>scraped rows</a:t>
            </a:r>
          </a:p>
        </p:txBody>
      </p:sp>
      <p:sp>
        <p:nvSpPr>
          <p:cNvPr id="7" name="Rounded Rectangle 6"/>
          <p:cNvSpPr/>
          <p:nvPr/>
        </p:nvSpPr>
        <p:spPr>
          <a:xfrm>
            <a:off x="3383280" y="1828800"/>
            <a:ext cx="2606040" cy="201168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2057400"/>
            <a:ext cx="2194560" cy="579120"/>
          </a:xfrm>
          <a:prstGeom prst="rect">
            <a:avLst/>
          </a:prstGeom>
          <a:noFill/>
        </p:spPr>
        <p:txBody>
          <a:bodyPr wrap="square" lIns="0" rIns="0" tIns="0" bIns="0" anchor="t">
            <a:spAutoFit/>
          </a:bodyPr>
          <a:lstStyle/>
          <a:p>
            <a:pPr algn="l">
              <a:spcAft>
                <a:spcPts val="600"/>
              </a:spcAft>
            </a:pPr>
            <a:r>
              <a:rPr sz="3800" b="1" i="0">
                <a:solidFill>
                  <a:srgbClr val="1C2E6E"/>
                </a:solidFill>
                <a:latin typeface="Calibri"/>
              </a:rPr>
              <a:t>2,686</a:t>
            </a:r>
          </a:p>
        </p:txBody>
      </p:sp>
      <p:sp>
        <p:nvSpPr>
          <p:cNvPr id="9" name="TextBox 8"/>
          <p:cNvSpPr txBox="1"/>
          <p:nvPr/>
        </p:nvSpPr>
        <p:spPr>
          <a:xfrm>
            <a:off x="3611880" y="2682240"/>
            <a:ext cx="2194560" cy="822960"/>
          </a:xfrm>
          <a:prstGeom prst="rect">
            <a:avLst/>
          </a:prstGeom>
          <a:noFill/>
        </p:spPr>
        <p:txBody>
          <a:bodyPr wrap="square" lIns="0" rIns="0" tIns="0" bIns="0" anchor="t">
            <a:spAutoFit/>
          </a:bodyPr>
          <a:lstStyle/>
          <a:p>
            <a:pPr algn="l">
              <a:spcAft>
                <a:spcPts val="600"/>
              </a:spcAft>
            </a:pPr>
            <a:r>
              <a:rPr sz="1500" b="0" i="0">
                <a:solidFill>
                  <a:srgbClr val="5B6475"/>
                </a:solidFill>
                <a:latin typeface="Calibri"/>
              </a:rPr>
              <a:t>unique posts</a:t>
            </a:r>
          </a:p>
        </p:txBody>
      </p:sp>
      <p:sp>
        <p:nvSpPr>
          <p:cNvPr id="10" name="Rounded Rectangle 9"/>
          <p:cNvSpPr/>
          <p:nvPr/>
        </p:nvSpPr>
        <p:spPr>
          <a:xfrm>
            <a:off x="6217920" y="1828800"/>
            <a:ext cx="2606040" cy="201168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057400"/>
            <a:ext cx="2194560" cy="579120"/>
          </a:xfrm>
          <a:prstGeom prst="rect">
            <a:avLst/>
          </a:prstGeom>
          <a:noFill/>
        </p:spPr>
        <p:txBody>
          <a:bodyPr wrap="square" lIns="0" rIns="0" tIns="0" bIns="0" anchor="t">
            <a:spAutoFit/>
          </a:bodyPr>
          <a:lstStyle/>
          <a:p>
            <a:pPr algn="l">
              <a:spcAft>
                <a:spcPts val="600"/>
              </a:spcAft>
            </a:pPr>
            <a:r>
              <a:rPr sz="3800" b="1" i="0">
                <a:solidFill>
                  <a:srgbClr val="1C2E6E"/>
                </a:solidFill>
                <a:latin typeface="Calibri"/>
              </a:rPr>
              <a:t>1,706</a:t>
            </a:r>
          </a:p>
        </p:txBody>
      </p:sp>
      <p:sp>
        <p:nvSpPr>
          <p:cNvPr id="12" name="TextBox 11"/>
          <p:cNvSpPr txBox="1"/>
          <p:nvPr/>
        </p:nvSpPr>
        <p:spPr>
          <a:xfrm>
            <a:off x="6446520" y="2682240"/>
            <a:ext cx="2194560" cy="822960"/>
          </a:xfrm>
          <a:prstGeom prst="rect">
            <a:avLst/>
          </a:prstGeom>
          <a:noFill/>
        </p:spPr>
        <p:txBody>
          <a:bodyPr wrap="square" lIns="0" rIns="0" tIns="0" bIns="0" anchor="t">
            <a:spAutoFit/>
          </a:bodyPr>
          <a:lstStyle/>
          <a:p>
            <a:pPr algn="l">
              <a:spcAft>
                <a:spcPts val="600"/>
              </a:spcAft>
            </a:pPr>
            <a:r>
              <a:rPr sz="1500" b="0" i="0">
                <a:solidFill>
                  <a:srgbClr val="5B6475"/>
                </a:solidFill>
                <a:latin typeface="Calibri"/>
              </a:rPr>
              <a:t>posts in 105 telco threads</a:t>
            </a:r>
          </a:p>
        </p:txBody>
      </p:sp>
      <p:sp>
        <p:nvSpPr>
          <p:cNvPr id="13" name="Rounded Rectangle 12"/>
          <p:cNvSpPr/>
          <p:nvPr/>
        </p:nvSpPr>
        <p:spPr>
          <a:xfrm>
            <a:off x="9052560" y="1828800"/>
            <a:ext cx="2606040" cy="201168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2057400"/>
            <a:ext cx="2194560" cy="579120"/>
          </a:xfrm>
          <a:prstGeom prst="rect">
            <a:avLst/>
          </a:prstGeom>
          <a:noFill/>
        </p:spPr>
        <p:txBody>
          <a:bodyPr wrap="square" lIns="0" rIns="0" tIns="0" bIns="0" anchor="t">
            <a:spAutoFit/>
          </a:bodyPr>
          <a:lstStyle/>
          <a:p>
            <a:pPr algn="l">
              <a:spcAft>
                <a:spcPts val="600"/>
              </a:spcAft>
            </a:pPr>
            <a:r>
              <a:rPr sz="3800" b="1" i="0">
                <a:solidFill>
                  <a:srgbClr val="1C2E6E"/>
                </a:solidFill>
                <a:latin typeface="Calibri"/>
              </a:rPr>
              <a:t>39%</a:t>
            </a:r>
          </a:p>
        </p:txBody>
      </p:sp>
      <p:sp>
        <p:nvSpPr>
          <p:cNvPr id="15" name="TextBox 14"/>
          <p:cNvSpPr txBox="1"/>
          <p:nvPr/>
        </p:nvSpPr>
        <p:spPr>
          <a:xfrm>
            <a:off x="9281160" y="2682240"/>
            <a:ext cx="2194560" cy="822960"/>
          </a:xfrm>
          <a:prstGeom prst="rect">
            <a:avLst/>
          </a:prstGeom>
          <a:noFill/>
        </p:spPr>
        <p:txBody>
          <a:bodyPr wrap="square" lIns="0" rIns="0" tIns="0" bIns="0" anchor="t">
            <a:spAutoFit/>
          </a:bodyPr>
          <a:lstStyle/>
          <a:p>
            <a:pPr algn="l">
              <a:spcAft>
                <a:spcPts val="600"/>
              </a:spcAft>
            </a:pPr>
            <a:r>
              <a:rPr sz="1500" b="0" i="0">
                <a:solidFill>
                  <a:srgbClr val="5B6475"/>
                </a:solidFill>
                <a:latin typeface="Calibri"/>
              </a:rPr>
              <a:t>of posts in 22 outage threads</a:t>
            </a:r>
          </a:p>
        </p:txBody>
      </p:sp>
      <p:sp>
        <p:nvSpPr>
          <p:cNvPr id="16" name="Rounded Rectangle 15"/>
          <p:cNvSpPr/>
          <p:nvPr/>
        </p:nvSpPr>
        <p:spPr>
          <a:xfrm>
            <a:off x="548640" y="4160520"/>
            <a:ext cx="11091672" cy="16916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343400"/>
            <a:ext cx="10634472" cy="365760"/>
          </a:xfrm>
          <a:prstGeom prst="rect">
            <a:avLst/>
          </a:prstGeom>
          <a:noFill/>
        </p:spPr>
        <p:txBody>
          <a:bodyPr wrap="square" lIns="0" rIns="0" tIns="0" bIns="0" anchor="t">
            <a:spAutoFit/>
          </a:bodyPr>
          <a:lstStyle/>
          <a:p>
            <a:pPr algn="l">
              <a:spcAft>
                <a:spcPts val="600"/>
              </a:spcAft>
            </a:pPr>
            <a:r>
              <a:rPr sz="1800" b="1" i="0">
                <a:solidFill>
                  <a:srgbClr val="1C2E6E"/>
                </a:solidFill>
                <a:latin typeface="Calibri"/>
              </a:rPr>
              <a:t>Why it matters</a:t>
            </a:r>
          </a:p>
        </p:txBody>
      </p:sp>
      <p:sp>
        <p:nvSpPr>
          <p:cNvPr id="18" name="TextBox 17"/>
          <p:cNvSpPr txBox="1"/>
          <p:nvPr/>
        </p:nvSpPr>
        <p:spPr>
          <a:xfrm>
            <a:off x="777240" y="4727448"/>
            <a:ext cx="10634472" cy="960120"/>
          </a:xfrm>
          <a:prstGeom prst="rect">
            <a:avLst/>
          </a:prstGeom>
          <a:noFill/>
        </p:spPr>
        <p:txBody>
          <a:bodyPr wrap="square" lIns="0" rIns="0" tIns="0" bIns="0" anchor="t">
            <a:spAutoFit/>
          </a:bodyPr>
          <a:lstStyle/>
          <a:p>
            <a:pPr algn="l">
              <a:spcAft>
                <a:spcPts val="600"/>
              </a:spcAft>
            </a:pPr>
            <a:r>
              <a:rPr sz="1600" b="0" i="0">
                <a:solidFill>
                  <a:srgbClr val="1E293B"/>
                </a:solidFill>
                <a:latin typeface="Calibri"/>
              </a:rPr>
              <a:t>Duplicates and off-topic threads inflated every count. 74% of clean posts are from 2026 and the biggest thread is the March 2026 Singtel outage, so I check each finding with and without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“Eight” is a telco and a number</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8</a:t>
            </a:r>
          </a:p>
        </p:txBody>
      </p:sp>
      <p:sp>
        <p:nvSpPr>
          <p:cNvPr id="4" name="Rounded Rectangle 3"/>
          <p:cNvSpPr/>
          <p:nvPr/>
        </p:nvSpPr>
        <p:spPr>
          <a:xfrm>
            <a:off x="548640" y="1737360"/>
            <a:ext cx="5422392" cy="251460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920240"/>
            <a:ext cx="4846320" cy="411480"/>
          </a:xfrm>
          <a:prstGeom prst="rect">
            <a:avLst/>
          </a:prstGeom>
          <a:noFill/>
        </p:spPr>
        <p:txBody>
          <a:bodyPr wrap="square" lIns="0" rIns="0" tIns="0" bIns="0" anchor="t">
            <a:spAutoFit/>
          </a:bodyPr>
          <a:lstStyle/>
          <a:p>
            <a:pPr algn="l">
              <a:spcAft>
                <a:spcPts val="600"/>
              </a:spcAft>
            </a:pPr>
            <a:r>
              <a:rPr sz="1800" b="1" i="0">
                <a:solidFill>
                  <a:srgbClr val="1C2E6E"/>
                </a:solidFill>
                <a:latin typeface="Calibri"/>
              </a:rPr>
              <a:t>Rejected as a brand</a:t>
            </a:r>
          </a:p>
        </p:txBody>
      </p:sp>
      <p:sp>
        <p:nvSpPr>
          <p:cNvPr id="6" name="TextBox 5"/>
          <p:cNvSpPr txBox="1"/>
          <p:nvPr/>
        </p:nvSpPr>
        <p:spPr>
          <a:xfrm>
            <a:off x="822959" y="2468880"/>
            <a:ext cx="4846320" cy="1737360"/>
          </a:xfrm>
          <a:prstGeom prst="rect">
            <a:avLst/>
          </a:prstGeom>
          <a:noFill/>
        </p:spPr>
        <p:txBody>
          <a:bodyPr wrap="square" lIns="0" rIns="0" tIns="0" bIns="0" anchor="t">
            <a:spAutoFit/>
          </a:bodyPr>
          <a:lstStyle/>
          <a:p>
            <a:pPr algn="l" marL="256032" indent="-256032">
              <a:spcAft>
                <a:spcPts val="800"/>
              </a:spcAft>
              <a:buClr>
                <a:srgbClr val="D29B08"/>
              </a:buClr>
              <a:buFont typeface="Arial"/>
              <a:buChar char="•"/>
            </a:pPr>
            <a:r>
              <a:rPr sz="1600" b="0" i="0">
                <a:solidFill>
                  <a:srgbClr val="1E293B"/>
                </a:solidFill>
                <a:latin typeface="Calibri"/>
              </a:rPr>
              <a:t>“took eight buses to get home”</a:t>
            </a:r>
          </a:p>
          <a:p>
            <a:pPr algn="l" marL="256032" indent="-256032">
              <a:spcAft>
                <a:spcPts val="800"/>
              </a:spcAft>
              <a:buClr>
                <a:srgbClr val="D29B08"/>
              </a:buClr>
              <a:buFont typeface="Arial"/>
              <a:buChar char="•"/>
            </a:pPr>
            <a:r>
              <a:rPr sz="1600" b="0" i="0">
                <a:solidFill>
                  <a:srgbClr val="1E293B"/>
                </a:solidFill>
                <a:latin typeface="Calibri"/>
              </a:rPr>
              <a:t>“eight people in my team”</a:t>
            </a:r>
          </a:p>
          <a:p>
            <a:pPr algn="l" marL="256032" indent="-256032">
              <a:spcAft>
                <a:spcPts val="800"/>
              </a:spcAft>
              <a:buClr>
                <a:srgbClr val="D29B08"/>
              </a:buClr>
              <a:buFont typeface="Arial"/>
              <a:buChar char="•"/>
            </a:pPr>
            <a:r>
              <a:rPr sz="1600" b="0" i="0">
                <a:solidFill>
                  <a:srgbClr val="1E293B"/>
                </a:solidFill>
                <a:latin typeface="Calibri"/>
              </a:rPr>
              <a:t>“eight years with the same phone”</a:t>
            </a:r>
          </a:p>
        </p:txBody>
      </p:sp>
      <p:sp>
        <p:nvSpPr>
          <p:cNvPr id="7" name="Rounded Rectangle 6"/>
          <p:cNvSpPr/>
          <p:nvPr/>
        </p:nvSpPr>
        <p:spPr>
          <a:xfrm>
            <a:off x="6217920" y="1737360"/>
            <a:ext cx="5422392" cy="25146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20240"/>
            <a:ext cx="4846320" cy="411480"/>
          </a:xfrm>
          <a:prstGeom prst="rect">
            <a:avLst/>
          </a:prstGeom>
          <a:noFill/>
        </p:spPr>
        <p:txBody>
          <a:bodyPr wrap="square" lIns="0" rIns="0" tIns="0" bIns="0" anchor="t">
            <a:spAutoFit/>
          </a:bodyPr>
          <a:lstStyle/>
          <a:p>
            <a:pPr algn="l">
              <a:spcAft>
                <a:spcPts val="600"/>
              </a:spcAft>
            </a:pPr>
            <a:r>
              <a:rPr sz="1800" b="1" i="0">
                <a:solidFill>
                  <a:srgbClr val="1C2E6E"/>
                </a:solidFill>
                <a:latin typeface="Calibri"/>
              </a:rPr>
              <a:t>Accepted as Eight Telecom</a:t>
            </a:r>
          </a:p>
        </p:txBody>
      </p:sp>
      <p:sp>
        <p:nvSpPr>
          <p:cNvPr id="9" name="TextBox 8"/>
          <p:cNvSpPr txBox="1"/>
          <p:nvPr/>
        </p:nvSpPr>
        <p:spPr>
          <a:xfrm>
            <a:off x="6492240" y="2468880"/>
            <a:ext cx="4846320" cy="1737360"/>
          </a:xfrm>
          <a:prstGeom prst="rect">
            <a:avLst/>
          </a:prstGeom>
          <a:noFill/>
        </p:spPr>
        <p:txBody>
          <a:bodyPr wrap="square" lIns="0" rIns="0" tIns="0" bIns="0" anchor="t">
            <a:spAutoFit/>
          </a:bodyPr>
          <a:lstStyle/>
          <a:p>
            <a:pPr algn="l" marL="256032" indent="-256032">
              <a:spcAft>
                <a:spcPts val="800"/>
              </a:spcAft>
              <a:buClr>
                <a:srgbClr val="D29B08"/>
              </a:buClr>
              <a:buFont typeface="Arial"/>
              <a:buChar char="•"/>
            </a:pPr>
            <a:r>
              <a:rPr sz="1600" b="0" i="0">
                <a:solidFill>
                  <a:srgbClr val="1E293B"/>
                </a:solidFill>
                <a:latin typeface="Calibri"/>
              </a:rPr>
              <a:t>“Eight Telecom’s new SIM-only plan”</a:t>
            </a:r>
          </a:p>
          <a:p>
            <a:pPr algn="l" marL="256032" indent="-256032">
              <a:spcAft>
                <a:spcPts val="800"/>
              </a:spcAft>
              <a:buClr>
                <a:srgbClr val="D29B08"/>
              </a:buClr>
              <a:buFont typeface="Arial"/>
              <a:buChar char="•"/>
            </a:pPr>
            <a:r>
              <a:rPr sz="1600" b="0" i="0">
                <a:solidFill>
                  <a:srgbClr val="1E293B"/>
                </a:solidFill>
                <a:latin typeface="Calibri"/>
              </a:rPr>
              <a:t>“ported to eight, it runs on StarHub’s network”</a:t>
            </a:r>
          </a:p>
          <a:p>
            <a:pPr algn="l" marL="256032" indent="-256032">
              <a:spcAft>
                <a:spcPts val="800"/>
              </a:spcAft>
              <a:buClr>
                <a:srgbClr val="D29B08"/>
              </a:buClr>
              <a:buFont typeface="Arial"/>
              <a:buChar char="•"/>
            </a:pPr>
            <a:r>
              <a:rPr sz="1600" b="0" i="0">
                <a:solidFill>
                  <a:srgbClr val="1E293B"/>
                </a:solidFill>
                <a:latin typeface="Calibri"/>
              </a:rPr>
              <a:t>“eight.sg promo for 5G”</a:t>
            </a:r>
          </a:p>
        </p:txBody>
      </p:sp>
      <p:sp>
        <p:nvSpPr>
          <p:cNvPr id="10" name="TextBox 9"/>
          <p:cNvSpPr txBox="1"/>
          <p:nvPr/>
        </p:nvSpPr>
        <p:spPr>
          <a:xfrm>
            <a:off x="548640" y="4526280"/>
            <a:ext cx="11091672" cy="146304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How it works: </a:t>
            </a:r>
            <a:r>
              <a:rPr sz="1600" b="0" i="0">
                <a:solidFill>
                  <a:srgbClr val="1E293B"/>
                </a:solidFill>
                <a:latin typeface="Calibri"/>
              </a:rPr>
              <a:t>block number phrases first, accept strong patterns (“Eight Telecom”, “eight.sg”), otherwise require a telco word within 60 characters. Failed matches are marked not telco-relevant and get no sentiment or issue label.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Ten issue labels, each mapped to an owner</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9</a:t>
            </a:r>
          </a:p>
        </p:txBody>
      </p:sp>
      <p:sp>
        <p:nvSpPr>
          <p:cNvPr id="4" name="Rounded Rectangle 3"/>
          <p:cNvSpPr/>
          <p:nvPr/>
        </p:nvSpPr>
        <p:spPr>
          <a:xfrm>
            <a:off x="548640" y="1783080"/>
            <a:ext cx="2072030"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984248"/>
            <a:ext cx="1706270" cy="68580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Network Quality</a:t>
            </a:r>
          </a:p>
        </p:txBody>
      </p:sp>
      <p:sp>
        <p:nvSpPr>
          <p:cNvPr id="6" name="TextBox 5"/>
          <p:cNvSpPr txBox="1"/>
          <p:nvPr/>
        </p:nvSpPr>
        <p:spPr>
          <a:xfrm>
            <a:off x="731520" y="2679191"/>
            <a:ext cx="1706270" cy="411480"/>
          </a:xfrm>
          <a:prstGeom prst="rect">
            <a:avLst/>
          </a:prstGeom>
          <a:noFill/>
        </p:spPr>
        <p:txBody>
          <a:bodyPr wrap="square" lIns="0" rIns="0" tIns="0" bIns="0" anchor="t">
            <a:spAutoFit/>
          </a:bodyPr>
          <a:lstStyle/>
          <a:p>
            <a:pPr algn="l">
              <a:spcAft>
                <a:spcPts val="600"/>
              </a:spcAft>
            </a:pPr>
            <a:r>
              <a:rPr sz="1400" b="0" i="0">
                <a:solidFill>
                  <a:srgbClr val="5B6475"/>
                </a:solidFill>
                <a:latin typeface="Calibri"/>
              </a:rPr>
              <a:t>Network team</a:t>
            </a:r>
          </a:p>
        </p:txBody>
      </p:sp>
      <p:sp>
        <p:nvSpPr>
          <p:cNvPr id="7" name="Rounded Rectangle 6"/>
          <p:cNvSpPr/>
          <p:nvPr/>
        </p:nvSpPr>
        <p:spPr>
          <a:xfrm>
            <a:off x="2803550" y="1783080"/>
            <a:ext cx="2072030"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86430" y="1984248"/>
            <a:ext cx="1706270" cy="68580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Pricing &amp; Promotions</a:t>
            </a:r>
          </a:p>
        </p:txBody>
      </p:sp>
      <p:sp>
        <p:nvSpPr>
          <p:cNvPr id="9" name="TextBox 8"/>
          <p:cNvSpPr txBox="1"/>
          <p:nvPr/>
        </p:nvSpPr>
        <p:spPr>
          <a:xfrm>
            <a:off x="2986430" y="2679191"/>
            <a:ext cx="1706270" cy="411480"/>
          </a:xfrm>
          <a:prstGeom prst="rect">
            <a:avLst/>
          </a:prstGeom>
          <a:noFill/>
        </p:spPr>
        <p:txBody>
          <a:bodyPr wrap="square" lIns="0" rIns="0" tIns="0" bIns="0" anchor="t">
            <a:spAutoFit/>
          </a:bodyPr>
          <a:lstStyle/>
          <a:p>
            <a:pPr algn="l">
              <a:spcAft>
                <a:spcPts val="600"/>
              </a:spcAft>
            </a:pPr>
            <a:r>
              <a:rPr sz="1400" b="0" i="0">
                <a:solidFill>
                  <a:srgbClr val="5B6475"/>
                </a:solidFill>
                <a:latin typeface="Calibri"/>
              </a:rPr>
              <a:t>Commercial</a:t>
            </a:r>
          </a:p>
        </p:txBody>
      </p:sp>
      <p:sp>
        <p:nvSpPr>
          <p:cNvPr id="10" name="Rounded Rectangle 9"/>
          <p:cNvSpPr/>
          <p:nvPr/>
        </p:nvSpPr>
        <p:spPr>
          <a:xfrm>
            <a:off x="5058460" y="1783080"/>
            <a:ext cx="2072030"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41340" y="1984248"/>
            <a:ext cx="1706270" cy="68580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Mobile Plans</a:t>
            </a:r>
          </a:p>
        </p:txBody>
      </p:sp>
      <p:sp>
        <p:nvSpPr>
          <p:cNvPr id="12" name="TextBox 11"/>
          <p:cNvSpPr txBox="1"/>
          <p:nvPr/>
        </p:nvSpPr>
        <p:spPr>
          <a:xfrm>
            <a:off x="5241340" y="2679191"/>
            <a:ext cx="1706270" cy="411480"/>
          </a:xfrm>
          <a:prstGeom prst="rect">
            <a:avLst/>
          </a:prstGeom>
          <a:noFill/>
        </p:spPr>
        <p:txBody>
          <a:bodyPr wrap="square" lIns="0" rIns="0" tIns="0" bIns="0" anchor="t">
            <a:spAutoFit/>
          </a:bodyPr>
          <a:lstStyle/>
          <a:p>
            <a:pPr algn="l">
              <a:spcAft>
                <a:spcPts val="600"/>
              </a:spcAft>
            </a:pPr>
            <a:r>
              <a:rPr sz="1400" b="0" i="0">
                <a:solidFill>
                  <a:srgbClr val="5B6475"/>
                </a:solidFill>
                <a:latin typeface="Calibri"/>
              </a:rPr>
              <a:t>Product</a:t>
            </a:r>
          </a:p>
        </p:txBody>
      </p:sp>
      <p:sp>
        <p:nvSpPr>
          <p:cNvPr id="13" name="Rounded Rectangle 12"/>
          <p:cNvSpPr/>
          <p:nvPr/>
        </p:nvSpPr>
        <p:spPr>
          <a:xfrm>
            <a:off x="7313371" y="1783080"/>
            <a:ext cx="2072030"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6251" y="1984248"/>
            <a:ext cx="1706270" cy="68580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Roaming</a:t>
            </a:r>
          </a:p>
        </p:txBody>
      </p:sp>
      <p:sp>
        <p:nvSpPr>
          <p:cNvPr id="15" name="TextBox 14"/>
          <p:cNvSpPr txBox="1"/>
          <p:nvPr/>
        </p:nvSpPr>
        <p:spPr>
          <a:xfrm>
            <a:off x="7496251" y="2679191"/>
            <a:ext cx="1706270" cy="411480"/>
          </a:xfrm>
          <a:prstGeom prst="rect">
            <a:avLst/>
          </a:prstGeom>
          <a:noFill/>
        </p:spPr>
        <p:txBody>
          <a:bodyPr wrap="square" lIns="0" rIns="0" tIns="0" bIns="0" anchor="t">
            <a:spAutoFit/>
          </a:bodyPr>
          <a:lstStyle/>
          <a:p>
            <a:pPr algn="l">
              <a:spcAft>
                <a:spcPts val="600"/>
              </a:spcAft>
            </a:pPr>
            <a:r>
              <a:rPr sz="1400" b="0" i="0">
                <a:solidFill>
                  <a:srgbClr val="5B6475"/>
                </a:solidFill>
                <a:latin typeface="Calibri"/>
              </a:rPr>
              <a:t>Roaming product</a:t>
            </a:r>
          </a:p>
        </p:txBody>
      </p:sp>
      <p:sp>
        <p:nvSpPr>
          <p:cNvPr id="16" name="Rounded Rectangle 15"/>
          <p:cNvSpPr/>
          <p:nvPr/>
        </p:nvSpPr>
        <p:spPr>
          <a:xfrm>
            <a:off x="9568281" y="1783080"/>
            <a:ext cx="2072030"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51161" y="1984248"/>
            <a:ext cx="1706270" cy="68580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Porting</a:t>
            </a:r>
          </a:p>
        </p:txBody>
      </p:sp>
      <p:sp>
        <p:nvSpPr>
          <p:cNvPr id="18" name="TextBox 17"/>
          <p:cNvSpPr txBox="1"/>
          <p:nvPr/>
        </p:nvSpPr>
        <p:spPr>
          <a:xfrm>
            <a:off x="9751161" y="2679191"/>
            <a:ext cx="1706270" cy="411480"/>
          </a:xfrm>
          <a:prstGeom prst="rect">
            <a:avLst/>
          </a:prstGeom>
          <a:noFill/>
        </p:spPr>
        <p:txBody>
          <a:bodyPr wrap="square" lIns="0" rIns="0" tIns="0" bIns="0" anchor="t">
            <a:spAutoFit/>
          </a:bodyPr>
          <a:lstStyle/>
          <a:p>
            <a:pPr algn="l">
              <a:spcAft>
                <a:spcPts val="600"/>
              </a:spcAft>
            </a:pPr>
            <a:r>
              <a:rPr sz="1400" b="0" i="0">
                <a:solidFill>
                  <a:srgbClr val="5B6475"/>
                </a:solidFill>
                <a:latin typeface="Calibri"/>
              </a:rPr>
              <a:t>MNP operations</a:t>
            </a:r>
          </a:p>
        </p:txBody>
      </p:sp>
      <p:sp>
        <p:nvSpPr>
          <p:cNvPr id="19" name="Rounded Rectangle 18"/>
          <p:cNvSpPr/>
          <p:nvPr/>
        </p:nvSpPr>
        <p:spPr>
          <a:xfrm>
            <a:off x="548640" y="3383280"/>
            <a:ext cx="2072030"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584448"/>
            <a:ext cx="1706270" cy="68580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Customer Service</a:t>
            </a:r>
          </a:p>
        </p:txBody>
      </p:sp>
      <p:sp>
        <p:nvSpPr>
          <p:cNvPr id="21" name="TextBox 20"/>
          <p:cNvSpPr txBox="1"/>
          <p:nvPr/>
        </p:nvSpPr>
        <p:spPr>
          <a:xfrm>
            <a:off x="731520" y="4279392"/>
            <a:ext cx="1706270" cy="411480"/>
          </a:xfrm>
          <a:prstGeom prst="rect">
            <a:avLst/>
          </a:prstGeom>
          <a:noFill/>
        </p:spPr>
        <p:txBody>
          <a:bodyPr wrap="square" lIns="0" rIns="0" tIns="0" bIns="0" anchor="t">
            <a:spAutoFit/>
          </a:bodyPr>
          <a:lstStyle/>
          <a:p>
            <a:pPr algn="l">
              <a:spcAft>
                <a:spcPts val="600"/>
              </a:spcAft>
            </a:pPr>
            <a:r>
              <a:rPr sz="1400" b="0" i="0">
                <a:solidFill>
                  <a:srgbClr val="5B6475"/>
                </a:solidFill>
                <a:latin typeface="Calibri"/>
              </a:rPr>
              <a:t>Service operations</a:t>
            </a:r>
          </a:p>
        </p:txBody>
      </p:sp>
      <p:sp>
        <p:nvSpPr>
          <p:cNvPr id="22" name="Rounded Rectangle 21"/>
          <p:cNvSpPr/>
          <p:nvPr/>
        </p:nvSpPr>
        <p:spPr>
          <a:xfrm>
            <a:off x="2803550" y="3383280"/>
            <a:ext cx="2072030"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86430" y="3584448"/>
            <a:ext cx="1706270" cy="68580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Billing &amp; Payment</a:t>
            </a:r>
          </a:p>
        </p:txBody>
      </p:sp>
      <p:sp>
        <p:nvSpPr>
          <p:cNvPr id="24" name="TextBox 23"/>
          <p:cNvSpPr txBox="1"/>
          <p:nvPr/>
        </p:nvSpPr>
        <p:spPr>
          <a:xfrm>
            <a:off x="2986430" y="4279392"/>
            <a:ext cx="1706270" cy="411480"/>
          </a:xfrm>
          <a:prstGeom prst="rect">
            <a:avLst/>
          </a:prstGeom>
          <a:noFill/>
        </p:spPr>
        <p:txBody>
          <a:bodyPr wrap="square" lIns="0" rIns="0" tIns="0" bIns="0" anchor="t">
            <a:spAutoFit/>
          </a:bodyPr>
          <a:lstStyle/>
          <a:p>
            <a:pPr algn="l">
              <a:spcAft>
                <a:spcPts val="600"/>
              </a:spcAft>
            </a:pPr>
            <a:r>
              <a:rPr sz="1400" b="0" i="0">
                <a:solidFill>
                  <a:srgbClr val="5B6475"/>
                </a:solidFill>
                <a:latin typeface="Calibri"/>
              </a:rPr>
              <a:t>Billing</a:t>
            </a:r>
          </a:p>
        </p:txBody>
      </p:sp>
      <p:sp>
        <p:nvSpPr>
          <p:cNvPr id="25" name="Rounded Rectangle 24"/>
          <p:cNvSpPr/>
          <p:nvPr/>
        </p:nvSpPr>
        <p:spPr>
          <a:xfrm>
            <a:off x="5058460" y="3383280"/>
            <a:ext cx="2072030"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41340" y="3584448"/>
            <a:ext cx="1706270" cy="68580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App &amp; Account</a:t>
            </a:r>
          </a:p>
        </p:txBody>
      </p:sp>
      <p:sp>
        <p:nvSpPr>
          <p:cNvPr id="27" name="TextBox 26"/>
          <p:cNvSpPr txBox="1"/>
          <p:nvPr/>
        </p:nvSpPr>
        <p:spPr>
          <a:xfrm>
            <a:off x="5241340" y="4279392"/>
            <a:ext cx="1706270" cy="411480"/>
          </a:xfrm>
          <a:prstGeom prst="rect">
            <a:avLst/>
          </a:prstGeom>
          <a:noFill/>
        </p:spPr>
        <p:txBody>
          <a:bodyPr wrap="square" lIns="0" rIns="0" tIns="0" bIns="0" anchor="t">
            <a:spAutoFit/>
          </a:bodyPr>
          <a:lstStyle/>
          <a:p>
            <a:pPr algn="l">
              <a:spcAft>
                <a:spcPts val="600"/>
              </a:spcAft>
            </a:pPr>
            <a:r>
              <a:rPr sz="1400" b="0" i="0">
                <a:solidFill>
                  <a:srgbClr val="5B6475"/>
                </a:solidFill>
                <a:latin typeface="Calibri"/>
              </a:rPr>
              <a:t>Digital CX</a:t>
            </a:r>
          </a:p>
        </p:txBody>
      </p:sp>
      <p:sp>
        <p:nvSpPr>
          <p:cNvPr id="28" name="Rounded Rectangle 27"/>
          <p:cNvSpPr/>
          <p:nvPr/>
        </p:nvSpPr>
        <p:spPr>
          <a:xfrm>
            <a:off x="7313371" y="3383280"/>
            <a:ext cx="2072030"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6251" y="3584448"/>
            <a:ext cx="1706270" cy="68580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Devices</a:t>
            </a:r>
          </a:p>
        </p:txBody>
      </p:sp>
      <p:sp>
        <p:nvSpPr>
          <p:cNvPr id="30" name="TextBox 29"/>
          <p:cNvSpPr txBox="1"/>
          <p:nvPr/>
        </p:nvSpPr>
        <p:spPr>
          <a:xfrm>
            <a:off x="7496251" y="4279392"/>
            <a:ext cx="1706270" cy="411480"/>
          </a:xfrm>
          <a:prstGeom prst="rect">
            <a:avLst/>
          </a:prstGeom>
          <a:noFill/>
        </p:spPr>
        <p:txBody>
          <a:bodyPr wrap="square" lIns="0" rIns="0" tIns="0" bIns="0" anchor="t">
            <a:spAutoFit/>
          </a:bodyPr>
          <a:lstStyle/>
          <a:p>
            <a:pPr algn="l">
              <a:spcAft>
                <a:spcPts val="600"/>
              </a:spcAft>
            </a:pPr>
            <a:r>
              <a:rPr sz="1400" b="0" i="0">
                <a:solidFill>
                  <a:srgbClr val="5B6475"/>
                </a:solidFill>
                <a:latin typeface="Calibri"/>
              </a:rPr>
              <a:t>Device support</a:t>
            </a:r>
          </a:p>
        </p:txBody>
      </p:sp>
      <p:sp>
        <p:nvSpPr>
          <p:cNvPr id="31" name="Rounded Rectangle 30"/>
          <p:cNvSpPr/>
          <p:nvPr/>
        </p:nvSpPr>
        <p:spPr>
          <a:xfrm>
            <a:off x="9568281" y="3383280"/>
            <a:ext cx="2072030" cy="141732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51161" y="3584448"/>
            <a:ext cx="1706270" cy="68580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General Discussion</a:t>
            </a:r>
          </a:p>
        </p:txBody>
      </p:sp>
      <p:sp>
        <p:nvSpPr>
          <p:cNvPr id="33" name="TextBox 32"/>
          <p:cNvSpPr txBox="1"/>
          <p:nvPr/>
        </p:nvSpPr>
        <p:spPr>
          <a:xfrm>
            <a:off x="9751161" y="4279392"/>
            <a:ext cx="1706270" cy="411480"/>
          </a:xfrm>
          <a:prstGeom prst="rect">
            <a:avLst/>
          </a:prstGeom>
          <a:noFill/>
        </p:spPr>
        <p:txBody>
          <a:bodyPr wrap="square" lIns="0" rIns="0" tIns="0" bIns="0" anchor="t">
            <a:spAutoFit/>
          </a:bodyPr>
          <a:lstStyle/>
          <a:p>
            <a:pPr algn="l">
              <a:spcAft>
                <a:spcPts val="600"/>
              </a:spcAft>
            </a:pPr>
            <a:r>
              <a:rPr sz="1400" b="0" i="0">
                <a:solidFill>
                  <a:srgbClr val="5B6475"/>
                </a:solidFill>
                <a:latin typeface="Calibri"/>
              </a:rPr>
              <a:t>Analyst review</a:t>
            </a:r>
          </a:p>
        </p:txBody>
      </p:sp>
      <p:sp>
        <p:nvSpPr>
          <p:cNvPr id="34" name="TextBox 33"/>
          <p:cNvSpPr txBox="1"/>
          <p:nvPr/>
        </p:nvSpPr>
        <p:spPr>
          <a:xfrm>
            <a:off x="548640" y="5029200"/>
            <a:ext cx="11091672" cy="822960"/>
          </a:xfrm>
          <a:prstGeom prst="rect">
            <a:avLst/>
          </a:prstGeom>
          <a:noFill/>
        </p:spPr>
        <p:txBody>
          <a:bodyPr wrap="square" lIns="0" rIns="0" tIns="0" bIns="0" anchor="t">
            <a:spAutoFit/>
          </a:bodyPr>
          <a:lstStyle/>
          <a:p>
            <a:pPr algn="l">
              <a:spcAft>
                <a:spcPts val="600"/>
              </a:spcAft>
            </a:pPr>
            <a:r>
              <a:rPr sz="1600" b="0" i="0">
                <a:solidFill>
                  <a:srgbClr val="1E293B"/>
                </a:solidFill>
                <a:latin typeface="Calibri"/>
              </a:rPr>
              <a:t>Issues are multi-label; sentiment is one label per post. General Discussion is the residual, used only when nothing specific fits.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4800" b="1">
                <a:solidFill>
                  <a:srgbClr val="FFFFFF"/>
                </a:solidFill>
                <a:latin typeface="Calibri"/>
              </a:rPr>
              <a:t>C</a:t>
            </a:r>
          </a:p>
        </p:txBody>
      </p:sp>
      <p:sp>
        <p:nvSpPr>
          <p:cNvPr id="3" name="TextBox 2"/>
          <p:cNvSpPr txBox="1"/>
          <p:nvPr/>
        </p:nvSpPr>
        <p:spPr>
          <a:xfrm>
            <a:off x="2423160" y="2011680"/>
            <a:ext cx="8686800" cy="822960"/>
          </a:xfrm>
          <a:prstGeom prst="rect">
            <a:avLst/>
          </a:prstGeom>
          <a:noFill/>
        </p:spPr>
        <p:txBody>
          <a:bodyPr wrap="square" lIns="0" rIns="0" tIns="0" bIns="0" anchor="t">
            <a:spAutoFit/>
          </a:bodyPr>
          <a:lstStyle/>
          <a:p>
            <a:pPr algn="l">
              <a:spcAft>
                <a:spcPts val="600"/>
              </a:spcAft>
            </a:pPr>
            <a:r>
              <a:rPr sz="4000" b="1" i="0">
                <a:solidFill>
                  <a:srgbClr val="1C2E6E"/>
                </a:solidFill>
                <a:latin typeface="Calibri"/>
              </a:rPr>
              <a:t>Evaluation</a:t>
            </a:r>
          </a:p>
        </p:txBody>
      </p:sp>
      <p:sp>
        <p:nvSpPr>
          <p:cNvPr id="4" name="TextBox 3"/>
          <p:cNvSpPr txBox="1"/>
          <p:nvPr/>
        </p:nvSpPr>
        <p:spPr>
          <a:xfrm>
            <a:off x="2423160" y="2834640"/>
            <a:ext cx="8686800" cy="548640"/>
          </a:xfrm>
          <a:prstGeom prst="rect">
            <a:avLst/>
          </a:prstGeom>
          <a:noFill/>
        </p:spPr>
        <p:txBody>
          <a:bodyPr wrap="square" lIns="0" rIns="0" tIns="0" bIns="0" anchor="t">
            <a:spAutoFit/>
          </a:bodyPr>
          <a:lstStyle/>
          <a:p>
            <a:pPr algn="l">
              <a:spcAft>
                <a:spcPts val="600"/>
              </a:spcAft>
            </a:pPr>
            <a:r>
              <a:rPr sz="2000" b="0" i="0">
                <a:solidFill>
                  <a:srgbClr val="5B6475"/>
                </a:solidFill>
                <a:latin typeface="Calibri"/>
              </a:rPr>
              <a:t>Which method should label what?</a:t>
            </a:r>
          </a:p>
        </p:txBody>
      </p:sp>
      <p:sp>
        <p:nvSpPr>
          <p:cNvPr id="5" name="TextBox 4"/>
          <p:cNvSpPr txBox="1"/>
          <p:nvPr/>
        </p:nvSpPr>
        <p:spPr>
          <a:xfrm>
            <a:off x="2423160" y="3520440"/>
            <a:ext cx="8686800" cy="365760"/>
          </a:xfrm>
          <a:prstGeom prst="rect">
            <a:avLst/>
          </a:prstGeom>
          <a:noFill/>
        </p:spPr>
        <p:txBody>
          <a:bodyPr wrap="square" lIns="0" rIns="0" tIns="0" bIns="0" anchor="t">
            <a:spAutoFit/>
          </a:bodyPr>
          <a:lstStyle/>
          <a:p>
            <a:pPr algn="l">
              <a:spcAft>
                <a:spcPts val="600"/>
              </a:spcAft>
            </a:pPr>
            <a:r>
              <a:rPr sz="1600" b="1" i="0">
                <a:solidFill>
                  <a:srgbClr val="D29B08"/>
                </a:solidFill>
                <a:latin typeface="Calibri"/>
              </a:rPr>
              <a:t>About 7 minutes</a:t>
            </a:r>
          </a:p>
        </p:txBody>
      </p:sp>
      <p:sp>
        <p:nvSpPr>
          <p:cNvPr id="6" name="TextBox 5"/>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A blind gold set, built after I threw out a perfect score</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11</a:t>
            </a:r>
          </a:p>
        </p:txBody>
      </p:sp>
      <p:sp>
        <p:nvSpPr>
          <p:cNvPr id="4" name="Rounded Rectangle 3"/>
          <p:cNvSpPr/>
          <p:nvPr/>
        </p:nvSpPr>
        <p:spPr>
          <a:xfrm>
            <a:off x="548640" y="1691640"/>
            <a:ext cx="5577840" cy="129844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1280160" cy="1298448"/>
          </a:xfrm>
          <a:prstGeom prst="rect">
            <a:avLst/>
          </a:prstGeom>
          <a:noFill/>
        </p:spPr>
        <p:txBody>
          <a:bodyPr wrap="square" lIns="0" rIns="0" tIns="0" bIns="0" anchor="ctr">
            <a:spAutoFit/>
          </a:bodyPr>
          <a:lstStyle/>
          <a:p>
            <a:pPr algn="l">
              <a:spcAft>
                <a:spcPts val="600"/>
              </a:spcAft>
            </a:pPr>
            <a:r>
              <a:rPr sz="3400" b="1" i="0">
                <a:solidFill>
                  <a:srgbClr val="1C2E6E"/>
                </a:solidFill>
                <a:latin typeface="Calibri"/>
              </a:rPr>
              <a:t>300</a:t>
            </a:r>
          </a:p>
        </p:txBody>
      </p:sp>
      <p:sp>
        <p:nvSpPr>
          <p:cNvPr id="6" name="TextBox 5"/>
          <p:cNvSpPr txBox="1"/>
          <p:nvPr/>
        </p:nvSpPr>
        <p:spPr>
          <a:xfrm>
            <a:off x="2148840" y="1691640"/>
            <a:ext cx="3794760" cy="1298448"/>
          </a:xfrm>
          <a:prstGeom prst="rect">
            <a:avLst/>
          </a:prstGeom>
          <a:noFill/>
        </p:spPr>
        <p:txBody>
          <a:bodyPr wrap="square" lIns="0" rIns="0" tIns="0" bIns="0" anchor="ctr">
            <a:spAutoFit/>
          </a:bodyPr>
          <a:lstStyle/>
          <a:p>
            <a:pPr algn="l">
              <a:spcAft>
                <a:spcPts val="600"/>
              </a:spcAft>
            </a:pPr>
            <a:r>
              <a:rPr sz="1500" b="0" i="0">
                <a:solidFill>
                  <a:srgbClr val="1E293B"/>
                </a:solidFill>
                <a:latin typeface="Calibri"/>
              </a:rPr>
              <a:t>representative posts, 295 telco-relevant: headline metrics</a:t>
            </a:r>
          </a:p>
        </p:txBody>
      </p:sp>
      <p:sp>
        <p:nvSpPr>
          <p:cNvPr id="7" name="Rounded Rectangle 6"/>
          <p:cNvSpPr/>
          <p:nvPr/>
        </p:nvSpPr>
        <p:spPr>
          <a:xfrm>
            <a:off x="548640" y="3154680"/>
            <a:ext cx="5577840" cy="129844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154680"/>
            <a:ext cx="1280160" cy="1298448"/>
          </a:xfrm>
          <a:prstGeom prst="rect">
            <a:avLst/>
          </a:prstGeom>
          <a:noFill/>
        </p:spPr>
        <p:txBody>
          <a:bodyPr wrap="square" lIns="0" rIns="0" tIns="0" bIns="0" anchor="ctr">
            <a:spAutoFit/>
          </a:bodyPr>
          <a:lstStyle/>
          <a:p>
            <a:pPr algn="l">
              <a:spcAft>
                <a:spcPts val="600"/>
              </a:spcAft>
            </a:pPr>
            <a:r>
              <a:rPr sz="3400" b="1" i="0">
                <a:solidFill>
                  <a:srgbClr val="1C2E6E"/>
                </a:solidFill>
                <a:latin typeface="Calibri"/>
              </a:rPr>
              <a:t>100</a:t>
            </a:r>
          </a:p>
        </p:txBody>
      </p:sp>
      <p:sp>
        <p:nvSpPr>
          <p:cNvPr id="9" name="TextBox 8"/>
          <p:cNvSpPr txBox="1"/>
          <p:nvPr/>
        </p:nvSpPr>
        <p:spPr>
          <a:xfrm>
            <a:off x="2148840" y="3154680"/>
            <a:ext cx="3794760" cy="1298448"/>
          </a:xfrm>
          <a:prstGeom prst="rect">
            <a:avLst/>
          </a:prstGeom>
          <a:noFill/>
        </p:spPr>
        <p:txBody>
          <a:bodyPr wrap="square" lIns="0" rIns="0" tIns="0" bIns="0" anchor="ctr">
            <a:spAutoFit/>
          </a:bodyPr>
          <a:lstStyle/>
          <a:p>
            <a:pPr algn="l">
              <a:spcAft>
                <a:spcPts val="600"/>
              </a:spcAft>
            </a:pPr>
            <a:r>
              <a:rPr sz="1500" b="0" i="0">
                <a:solidFill>
                  <a:srgbClr val="1E293B"/>
                </a:solidFill>
                <a:latin typeface="Calibri"/>
              </a:rPr>
              <a:t>challenge posts: sarcasm, Singlish, mixed brands, long text</a:t>
            </a:r>
          </a:p>
        </p:txBody>
      </p:sp>
      <p:sp>
        <p:nvSpPr>
          <p:cNvPr id="10" name="Rounded Rectangle 9"/>
          <p:cNvSpPr/>
          <p:nvPr/>
        </p:nvSpPr>
        <p:spPr>
          <a:xfrm>
            <a:off x="548640" y="4617720"/>
            <a:ext cx="5577840" cy="129844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617720"/>
            <a:ext cx="1280160" cy="1298448"/>
          </a:xfrm>
          <a:prstGeom prst="rect">
            <a:avLst/>
          </a:prstGeom>
          <a:noFill/>
        </p:spPr>
        <p:txBody>
          <a:bodyPr wrap="square" lIns="0" rIns="0" tIns="0" bIns="0" anchor="ctr">
            <a:spAutoFit/>
          </a:bodyPr>
          <a:lstStyle/>
          <a:p>
            <a:pPr algn="l">
              <a:spcAft>
                <a:spcPts val="600"/>
              </a:spcAft>
            </a:pPr>
            <a:r>
              <a:rPr sz="3400" b="1" i="0">
                <a:solidFill>
                  <a:srgbClr val="1C2E6E"/>
                </a:solidFill>
                <a:latin typeface="Calibri"/>
              </a:rPr>
              <a:t>100</a:t>
            </a:r>
          </a:p>
        </p:txBody>
      </p:sp>
      <p:sp>
        <p:nvSpPr>
          <p:cNvPr id="12" name="TextBox 11"/>
          <p:cNvSpPr txBox="1"/>
          <p:nvPr/>
        </p:nvSpPr>
        <p:spPr>
          <a:xfrm>
            <a:off x="2148840" y="4617720"/>
            <a:ext cx="3794760" cy="1298448"/>
          </a:xfrm>
          <a:prstGeom prst="rect">
            <a:avLst/>
          </a:prstGeom>
          <a:noFill/>
        </p:spPr>
        <p:txBody>
          <a:bodyPr wrap="square" lIns="0" rIns="0" tIns="0" bIns="0" anchor="ctr">
            <a:spAutoFit/>
          </a:bodyPr>
          <a:lstStyle/>
          <a:p>
            <a:pPr algn="l">
              <a:spcAft>
                <a:spcPts val="600"/>
              </a:spcAft>
            </a:pPr>
            <a:r>
              <a:rPr sz="1500" b="0" i="0">
                <a:solidFill>
                  <a:srgbClr val="1E293B"/>
                </a:solidFill>
                <a:latin typeface="Calibri"/>
              </a:rPr>
              <a:t>second-annotator overlap: 60 representative + 40 challenge</a:t>
            </a:r>
          </a:p>
        </p:txBody>
      </p:sp>
      <p:sp>
        <p:nvSpPr>
          <p:cNvPr id="13" name="Rounded Rectangle 12"/>
          <p:cNvSpPr/>
          <p:nvPr/>
        </p:nvSpPr>
        <p:spPr>
          <a:xfrm>
            <a:off x="6400800" y="1691640"/>
            <a:ext cx="5239512" cy="4224528"/>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1874520"/>
            <a:ext cx="4782312" cy="365760"/>
          </a:xfrm>
          <a:prstGeom prst="rect">
            <a:avLst/>
          </a:prstGeom>
          <a:noFill/>
        </p:spPr>
        <p:txBody>
          <a:bodyPr wrap="square" lIns="0" rIns="0" tIns="0" bIns="0" anchor="t">
            <a:spAutoFit/>
          </a:bodyPr>
          <a:lstStyle/>
          <a:p>
            <a:pPr algn="l">
              <a:spcAft>
                <a:spcPts val="600"/>
              </a:spcAft>
            </a:pPr>
            <a:r>
              <a:rPr sz="1800" b="1" i="0">
                <a:solidFill>
                  <a:srgbClr val="1C2E6E"/>
                </a:solidFill>
                <a:latin typeface="Calibri"/>
              </a:rPr>
              <a:t>Why I discarded 100% accuracy</a:t>
            </a:r>
          </a:p>
        </p:txBody>
      </p:sp>
      <p:sp>
        <p:nvSpPr>
          <p:cNvPr id="15" name="TextBox 14"/>
          <p:cNvSpPr txBox="1"/>
          <p:nvPr/>
        </p:nvSpPr>
        <p:spPr>
          <a:xfrm>
            <a:off x="6629400" y="2258568"/>
            <a:ext cx="4782312" cy="3493008"/>
          </a:xfrm>
          <a:prstGeom prst="rect">
            <a:avLst/>
          </a:prstGeom>
          <a:noFill/>
        </p:spPr>
        <p:txBody>
          <a:bodyPr wrap="square" lIns="0" rIns="0" tIns="0" bIns="0" anchor="t">
            <a:spAutoFit/>
          </a:bodyPr>
          <a:lstStyle/>
          <a:p>
            <a:pPr algn="l">
              <a:spcAft>
                <a:spcPts val="600"/>
              </a:spcAft>
            </a:pPr>
            <a:r>
              <a:rPr sz="1600" b="0" i="0">
                <a:solidFill>
                  <a:srgbClr val="1E293B"/>
                </a:solidFill>
                <a:latin typeface="Calibri"/>
              </a:rPr>
              <a:t>An earlier 150-post file showed VADER at 100% accuracy.</a:t>
            </a:r>
          </a:p>
          <a:p>
            <a:pPr algn="l">
              <a:spcAft>
                <a:spcPts val="600"/>
              </a:spcAft>
            </a:pPr>
            <a:r>
              <a:rPr sz="1600" b="0" i="0">
                <a:solidFill>
                  <a:srgbClr val="1E293B"/>
                </a:solidFill>
                <a:latin typeface="Calibri"/>
              </a:rPr>
              <a:t>Every “manual” label matched VADER exactly: the sheet had been prefilled by the model.</a:t>
            </a:r>
          </a:p>
          <a:p>
            <a:pPr algn="l">
              <a:spcAft>
                <a:spcPts val="600"/>
              </a:spcAft>
            </a:pPr>
            <a:r>
              <a:rPr sz="1600" b="0" i="0">
                <a:solidFill>
                  <a:srgbClr val="1E293B"/>
                </a:solidFill>
                <a:latin typeface="Calibri"/>
              </a:rPr>
              <a:t>The rebuilt set hides all model columns, splits by thread, and caps each thread at five comments.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GPT-4o-mini labels sentiment far better than VADER</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12</a:t>
            </a:r>
          </a:p>
        </p:txBody>
      </p:sp>
      <p:graphicFrame>
        <p:nvGraphicFramePr>
          <p:cNvPr id="4" name="Chart 3"/>
          <p:cNvGraphicFramePr>
            <a:graphicFrameLocks noGrp="1"/>
          </p:cNvGraphicFramePr>
          <p:nvPr/>
        </p:nvGraphicFramePr>
        <p:xfrm>
          <a:off x="548640" y="1645920"/>
          <a:ext cx="6035040" cy="4389120"/>
        </p:xfrm>
        <a:graphic>
          <a:graphicData uri="http://schemas.openxmlformats.org/drawingml/2006/chart">
            <c:chart xmlns:c="http://schemas.openxmlformats.org/drawingml/2006/chart" r:id="rId3"/>
          </a:graphicData>
        </a:graphic>
      </p:graphicFrame>
      <p:sp>
        <p:nvSpPr>
          <p:cNvPr id="5" name="TextBox 4"/>
          <p:cNvSpPr txBox="1"/>
          <p:nvPr/>
        </p:nvSpPr>
        <p:spPr>
          <a:xfrm>
            <a:off x="548640" y="6053328"/>
            <a:ext cx="6035040" cy="320040"/>
          </a:xfrm>
          <a:prstGeom prst="rect">
            <a:avLst/>
          </a:prstGeom>
          <a:noFill/>
        </p:spPr>
        <p:txBody>
          <a:bodyPr wrap="square" lIns="0" rIns="0" tIns="0" bIns="0" anchor="t">
            <a:spAutoFit/>
          </a:bodyPr>
          <a:lstStyle/>
          <a:p>
            <a:pPr algn="l">
              <a:spcAft>
                <a:spcPts val="600"/>
              </a:spcAft>
            </a:pPr>
            <a:r>
              <a:rPr sz="1200" b="0" i="0">
                <a:solidFill>
                  <a:srgbClr val="5B6475"/>
                </a:solidFill>
                <a:latin typeface="Calibri"/>
              </a:rPr>
              <a:t>Sentiment macro F1, representative set (n = 295)</a:t>
            </a:r>
          </a:p>
        </p:txBody>
      </p:sp>
      <p:sp>
        <p:nvSpPr>
          <p:cNvPr id="6" name="TextBox 5"/>
          <p:cNvSpPr txBox="1"/>
          <p:nvPr/>
        </p:nvSpPr>
        <p:spPr>
          <a:xfrm>
            <a:off x="7040880" y="1737360"/>
            <a:ext cx="4572000" cy="548640"/>
          </a:xfrm>
          <a:prstGeom prst="rect">
            <a:avLst/>
          </a:prstGeom>
          <a:noFill/>
        </p:spPr>
        <p:txBody>
          <a:bodyPr wrap="square" lIns="0" rIns="0" tIns="0" bIns="0" anchor="t">
            <a:spAutoFit/>
          </a:bodyPr>
          <a:lstStyle/>
          <a:p>
            <a:pPr algn="l">
              <a:spcAft>
                <a:spcPts val="600"/>
              </a:spcAft>
            </a:pPr>
            <a:r>
              <a:rPr sz="3600" b="1" i="0">
                <a:solidFill>
                  <a:srgbClr val="1C2E6E"/>
                </a:solidFill>
                <a:latin typeface="Calibri"/>
              </a:rPr>
              <a:t>61 of 147</a:t>
            </a:r>
          </a:p>
        </p:txBody>
      </p:sp>
      <p:sp>
        <p:nvSpPr>
          <p:cNvPr id="7" name="TextBox 6"/>
          <p:cNvSpPr txBox="1"/>
          <p:nvPr/>
        </p:nvSpPr>
        <p:spPr>
          <a:xfrm>
            <a:off x="7040880" y="2331720"/>
            <a:ext cx="4572000" cy="822960"/>
          </a:xfrm>
          <a:prstGeom prst="rect">
            <a:avLst/>
          </a:prstGeom>
          <a:noFill/>
        </p:spPr>
        <p:txBody>
          <a:bodyPr wrap="square" lIns="0" rIns="0" tIns="0" bIns="0" anchor="t">
            <a:spAutoFit/>
          </a:bodyPr>
          <a:lstStyle/>
          <a:p>
            <a:pPr algn="l">
              <a:spcAft>
                <a:spcPts val="600"/>
              </a:spcAft>
            </a:pPr>
            <a:r>
              <a:rPr sz="1500" b="0" i="0">
                <a:solidFill>
                  <a:srgbClr val="5B6475"/>
                </a:solidFill>
                <a:latin typeface="Calibri"/>
              </a:rPr>
              <a:t>posts I labelled not happy that VADER called happy</a:t>
            </a:r>
          </a:p>
        </p:txBody>
      </p:sp>
      <p:sp>
        <p:nvSpPr>
          <p:cNvPr id="8" name="TextBox 7"/>
          <p:cNvSpPr txBox="1"/>
          <p:nvPr/>
        </p:nvSpPr>
        <p:spPr>
          <a:xfrm>
            <a:off x="7040880" y="3429000"/>
            <a:ext cx="4572000" cy="2743200"/>
          </a:xfrm>
          <a:prstGeom prst="rect">
            <a:avLst/>
          </a:prstGeom>
          <a:noFill/>
        </p:spPr>
        <p:txBody>
          <a:bodyPr wrap="square" lIns="0" rIns="0" tIns="0" bIns="0" anchor="t">
            <a:spAutoFit/>
          </a:bodyPr>
          <a:lstStyle/>
          <a:p>
            <a:pPr algn="l" marL="256032" indent="-256032">
              <a:spcAft>
                <a:spcPts val="1200"/>
              </a:spcAft>
              <a:buClr>
                <a:srgbClr val="D29B08"/>
              </a:buClr>
              <a:buFont typeface="Arial"/>
              <a:buChar char="•"/>
            </a:pPr>
            <a:r>
              <a:rPr sz="1600" b="1" i="0">
                <a:solidFill>
                  <a:srgbClr val="1C2E6E"/>
                </a:solidFill>
                <a:latin typeface="Calibri"/>
              </a:rPr>
              <a:t>+0.27 </a:t>
            </a:r>
            <a:r>
              <a:rPr sz="1600" b="0" i="0">
                <a:solidFill>
                  <a:srgbClr val="1E293B"/>
                </a:solidFill>
                <a:latin typeface="Calibri"/>
              </a:rPr>
              <a:t>macro F1 for mini over VADER (95% CI +0.19 to +0.35)</a:t>
            </a:r>
          </a:p>
          <a:p>
            <a:pPr algn="l" marL="256032" indent="-256032">
              <a:spcAft>
                <a:spcPts val="1200"/>
              </a:spcAft>
              <a:buClr>
                <a:srgbClr val="D29B08"/>
              </a:buClr>
              <a:buFont typeface="Arial"/>
              <a:buChar char="•"/>
            </a:pPr>
            <a:r>
              <a:rPr sz="1600" b="1" i="0">
                <a:solidFill>
                  <a:srgbClr val="1C2E6E"/>
                </a:solidFill>
                <a:latin typeface="Calibri"/>
              </a:rPr>
              <a:t>Tie </a:t>
            </a:r>
            <a:r>
              <a:rPr sz="1600" b="0" i="0">
                <a:solidFill>
                  <a:srgbClr val="1E293B"/>
                </a:solidFill>
                <a:latin typeface="Calibri"/>
              </a:rPr>
              <a:t>between mini and GPT-4o (95% CI −0.05 to +0.06)</a:t>
            </a:r>
          </a:p>
          <a:p>
            <a:pPr algn="l" marL="256032" indent="-256032">
              <a:spcAft>
                <a:spcPts val="1200"/>
              </a:spcAft>
              <a:buClr>
                <a:srgbClr val="D29B08"/>
              </a:buClr>
              <a:buFont typeface="Arial"/>
              <a:buChar char="•"/>
            </a:pPr>
            <a:r>
              <a:rPr sz="1600" b="1" i="0">
                <a:solidFill>
                  <a:srgbClr val="1C2E6E"/>
                </a:solidFill>
                <a:latin typeface="Calibri"/>
              </a:rPr>
              <a:t>~17× </a:t>
            </a:r>
            <a:r>
              <a:rPr sz="1600" b="0" i="0">
                <a:solidFill>
                  <a:srgbClr val="1E293B"/>
                </a:solidFill>
                <a:latin typeface="Calibri"/>
              </a:rPr>
              <a:t>GPT-4o’s cost over mini for the same run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For issues, rules first and GPT-4o only on the leftovers</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13</a:t>
            </a:r>
          </a:p>
        </p:txBody>
      </p:sp>
      <p:graphicFrame>
        <p:nvGraphicFramePr>
          <p:cNvPr id="4" name="Chart 3"/>
          <p:cNvGraphicFramePr>
            <a:graphicFrameLocks noGrp="1"/>
          </p:cNvGraphicFramePr>
          <p:nvPr/>
        </p:nvGraphicFramePr>
        <p:xfrm>
          <a:off x="548640" y="1645920"/>
          <a:ext cx="6400800" cy="4389120"/>
        </p:xfrm>
        <a:graphic>
          <a:graphicData uri="http://schemas.openxmlformats.org/drawingml/2006/chart">
            <c:chart xmlns:c="http://schemas.openxmlformats.org/drawingml/2006/chart" r:id="rId3"/>
          </a:graphicData>
        </a:graphic>
      </p:graphicFrame>
      <p:sp>
        <p:nvSpPr>
          <p:cNvPr id="5" name="TextBox 4"/>
          <p:cNvSpPr txBox="1"/>
          <p:nvPr/>
        </p:nvSpPr>
        <p:spPr>
          <a:xfrm>
            <a:off x="548640" y="6053328"/>
            <a:ext cx="6400800" cy="320040"/>
          </a:xfrm>
          <a:prstGeom prst="rect">
            <a:avLst/>
          </a:prstGeom>
          <a:noFill/>
        </p:spPr>
        <p:txBody>
          <a:bodyPr wrap="square" lIns="0" rIns="0" tIns="0" bIns="0" anchor="t">
            <a:spAutoFit/>
          </a:bodyPr>
          <a:lstStyle/>
          <a:p>
            <a:pPr algn="l">
              <a:spcAft>
                <a:spcPts val="600"/>
              </a:spcAft>
            </a:pPr>
            <a:r>
              <a:rPr sz="1200" b="0" i="0">
                <a:solidFill>
                  <a:srgbClr val="5B6475"/>
                </a:solidFill>
                <a:latin typeface="Calibri"/>
              </a:rPr>
              <a:t>Issue macro F1, multi-label, representative set (n = 295)</a:t>
            </a:r>
          </a:p>
        </p:txBody>
      </p:sp>
      <p:sp>
        <p:nvSpPr>
          <p:cNvPr id="6" name="Oval 5"/>
          <p:cNvSpPr/>
          <p:nvPr/>
        </p:nvSpPr>
        <p:spPr>
          <a:xfrm>
            <a:off x="7315200" y="1737360"/>
            <a:ext cx="548640" cy="54864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1</a:t>
            </a:r>
          </a:p>
        </p:txBody>
      </p:sp>
      <p:sp>
        <p:nvSpPr>
          <p:cNvPr id="7" name="TextBox 6"/>
          <p:cNvSpPr txBox="1"/>
          <p:nvPr/>
        </p:nvSpPr>
        <p:spPr>
          <a:xfrm>
            <a:off x="8046720" y="1737360"/>
            <a:ext cx="3566160" cy="548640"/>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Rules label every post</a:t>
            </a:r>
          </a:p>
        </p:txBody>
      </p:sp>
      <p:sp>
        <p:nvSpPr>
          <p:cNvPr id="8" name="Oval 7"/>
          <p:cNvSpPr/>
          <p:nvPr/>
        </p:nvSpPr>
        <p:spPr>
          <a:xfrm>
            <a:off x="7315200" y="2606040"/>
            <a:ext cx="548640" cy="54864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2</a:t>
            </a:r>
          </a:p>
        </p:txBody>
      </p:sp>
      <p:sp>
        <p:nvSpPr>
          <p:cNvPr id="9" name="TextBox 8"/>
          <p:cNvSpPr txBox="1"/>
          <p:nvPr/>
        </p:nvSpPr>
        <p:spPr>
          <a:xfrm>
            <a:off x="8046720" y="2606040"/>
            <a:ext cx="3566160" cy="548640"/>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98 of 295 left as General Discussion</a:t>
            </a:r>
          </a:p>
        </p:txBody>
      </p:sp>
      <p:sp>
        <p:nvSpPr>
          <p:cNvPr id="10" name="Oval 9"/>
          <p:cNvSpPr/>
          <p:nvPr/>
        </p:nvSpPr>
        <p:spPr>
          <a:xfrm>
            <a:off x="7315200" y="3474720"/>
            <a:ext cx="548640" cy="54864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3</a:t>
            </a:r>
          </a:p>
        </p:txBody>
      </p:sp>
      <p:sp>
        <p:nvSpPr>
          <p:cNvPr id="11" name="TextBox 10"/>
          <p:cNvSpPr txBox="1"/>
          <p:nvPr/>
        </p:nvSpPr>
        <p:spPr>
          <a:xfrm>
            <a:off x="8046720" y="3474720"/>
            <a:ext cx="3566160" cy="548640"/>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GPT-4o relabels those 98, moves 70</a:t>
            </a:r>
          </a:p>
        </p:txBody>
      </p:sp>
      <p:sp>
        <p:nvSpPr>
          <p:cNvPr id="12" name="Rounded Rectangle 11"/>
          <p:cNvSpPr/>
          <p:nvPr/>
        </p:nvSpPr>
        <p:spPr>
          <a:xfrm>
            <a:off x="7315200" y="4389120"/>
            <a:ext cx="4325112" cy="16002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4572000"/>
            <a:ext cx="3867912" cy="36576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Gain over rules: +0.041</a:t>
            </a:r>
          </a:p>
        </p:txBody>
      </p:sp>
      <p:sp>
        <p:nvSpPr>
          <p:cNvPr id="14" name="TextBox 13"/>
          <p:cNvSpPr txBox="1"/>
          <p:nvPr/>
        </p:nvSpPr>
        <p:spPr>
          <a:xfrm>
            <a:off x="7543800" y="4956048"/>
            <a:ext cx="3867912" cy="86868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95% CI +0.011 to +0.072. Chosen on this set, so it needs a held-out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The hybrid didn’t survive the held-out test</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14</a:t>
            </a:r>
          </a:p>
        </p:txBody>
      </p:sp>
      <p:graphicFrame>
        <p:nvGraphicFramePr>
          <p:cNvPr id="4" name="Chart 3"/>
          <p:cNvGraphicFramePr>
            <a:graphicFrameLocks noGrp="1"/>
          </p:cNvGraphicFramePr>
          <p:nvPr/>
        </p:nvGraphicFramePr>
        <p:xfrm>
          <a:off x="548640" y="1600200"/>
          <a:ext cx="6766560" cy="4480560"/>
        </p:xfrm>
        <a:graphic>
          <a:graphicData uri="http://schemas.openxmlformats.org/drawingml/2006/chart">
            <c:chart xmlns:c="http://schemas.openxmlformats.org/drawingml/2006/chart" r:id="rId3"/>
          </a:graphicData>
        </a:graphic>
      </p:graphicFrame>
      <p:sp>
        <p:nvSpPr>
          <p:cNvPr id="5" name="TextBox 4"/>
          <p:cNvSpPr txBox="1"/>
          <p:nvPr/>
        </p:nvSpPr>
        <p:spPr>
          <a:xfrm>
            <a:off x="548640" y="6053328"/>
            <a:ext cx="6766560" cy="320040"/>
          </a:xfrm>
          <a:prstGeom prst="rect">
            <a:avLst/>
          </a:prstGeom>
          <a:noFill/>
        </p:spPr>
        <p:txBody>
          <a:bodyPr wrap="square" lIns="0" rIns="0" tIns="0" bIns="0" anchor="t">
            <a:spAutoFit/>
          </a:bodyPr>
          <a:lstStyle/>
          <a:p>
            <a:pPr algn="l">
              <a:spcAft>
                <a:spcPts val="600"/>
              </a:spcAft>
            </a:pPr>
            <a:r>
              <a:rPr sz="1200" b="0" i="0">
                <a:solidFill>
                  <a:srgbClr val="5B6475"/>
                </a:solidFill>
                <a:latin typeface="Calibri"/>
              </a:rPr>
              <a:t>Issue macro F1 against human labels</a:t>
            </a:r>
          </a:p>
        </p:txBody>
      </p:sp>
      <p:graphicFrame>
        <p:nvGraphicFramePr>
          <p:cNvPr id="6" name="Table 5"/>
          <p:cNvGraphicFramePr>
            <a:graphicFrameLocks noGrp="1"/>
          </p:cNvGraphicFramePr>
          <p:nvPr/>
        </p:nvGraphicFramePr>
        <p:xfrm>
          <a:off x="7589520" y="1691640"/>
          <a:ext cx="4050792" cy="1828800"/>
        </p:xfrm>
        <a:graphic>
          <a:graphicData uri="http://schemas.openxmlformats.org/drawingml/2006/table">
            <a:tbl>
              <a:tblPr firstRow="1" bandRow="1">
                <a:tableStyleId>{5C22544A-7EE6-4342-B048-85BDC9FD1C3A}</a:tableStyleId>
              </a:tblPr>
              <a:tblGrid>
                <a:gridCol w="2331720"/>
                <a:gridCol w="1719072"/>
              </a:tblGrid>
              <a:tr h="457200">
                <a:tc>
                  <a:txBody>
                    <a:bodyPr wrap="square"/>
                    <a:lstStyle/>
                    <a:p>
                      <a:pPr algn="l"/>
                      <a:r>
                        <a:rPr sz="1400" b="1">
                          <a:solidFill>
                            <a:srgbClr val="FFFFFF"/>
                          </a:solidFill>
                          <a:latin typeface="Calibri"/>
                        </a:rPr>
                        <a:t>Challenge set</a:t>
                      </a:r>
                    </a:p>
                  </a:txBody>
                  <a:tcPr marL="91440" marR="91440" marT="36576" marB="36576" anchor="ctr">
                    <a:solidFill>
                      <a:srgbClr val="1C2E6E"/>
                    </a:solidFill>
                  </a:tcPr>
                </a:tc>
                <a:tc>
                  <a:txBody>
                    <a:bodyPr wrap="square"/>
                    <a:lstStyle/>
                    <a:p>
                      <a:pPr algn="l"/>
                      <a:r>
                        <a:rPr sz="1400" b="1">
                          <a:solidFill>
                            <a:srgbClr val="FFFFFF"/>
                          </a:solidFill>
                          <a:latin typeface="Calibri"/>
                        </a:rPr>
                        <a:t>95% CI</a:t>
                      </a:r>
                    </a:p>
                  </a:txBody>
                  <a:tcPr marL="91440" marR="91440" marT="36576" marB="36576" anchor="ctr">
                    <a:solidFill>
                      <a:srgbClr val="1C2E6E"/>
                    </a:solidFill>
                  </a:tcPr>
                </a:tc>
              </a:tr>
              <a:tr h="457200">
                <a:tc>
                  <a:txBody>
                    <a:bodyPr wrap="square"/>
                    <a:lstStyle/>
                    <a:p>
                      <a:pPr algn="l"/>
                      <a:r>
                        <a:rPr sz="1400" b="0">
                          <a:solidFill>
                            <a:srgbClr val="1E293B"/>
                          </a:solidFill>
                          <a:latin typeface="Calibri"/>
                        </a:rPr>
                        <a:t>Hybrid − rules</a:t>
                      </a:r>
                    </a:p>
                  </a:txBody>
                  <a:tcPr marL="91440" marR="91440" marT="36576" marB="36576" anchor="ctr">
                    <a:solidFill>
                      <a:srgbClr val="FFFFFF"/>
                    </a:solidFill>
                  </a:tcPr>
                </a:tc>
                <a:tc>
                  <a:txBody>
                    <a:bodyPr wrap="square"/>
                    <a:lstStyle/>
                    <a:p>
                      <a:pPr algn="l"/>
                      <a:r>
                        <a:rPr sz="1400" b="0">
                          <a:solidFill>
                            <a:srgbClr val="1E293B"/>
                          </a:solidFill>
                          <a:latin typeface="Calibri"/>
                        </a:rPr>
                        <a:t>−0.04 to +0.07</a:t>
                      </a:r>
                    </a:p>
                  </a:txBody>
                  <a:tcPr marL="91440" marR="91440" marT="36576" marB="36576" anchor="ctr">
                    <a:solidFill>
                      <a:srgbClr val="FFFFFF"/>
                    </a:solidFill>
                  </a:tcPr>
                </a:tc>
              </a:tr>
              <a:tr h="457200">
                <a:tc>
                  <a:txBody>
                    <a:bodyPr wrap="square"/>
                    <a:lstStyle/>
                    <a:p>
                      <a:pPr algn="l"/>
                      <a:r>
                        <a:rPr sz="1400" b="1">
                          <a:solidFill>
                            <a:srgbClr val="1E293B"/>
                          </a:solidFill>
                          <a:latin typeface="Calibri"/>
                        </a:rPr>
                        <a:t>GPT-4o − rules</a:t>
                      </a:r>
                    </a:p>
                  </a:txBody>
                  <a:tcPr marL="91440" marR="91440" marT="36576" marB="36576" anchor="ctr">
                    <a:solidFill>
                      <a:srgbClr val="FBF3DF"/>
                    </a:solidFill>
                  </a:tcPr>
                </a:tc>
                <a:tc>
                  <a:txBody>
                    <a:bodyPr wrap="square"/>
                    <a:lstStyle/>
                    <a:p>
                      <a:pPr algn="l"/>
                      <a:r>
                        <a:rPr sz="1400" b="0">
                          <a:solidFill>
                            <a:srgbClr val="1E293B"/>
                          </a:solidFill>
                          <a:latin typeface="Calibri"/>
                        </a:rPr>
                        <a:t>+0.01 to +0.18</a:t>
                      </a:r>
                    </a:p>
                  </a:txBody>
                  <a:tcPr marL="91440" marR="91440" marT="36576" marB="36576" anchor="ctr">
                    <a:solidFill>
                      <a:srgbClr val="FBF3DF"/>
                    </a:solidFill>
                  </a:tcPr>
                </a:tc>
              </a:tr>
              <a:tr h="457200">
                <a:tc>
                  <a:txBody>
                    <a:bodyPr wrap="square"/>
                    <a:lstStyle/>
                    <a:p>
                      <a:pPr algn="l"/>
                      <a:r>
                        <a:rPr sz="1400" b="1">
                          <a:solidFill>
                            <a:srgbClr val="1E293B"/>
                          </a:solidFill>
                          <a:latin typeface="Calibri"/>
                        </a:rPr>
                        <a:t>GPT-4o − hybrid</a:t>
                      </a:r>
                    </a:p>
                  </a:txBody>
                  <a:tcPr marL="91440" marR="91440" marT="36576" marB="36576" anchor="ctr">
                    <a:solidFill>
                      <a:srgbClr val="FBF3DF"/>
                    </a:solidFill>
                  </a:tcPr>
                </a:tc>
                <a:tc>
                  <a:txBody>
                    <a:bodyPr wrap="square"/>
                    <a:lstStyle/>
                    <a:p>
                      <a:pPr algn="l"/>
                      <a:r>
                        <a:rPr sz="1400" b="0">
                          <a:solidFill>
                            <a:srgbClr val="1E293B"/>
                          </a:solidFill>
                          <a:latin typeface="Calibri"/>
                        </a:rPr>
                        <a:t>+0.02 to +0.15</a:t>
                      </a:r>
                    </a:p>
                  </a:txBody>
                  <a:tcPr marL="91440" marR="91440" marT="36576" marB="36576" anchor="ctr">
                    <a:solidFill>
                      <a:srgbClr val="FBF3DF"/>
                    </a:solidFill>
                  </a:tcPr>
                </a:tc>
              </a:tr>
            </a:tbl>
          </a:graphicData>
        </a:graphic>
      </p:graphicFrame>
      <p:sp>
        <p:nvSpPr>
          <p:cNvPr id="7" name="Rounded Rectangle 6"/>
          <p:cNvSpPr/>
          <p:nvPr/>
        </p:nvSpPr>
        <p:spPr>
          <a:xfrm>
            <a:off x="7589520" y="3840480"/>
            <a:ext cx="4050791" cy="21488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4023360"/>
            <a:ext cx="3593591" cy="365760"/>
          </a:xfrm>
          <a:prstGeom prst="rect">
            <a:avLst/>
          </a:prstGeom>
          <a:noFill/>
        </p:spPr>
        <p:txBody>
          <a:bodyPr wrap="square" lIns="0" rIns="0" tIns="0" bIns="0" anchor="t">
            <a:spAutoFit/>
          </a:bodyPr>
          <a:lstStyle/>
          <a:p>
            <a:pPr algn="l">
              <a:spcAft>
                <a:spcPts val="600"/>
              </a:spcAft>
            </a:pPr>
            <a:r>
              <a:rPr sz="1600" b="1" i="0">
                <a:solidFill>
                  <a:srgbClr val="1C2E6E"/>
                </a:solidFill>
                <a:latin typeface="Calibri"/>
              </a:rPr>
              <a:t>What I conclude</a:t>
            </a:r>
          </a:p>
        </p:txBody>
      </p:sp>
      <p:sp>
        <p:nvSpPr>
          <p:cNvPr id="9" name="TextBox 8"/>
          <p:cNvSpPr txBox="1"/>
          <p:nvPr/>
        </p:nvSpPr>
        <p:spPr>
          <a:xfrm>
            <a:off x="7818120" y="4407408"/>
            <a:ext cx="3593591" cy="141732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Keep the hybrid for typical posts, but report 0.680 as optimistic. On hard posts, GPT-4o on every post is worth its cost.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LLMs miss the equipment jargon that rules catch</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15</a:t>
            </a:r>
          </a:p>
        </p:txBody>
      </p:sp>
      <p:graphicFrame>
        <p:nvGraphicFramePr>
          <p:cNvPr id="4" name="Chart 3"/>
          <p:cNvGraphicFramePr>
            <a:graphicFrameLocks noGrp="1"/>
          </p:cNvGraphicFramePr>
          <p:nvPr/>
        </p:nvGraphicFramePr>
        <p:xfrm>
          <a:off x="548640" y="1645920"/>
          <a:ext cx="6035040" cy="3017520"/>
        </p:xfrm>
        <a:graphic>
          <a:graphicData uri="http://schemas.openxmlformats.org/drawingml/2006/chart">
            <c:chart xmlns:c="http://schemas.openxmlformats.org/drawingml/2006/chart" r:id="rId3"/>
          </a:graphicData>
        </a:graphic>
      </p:graphicFrame>
      <p:sp>
        <p:nvSpPr>
          <p:cNvPr id="5" name="TextBox 4"/>
          <p:cNvSpPr txBox="1"/>
          <p:nvPr/>
        </p:nvSpPr>
        <p:spPr>
          <a:xfrm>
            <a:off x="548640" y="4709160"/>
            <a:ext cx="6035040" cy="320040"/>
          </a:xfrm>
          <a:prstGeom prst="rect">
            <a:avLst/>
          </a:prstGeom>
          <a:noFill/>
        </p:spPr>
        <p:txBody>
          <a:bodyPr wrap="square" lIns="0" rIns="0" tIns="0" bIns="0" anchor="t">
            <a:spAutoFit/>
          </a:bodyPr>
          <a:lstStyle/>
          <a:p>
            <a:pPr algn="l">
              <a:spcAft>
                <a:spcPts val="600"/>
              </a:spcAft>
            </a:pPr>
            <a:r>
              <a:rPr sz="1200" b="0" i="0">
                <a:solidFill>
                  <a:srgbClr val="5B6475"/>
                </a:solidFill>
                <a:latin typeface="Calibri"/>
              </a:rPr>
              <a:t>Devices recall, representative set (52 device posts)</a:t>
            </a:r>
          </a:p>
        </p:txBody>
      </p:sp>
      <p:sp>
        <p:nvSpPr>
          <p:cNvPr id="6" name="TextBox 5"/>
          <p:cNvSpPr txBox="1"/>
          <p:nvPr/>
        </p:nvSpPr>
        <p:spPr>
          <a:xfrm>
            <a:off x="548640" y="5120640"/>
            <a:ext cx="6035040" cy="914400"/>
          </a:xfrm>
          <a:prstGeom prst="rect">
            <a:avLst/>
          </a:prstGeom>
          <a:noFill/>
        </p:spPr>
        <p:txBody>
          <a:bodyPr wrap="square" lIns="0" rIns="0" tIns="0" bIns="0" anchor="t">
            <a:spAutoFit/>
          </a:bodyPr>
          <a:lstStyle/>
          <a:p>
            <a:pPr algn="l">
              <a:spcAft>
                <a:spcPts val="600"/>
              </a:spcAft>
            </a:pPr>
            <a:r>
              <a:rPr sz="1500" b="0" i="0">
                <a:solidFill>
                  <a:srgbClr val="1E293B"/>
                </a:solidFill>
                <a:latin typeface="Calibri"/>
              </a:rPr>
              <a:t>All-row LLMs return one or two topics when a post has several. On the challenge set rules still recall 75% of device posts vs GPT-4o’s 33%.</a:t>
            </a:r>
          </a:p>
        </p:txBody>
      </p:sp>
      <p:sp>
        <p:nvSpPr>
          <p:cNvPr id="7" name="Rounded Rectangle 6"/>
          <p:cNvSpPr/>
          <p:nvPr/>
        </p:nvSpPr>
        <p:spPr>
          <a:xfrm>
            <a:off x="6949440" y="1737360"/>
            <a:ext cx="4690872" cy="42062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965960"/>
            <a:ext cx="4206240" cy="822960"/>
          </a:xfrm>
          <a:prstGeom prst="rect">
            <a:avLst/>
          </a:prstGeom>
          <a:noFill/>
        </p:spPr>
        <p:txBody>
          <a:bodyPr wrap="square" lIns="0" rIns="0" tIns="0" bIns="0" anchor="t">
            <a:spAutoFit/>
          </a:bodyPr>
          <a:lstStyle/>
          <a:p>
            <a:pPr algn="l">
              <a:spcAft>
                <a:spcPts val="600"/>
              </a:spcAft>
            </a:pPr>
            <a:r>
              <a:rPr sz="2400" b="1" i="1">
                <a:solidFill>
                  <a:srgbClr val="1C2E6E"/>
                </a:solidFill>
                <a:latin typeface="Calibri"/>
              </a:rPr>
              <a:t>“Starhub, no ONR, no CGNAT”</a:t>
            </a:r>
          </a:p>
        </p:txBody>
      </p:sp>
      <p:graphicFrame>
        <p:nvGraphicFramePr>
          <p:cNvPr id="9" name="Table 8"/>
          <p:cNvGraphicFramePr>
            <a:graphicFrameLocks noGrp="1"/>
          </p:cNvGraphicFramePr>
          <p:nvPr/>
        </p:nvGraphicFramePr>
        <p:xfrm>
          <a:off x="7223760" y="2926080"/>
          <a:ext cx="4160520" cy="1682496"/>
        </p:xfrm>
        <a:graphic>
          <a:graphicData uri="http://schemas.openxmlformats.org/drawingml/2006/table">
            <a:tbl>
              <a:tblPr firstRow="1" bandRow="1">
                <a:tableStyleId>{5C22544A-7EE6-4342-B048-85BDC9FD1C3A}</a:tableStyleId>
              </a:tblPr>
              <a:tblGrid>
                <a:gridCol w="2148840"/>
                <a:gridCol w="2011680"/>
              </a:tblGrid>
              <a:tr h="420624">
                <a:tc>
                  <a:txBody>
                    <a:bodyPr wrap="square"/>
                    <a:lstStyle/>
                    <a:p>
                      <a:pPr algn="l"/>
                      <a:r>
                        <a:rPr sz="1400" b="1">
                          <a:solidFill>
                            <a:srgbClr val="FFFFFF"/>
                          </a:solidFill>
                          <a:latin typeface="Calibri"/>
                        </a:rPr>
                        <a:t>Labeller</a:t>
                      </a:r>
                    </a:p>
                  </a:txBody>
                  <a:tcPr marL="91440" marR="91440" marT="36576" marB="36576" anchor="ctr">
                    <a:solidFill>
                      <a:srgbClr val="1C2E6E"/>
                    </a:solidFill>
                  </a:tcPr>
                </a:tc>
                <a:tc>
                  <a:txBody>
                    <a:bodyPr wrap="square"/>
                    <a:lstStyle/>
                    <a:p>
                      <a:pPr algn="l"/>
                      <a:r>
                        <a:rPr sz="1400" b="1">
                          <a:solidFill>
                            <a:srgbClr val="FFFFFF"/>
                          </a:solidFill>
                          <a:latin typeface="Calibri"/>
                        </a:rPr>
                        <a:t>Issue label</a:t>
                      </a:r>
                    </a:p>
                  </a:txBody>
                  <a:tcPr marL="91440" marR="91440" marT="36576" marB="36576" anchor="ctr">
                    <a:solidFill>
                      <a:srgbClr val="1C2E6E"/>
                    </a:solidFill>
                  </a:tcPr>
                </a:tc>
              </a:tr>
              <a:tr h="420624">
                <a:tc>
                  <a:txBody>
                    <a:bodyPr wrap="square"/>
                    <a:lstStyle/>
                    <a:p>
                      <a:pPr algn="l"/>
                      <a:r>
                        <a:rPr sz="1400" b="0">
                          <a:solidFill>
                            <a:srgbClr val="1E293B"/>
                          </a:solidFill>
                          <a:latin typeface="Calibri"/>
                        </a:rPr>
                        <a:t>Human</a:t>
                      </a:r>
                    </a:p>
                  </a:txBody>
                  <a:tcPr marL="91440" marR="91440" marT="36576" marB="36576" anchor="ctr">
                    <a:solidFill>
                      <a:srgbClr val="FFFFFF"/>
                    </a:solidFill>
                  </a:tcPr>
                </a:tc>
                <a:tc>
                  <a:txBody>
                    <a:bodyPr wrap="square"/>
                    <a:lstStyle/>
                    <a:p>
                      <a:pPr algn="l"/>
                      <a:r>
                        <a:rPr sz="1400" b="0">
                          <a:solidFill>
                            <a:srgbClr val="1E293B"/>
                          </a:solidFill>
                          <a:latin typeface="Calibri"/>
                        </a:rPr>
                        <a:t>Devices</a:t>
                      </a:r>
                    </a:p>
                  </a:txBody>
                  <a:tcPr marL="91440" marR="91440" marT="36576" marB="36576" anchor="ctr">
                    <a:solidFill>
                      <a:srgbClr val="FFFFFF"/>
                    </a:solidFill>
                  </a:tcPr>
                </a:tc>
              </a:tr>
              <a:tr h="420624">
                <a:tc>
                  <a:txBody>
                    <a:bodyPr wrap="square"/>
                    <a:lstStyle/>
                    <a:p>
                      <a:pPr algn="l"/>
                      <a:r>
                        <a:rPr sz="1400" b="0">
                          <a:solidFill>
                            <a:srgbClr val="1E293B"/>
                          </a:solidFill>
                          <a:latin typeface="Calibri"/>
                        </a:rPr>
                        <a:t>Keyword rules</a:t>
                      </a:r>
                    </a:p>
                  </a:txBody>
                  <a:tcPr marL="91440" marR="91440" marT="36576" marB="36576" anchor="ctr">
                    <a:solidFill>
                      <a:srgbClr val="F2F4F9"/>
                    </a:solidFill>
                  </a:tcPr>
                </a:tc>
                <a:tc>
                  <a:txBody>
                    <a:bodyPr wrap="square"/>
                    <a:lstStyle/>
                    <a:p>
                      <a:pPr algn="l"/>
                      <a:r>
                        <a:rPr sz="1400" b="0">
                          <a:solidFill>
                            <a:srgbClr val="1E293B"/>
                          </a:solidFill>
                          <a:latin typeface="Calibri"/>
                        </a:rPr>
                        <a:t>Devices</a:t>
                      </a:r>
                    </a:p>
                  </a:txBody>
                  <a:tcPr marL="91440" marR="91440" marT="36576" marB="36576" anchor="ctr">
                    <a:solidFill>
                      <a:srgbClr val="F2F4F9"/>
                    </a:solidFill>
                  </a:tcPr>
                </a:tc>
              </a:tr>
              <a:tr h="420624">
                <a:tc>
                  <a:txBody>
                    <a:bodyPr wrap="square"/>
                    <a:lstStyle/>
                    <a:p>
                      <a:pPr algn="l"/>
                      <a:r>
                        <a:rPr sz="1400" b="1">
                          <a:solidFill>
                            <a:srgbClr val="1E293B"/>
                          </a:solidFill>
                          <a:latin typeface="Calibri"/>
                        </a:rPr>
                        <a:t>GPT-4o-mini</a:t>
                      </a:r>
                    </a:p>
                  </a:txBody>
                  <a:tcPr marL="91440" marR="91440" marT="36576" marB="36576" anchor="ctr">
                    <a:solidFill>
                      <a:srgbClr val="FBF3DF"/>
                    </a:solidFill>
                  </a:tcPr>
                </a:tc>
                <a:tc>
                  <a:txBody>
                    <a:bodyPr wrap="square"/>
                    <a:lstStyle/>
                    <a:p>
                      <a:pPr algn="l"/>
                      <a:r>
                        <a:rPr sz="1400" b="0">
                          <a:solidFill>
                            <a:srgbClr val="1E293B"/>
                          </a:solidFill>
                          <a:latin typeface="Calibri"/>
                        </a:rPr>
                        <a:t>General Discussion</a:t>
                      </a:r>
                    </a:p>
                  </a:txBody>
                  <a:tcPr marL="91440" marR="91440" marT="36576" marB="36576" anchor="ctr">
                    <a:solidFill>
                      <a:srgbClr val="FBF3DF"/>
                    </a:solidFill>
                  </a:tcPr>
                </a:tc>
              </a:tr>
            </a:tbl>
          </a:graphicData>
        </a:graphic>
      </p:graphicFrame>
      <p:sp>
        <p:nvSpPr>
          <p:cNvPr id="10" name="TextBox 9"/>
          <p:cNvSpPr txBox="1"/>
          <p:nvPr/>
        </p:nvSpPr>
        <p:spPr>
          <a:xfrm>
            <a:off x="7223760" y="4800600"/>
            <a:ext cx="4206240" cy="914400"/>
          </a:xfrm>
          <a:prstGeom prst="rect">
            <a:avLst/>
          </a:prstGeom>
          <a:noFill/>
        </p:spPr>
        <p:txBody>
          <a:bodyPr wrap="square" lIns="0" rIns="0" tIns="0" bIns="0" anchor="t">
            <a:spAutoFit/>
          </a:bodyPr>
          <a:lstStyle/>
          <a:p>
            <a:pPr algn="l">
              <a:spcAft>
                <a:spcPts val="600"/>
              </a:spcAft>
            </a:pPr>
            <a:r>
              <a:rPr sz="1300" b="0" i="0">
                <a:solidFill>
                  <a:srgbClr val="5B6475"/>
                </a:solidFill>
                <a:latin typeface="Calibri"/>
              </a:rPr>
              <a:t>ONR = optical network router; CGNAT = carrier-grade NAT. Mini also flipped this post’s sentiment to happy.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Four posts that show where VADER breaks</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16</a:t>
            </a:r>
          </a:p>
        </p:txBody>
      </p:sp>
      <p:graphicFrame>
        <p:nvGraphicFramePr>
          <p:cNvPr id="4" name="Table 3"/>
          <p:cNvGraphicFramePr>
            <a:graphicFrameLocks noGrp="1"/>
          </p:cNvGraphicFramePr>
          <p:nvPr/>
        </p:nvGraphicFramePr>
        <p:xfrm>
          <a:off x="548640" y="1737360"/>
          <a:ext cx="11091672" cy="3657600"/>
        </p:xfrm>
        <a:graphic>
          <a:graphicData uri="http://schemas.openxmlformats.org/drawingml/2006/table">
            <a:tbl>
              <a:tblPr firstRow="1" bandRow="1">
                <a:tableStyleId>{5C22544A-7EE6-4342-B048-85BDC9FD1C3A}</a:tableStyleId>
              </a:tblPr>
              <a:tblGrid>
                <a:gridCol w="1234440"/>
                <a:gridCol w="4937760"/>
                <a:gridCol w="1691640"/>
                <a:gridCol w="1600200"/>
                <a:gridCol w="1627632"/>
              </a:tblGrid>
              <a:tr h="731520">
                <a:tc>
                  <a:txBody>
                    <a:bodyPr wrap="square"/>
                    <a:lstStyle/>
                    <a:p>
                      <a:pPr algn="l"/>
                      <a:r>
                        <a:rPr sz="1700" b="1">
                          <a:solidFill>
                            <a:srgbClr val="FFFFFF"/>
                          </a:solidFill>
                          <a:latin typeface="Calibri"/>
                        </a:rPr>
                        <a:t>Post</a:t>
                      </a:r>
                    </a:p>
                  </a:txBody>
                  <a:tcPr marL="91440" marR="91440" marT="36576" marB="36576" anchor="ctr">
                    <a:solidFill>
                      <a:srgbClr val="1C2E6E"/>
                    </a:solidFill>
                  </a:tcPr>
                </a:tc>
                <a:tc>
                  <a:txBody>
                    <a:bodyPr wrap="square"/>
                    <a:lstStyle/>
                    <a:p>
                      <a:pPr algn="l"/>
                      <a:r>
                        <a:rPr sz="1700" b="1">
                          <a:solidFill>
                            <a:srgbClr val="FFFFFF"/>
                          </a:solidFill>
                          <a:latin typeface="Calibri"/>
                        </a:rPr>
                        <a:t>What it says (paraphrased)</a:t>
                      </a:r>
                    </a:p>
                  </a:txBody>
                  <a:tcPr marL="91440" marR="91440" marT="36576" marB="36576" anchor="ctr">
                    <a:solidFill>
                      <a:srgbClr val="1C2E6E"/>
                    </a:solidFill>
                  </a:tcPr>
                </a:tc>
                <a:tc>
                  <a:txBody>
                    <a:bodyPr wrap="square"/>
                    <a:lstStyle/>
                    <a:p>
                      <a:pPr algn="l"/>
                      <a:r>
                        <a:rPr sz="1700" b="1">
                          <a:solidFill>
                            <a:srgbClr val="FFFFFF"/>
                          </a:solidFill>
                          <a:latin typeface="Calibri"/>
                        </a:rPr>
                        <a:t>Human</a:t>
                      </a:r>
                    </a:p>
                  </a:txBody>
                  <a:tcPr marL="91440" marR="91440" marT="36576" marB="36576" anchor="ctr">
                    <a:solidFill>
                      <a:srgbClr val="1C2E6E"/>
                    </a:solidFill>
                  </a:tcPr>
                </a:tc>
                <a:tc>
                  <a:txBody>
                    <a:bodyPr wrap="square"/>
                    <a:lstStyle/>
                    <a:p>
                      <a:pPr algn="l"/>
                      <a:r>
                        <a:rPr sz="1700" b="1">
                          <a:solidFill>
                            <a:srgbClr val="FFFFFF"/>
                          </a:solidFill>
                          <a:latin typeface="Calibri"/>
                        </a:rPr>
                        <a:t>VADER</a:t>
                      </a:r>
                    </a:p>
                  </a:txBody>
                  <a:tcPr marL="91440" marR="91440" marT="36576" marB="36576" anchor="ctr">
                    <a:solidFill>
                      <a:srgbClr val="1C2E6E"/>
                    </a:solidFill>
                  </a:tcPr>
                </a:tc>
                <a:tc>
                  <a:txBody>
                    <a:bodyPr wrap="square"/>
                    <a:lstStyle/>
                    <a:p>
                      <a:pPr algn="l"/>
                      <a:r>
                        <a:rPr sz="1700" b="1">
                          <a:solidFill>
                            <a:srgbClr val="FFFFFF"/>
                          </a:solidFill>
                          <a:latin typeface="Calibri"/>
                        </a:rPr>
                        <a:t>GPT-4o-mini</a:t>
                      </a:r>
                    </a:p>
                  </a:txBody>
                  <a:tcPr marL="91440" marR="91440" marT="36576" marB="36576" anchor="ctr">
                    <a:solidFill>
                      <a:srgbClr val="1C2E6E"/>
                    </a:solidFill>
                  </a:tcPr>
                </a:tc>
              </a:tr>
              <a:tr h="731520">
                <a:tc>
                  <a:txBody>
                    <a:bodyPr wrap="square"/>
                    <a:lstStyle/>
                    <a:p>
                      <a:pPr algn="l"/>
                      <a:r>
                        <a:rPr sz="1700" b="0">
                          <a:solidFill>
                            <a:srgbClr val="1E293B"/>
                          </a:solidFill>
                          <a:latin typeface="Calibri"/>
                        </a:rPr>
                        <a:t>REP-0003</a:t>
                      </a:r>
                    </a:p>
                  </a:txBody>
                  <a:tcPr marL="91440" marR="91440" marT="36576" marB="36576" anchor="ctr">
                    <a:solidFill>
                      <a:srgbClr val="FFFFFF"/>
                    </a:solidFill>
                  </a:tcPr>
                </a:tc>
                <a:tc>
                  <a:txBody>
                    <a:bodyPr wrap="square"/>
                    <a:lstStyle/>
                    <a:p>
                      <a:pPr algn="l"/>
                      <a:r>
                        <a:rPr sz="1700" b="0">
                          <a:solidFill>
                            <a:srgbClr val="1E293B"/>
                          </a:solidFill>
                          <a:latin typeface="Calibri"/>
                        </a:rPr>
                        <a:t>“SingTel eSIM still down”</a:t>
                      </a:r>
                    </a:p>
                  </a:txBody>
                  <a:tcPr marL="91440" marR="91440" marT="36576" marB="36576" anchor="ctr">
                    <a:solidFill>
                      <a:srgbClr val="FFFFFF"/>
                    </a:solidFill>
                  </a:tcPr>
                </a:tc>
                <a:tc>
                  <a:txBody>
                    <a:bodyPr wrap="square"/>
                    <a:lstStyle/>
                    <a:p>
                      <a:pPr algn="l"/>
                      <a:r>
                        <a:rPr sz="1700" b="0">
                          <a:solidFill>
                            <a:srgbClr val="1E293B"/>
                          </a:solidFill>
                          <a:latin typeface="Calibri"/>
                        </a:rPr>
                        <a:t>not happy</a:t>
                      </a:r>
                    </a:p>
                  </a:txBody>
                  <a:tcPr marL="91440" marR="91440" marT="36576" marB="36576" anchor="ctr">
                    <a:solidFill>
                      <a:srgbClr val="FFFFFF"/>
                    </a:solidFill>
                  </a:tcPr>
                </a:tc>
                <a:tc>
                  <a:txBody>
                    <a:bodyPr wrap="square"/>
                    <a:lstStyle/>
                    <a:p>
                      <a:pPr algn="l"/>
                      <a:r>
                        <a:rPr sz="1700" b="0">
                          <a:solidFill>
                            <a:srgbClr val="1E293B"/>
                          </a:solidFill>
                          <a:latin typeface="Calibri"/>
                        </a:rPr>
                        <a:t>neutral</a:t>
                      </a:r>
                    </a:p>
                  </a:txBody>
                  <a:tcPr marL="91440" marR="91440" marT="36576" marB="36576" anchor="ctr">
                    <a:solidFill>
                      <a:srgbClr val="FFFFFF"/>
                    </a:solidFill>
                  </a:tcPr>
                </a:tc>
                <a:tc>
                  <a:txBody>
                    <a:bodyPr wrap="square"/>
                    <a:lstStyle/>
                    <a:p>
                      <a:pPr algn="l"/>
                      <a:r>
                        <a:rPr sz="1700" b="0">
                          <a:solidFill>
                            <a:srgbClr val="1E293B"/>
                          </a:solidFill>
                          <a:latin typeface="Calibri"/>
                        </a:rPr>
                        <a:t>not happy</a:t>
                      </a:r>
                    </a:p>
                  </a:txBody>
                  <a:tcPr marL="91440" marR="91440" marT="36576" marB="36576" anchor="ctr">
                    <a:solidFill>
                      <a:srgbClr val="FFFFFF"/>
                    </a:solidFill>
                  </a:tcPr>
                </a:tc>
              </a:tr>
              <a:tr h="731520">
                <a:tc>
                  <a:txBody>
                    <a:bodyPr wrap="square"/>
                    <a:lstStyle/>
                    <a:p>
                      <a:pPr algn="l"/>
                      <a:r>
                        <a:rPr sz="1700" b="0">
                          <a:solidFill>
                            <a:srgbClr val="1E293B"/>
                          </a:solidFill>
                          <a:latin typeface="Calibri"/>
                        </a:rPr>
                        <a:t>REP-0014</a:t>
                      </a:r>
                    </a:p>
                  </a:txBody>
                  <a:tcPr marL="91440" marR="91440" marT="36576" marB="36576" anchor="ctr">
                    <a:solidFill>
                      <a:srgbClr val="F2F4F9"/>
                    </a:solidFill>
                  </a:tcPr>
                </a:tc>
                <a:tc>
                  <a:txBody>
                    <a:bodyPr wrap="square"/>
                    <a:lstStyle/>
                    <a:p>
                      <a:pPr algn="l"/>
                      <a:r>
                        <a:rPr sz="1700" b="0">
                          <a:solidFill>
                            <a:srgbClr val="1E293B"/>
                          </a:solidFill>
                          <a:latin typeface="Calibri"/>
                        </a:rPr>
                        <a:t>Switched after 5G drops, “better… just $12”</a:t>
                      </a:r>
                    </a:p>
                  </a:txBody>
                  <a:tcPr marL="91440" marR="91440" marT="36576" marB="36576" anchor="ctr">
                    <a:solidFill>
                      <a:srgbClr val="F2F4F9"/>
                    </a:solidFill>
                  </a:tcPr>
                </a:tc>
                <a:tc>
                  <a:txBody>
                    <a:bodyPr wrap="square"/>
                    <a:lstStyle/>
                    <a:p>
                      <a:pPr algn="l"/>
                      <a:r>
                        <a:rPr sz="1700" b="0">
                          <a:solidFill>
                            <a:srgbClr val="1E293B"/>
                          </a:solidFill>
                          <a:latin typeface="Calibri"/>
                        </a:rPr>
                        <a:t>not happy</a:t>
                      </a:r>
                    </a:p>
                  </a:txBody>
                  <a:tcPr marL="91440" marR="91440" marT="36576" marB="36576" anchor="ctr">
                    <a:solidFill>
                      <a:srgbClr val="F2F4F9"/>
                    </a:solidFill>
                  </a:tcPr>
                </a:tc>
                <a:tc>
                  <a:txBody>
                    <a:bodyPr wrap="square"/>
                    <a:lstStyle/>
                    <a:p>
                      <a:pPr algn="l"/>
                      <a:r>
                        <a:rPr sz="1700" b="0">
                          <a:solidFill>
                            <a:srgbClr val="1E293B"/>
                          </a:solidFill>
                          <a:latin typeface="Calibri"/>
                        </a:rPr>
                        <a:t>happy</a:t>
                      </a:r>
                    </a:p>
                  </a:txBody>
                  <a:tcPr marL="91440" marR="91440" marT="36576" marB="36576" anchor="ctr">
                    <a:solidFill>
                      <a:srgbClr val="F2F4F9"/>
                    </a:solidFill>
                  </a:tcPr>
                </a:tc>
                <a:tc>
                  <a:txBody>
                    <a:bodyPr wrap="square"/>
                    <a:lstStyle/>
                    <a:p>
                      <a:pPr algn="l"/>
                      <a:r>
                        <a:rPr sz="1700" b="0">
                          <a:solidFill>
                            <a:srgbClr val="1E293B"/>
                          </a:solidFill>
                          <a:latin typeface="Calibri"/>
                        </a:rPr>
                        <a:t>not happy</a:t>
                      </a:r>
                    </a:p>
                  </a:txBody>
                  <a:tcPr marL="91440" marR="91440" marT="36576" marB="36576" anchor="ctr">
                    <a:solidFill>
                      <a:srgbClr val="F2F4F9"/>
                    </a:solidFill>
                  </a:tcPr>
                </a:tc>
              </a:tr>
              <a:tr h="731520">
                <a:tc>
                  <a:txBody>
                    <a:bodyPr wrap="square"/>
                    <a:lstStyle/>
                    <a:p>
                      <a:pPr algn="l"/>
                      <a:r>
                        <a:rPr sz="1700" b="0">
                          <a:solidFill>
                            <a:srgbClr val="1E293B"/>
                          </a:solidFill>
                          <a:latin typeface="Calibri"/>
                        </a:rPr>
                        <a:t>CHL-0005</a:t>
                      </a:r>
                    </a:p>
                  </a:txBody>
                  <a:tcPr marL="91440" marR="91440" marT="36576" marB="36576" anchor="ctr">
                    <a:solidFill>
                      <a:srgbClr val="FFFFFF"/>
                    </a:solidFill>
                  </a:tcPr>
                </a:tc>
                <a:tc>
                  <a:txBody>
                    <a:bodyPr wrap="square"/>
                    <a:lstStyle/>
                    <a:p>
                      <a:pPr algn="l"/>
                      <a:r>
                        <a:rPr sz="1700" b="0">
                          <a:solidFill>
                            <a:srgbClr val="1E293B"/>
                          </a:solidFill>
                          <a:latin typeface="Calibri"/>
                        </a:rPr>
                        <a:t>“Smoooooooth as baby butttttt”</a:t>
                      </a:r>
                    </a:p>
                  </a:txBody>
                  <a:tcPr marL="91440" marR="91440" marT="36576" marB="36576" anchor="ctr">
                    <a:solidFill>
                      <a:srgbClr val="FFFFFF"/>
                    </a:solidFill>
                  </a:tcPr>
                </a:tc>
                <a:tc>
                  <a:txBody>
                    <a:bodyPr wrap="square"/>
                    <a:lstStyle/>
                    <a:p>
                      <a:pPr algn="l"/>
                      <a:r>
                        <a:rPr sz="1700" b="0">
                          <a:solidFill>
                            <a:srgbClr val="1E293B"/>
                          </a:solidFill>
                          <a:latin typeface="Calibri"/>
                        </a:rPr>
                        <a:t>happy</a:t>
                      </a:r>
                    </a:p>
                  </a:txBody>
                  <a:tcPr marL="91440" marR="91440" marT="36576" marB="36576" anchor="ctr">
                    <a:solidFill>
                      <a:srgbClr val="FFFFFF"/>
                    </a:solidFill>
                  </a:tcPr>
                </a:tc>
                <a:tc>
                  <a:txBody>
                    <a:bodyPr wrap="square"/>
                    <a:lstStyle/>
                    <a:p>
                      <a:pPr algn="l"/>
                      <a:r>
                        <a:rPr sz="1700" b="0">
                          <a:solidFill>
                            <a:srgbClr val="1E293B"/>
                          </a:solidFill>
                          <a:latin typeface="Calibri"/>
                        </a:rPr>
                        <a:t>neutral</a:t>
                      </a:r>
                    </a:p>
                  </a:txBody>
                  <a:tcPr marL="91440" marR="91440" marT="36576" marB="36576" anchor="ctr">
                    <a:solidFill>
                      <a:srgbClr val="FFFFFF"/>
                    </a:solidFill>
                  </a:tcPr>
                </a:tc>
                <a:tc>
                  <a:txBody>
                    <a:bodyPr wrap="square"/>
                    <a:lstStyle/>
                    <a:p>
                      <a:pPr algn="l"/>
                      <a:r>
                        <a:rPr sz="1700" b="0">
                          <a:solidFill>
                            <a:srgbClr val="1E293B"/>
                          </a:solidFill>
                          <a:latin typeface="Calibri"/>
                        </a:rPr>
                        <a:t>happy</a:t>
                      </a:r>
                    </a:p>
                  </a:txBody>
                  <a:tcPr marL="91440" marR="91440" marT="36576" marB="36576" anchor="ctr">
                    <a:solidFill>
                      <a:srgbClr val="FFFFFF"/>
                    </a:solidFill>
                  </a:tcPr>
                </a:tc>
              </a:tr>
              <a:tr h="731520">
                <a:tc>
                  <a:txBody>
                    <a:bodyPr wrap="square"/>
                    <a:lstStyle/>
                    <a:p>
                      <a:pPr algn="l"/>
                      <a:r>
                        <a:rPr sz="1700" b="0">
                          <a:solidFill>
                            <a:srgbClr val="1E293B"/>
                          </a:solidFill>
                          <a:latin typeface="Calibri"/>
                        </a:rPr>
                        <a:t>CHL-0029</a:t>
                      </a:r>
                    </a:p>
                  </a:txBody>
                  <a:tcPr marL="91440" marR="91440" marT="36576" marB="36576" anchor="ctr">
                    <a:solidFill>
                      <a:srgbClr val="F2F4F9"/>
                    </a:solidFill>
                  </a:tcPr>
                </a:tc>
                <a:tc>
                  <a:txBody>
                    <a:bodyPr wrap="square"/>
                    <a:lstStyle/>
                    <a:p>
                      <a:pPr algn="l"/>
                      <a:r>
                        <a:rPr sz="1700" b="0">
                          <a:solidFill>
                            <a:srgbClr val="1E293B"/>
                          </a:solidFill>
                          <a:latin typeface="Calibri"/>
                        </a:rPr>
                        <a:t>Nationwide outage, ready to port out</a:t>
                      </a:r>
                    </a:p>
                  </a:txBody>
                  <a:tcPr marL="91440" marR="91440" marT="36576" marB="36576" anchor="ctr">
                    <a:solidFill>
                      <a:srgbClr val="F2F4F9"/>
                    </a:solidFill>
                  </a:tcPr>
                </a:tc>
                <a:tc>
                  <a:txBody>
                    <a:bodyPr wrap="square"/>
                    <a:lstStyle/>
                    <a:p>
                      <a:pPr algn="l"/>
                      <a:r>
                        <a:rPr sz="1700" b="0">
                          <a:solidFill>
                            <a:srgbClr val="1E293B"/>
                          </a:solidFill>
                          <a:latin typeface="Calibri"/>
                        </a:rPr>
                        <a:t>not happy</a:t>
                      </a:r>
                    </a:p>
                  </a:txBody>
                  <a:tcPr marL="91440" marR="91440" marT="36576" marB="36576" anchor="ctr">
                    <a:solidFill>
                      <a:srgbClr val="F2F4F9"/>
                    </a:solidFill>
                  </a:tcPr>
                </a:tc>
                <a:tc>
                  <a:txBody>
                    <a:bodyPr wrap="square"/>
                    <a:lstStyle/>
                    <a:p>
                      <a:pPr algn="l"/>
                      <a:r>
                        <a:rPr sz="1700" b="0">
                          <a:solidFill>
                            <a:srgbClr val="1E293B"/>
                          </a:solidFill>
                          <a:latin typeface="Calibri"/>
                        </a:rPr>
                        <a:t>happy</a:t>
                      </a:r>
                    </a:p>
                  </a:txBody>
                  <a:tcPr marL="91440" marR="91440" marT="36576" marB="36576" anchor="ctr">
                    <a:solidFill>
                      <a:srgbClr val="F2F4F9"/>
                    </a:solidFill>
                  </a:tcPr>
                </a:tc>
                <a:tc>
                  <a:txBody>
                    <a:bodyPr wrap="square"/>
                    <a:lstStyle/>
                    <a:p>
                      <a:pPr algn="l"/>
                      <a:r>
                        <a:rPr sz="1700" b="0">
                          <a:solidFill>
                            <a:srgbClr val="1E293B"/>
                          </a:solidFill>
                          <a:latin typeface="Calibri"/>
                        </a:rPr>
                        <a:t>not happy</a:t>
                      </a:r>
                    </a:p>
                  </a:txBody>
                  <a:tcPr marL="91440" marR="91440" marT="36576" marB="36576" anchor="ctr">
                    <a:solidFill>
                      <a:srgbClr val="F2F4F9"/>
                    </a:solidFill>
                  </a:tcPr>
                </a:tc>
              </a:tr>
            </a:tbl>
          </a:graphicData>
        </a:graphic>
      </p:graphicFrame>
      <p:sp>
        <p:nvSpPr>
          <p:cNvPr id="5" name="TextBox 4"/>
          <p:cNvSpPr txBox="1"/>
          <p:nvPr/>
        </p:nvSpPr>
        <p:spPr>
          <a:xfrm>
            <a:off x="548640" y="5486400"/>
            <a:ext cx="11091672" cy="731520"/>
          </a:xfrm>
          <a:prstGeom prst="rect">
            <a:avLst/>
          </a:prstGeom>
          <a:noFill/>
        </p:spPr>
        <p:txBody>
          <a:bodyPr wrap="square" lIns="0" rIns="0" tIns="0" bIns="0" anchor="t">
            <a:spAutoFit/>
          </a:bodyPr>
          <a:lstStyle/>
          <a:p>
            <a:pPr algn="l">
              <a:spcAft>
                <a:spcPts val="600"/>
              </a:spcAft>
            </a:pPr>
            <a:r>
              <a:rPr sz="1600" b="0" i="0">
                <a:solidFill>
                  <a:srgbClr val="1E293B"/>
                </a:solidFill>
                <a:latin typeface="Calibri"/>
              </a:rPr>
              <a:t>Short status updates, price words and stretched slang fool a lexicon. Switching intent is a complaint, not praise.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Every LLM job together cost under $4</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17</a:t>
            </a:r>
          </a:p>
        </p:txBody>
      </p:sp>
      <p:sp>
        <p:nvSpPr>
          <p:cNvPr id="4" name="TextBox 3"/>
          <p:cNvSpPr txBox="1"/>
          <p:nvPr/>
        </p:nvSpPr>
        <p:spPr>
          <a:xfrm>
            <a:off x="548640" y="1737360"/>
            <a:ext cx="3291840" cy="762000"/>
          </a:xfrm>
          <a:prstGeom prst="rect">
            <a:avLst/>
          </a:prstGeom>
          <a:noFill/>
        </p:spPr>
        <p:txBody>
          <a:bodyPr wrap="square" lIns="0" rIns="0" tIns="0" bIns="0" anchor="t">
            <a:spAutoFit/>
          </a:bodyPr>
          <a:lstStyle/>
          <a:p>
            <a:pPr algn="l">
              <a:spcAft>
                <a:spcPts val="600"/>
              </a:spcAft>
            </a:pPr>
            <a:r>
              <a:rPr sz="5000" b="1" i="0">
                <a:solidFill>
                  <a:srgbClr val="1C2E6E"/>
                </a:solidFill>
                <a:latin typeface="Calibri"/>
              </a:rPr>
              <a:t>$0.047</a:t>
            </a:r>
          </a:p>
        </p:txBody>
      </p:sp>
      <p:sp>
        <p:nvSpPr>
          <p:cNvPr id="5" name="TextBox 4"/>
          <p:cNvSpPr txBox="1"/>
          <p:nvPr/>
        </p:nvSpPr>
        <p:spPr>
          <a:xfrm>
            <a:off x="548640" y="2545080"/>
            <a:ext cx="3291840" cy="822960"/>
          </a:xfrm>
          <a:prstGeom prst="rect">
            <a:avLst/>
          </a:prstGeom>
          <a:noFill/>
        </p:spPr>
        <p:txBody>
          <a:bodyPr wrap="square" lIns="0" rIns="0" tIns="0" bIns="0" anchor="t">
            <a:spAutoFit/>
          </a:bodyPr>
          <a:lstStyle/>
          <a:p>
            <a:pPr algn="l">
              <a:spcAft>
                <a:spcPts val="600"/>
              </a:spcAft>
            </a:pPr>
            <a:r>
              <a:rPr sz="1500" b="0" i="0">
                <a:solidFill>
                  <a:srgbClr val="5B6475"/>
                </a:solidFill>
                <a:latin typeface="Calibri"/>
              </a:rPr>
              <a:t>GPT-4o-mini sentiment on all 1,706 clean posts</a:t>
            </a:r>
          </a:p>
        </p:txBody>
      </p:sp>
      <p:graphicFrame>
        <p:nvGraphicFramePr>
          <p:cNvPr id="6" name="Table 5"/>
          <p:cNvGraphicFramePr>
            <a:graphicFrameLocks noGrp="1"/>
          </p:cNvGraphicFramePr>
          <p:nvPr/>
        </p:nvGraphicFramePr>
        <p:xfrm>
          <a:off x="4206240" y="1737360"/>
          <a:ext cx="7434072" cy="3200400"/>
        </p:xfrm>
        <a:graphic>
          <a:graphicData uri="http://schemas.openxmlformats.org/drawingml/2006/table">
            <a:tbl>
              <a:tblPr firstRow="1" bandRow="1">
                <a:tableStyleId>{5C22544A-7EE6-4342-B048-85BDC9FD1C3A}</a:tableStyleId>
              </a:tblPr>
              <a:tblGrid>
                <a:gridCol w="2377440"/>
                <a:gridCol w="1463040"/>
                <a:gridCol w="914400"/>
                <a:gridCol w="1188720"/>
                <a:gridCol w="1490472"/>
              </a:tblGrid>
              <a:tr h="457200">
                <a:tc>
                  <a:txBody>
                    <a:bodyPr wrap="square"/>
                    <a:lstStyle/>
                    <a:p>
                      <a:pPr algn="l"/>
                      <a:r>
                        <a:rPr sz="1400" b="1">
                          <a:solidFill>
                            <a:srgbClr val="FFFFFF"/>
                          </a:solidFill>
                          <a:latin typeface="Calibri"/>
                        </a:rPr>
                        <a:t>Job</a:t>
                      </a:r>
                    </a:p>
                  </a:txBody>
                  <a:tcPr marL="91440" marR="91440" marT="36576" marB="36576" anchor="ctr">
                    <a:solidFill>
                      <a:srgbClr val="1C2E6E"/>
                    </a:solidFill>
                  </a:tcPr>
                </a:tc>
                <a:tc>
                  <a:txBody>
                    <a:bodyPr wrap="square"/>
                    <a:lstStyle/>
                    <a:p>
                      <a:pPr algn="l"/>
                      <a:r>
                        <a:rPr sz="1400" b="1">
                          <a:solidFill>
                            <a:srgbClr val="FFFFFF"/>
                          </a:solidFill>
                          <a:latin typeface="Calibri"/>
                        </a:rPr>
                        <a:t>Model</a:t>
                      </a:r>
                    </a:p>
                  </a:txBody>
                  <a:tcPr marL="91440" marR="91440" marT="36576" marB="36576" anchor="ctr">
                    <a:solidFill>
                      <a:srgbClr val="1C2E6E"/>
                    </a:solidFill>
                  </a:tcPr>
                </a:tc>
                <a:tc>
                  <a:txBody>
                    <a:bodyPr wrap="square"/>
                    <a:lstStyle/>
                    <a:p>
                      <a:pPr algn="l"/>
                      <a:r>
                        <a:rPr sz="1400" b="1">
                          <a:solidFill>
                            <a:srgbClr val="FFFFFF"/>
                          </a:solidFill>
                          <a:latin typeface="Calibri"/>
                        </a:rPr>
                        <a:t>Posts</a:t>
                      </a:r>
                    </a:p>
                  </a:txBody>
                  <a:tcPr marL="91440" marR="91440" marT="36576" marB="36576" anchor="ctr">
                    <a:solidFill>
                      <a:srgbClr val="1C2E6E"/>
                    </a:solidFill>
                  </a:tcPr>
                </a:tc>
                <a:tc>
                  <a:txBody>
                    <a:bodyPr wrap="square"/>
                    <a:lstStyle/>
                    <a:p>
                      <a:pPr algn="l"/>
                      <a:r>
                        <a:rPr sz="1400" b="1">
                          <a:solidFill>
                            <a:srgbClr val="FFFFFF"/>
                          </a:solidFill>
                          <a:latin typeface="Calibri"/>
                        </a:rPr>
                        <a:t>Seconds</a:t>
                      </a:r>
                    </a:p>
                  </a:txBody>
                  <a:tcPr marL="91440" marR="91440" marT="36576" marB="36576" anchor="ctr">
                    <a:solidFill>
                      <a:srgbClr val="1C2E6E"/>
                    </a:solidFill>
                  </a:tcPr>
                </a:tc>
                <a:tc>
                  <a:txBody>
                    <a:bodyPr wrap="square"/>
                    <a:lstStyle/>
                    <a:p>
                      <a:pPr algn="l"/>
                      <a:r>
                        <a:rPr sz="1400" b="1">
                          <a:solidFill>
                            <a:srgbClr val="FFFFFF"/>
                          </a:solidFill>
                          <a:latin typeface="Calibri"/>
                        </a:rPr>
                        <a:t>Est. USD</a:t>
                      </a:r>
                    </a:p>
                  </a:txBody>
                  <a:tcPr marL="91440" marR="91440" marT="36576" marB="36576" anchor="ctr">
                    <a:solidFill>
                      <a:srgbClr val="1C2E6E"/>
                    </a:solidFill>
                  </a:tcPr>
                </a:tc>
              </a:tr>
              <a:tr h="457200">
                <a:tc>
                  <a:txBody>
                    <a:bodyPr wrap="square"/>
                    <a:lstStyle/>
                    <a:p>
                      <a:pPr algn="l"/>
                      <a:r>
                        <a:rPr sz="1400" b="0">
                          <a:solidFill>
                            <a:srgbClr val="1E293B"/>
                          </a:solidFill>
                          <a:latin typeface="Calibri"/>
                        </a:rPr>
                        <a:t>Representative eval</a:t>
                      </a:r>
                    </a:p>
                  </a:txBody>
                  <a:tcPr marL="91440" marR="91440" marT="36576" marB="36576" anchor="ctr">
                    <a:solidFill>
                      <a:srgbClr val="FFFFFF"/>
                    </a:solidFill>
                  </a:tcPr>
                </a:tc>
                <a:tc>
                  <a:txBody>
                    <a:bodyPr wrap="square"/>
                    <a:lstStyle/>
                    <a:p>
                      <a:pPr algn="l"/>
                      <a:r>
                        <a:rPr sz="1400" b="0">
                          <a:solidFill>
                            <a:srgbClr val="1E293B"/>
                          </a:solidFill>
                          <a:latin typeface="Calibri"/>
                        </a:rPr>
                        <a:t>GPT-4o-mini</a:t>
                      </a:r>
                    </a:p>
                  </a:txBody>
                  <a:tcPr marL="91440" marR="91440" marT="36576" marB="36576" anchor="ctr">
                    <a:solidFill>
                      <a:srgbClr val="FFFFFF"/>
                    </a:solidFill>
                  </a:tcPr>
                </a:tc>
                <a:tc>
                  <a:txBody>
                    <a:bodyPr wrap="square"/>
                    <a:lstStyle/>
                    <a:p>
                      <a:pPr algn="l"/>
                      <a:r>
                        <a:rPr sz="1400" b="0">
                          <a:solidFill>
                            <a:srgbClr val="1E293B"/>
                          </a:solidFill>
                          <a:latin typeface="Calibri"/>
                        </a:rPr>
                        <a:t>295</a:t>
                      </a:r>
                    </a:p>
                  </a:txBody>
                  <a:tcPr marL="91440" marR="91440" marT="36576" marB="36576" anchor="ctr">
                    <a:solidFill>
                      <a:srgbClr val="FFFFFF"/>
                    </a:solidFill>
                  </a:tcPr>
                </a:tc>
                <a:tc>
                  <a:txBody>
                    <a:bodyPr wrap="square"/>
                    <a:lstStyle/>
                    <a:p>
                      <a:pPr algn="l"/>
                      <a:r>
                        <a:rPr sz="1400" b="0">
                          <a:solidFill>
                            <a:srgbClr val="1E293B"/>
                          </a:solidFill>
                          <a:latin typeface="Calibri"/>
                        </a:rPr>
                        <a:t>74</a:t>
                      </a:r>
                    </a:p>
                  </a:txBody>
                  <a:tcPr marL="91440" marR="91440" marT="36576" marB="36576" anchor="ctr">
                    <a:solidFill>
                      <a:srgbClr val="FFFFFF"/>
                    </a:solidFill>
                  </a:tcPr>
                </a:tc>
                <a:tc>
                  <a:txBody>
                    <a:bodyPr wrap="square"/>
                    <a:lstStyle/>
                    <a:p>
                      <a:pPr algn="l"/>
                      <a:r>
                        <a:rPr sz="1400" b="0">
                          <a:solidFill>
                            <a:srgbClr val="1E293B"/>
                          </a:solidFill>
                          <a:latin typeface="Calibri"/>
                        </a:rPr>
                        <a:t>0.0087</a:t>
                      </a:r>
                    </a:p>
                  </a:txBody>
                  <a:tcPr marL="91440" marR="91440" marT="36576" marB="36576" anchor="ctr">
                    <a:solidFill>
                      <a:srgbClr val="FFFFFF"/>
                    </a:solidFill>
                  </a:tcPr>
                </a:tc>
              </a:tr>
              <a:tr h="457200">
                <a:tc>
                  <a:txBody>
                    <a:bodyPr wrap="square"/>
                    <a:lstStyle/>
                    <a:p>
                      <a:pPr algn="l"/>
                      <a:r>
                        <a:rPr sz="1400" b="0">
                          <a:solidFill>
                            <a:srgbClr val="1E293B"/>
                          </a:solidFill>
                          <a:latin typeface="Calibri"/>
                        </a:rPr>
                        <a:t>Representative eval</a:t>
                      </a:r>
                    </a:p>
                  </a:txBody>
                  <a:tcPr marL="91440" marR="91440" marT="36576" marB="36576" anchor="ctr">
                    <a:solidFill>
                      <a:srgbClr val="F2F4F9"/>
                    </a:solidFill>
                  </a:tcPr>
                </a:tc>
                <a:tc>
                  <a:txBody>
                    <a:bodyPr wrap="square"/>
                    <a:lstStyle/>
                    <a:p>
                      <a:pPr algn="l"/>
                      <a:r>
                        <a:rPr sz="1400" b="0">
                          <a:solidFill>
                            <a:srgbClr val="1E293B"/>
                          </a:solidFill>
                          <a:latin typeface="Calibri"/>
                        </a:rPr>
                        <a:t>GPT-4o</a:t>
                      </a:r>
                    </a:p>
                  </a:txBody>
                  <a:tcPr marL="91440" marR="91440" marT="36576" marB="36576" anchor="ctr">
                    <a:solidFill>
                      <a:srgbClr val="F2F4F9"/>
                    </a:solidFill>
                  </a:tcPr>
                </a:tc>
                <a:tc>
                  <a:txBody>
                    <a:bodyPr wrap="square"/>
                    <a:lstStyle/>
                    <a:p>
                      <a:pPr algn="l"/>
                      <a:r>
                        <a:rPr sz="1400" b="0">
                          <a:solidFill>
                            <a:srgbClr val="1E293B"/>
                          </a:solidFill>
                          <a:latin typeface="Calibri"/>
                        </a:rPr>
                        <a:t>295</a:t>
                      </a:r>
                    </a:p>
                  </a:txBody>
                  <a:tcPr marL="91440" marR="91440" marT="36576" marB="36576" anchor="ctr">
                    <a:solidFill>
                      <a:srgbClr val="F2F4F9"/>
                    </a:solidFill>
                  </a:tcPr>
                </a:tc>
                <a:tc>
                  <a:txBody>
                    <a:bodyPr wrap="square"/>
                    <a:lstStyle/>
                    <a:p>
                      <a:pPr algn="l"/>
                      <a:r>
                        <a:rPr sz="1400" b="0">
                          <a:solidFill>
                            <a:srgbClr val="1E293B"/>
                          </a:solidFill>
                          <a:latin typeface="Calibri"/>
                        </a:rPr>
                        <a:t>73</a:t>
                      </a:r>
                    </a:p>
                  </a:txBody>
                  <a:tcPr marL="91440" marR="91440" marT="36576" marB="36576" anchor="ctr">
                    <a:solidFill>
                      <a:srgbClr val="F2F4F9"/>
                    </a:solidFill>
                  </a:tcPr>
                </a:tc>
                <a:tc>
                  <a:txBody>
                    <a:bodyPr wrap="square"/>
                    <a:lstStyle/>
                    <a:p>
                      <a:pPr algn="l"/>
                      <a:r>
                        <a:rPr sz="1400" b="0">
                          <a:solidFill>
                            <a:srgbClr val="1E293B"/>
                          </a:solidFill>
                          <a:latin typeface="Calibri"/>
                        </a:rPr>
                        <a:t>0.145</a:t>
                      </a:r>
                    </a:p>
                  </a:txBody>
                  <a:tcPr marL="91440" marR="91440" marT="36576" marB="36576" anchor="ctr">
                    <a:solidFill>
                      <a:srgbClr val="F2F4F9"/>
                    </a:solidFill>
                  </a:tcPr>
                </a:tc>
              </a:tr>
              <a:tr h="457200">
                <a:tc>
                  <a:txBody>
                    <a:bodyPr wrap="square"/>
                    <a:lstStyle/>
                    <a:p>
                      <a:pPr algn="l"/>
                      <a:r>
                        <a:rPr sz="1400" b="0">
                          <a:solidFill>
                            <a:srgbClr val="1E293B"/>
                          </a:solidFill>
                          <a:latin typeface="Calibri"/>
                        </a:rPr>
                        <a:t>Challenge eval</a:t>
                      </a:r>
                    </a:p>
                  </a:txBody>
                  <a:tcPr marL="91440" marR="91440" marT="36576" marB="36576" anchor="ctr">
                    <a:solidFill>
                      <a:srgbClr val="FFFFFF"/>
                    </a:solidFill>
                  </a:tcPr>
                </a:tc>
                <a:tc>
                  <a:txBody>
                    <a:bodyPr wrap="square"/>
                    <a:lstStyle/>
                    <a:p>
                      <a:pPr algn="l"/>
                      <a:r>
                        <a:rPr sz="1400" b="0">
                          <a:solidFill>
                            <a:srgbClr val="1E293B"/>
                          </a:solidFill>
                          <a:latin typeface="Calibri"/>
                        </a:rPr>
                        <a:t>GPT-4o-mini</a:t>
                      </a:r>
                    </a:p>
                  </a:txBody>
                  <a:tcPr marL="91440" marR="91440" marT="36576" marB="36576" anchor="ctr">
                    <a:solidFill>
                      <a:srgbClr val="FFFFFF"/>
                    </a:solidFill>
                  </a:tcPr>
                </a:tc>
                <a:tc>
                  <a:txBody>
                    <a:bodyPr wrap="square"/>
                    <a:lstStyle/>
                    <a:p>
                      <a:pPr algn="l"/>
                      <a:r>
                        <a:rPr sz="1400" b="0">
                          <a:solidFill>
                            <a:srgbClr val="1E293B"/>
                          </a:solidFill>
                          <a:latin typeface="Calibri"/>
                        </a:rPr>
                        <a:t>100</a:t>
                      </a:r>
                    </a:p>
                  </a:txBody>
                  <a:tcPr marL="91440" marR="91440" marT="36576" marB="36576" anchor="ctr">
                    <a:solidFill>
                      <a:srgbClr val="FFFFFF"/>
                    </a:solidFill>
                  </a:tcPr>
                </a:tc>
                <a:tc>
                  <a:txBody>
                    <a:bodyPr wrap="square"/>
                    <a:lstStyle/>
                    <a:p>
                      <a:pPr algn="l"/>
                      <a:r>
                        <a:rPr sz="1400" b="0">
                          <a:solidFill>
                            <a:srgbClr val="1E293B"/>
                          </a:solidFill>
                          <a:latin typeface="Calibri"/>
                        </a:rPr>
                        <a:t>28</a:t>
                      </a:r>
                    </a:p>
                  </a:txBody>
                  <a:tcPr marL="91440" marR="91440" marT="36576" marB="36576" anchor="ctr">
                    <a:solidFill>
                      <a:srgbClr val="FFFFFF"/>
                    </a:solidFill>
                  </a:tcPr>
                </a:tc>
                <a:tc>
                  <a:txBody>
                    <a:bodyPr wrap="square"/>
                    <a:lstStyle/>
                    <a:p>
                      <a:pPr algn="l"/>
                      <a:r>
                        <a:rPr sz="1400" b="0">
                          <a:solidFill>
                            <a:srgbClr val="1E293B"/>
                          </a:solidFill>
                          <a:latin typeface="Calibri"/>
                        </a:rPr>
                        <a:t>0.0030</a:t>
                      </a:r>
                    </a:p>
                  </a:txBody>
                  <a:tcPr marL="91440" marR="91440" marT="36576" marB="36576" anchor="ctr">
                    <a:solidFill>
                      <a:srgbClr val="FFFFFF"/>
                    </a:solidFill>
                  </a:tcPr>
                </a:tc>
              </a:tr>
              <a:tr h="457200">
                <a:tc>
                  <a:txBody>
                    <a:bodyPr wrap="square"/>
                    <a:lstStyle/>
                    <a:p>
                      <a:pPr algn="l"/>
                      <a:r>
                        <a:rPr sz="1400" b="0">
                          <a:solidFill>
                            <a:srgbClr val="1E293B"/>
                          </a:solidFill>
                          <a:latin typeface="Calibri"/>
                        </a:rPr>
                        <a:t>Challenge eval</a:t>
                      </a:r>
                    </a:p>
                  </a:txBody>
                  <a:tcPr marL="91440" marR="91440" marT="36576" marB="36576" anchor="ctr">
                    <a:solidFill>
                      <a:srgbClr val="F2F4F9"/>
                    </a:solidFill>
                  </a:tcPr>
                </a:tc>
                <a:tc>
                  <a:txBody>
                    <a:bodyPr wrap="square"/>
                    <a:lstStyle/>
                    <a:p>
                      <a:pPr algn="l"/>
                      <a:r>
                        <a:rPr sz="1400" b="0">
                          <a:solidFill>
                            <a:srgbClr val="1E293B"/>
                          </a:solidFill>
                          <a:latin typeface="Calibri"/>
                        </a:rPr>
                        <a:t>GPT-4o</a:t>
                      </a:r>
                    </a:p>
                  </a:txBody>
                  <a:tcPr marL="91440" marR="91440" marT="36576" marB="36576" anchor="ctr">
                    <a:solidFill>
                      <a:srgbClr val="F2F4F9"/>
                    </a:solidFill>
                  </a:tcPr>
                </a:tc>
                <a:tc>
                  <a:txBody>
                    <a:bodyPr wrap="square"/>
                    <a:lstStyle/>
                    <a:p>
                      <a:pPr algn="l"/>
                      <a:r>
                        <a:rPr sz="1400" b="0">
                          <a:solidFill>
                            <a:srgbClr val="1E293B"/>
                          </a:solidFill>
                          <a:latin typeface="Calibri"/>
                        </a:rPr>
                        <a:t>100</a:t>
                      </a:r>
                    </a:p>
                  </a:txBody>
                  <a:tcPr marL="91440" marR="91440" marT="36576" marB="36576" anchor="ctr">
                    <a:solidFill>
                      <a:srgbClr val="F2F4F9"/>
                    </a:solidFill>
                  </a:tcPr>
                </a:tc>
                <a:tc>
                  <a:txBody>
                    <a:bodyPr wrap="square"/>
                    <a:lstStyle/>
                    <a:p>
                      <a:pPr algn="l"/>
                      <a:r>
                        <a:rPr sz="1400" b="0">
                          <a:solidFill>
                            <a:srgbClr val="1E293B"/>
                          </a:solidFill>
                          <a:latin typeface="Calibri"/>
                        </a:rPr>
                        <a:t>20</a:t>
                      </a:r>
                    </a:p>
                  </a:txBody>
                  <a:tcPr marL="91440" marR="91440" marT="36576" marB="36576" anchor="ctr">
                    <a:solidFill>
                      <a:srgbClr val="F2F4F9"/>
                    </a:solidFill>
                  </a:tcPr>
                </a:tc>
                <a:tc>
                  <a:txBody>
                    <a:bodyPr wrap="square"/>
                    <a:lstStyle/>
                    <a:p>
                      <a:pPr algn="l"/>
                      <a:r>
                        <a:rPr sz="1400" b="0">
                          <a:solidFill>
                            <a:srgbClr val="1E293B"/>
                          </a:solidFill>
                          <a:latin typeface="Calibri"/>
                        </a:rPr>
                        <a:t>0.050</a:t>
                      </a:r>
                    </a:p>
                  </a:txBody>
                  <a:tcPr marL="91440" marR="91440" marT="36576" marB="36576" anchor="ctr">
                    <a:solidFill>
                      <a:srgbClr val="F2F4F9"/>
                    </a:solidFill>
                  </a:tcPr>
                </a:tc>
              </a:tr>
              <a:tr h="457200">
                <a:tc>
                  <a:txBody>
                    <a:bodyPr wrap="square"/>
                    <a:lstStyle/>
                    <a:p>
                      <a:pPr algn="l"/>
                      <a:r>
                        <a:rPr sz="1400" b="1">
                          <a:solidFill>
                            <a:srgbClr val="1E293B"/>
                          </a:solidFill>
                          <a:latin typeface="Calibri"/>
                        </a:rPr>
                        <a:t>Corpus residual issues</a:t>
                      </a:r>
                    </a:p>
                  </a:txBody>
                  <a:tcPr marL="91440" marR="91440" marT="36576" marB="36576" anchor="ctr">
                    <a:solidFill>
                      <a:srgbClr val="FBF3DF"/>
                    </a:solidFill>
                  </a:tcPr>
                </a:tc>
                <a:tc>
                  <a:txBody>
                    <a:bodyPr wrap="square"/>
                    <a:lstStyle/>
                    <a:p>
                      <a:pPr algn="l"/>
                      <a:r>
                        <a:rPr sz="1400" b="0">
                          <a:solidFill>
                            <a:srgbClr val="1E293B"/>
                          </a:solidFill>
                          <a:latin typeface="Calibri"/>
                        </a:rPr>
                        <a:t>GPT-4o</a:t>
                      </a:r>
                    </a:p>
                  </a:txBody>
                  <a:tcPr marL="91440" marR="91440" marT="36576" marB="36576" anchor="ctr">
                    <a:solidFill>
                      <a:srgbClr val="FBF3DF"/>
                    </a:solidFill>
                  </a:tcPr>
                </a:tc>
                <a:tc>
                  <a:txBody>
                    <a:bodyPr wrap="square"/>
                    <a:lstStyle/>
                    <a:p>
                      <a:pPr algn="l"/>
                      <a:r>
                        <a:rPr sz="1400" b="0">
                          <a:solidFill>
                            <a:srgbClr val="1E293B"/>
                          </a:solidFill>
                          <a:latin typeface="Calibri"/>
                        </a:rPr>
                        <a:t>8,786</a:t>
                      </a:r>
                    </a:p>
                  </a:txBody>
                  <a:tcPr marL="91440" marR="91440" marT="36576" marB="36576" anchor="ctr">
                    <a:solidFill>
                      <a:srgbClr val="FBF3DF"/>
                    </a:solidFill>
                  </a:tcPr>
                </a:tc>
                <a:tc>
                  <a:txBody>
                    <a:bodyPr wrap="square"/>
                    <a:lstStyle/>
                    <a:p>
                      <a:pPr algn="l"/>
                      <a:r>
                        <a:rPr sz="1400" b="0">
                          <a:solidFill>
                            <a:srgbClr val="1E293B"/>
                          </a:solidFill>
                          <a:latin typeface="Calibri"/>
                        </a:rPr>
                        <a:t>1,785</a:t>
                      </a:r>
                    </a:p>
                  </a:txBody>
                  <a:tcPr marL="91440" marR="91440" marT="36576" marB="36576" anchor="ctr">
                    <a:solidFill>
                      <a:srgbClr val="FBF3DF"/>
                    </a:solidFill>
                  </a:tcPr>
                </a:tc>
                <a:tc>
                  <a:txBody>
                    <a:bodyPr wrap="square"/>
                    <a:lstStyle/>
                    <a:p>
                      <a:pPr algn="l"/>
                      <a:r>
                        <a:rPr sz="1400" b="0">
                          <a:solidFill>
                            <a:srgbClr val="1E293B"/>
                          </a:solidFill>
                          <a:latin typeface="Calibri"/>
                        </a:rPr>
                        <a:t>3.45</a:t>
                      </a:r>
                    </a:p>
                  </a:txBody>
                  <a:tcPr marL="91440" marR="91440" marT="36576" marB="36576" anchor="ctr">
                    <a:solidFill>
                      <a:srgbClr val="FBF3DF"/>
                    </a:solidFill>
                  </a:tcPr>
                </a:tc>
              </a:tr>
              <a:tr h="457200">
                <a:tc>
                  <a:txBody>
                    <a:bodyPr wrap="square"/>
                    <a:lstStyle/>
                    <a:p>
                      <a:pPr algn="l"/>
                      <a:r>
                        <a:rPr sz="1400" b="1">
                          <a:solidFill>
                            <a:srgbClr val="1E293B"/>
                          </a:solidFill>
                          <a:latin typeface="Calibri"/>
                        </a:rPr>
                        <a:t>Corpus sentiment</a:t>
                      </a:r>
                    </a:p>
                  </a:txBody>
                  <a:tcPr marL="91440" marR="91440" marT="36576" marB="36576" anchor="ctr">
                    <a:solidFill>
                      <a:srgbClr val="FBF3DF"/>
                    </a:solidFill>
                  </a:tcPr>
                </a:tc>
                <a:tc>
                  <a:txBody>
                    <a:bodyPr wrap="square"/>
                    <a:lstStyle/>
                    <a:p>
                      <a:pPr algn="l"/>
                      <a:r>
                        <a:rPr sz="1400" b="0">
                          <a:solidFill>
                            <a:srgbClr val="1E293B"/>
                          </a:solidFill>
                          <a:latin typeface="Calibri"/>
                        </a:rPr>
                        <a:t>GPT-4o-mini</a:t>
                      </a:r>
                    </a:p>
                  </a:txBody>
                  <a:tcPr marL="91440" marR="91440" marT="36576" marB="36576" anchor="ctr">
                    <a:solidFill>
                      <a:srgbClr val="FBF3DF"/>
                    </a:solidFill>
                  </a:tcPr>
                </a:tc>
                <a:tc>
                  <a:txBody>
                    <a:bodyPr wrap="square"/>
                    <a:lstStyle/>
                    <a:p>
                      <a:pPr algn="l"/>
                      <a:r>
                        <a:rPr sz="1400" b="0">
                          <a:solidFill>
                            <a:srgbClr val="1E293B"/>
                          </a:solidFill>
                          <a:latin typeface="Calibri"/>
                        </a:rPr>
                        <a:t>1,706</a:t>
                      </a:r>
                    </a:p>
                  </a:txBody>
                  <a:tcPr marL="91440" marR="91440" marT="36576" marB="36576" anchor="ctr">
                    <a:solidFill>
                      <a:srgbClr val="FBF3DF"/>
                    </a:solidFill>
                  </a:tcPr>
                </a:tc>
                <a:tc>
                  <a:txBody>
                    <a:bodyPr wrap="square"/>
                    <a:lstStyle/>
                    <a:p>
                      <a:pPr algn="l"/>
                      <a:r>
                        <a:rPr sz="1400" b="0">
                          <a:solidFill>
                            <a:srgbClr val="1E293B"/>
                          </a:solidFill>
                          <a:latin typeface="Calibri"/>
                        </a:rPr>
                        <a:t>382</a:t>
                      </a:r>
                    </a:p>
                  </a:txBody>
                  <a:tcPr marL="91440" marR="91440" marT="36576" marB="36576" anchor="ctr">
                    <a:solidFill>
                      <a:srgbClr val="FBF3DF"/>
                    </a:solidFill>
                  </a:tcPr>
                </a:tc>
                <a:tc>
                  <a:txBody>
                    <a:bodyPr wrap="square"/>
                    <a:lstStyle/>
                    <a:p>
                      <a:pPr algn="l"/>
                      <a:r>
                        <a:rPr sz="1400" b="0">
                          <a:solidFill>
                            <a:srgbClr val="1E293B"/>
                          </a:solidFill>
                          <a:latin typeface="Calibri"/>
                        </a:rPr>
                        <a:t>0.047</a:t>
                      </a:r>
                    </a:p>
                  </a:txBody>
                  <a:tcPr marL="91440" marR="91440" marT="36576" marB="36576" anchor="ctr">
                    <a:solidFill>
                      <a:srgbClr val="FBF3DF"/>
                    </a:solidFill>
                  </a:tcPr>
                </a:tc>
              </a:tr>
            </a:tbl>
          </a:graphicData>
        </a:graphic>
      </p:graphicFrame>
      <p:sp>
        <p:nvSpPr>
          <p:cNvPr id="7" name="TextBox 6"/>
          <p:cNvSpPr txBox="1"/>
          <p:nvPr/>
        </p:nvSpPr>
        <p:spPr>
          <a:xfrm>
            <a:off x="4206240" y="5303520"/>
            <a:ext cx="7434072" cy="731520"/>
          </a:xfrm>
          <a:prstGeom prst="rect">
            <a:avLst/>
          </a:prstGeom>
          <a:noFill/>
        </p:spPr>
        <p:txBody>
          <a:bodyPr wrap="square" lIns="0" rIns="0" tIns="0" bIns="0" anchor="t">
            <a:spAutoFit/>
          </a:bodyPr>
          <a:lstStyle/>
          <a:p>
            <a:pPr algn="l">
              <a:spcAft>
                <a:spcPts val="600"/>
              </a:spcAft>
            </a:pPr>
            <a:r>
              <a:rPr sz="1500" b="0" i="0">
                <a:solidFill>
                  <a:srgbClr val="1E293B"/>
                </a:solidFill>
                <a:latin typeface="Calibri"/>
              </a:rPr>
              <a:t>Per post: GPT-4o ≈ $0.0005, GPT-4o-mini ≈ $0.00003. VADER and rules: free, under 0.3 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4800" b="1">
                <a:solidFill>
                  <a:srgbClr val="FFFFFF"/>
                </a:solidFill>
                <a:latin typeface="Calibri"/>
              </a:rPr>
              <a:t>D</a:t>
            </a:r>
          </a:p>
        </p:txBody>
      </p:sp>
      <p:sp>
        <p:nvSpPr>
          <p:cNvPr id="3" name="TextBox 2"/>
          <p:cNvSpPr txBox="1"/>
          <p:nvPr/>
        </p:nvSpPr>
        <p:spPr>
          <a:xfrm>
            <a:off x="2423160" y="2011680"/>
            <a:ext cx="8686800" cy="822960"/>
          </a:xfrm>
          <a:prstGeom prst="rect">
            <a:avLst/>
          </a:prstGeom>
          <a:noFill/>
        </p:spPr>
        <p:txBody>
          <a:bodyPr wrap="square" lIns="0" rIns="0" tIns="0" bIns="0" anchor="t">
            <a:spAutoFit/>
          </a:bodyPr>
          <a:lstStyle/>
          <a:p>
            <a:pPr algn="l">
              <a:spcAft>
                <a:spcPts val="600"/>
              </a:spcAft>
            </a:pPr>
            <a:r>
              <a:rPr sz="4000" b="1" i="0">
                <a:solidFill>
                  <a:srgbClr val="1C2E6E"/>
                </a:solidFill>
                <a:latin typeface="Calibri"/>
              </a:rPr>
              <a:t>Findings</a:t>
            </a:r>
          </a:p>
        </p:txBody>
      </p:sp>
      <p:sp>
        <p:nvSpPr>
          <p:cNvPr id="4" name="TextBox 3"/>
          <p:cNvSpPr txBox="1"/>
          <p:nvPr/>
        </p:nvSpPr>
        <p:spPr>
          <a:xfrm>
            <a:off x="2423160" y="2834640"/>
            <a:ext cx="8686800" cy="548640"/>
          </a:xfrm>
          <a:prstGeom prst="rect">
            <a:avLst/>
          </a:prstGeom>
          <a:noFill/>
        </p:spPr>
        <p:txBody>
          <a:bodyPr wrap="square" lIns="0" rIns="0" tIns="0" bIns="0" anchor="t">
            <a:spAutoFit/>
          </a:bodyPr>
          <a:lstStyle/>
          <a:p>
            <a:pPr algn="l">
              <a:spcAft>
                <a:spcPts val="600"/>
              </a:spcAft>
            </a:pPr>
            <a:r>
              <a:rPr sz="2000" b="0" i="0">
                <a:solidFill>
                  <a:srgbClr val="5B6475"/>
                </a:solidFill>
                <a:latin typeface="Calibri"/>
              </a:rPr>
              <a:t>What the labelled data says</a:t>
            </a:r>
          </a:p>
        </p:txBody>
      </p:sp>
      <p:sp>
        <p:nvSpPr>
          <p:cNvPr id="5" name="TextBox 4"/>
          <p:cNvSpPr txBox="1"/>
          <p:nvPr/>
        </p:nvSpPr>
        <p:spPr>
          <a:xfrm>
            <a:off x="2423160" y="3520440"/>
            <a:ext cx="8686800" cy="365760"/>
          </a:xfrm>
          <a:prstGeom prst="rect">
            <a:avLst/>
          </a:prstGeom>
          <a:noFill/>
        </p:spPr>
        <p:txBody>
          <a:bodyPr wrap="square" lIns="0" rIns="0" tIns="0" bIns="0" anchor="t">
            <a:spAutoFit/>
          </a:bodyPr>
          <a:lstStyle/>
          <a:p>
            <a:pPr algn="l">
              <a:spcAft>
                <a:spcPts val="600"/>
              </a:spcAft>
            </a:pPr>
            <a:r>
              <a:rPr sz="1600" b="1" i="0">
                <a:solidFill>
                  <a:srgbClr val="D29B08"/>
                </a:solidFill>
                <a:latin typeface="Calibri"/>
              </a:rPr>
              <a:t>About 5 minutes</a:t>
            </a:r>
          </a:p>
        </p:txBody>
      </p:sp>
      <p:sp>
        <p:nvSpPr>
          <p:cNvPr id="6" name="TextBox 5"/>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GPT-4o moved 2,606 posts out of General Discussion</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19</a:t>
            </a:r>
          </a:p>
        </p:txBody>
      </p:sp>
      <p:graphicFrame>
        <p:nvGraphicFramePr>
          <p:cNvPr id="4" name="Chart 3"/>
          <p:cNvGraphicFramePr>
            <a:graphicFrameLocks noGrp="1"/>
          </p:cNvGraphicFramePr>
          <p:nvPr/>
        </p:nvGraphicFramePr>
        <p:xfrm>
          <a:off x="548640" y="1600200"/>
          <a:ext cx="7498079" cy="4617720"/>
        </p:xfrm>
        <a:graphic>
          <a:graphicData uri="http://schemas.openxmlformats.org/drawingml/2006/chart">
            <c:chart xmlns:c="http://schemas.openxmlformats.org/drawingml/2006/chart" r:id="rId3"/>
          </a:graphicData>
        </a:graphic>
      </p:graphicFrame>
      <p:sp>
        <p:nvSpPr>
          <p:cNvPr id="5" name="Rounded Rectangle 4"/>
          <p:cNvSpPr/>
          <p:nvPr/>
        </p:nvSpPr>
        <p:spPr>
          <a:xfrm>
            <a:off x="8321040" y="1828800"/>
            <a:ext cx="3319272" cy="42062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2011680"/>
            <a:ext cx="2862072" cy="365760"/>
          </a:xfrm>
          <a:prstGeom prst="rect">
            <a:avLst/>
          </a:prstGeom>
          <a:noFill/>
        </p:spPr>
        <p:txBody>
          <a:bodyPr wrap="square" lIns="0" rIns="0" tIns="0" bIns="0" anchor="t">
            <a:spAutoFit/>
          </a:bodyPr>
          <a:lstStyle/>
          <a:p>
            <a:pPr algn="l">
              <a:spcAft>
                <a:spcPts val="600"/>
              </a:spcAft>
            </a:pPr>
            <a:r>
              <a:rPr sz="1700" b="1" i="0">
                <a:solidFill>
                  <a:srgbClr val="1C2E6E"/>
                </a:solidFill>
                <a:latin typeface="Calibri"/>
              </a:rPr>
              <a:t>Read with care</a:t>
            </a:r>
          </a:p>
        </p:txBody>
      </p:sp>
      <p:sp>
        <p:nvSpPr>
          <p:cNvPr id="7" name="TextBox 6"/>
          <p:cNvSpPr txBox="1"/>
          <p:nvPr/>
        </p:nvSpPr>
        <p:spPr>
          <a:xfrm>
            <a:off x="8549640" y="2395728"/>
            <a:ext cx="2862072" cy="3474720"/>
          </a:xfrm>
          <a:prstGeom prst="rect">
            <a:avLst/>
          </a:prstGeom>
          <a:noFill/>
        </p:spPr>
        <p:txBody>
          <a:bodyPr wrap="square" lIns="0" rIns="0" tIns="0" bIns="0" anchor="t">
            <a:spAutoFit/>
          </a:bodyPr>
          <a:lstStyle/>
          <a:p>
            <a:pPr algn="l">
              <a:spcAft>
                <a:spcPts val="600"/>
              </a:spcAft>
            </a:pPr>
            <a:r>
              <a:rPr sz="1500" b="0" i="0">
                <a:solidFill>
                  <a:srgbClr val="1E293B"/>
                </a:solidFill>
                <a:latin typeface="Calibri"/>
              </a:rPr>
              <a:t>57% of corpus rows had no rule match.</a:t>
            </a:r>
          </a:p>
          <a:p>
            <a:pPr algn="l">
              <a:spcAft>
                <a:spcPts val="600"/>
              </a:spcAft>
            </a:pPr>
            <a:r>
              <a:rPr sz="1500" b="0" i="0">
                <a:solidFill>
                  <a:srgbClr val="1E293B"/>
                </a:solidFill>
                <a:latin typeface="Calibri"/>
              </a:rPr>
              <a:t>Most reassigned posts became Network Quality (+2,080).</a:t>
            </a:r>
          </a:p>
          <a:p>
            <a:pPr algn="l">
              <a:spcAft>
                <a:spcPts val="600"/>
              </a:spcAft>
            </a:pPr>
            <a:r>
              <a:rPr sz="1500" b="0" i="0">
                <a:solidFill>
                  <a:srgbClr val="1E293B"/>
                </a:solidFill>
                <a:latin typeface="Calibri"/>
              </a:rPr>
              <a:t>No human has checked these 2,606 moves yet.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Most posts are not happy, and VADER hides it</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20</a:t>
            </a:r>
          </a:p>
        </p:txBody>
      </p:sp>
      <p:graphicFrame>
        <p:nvGraphicFramePr>
          <p:cNvPr id="4" name="Chart 3"/>
          <p:cNvGraphicFramePr>
            <a:graphicFrameLocks noGrp="1"/>
          </p:cNvGraphicFramePr>
          <p:nvPr/>
        </p:nvGraphicFramePr>
        <p:xfrm>
          <a:off x="548640" y="1600200"/>
          <a:ext cx="6949440" cy="4389120"/>
        </p:xfrm>
        <a:graphic>
          <a:graphicData uri="http://schemas.openxmlformats.org/drawingml/2006/chart">
            <c:chart xmlns:c="http://schemas.openxmlformats.org/drawingml/2006/chart" r:id="rId3"/>
          </a:graphicData>
        </a:graphic>
      </p:graphicFrame>
      <p:sp>
        <p:nvSpPr>
          <p:cNvPr id="5" name="TextBox 4"/>
          <p:cNvSpPr txBox="1"/>
          <p:nvPr/>
        </p:nvSpPr>
        <p:spPr>
          <a:xfrm>
            <a:off x="548640" y="6053328"/>
            <a:ext cx="6949440" cy="320040"/>
          </a:xfrm>
          <a:prstGeom prst="rect">
            <a:avLst/>
          </a:prstGeom>
          <a:noFill/>
        </p:spPr>
        <p:txBody>
          <a:bodyPr wrap="square" lIns="0" rIns="0" tIns="0" bIns="0" anchor="t">
            <a:spAutoFit/>
          </a:bodyPr>
          <a:lstStyle/>
          <a:p>
            <a:pPr algn="l">
              <a:spcAft>
                <a:spcPts val="600"/>
              </a:spcAft>
            </a:pPr>
            <a:r>
              <a:rPr sz="1200" b="0" i="0">
                <a:solidFill>
                  <a:srgbClr val="5B6475"/>
                </a:solidFill>
                <a:latin typeface="Calibri"/>
              </a:rPr>
              <a:t>Shares in %; corpus n = 1,706, gold n = 295</a:t>
            </a:r>
          </a:p>
        </p:txBody>
      </p:sp>
      <p:sp>
        <p:nvSpPr>
          <p:cNvPr id="6" name="TextBox 5"/>
          <p:cNvSpPr txBox="1"/>
          <p:nvPr/>
        </p:nvSpPr>
        <p:spPr>
          <a:xfrm>
            <a:off x="7863840" y="1737360"/>
            <a:ext cx="3749039" cy="518160"/>
          </a:xfrm>
          <a:prstGeom prst="rect">
            <a:avLst/>
          </a:prstGeom>
          <a:noFill/>
        </p:spPr>
        <p:txBody>
          <a:bodyPr wrap="square" lIns="0" rIns="0" tIns="0" bIns="0" anchor="t">
            <a:spAutoFit/>
          </a:bodyPr>
          <a:lstStyle/>
          <a:p>
            <a:pPr algn="l">
              <a:spcAft>
                <a:spcPts val="600"/>
              </a:spcAft>
            </a:pPr>
            <a:r>
              <a:rPr sz="3400" b="1" i="0">
                <a:solidFill>
                  <a:srgbClr val="1C2E6E"/>
                </a:solidFill>
                <a:latin typeface="Calibri"/>
              </a:rPr>
              <a:t>300 of 681</a:t>
            </a:r>
          </a:p>
        </p:txBody>
      </p:sp>
      <p:sp>
        <p:nvSpPr>
          <p:cNvPr id="7" name="TextBox 6"/>
          <p:cNvSpPr txBox="1"/>
          <p:nvPr/>
        </p:nvSpPr>
        <p:spPr>
          <a:xfrm>
            <a:off x="7863840" y="2301240"/>
            <a:ext cx="3749039" cy="822960"/>
          </a:xfrm>
          <a:prstGeom prst="rect">
            <a:avLst/>
          </a:prstGeom>
          <a:noFill/>
        </p:spPr>
        <p:txBody>
          <a:bodyPr wrap="square" lIns="0" rIns="0" tIns="0" bIns="0" anchor="t">
            <a:spAutoFit/>
          </a:bodyPr>
          <a:lstStyle/>
          <a:p>
            <a:pPr algn="l">
              <a:spcAft>
                <a:spcPts val="600"/>
              </a:spcAft>
            </a:pPr>
            <a:r>
              <a:rPr sz="1500" b="0" i="0">
                <a:solidFill>
                  <a:srgbClr val="5B6475"/>
                </a:solidFill>
                <a:latin typeface="Calibri"/>
              </a:rPr>
              <a:t>posts VADER calls happy that GPT-4o-mini reads as not happy</a:t>
            </a:r>
          </a:p>
        </p:txBody>
      </p:sp>
      <p:sp>
        <p:nvSpPr>
          <p:cNvPr id="8" name="Rounded Rectangle 7"/>
          <p:cNvSpPr/>
          <p:nvPr/>
        </p:nvSpPr>
        <p:spPr>
          <a:xfrm>
            <a:off x="7863840" y="3657600"/>
            <a:ext cx="3776472" cy="233172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3840480"/>
            <a:ext cx="3319272" cy="365760"/>
          </a:xfrm>
          <a:prstGeom prst="rect">
            <a:avLst/>
          </a:prstGeom>
          <a:noFill/>
        </p:spPr>
        <p:txBody>
          <a:bodyPr wrap="square" lIns="0" rIns="0" tIns="0" bIns="0" anchor="t">
            <a:spAutoFit/>
          </a:bodyPr>
          <a:lstStyle/>
          <a:p>
            <a:pPr algn="l">
              <a:spcAft>
                <a:spcPts val="600"/>
              </a:spcAft>
            </a:pPr>
            <a:r>
              <a:rPr sz="1700" b="1" i="0">
                <a:solidFill>
                  <a:srgbClr val="1C2E6E"/>
                </a:solidFill>
                <a:latin typeface="Calibri"/>
              </a:rPr>
              <a:t>One outage drives it</a:t>
            </a:r>
          </a:p>
        </p:txBody>
      </p:sp>
      <p:sp>
        <p:nvSpPr>
          <p:cNvPr id="10" name="TextBox 9"/>
          <p:cNvSpPr txBox="1"/>
          <p:nvPr/>
        </p:nvSpPr>
        <p:spPr>
          <a:xfrm>
            <a:off x="8092440" y="4224528"/>
            <a:ext cx="3319272" cy="1600199"/>
          </a:xfrm>
          <a:prstGeom prst="rect">
            <a:avLst/>
          </a:prstGeom>
          <a:noFill/>
        </p:spPr>
        <p:txBody>
          <a:bodyPr wrap="square" lIns="0" rIns="0" tIns="0" bIns="0" anchor="t">
            <a:spAutoFit/>
          </a:bodyPr>
          <a:lstStyle/>
          <a:p>
            <a:pPr algn="l">
              <a:spcAft>
                <a:spcPts val="600"/>
              </a:spcAft>
            </a:pPr>
            <a:r>
              <a:rPr sz="1500" b="0" i="0">
                <a:solidFill>
                  <a:srgbClr val="1E293B"/>
                </a:solidFill>
                <a:latin typeface="Calibri"/>
              </a:rPr>
              <a:t>22 outage threads hold 39% of posts. Outside them, not happy falls from 55% to 42%.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Platform and brand gaps are the outage, not the brand</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21</a:t>
            </a:r>
          </a:p>
        </p:txBody>
      </p:sp>
      <p:graphicFrame>
        <p:nvGraphicFramePr>
          <p:cNvPr id="4" name="Table 3"/>
          <p:cNvGraphicFramePr>
            <a:graphicFrameLocks noGrp="1"/>
          </p:cNvGraphicFramePr>
          <p:nvPr/>
        </p:nvGraphicFramePr>
        <p:xfrm>
          <a:off x="548640" y="1691640"/>
          <a:ext cx="6858000" cy="4096512"/>
        </p:xfrm>
        <a:graphic>
          <a:graphicData uri="http://schemas.openxmlformats.org/drawingml/2006/table">
            <a:tbl>
              <a:tblPr firstRow="1" bandRow="1">
                <a:tableStyleId>{5C22544A-7EE6-4342-B048-85BDC9FD1C3A}</a:tableStyleId>
              </a:tblPr>
              <a:tblGrid>
                <a:gridCol w="1554480"/>
                <a:gridCol w="1188720"/>
                <a:gridCol w="1828800"/>
                <a:gridCol w="2286000"/>
              </a:tblGrid>
              <a:tr h="512064">
                <a:tc>
                  <a:txBody>
                    <a:bodyPr wrap="square"/>
                    <a:lstStyle/>
                    <a:p>
                      <a:pPr algn="l"/>
                      <a:r>
                        <a:rPr sz="1400" b="1">
                          <a:solidFill>
                            <a:srgbClr val="FFFFFF"/>
                          </a:solidFill>
                          <a:latin typeface="Calibri"/>
                        </a:rPr>
                        <a:t>Not happy</a:t>
                      </a:r>
                    </a:p>
                  </a:txBody>
                  <a:tcPr marL="91440" marR="91440" marT="36576" marB="36576" anchor="ctr">
                    <a:solidFill>
                      <a:srgbClr val="1C2E6E"/>
                    </a:solidFill>
                  </a:tcPr>
                </a:tc>
                <a:tc>
                  <a:txBody>
                    <a:bodyPr wrap="square"/>
                    <a:lstStyle/>
                    <a:p>
                      <a:pPr algn="l"/>
                      <a:r>
                        <a:rPr sz="1400" b="1">
                          <a:solidFill>
                            <a:srgbClr val="FFFFFF"/>
                          </a:solidFill>
                          <a:latin typeface="Calibri"/>
                        </a:rPr>
                        <a:t>Posts</a:t>
                      </a:r>
                    </a:p>
                  </a:txBody>
                  <a:tcPr marL="91440" marR="91440" marT="36576" marB="36576" anchor="ctr">
                    <a:solidFill>
                      <a:srgbClr val="1C2E6E"/>
                    </a:solidFill>
                  </a:tcPr>
                </a:tc>
                <a:tc>
                  <a:txBody>
                    <a:bodyPr wrap="square"/>
                    <a:lstStyle/>
                    <a:p>
                      <a:pPr algn="l"/>
                      <a:r>
                        <a:rPr sz="1400" b="1">
                          <a:solidFill>
                            <a:srgbClr val="FFFFFF"/>
                          </a:solidFill>
                          <a:latin typeface="Calibri"/>
                        </a:rPr>
                        <a:t>All threads</a:t>
                      </a:r>
                    </a:p>
                  </a:txBody>
                  <a:tcPr marL="91440" marR="91440" marT="36576" marB="36576" anchor="ctr">
                    <a:solidFill>
                      <a:srgbClr val="1C2E6E"/>
                    </a:solidFill>
                  </a:tcPr>
                </a:tc>
                <a:tc>
                  <a:txBody>
                    <a:bodyPr wrap="square"/>
                    <a:lstStyle/>
                    <a:p>
                      <a:pPr algn="l"/>
                      <a:r>
                        <a:rPr sz="1400" b="1">
                          <a:solidFill>
                            <a:srgbClr val="FFFFFF"/>
                          </a:solidFill>
                          <a:latin typeface="Calibri"/>
                        </a:rPr>
                        <a:t>Outside outage threads</a:t>
                      </a:r>
                    </a:p>
                  </a:txBody>
                  <a:tcPr marL="91440" marR="91440" marT="36576" marB="36576" anchor="ctr">
                    <a:solidFill>
                      <a:srgbClr val="1C2E6E"/>
                    </a:solidFill>
                  </a:tcPr>
                </a:tc>
              </a:tr>
              <a:tr h="512064">
                <a:tc>
                  <a:txBody>
                    <a:bodyPr wrap="square"/>
                    <a:lstStyle/>
                    <a:p>
                      <a:pPr algn="l"/>
                      <a:r>
                        <a:rPr sz="1400" b="1">
                          <a:solidFill>
                            <a:srgbClr val="1E293B"/>
                          </a:solidFill>
                          <a:latin typeface="Calibri"/>
                        </a:rPr>
                        <a:t>Reddit</a:t>
                      </a:r>
                    </a:p>
                  </a:txBody>
                  <a:tcPr marL="91440" marR="91440" marT="36576" marB="36576" anchor="ctr">
                    <a:solidFill>
                      <a:srgbClr val="FBF3DF"/>
                    </a:solidFill>
                  </a:tcPr>
                </a:tc>
                <a:tc>
                  <a:txBody>
                    <a:bodyPr wrap="square"/>
                    <a:lstStyle/>
                    <a:p>
                      <a:pPr algn="l"/>
                      <a:r>
                        <a:rPr sz="1400" b="0">
                          <a:solidFill>
                            <a:srgbClr val="1E293B"/>
                          </a:solidFill>
                          <a:latin typeface="Calibri"/>
                        </a:rPr>
                        <a:t>1,253</a:t>
                      </a:r>
                    </a:p>
                  </a:txBody>
                  <a:tcPr marL="91440" marR="91440" marT="36576" marB="36576" anchor="ctr">
                    <a:solidFill>
                      <a:srgbClr val="FBF3DF"/>
                    </a:solidFill>
                  </a:tcPr>
                </a:tc>
                <a:tc>
                  <a:txBody>
                    <a:bodyPr wrap="square"/>
                    <a:lstStyle/>
                    <a:p>
                      <a:pPr algn="l"/>
                      <a:r>
                        <a:rPr sz="1400" b="0">
                          <a:solidFill>
                            <a:srgbClr val="1E293B"/>
                          </a:solidFill>
                          <a:latin typeface="Calibri"/>
                        </a:rPr>
                        <a:t>60%</a:t>
                      </a:r>
                    </a:p>
                  </a:txBody>
                  <a:tcPr marL="91440" marR="91440" marT="36576" marB="36576" anchor="ctr">
                    <a:solidFill>
                      <a:srgbClr val="FBF3DF"/>
                    </a:solidFill>
                  </a:tcPr>
                </a:tc>
                <a:tc>
                  <a:txBody>
                    <a:bodyPr wrap="square"/>
                    <a:lstStyle/>
                    <a:p>
                      <a:pPr algn="l"/>
                      <a:r>
                        <a:rPr sz="1400" b="0">
                          <a:solidFill>
                            <a:srgbClr val="1E293B"/>
                          </a:solidFill>
                          <a:latin typeface="Calibri"/>
                        </a:rPr>
                        <a:t>43%</a:t>
                      </a:r>
                    </a:p>
                  </a:txBody>
                  <a:tcPr marL="91440" marR="91440" marT="36576" marB="36576" anchor="ctr">
                    <a:solidFill>
                      <a:srgbClr val="FBF3DF"/>
                    </a:solidFill>
                  </a:tcPr>
                </a:tc>
              </a:tr>
              <a:tr h="512064">
                <a:tc>
                  <a:txBody>
                    <a:bodyPr wrap="square"/>
                    <a:lstStyle/>
                    <a:p>
                      <a:pPr algn="l"/>
                      <a:r>
                        <a:rPr sz="1400" b="0">
                          <a:solidFill>
                            <a:srgbClr val="1E293B"/>
                          </a:solidFill>
                          <a:latin typeface="Calibri"/>
                        </a:rPr>
                        <a:t>HWZ</a:t>
                      </a:r>
                    </a:p>
                  </a:txBody>
                  <a:tcPr marL="91440" marR="91440" marT="36576" marB="36576" anchor="ctr">
                    <a:solidFill>
                      <a:srgbClr val="F2F4F9"/>
                    </a:solidFill>
                  </a:tcPr>
                </a:tc>
                <a:tc>
                  <a:txBody>
                    <a:bodyPr wrap="square"/>
                    <a:lstStyle/>
                    <a:p>
                      <a:pPr algn="l"/>
                      <a:r>
                        <a:rPr sz="1400" b="0">
                          <a:solidFill>
                            <a:srgbClr val="1E293B"/>
                          </a:solidFill>
                          <a:latin typeface="Calibri"/>
                        </a:rPr>
                        <a:t>453</a:t>
                      </a:r>
                    </a:p>
                  </a:txBody>
                  <a:tcPr marL="91440" marR="91440" marT="36576" marB="36576" anchor="ctr">
                    <a:solidFill>
                      <a:srgbClr val="F2F4F9"/>
                    </a:solidFill>
                  </a:tcPr>
                </a:tc>
                <a:tc>
                  <a:txBody>
                    <a:bodyPr wrap="square"/>
                    <a:lstStyle/>
                    <a:p>
                      <a:pPr algn="l"/>
                      <a:r>
                        <a:rPr sz="1400" b="0">
                          <a:solidFill>
                            <a:srgbClr val="1E293B"/>
                          </a:solidFill>
                          <a:latin typeface="Calibri"/>
                        </a:rPr>
                        <a:t>40%</a:t>
                      </a:r>
                    </a:p>
                  </a:txBody>
                  <a:tcPr marL="91440" marR="91440" marT="36576" marB="36576" anchor="ctr">
                    <a:solidFill>
                      <a:srgbClr val="F2F4F9"/>
                    </a:solidFill>
                  </a:tcPr>
                </a:tc>
                <a:tc>
                  <a:txBody>
                    <a:bodyPr wrap="square"/>
                    <a:lstStyle/>
                    <a:p>
                      <a:pPr algn="l"/>
                      <a:r>
                        <a:rPr sz="1400" b="0">
                          <a:solidFill>
                            <a:srgbClr val="1E293B"/>
                          </a:solidFill>
                          <a:latin typeface="Calibri"/>
                        </a:rPr>
                        <a:t>40%</a:t>
                      </a:r>
                    </a:p>
                  </a:txBody>
                  <a:tcPr marL="91440" marR="91440" marT="36576" marB="36576" anchor="ctr">
                    <a:solidFill>
                      <a:srgbClr val="F2F4F9"/>
                    </a:solidFill>
                  </a:tcPr>
                </a:tc>
              </a:tr>
              <a:tr h="512064">
                <a:tc>
                  <a:txBody>
                    <a:bodyPr wrap="square"/>
                    <a:lstStyle/>
                    <a:p>
                      <a:pPr algn="l"/>
                      <a:r>
                        <a:rPr sz="1400" b="1">
                          <a:solidFill>
                            <a:srgbClr val="1E293B"/>
                          </a:solidFill>
                          <a:latin typeface="Calibri"/>
                        </a:rPr>
                        <a:t>Singtel</a:t>
                      </a:r>
                    </a:p>
                  </a:txBody>
                  <a:tcPr marL="91440" marR="91440" marT="36576" marB="36576" anchor="ctr">
                    <a:solidFill>
                      <a:srgbClr val="FBF3DF"/>
                    </a:solidFill>
                  </a:tcPr>
                </a:tc>
                <a:tc>
                  <a:txBody>
                    <a:bodyPr wrap="square"/>
                    <a:lstStyle/>
                    <a:p>
                      <a:pPr algn="l"/>
                      <a:r>
                        <a:rPr sz="1400" b="0">
                          <a:solidFill>
                            <a:srgbClr val="1E293B"/>
                          </a:solidFill>
                          <a:latin typeface="Calibri"/>
                        </a:rPr>
                        <a:t>1,135</a:t>
                      </a:r>
                    </a:p>
                  </a:txBody>
                  <a:tcPr marL="91440" marR="91440" marT="36576" marB="36576" anchor="ctr">
                    <a:solidFill>
                      <a:srgbClr val="FBF3DF"/>
                    </a:solidFill>
                  </a:tcPr>
                </a:tc>
                <a:tc>
                  <a:txBody>
                    <a:bodyPr wrap="square"/>
                    <a:lstStyle/>
                    <a:p>
                      <a:pPr algn="l"/>
                      <a:r>
                        <a:rPr sz="1400" b="0">
                          <a:solidFill>
                            <a:srgbClr val="1E293B"/>
                          </a:solidFill>
                          <a:latin typeface="Calibri"/>
                        </a:rPr>
                        <a:t>63%</a:t>
                      </a:r>
                    </a:p>
                  </a:txBody>
                  <a:tcPr marL="91440" marR="91440" marT="36576" marB="36576" anchor="ctr">
                    <a:solidFill>
                      <a:srgbClr val="FBF3DF"/>
                    </a:solidFill>
                  </a:tcPr>
                </a:tc>
                <a:tc>
                  <a:txBody>
                    <a:bodyPr wrap="square"/>
                    <a:lstStyle/>
                    <a:p>
                      <a:pPr algn="l"/>
                      <a:r>
                        <a:rPr sz="1400" b="0">
                          <a:solidFill>
                            <a:srgbClr val="1E293B"/>
                          </a:solidFill>
                          <a:latin typeface="Calibri"/>
                        </a:rPr>
                        <a:t>45%</a:t>
                      </a:r>
                    </a:p>
                  </a:txBody>
                  <a:tcPr marL="91440" marR="91440" marT="36576" marB="36576" anchor="ctr">
                    <a:solidFill>
                      <a:srgbClr val="FBF3DF"/>
                    </a:solidFill>
                  </a:tcPr>
                </a:tc>
              </a:tr>
              <a:tr h="512064">
                <a:tc>
                  <a:txBody>
                    <a:bodyPr wrap="square"/>
                    <a:lstStyle/>
                    <a:p>
                      <a:pPr algn="l"/>
                      <a:r>
                        <a:rPr sz="1400" b="0">
                          <a:solidFill>
                            <a:srgbClr val="1E293B"/>
                          </a:solidFill>
                          <a:latin typeface="Calibri"/>
                        </a:rPr>
                        <a:t>StarHub</a:t>
                      </a:r>
                    </a:p>
                  </a:txBody>
                  <a:tcPr marL="91440" marR="91440" marT="36576" marB="36576" anchor="ctr">
                    <a:solidFill>
                      <a:srgbClr val="F2F4F9"/>
                    </a:solidFill>
                  </a:tcPr>
                </a:tc>
                <a:tc>
                  <a:txBody>
                    <a:bodyPr wrap="square"/>
                    <a:lstStyle/>
                    <a:p>
                      <a:pPr algn="l"/>
                      <a:r>
                        <a:rPr sz="1400" b="0">
                          <a:solidFill>
                            <a:srgbClr val="1E293B"/>
                          </a:solidFill>
                          <a:latin typeface="Calibri"/>
                        </a:rPr>
                        <a:t>360</a:t>
                      </a:r>
                    </a:p>
                  </a:txBody>
                  <a:tcPr marL="91440" marR="91440" marT="36576" marB="36576" anchor="ctr">
                    <a:solidFill>
                      <a:srgbClr val="F2F4F9"/>
                    </a:solidFill>
                  </a:tcPr>
                </a:tc>
                <a:tc>
                  <a:txBody>
                    <a:bodyPr wrap="square"/>
                    <a:lstStyle/>
                    <a:p>
                      <a:pPr algn="l"/>
                      <a:r>
                        <a:rPr sz="1400" b="0">
                          <a:solidFill>
                            <a:srgbClr val="1E293B"/>
                          </a:solidFill>
                          <a:latin typeface="Calibri"/>
                        </a:rPr>
                        <a:t>48%</a:t>
                      </a:r>
                    </a:p>
                  </a:txBody>
                  <a:tcPr marL="91440" marR="91440" marT="36576" marB="36576" anchor="ctr">
                    <a:solidFill>
                      <a:srgbClr val="F2F4F9"/>
                    </a:solidFill>
                  </a:tcPr>
                </a:tc>
                <a:tc>
                  <a:txBody>
                    <a:bodyPr wrap="square"/>
                    <a:lstStyle/>
                    <a:p>
                      <a:pPr algn="l"/>
                      <a:r>
                        <a:rPr sz="1400" b="0">
                          <a:solidFill>
                            <a:srgbClr val="1E293B"/>
                          </a:solidFill>
                          <a:latin typeface="Calibri"/>
                        </a:rPr>
                        <a:t>47%</a:t>
                      </a:r>
                    </a:p>
                  </a:txBody>
                  <a:tcPr marL="91440" marR="91440" marT="36576" marB="36576" anchor="ctr">
                    <a:solidFill>
                      <a:srgbClr val="F2F4F9"/>
                    </a:solidFill>
                  </a:tcPr>
                </a:tc>
              </a:tr>
              <a:tr h="512064">
                <a:tc>
                  <a:txBody>
                    <a:bodyPr wrap="square"/>
                    <a:lstStyle/>
                    <a:p>
                      <a:pPr algn="l"/>
                      <a:r>
                        <a:rPr sz="1400" b="0">
                          <a:solidFill>
                            <a:srgbClr val="1E293B"/>
                          </a:solidFill>
                          <a:latin typeface="Calibri"/>
                        </a:rPr>
                        <a:t>M1</a:t>
                      </a:r>
                    </a:p>
                  </a:txBody>
                  <a:tcPr marL="91440" marR="91440" marT="36576" marB="36576" anchor="ctr">
                    <a:solidFill>
                      <a:srgbClr val="FFFFFF"/>
                    </a:solidFill>
                  </a:tcPr>
                </a:tc>
                <a:tc>
                  <a:txBody>
                    <a:bodyPr wrap="square"/>
                    <a:lstStyle/>
                    <a:p>
                      <a:pPr algn="l"/>
                      <a:r>
                        <a:rPr sz="1400" b="0">
                          <a:solidFill>
                            <a:srgbClr val="1E293B"/>
                          </a:solidFill>
                          <a:latin typeface="Calibri"/>
                        </a:rPr>
                        <a:t>254</a:t>
                      </a:r>
                    </a:p>
                  </a:txBody>
                  <a:tcPr marL="91440" marR="91440" marT="36576" marB="36576" anchor="ctr">
                    <a:solidFill>
                      <a:srgbClr val="FFFFFF"/>
                    </a:solidFill>
                  </a:tcPr>
                </a:tc>
                <a:tc>
                  <a:txBody>
                    <a:bodyPr wrap="square"/>
                    <a:lstStyle/>
                    <a:p>
                      <a:pPr algn="l"/>
                      <a:r>
                        <a:rPr sz="1400" b="0">
                          <a:solidFill>
                            <a:srgbClr val="1E293B"/>
                          </a:solidFill>
                          <a:latin typeface="Calibri"/>
                        </a:rPr>
                        <a:t>35%</a:t>
                      </a:r>
                    </a:p>
                  </a:txBody>
                  <a:tcPr marL="91440" marR="91440" marT="36576" marB="36576" anchor="ctr">
                    <a:solidFill>
                      <a:srgbClr val="FFFFFF"/>
                    </a:solidFill>
                  </a:tcPr>
                </a:tc>
                <a:tc>
                  <a:txBody>
                    <a:bodyPr wrap="square"/>
                    <a:lstStyle/>
                    <a:p>
                      <a:pPr algn="l"/>
                      <a:r>
                        <a:rPr sz="1400" b="0">
                          <a:solidFill>
                            <a:srgbClr val="1E293B"/>
                          </a:solidFill>
                          <a:latin typeface="Calibri"/>
                        </a:rPr>
                        <a:t>34%</a:t>
                      </a:r>
                    </a:p>
                  </a:txBody>
                  <a:tcPr marL="91440" marR="91440" marT="36576" marB="36576" anchor="ctr">
                    <a:solidFill>
                      <a:srgbClr val="FFFFFF"/>
                    </a:solidFill>
                  </a:tcPr>
                </a:tc>
              </a:tr>
              <a:tr h="512064">
                <a:tc>
                  <a:txBody>
                    <a:bodyPr wrap="square"/>
                    <a:lstStyle/>
                    <a:p>
                      <a:pPr algn="l"/>
                      <a:r>
                        <a:rPr sz="1400" b="0">
                          <a:solidFill>
                            <a:srgbClr val="1E293B"/>
                          </a:solidFill>
                          <a:latin typeface="Calibri"/>
                        </a:rPr>
                        <a:t>SIMBA</a:t>
                      </a:r>
                    </a:p>
                  </a:txBody>
                  <a:tcPr marL="91440" marR="91440" marT="36576" marB="36576" anchor="ctr">
                    <a:solidFill>
                      <a:srgbClr val="F2F4F9"/>
                    </a:solidFill>
                  </a:tcPr>
                </a:tc>
                <a:tc>
                  <a:txBody>
                    <a:bodyPr wrap="square"/>
                    <a:lstStyle/>
                    <a:p>
                      <a:pPr algn="l"/>
                      <a:r>
                        <a:rPr sz="1400" b="0">
                          <a:solidFill>
                            <a:srgbClr val="1E293B"/>
                          </a:solidFill>
                          <a:latin typeface="Calibri"/>
                        </a:rPr>
                        <a:t>157</a:t>
                      </a:r>
                    </a:p>
                  </a:txBody>
                  <a:tcPr marL="91440" marR="91440" marT="36576" marB="36576" anchor="ctr">
                    <a:solidFill>
                      <a:srgbClr val="F2F4F9"/>
                    </a:solidFill>
                  </a:tcPr>
                </a:tc>
                <a:tc>
                  <a:txBody>
                    <a:bodyPr wrap="square"/>
                    <a:lstStyle/>
                    <a:p>
                      <a:pPr algn="l"/>
                      <a:r>
                        <a:rPr sz="1400" b="0">
                          <a:solidFill>
                            <a:srgbClr val="1E293B"/>
                          </a:solidFill>
                          <a:latin typeface="Calibri"/>
                        </a:rPr>
                        <a:t>35%</a:t>
                      </a:r>
                    </a:p>
                  </a:txBody>
                  <a:tcPr marL="91440" marR="91440" marT="36576" marB="36576" anchor="ctr">
                    <a:solidFill>
                      <a:srgbClr val="F2F4F9"/>
                    </a:solidFill>
                  </a:tcPr>
                </a:tc>
                <a:tc>
                  <a:txBody>
                    <a:bodyPr wrap="square"/>
                    <a:lstStyle/>
                    <a:p>
                      <a:pPr algn="l"/>
                      <a:r>
                        <a:rPr sz="1400" b="0">
                          <a:solidFill>
                            <a:srgbClr val="1E293B"/>
                          </a:solidFill>
                          <a:latin typeface="Calibri"/>
                        </a:rPr>
                        <a:t>35%</a:t>
                      </a:r>
                    </a:p>
                  </a:txBody>
                  <a:tcPr marL="91440" marR="91440" marT="36576" marB="36576" anchor="ctr">
                    <a:solidFill>
                      <a:srgbClr val="F2F4F9"/>
                    </a:solidFill>
                  </a:tcPr>
                </a:tc>
              </a:tr>
              <a:tr h="512064">
                <a:tc>
                  <a:txBody>
                    <a:bodyPr wrap="square"/>
                    <a:lstStyle/>
                    <a:p>
                      <a:pPr algn="l"/>
                      <a:r>
                        <a:rPr sz="1400" b="0">
                          <a:solidFill>
                            <a:srgbClr val="1E293B"/>
                          </a:solidFill>
                          <a:latin typeface="Calibri"/>
                        </a:rPr>
                        <a:t>Eight</a:t>
                      </a:r>
                    </a:p>
                  </a:txBody>
                  <a:tcPr marL="91440" marR="91440" marT="36576" marB="36576" anchor="ctr">
                    <a:solidFill>
                      <a:srgbClr val="FFFFFF"/>
                    </a:solidFill>
                  </a:tcPr>
                </a:tc>
                <a:tc>
                  <a:txBody>
                    <a:bodyPr wrap="square"/>
                    <a:lstStyle/>
                    <a:p>
                      <a:pPr algn="l"/>
                      <a:r>
                        <a:rPr sz="1400" b="0">
                          <a:solidFill>
                            <a:srgbClr val="1E293B"/>
                          </a:solidFill>
                          <a:latin typeface="Calibri"/>
                        </a:rPr>
                        <a:t>72</a:t>
                      </a:r>
                    </a:p>
                  </a:txBody>
                  <a:tcPr marL="91440" marR="91440" marT="36576" marB="36576" anchor="ctr">
                    <a:solidFill>
                      <a:srgbClr val="FFFFFF"/>
                    </a:solidFill>
                  </a:tcPr>
                </a:tc>
                <a:tc>
                  <a:txBody>
                    <a:bodyPr wrap="square"/>
                    <a:lstStyle/>
                    <a:p>
                      <a:pPr algn="l"/>
                      <a:r>
                        <a:rPr sz="1400" b="0">
                          <a:solidFill>
                            <a:srgbClr val="1E293B"/>
                          </a:solidFill>
                          <a:latin typeface="Calibri"/>
                        </a:rPr>
                        <a:t>28%</a:t>
                      </a:r>
                    </a:p>
                  </a:txBody>
                  <a:tcPr marL="91440" marR="91440" marT="36576" marB="36576" anchor="ctr">
                    <a:solidFill>
                      <a:srgbClr val="FFFFFF"/>
                    </a:solidFill>
                  </a:tcPr>
                </a:tc>
                <a:tc>
                  <a:txBody>
                    <a:bodyPr wrap="square"/>
                    <a:lstStyle/>
                    <a:p>
                      <a:pPr algn="l"/>
                      <a:r>
                        <a:rPr sz="1400" b="0">
                          <a:solidFill>
                            <a:srgbClr val="1E293B"/>
                          </a:solidFill>
                          <a:latin typeface="Calibri"/>
                        </a:rPr>
                        <a:t>27%</a:t>
                      </a:r>
                    </a:p>
                  </a:txBody>
                  <a:tcPr marL="91440" marR="91440" marT="36576" marB="36576" anchor="ctr">
                    <a:solidFill>
                      <a:srgbClr val="FFFFFF"/>
                    </a:solidFill>
                  </a:tcPr>
                </a:tc>
              </a:tr>
            </a:tbl>
          </a:graphicData>
        </a:graphic>
      </p:graphicFrame>
      <p:sp>
        <p:nvSpPr>
          <p:cNvPr id="5" name="TextBox 4"/>
          <p:cNvSpPr txBox="1"/>
          <p:nvPr/>
        </p:nvSpPr>
        <p:spPr>
          <a:xfrm>
            <a:off x="548640" y="5852160"/>
            <a:ext cx="6858000" cy="365760"/>
          </a:xfrm>
          <a:prstGeom prst="rect">
            <a:avLst/>
          </a:prstGeom>
          <a:noFill/>
        </p:spPr>
        <p:txBody>
          <a:bodyPr wrap="square" lIns="0" rIns="0" tIns="0" bIns="0" anchor="t">
            <a:spAutoFit/>
          </a:bodyPr>
          <a:lstStyle/>
          <a:p>
            <a:pPr algn="l">
              <a:spcAft>
                <a:spcPts val="600"/>
              </a:spcAft>
            </a:pPr>
            <a:r>
              <a:rPr sz="1200" b="0" i="0">
                <a:solidFill>
                  <a:srgbClr val="5B6475"/>
                </a:solidFill>
                <a:latin typeface="Calibri"/>
              </a:rPr>
              <a:t>Human gold labels: Reddit 51%, HWZ 47% not happy</a:t>
            </a:r>
          </a:p>
        </p:txBody>
      </p:sp>
      <p:sp>
        <p:nvSpPr>
          <p:cNvPr id="6" name="Rounded Rectangle 5"/>
          <p:cNvSpPr/>
          <p:nvPr/>
        </p:nvSpPr>
        <p:spPr>
          <a:xfrm>
            <a:off x="7772400" y="1691640"/>
            <a:ext cx="3867912" cy="41148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874520"/>
            <a:ext cx="3410712" cy="365760"/>
          </a:xfrm>
          <a:prstGeom prst="rect">
            <a:avLst/>
          </a:prstGeom>
          <a:noFill/>
        </p:spPr>
        <p:txBody>
          <a:bodyPr wrap="square" lIns="0" rIns="0" tIns="0" bIns="0" anchor="t">
            <a:spAutoFit/>
          </a:bodyPr>
          <a:lstStyle/>
          <a:p>
            <a:pPr algn="l">
              <a:spcAft>
                <a:spcPts val="600"/>
              </a:spcAft>
            </a:pPr>
            <a:r>
              <a:rPr sz="1700" b="1" i="0">
                <a:solidFill>
                  <a:srgbClr val="1C2E6E"/>
                </a:solidFill>
                <a:latin typeface="Calibri"/>
              </a:rPr>
              <a:t>Rule I apply</a:t>
            </a:r>
          </a:p>
        </p:txBody>
      </p:sp>
      <p:sp>
        <p:nvSpPr>
          <p:cNvPr id="8" name="TextBox 7"/>
          <p:cNvSpPr txBox="1"/>
          <p:nvPr/>
        </p:nvSpPr>
        <p:spPr>
          <a:xfrm>
            <a:off x="8001000" y="2258568"/>
            <a:ext cx="3410712" cy="3383280"/>
          </a:xfrm>
          <a:prstGeom prst="rect">
            <a:avLst/>
          </a:prstGeom>
          <a:noFill/>
        </p:spPr>
        <p:txBody>
          <a:bodyPr wrap="square" lIns="0" rIns="0" tIns="0" bIns="0" anchor="t">
            <a:spAutoFit/>
          </a:bodyPr>
          <a:lstStyle/>
          <a:p>
            <a:pPr algn="l">
              <a:spcAft>
                <a:spcPts val="600"/>
              </a:spcAft>
            </a:pPr>
            <a:r>
              <a:rPr sz="1500" b="0" i="0">
                <a:solidFill>
                  <a:srgbClr val="1E293B"/>
                </a:solidFill>
                <a:latin typeface="Calibri"/>
              </a:rPr>
              <a:t>Check every gap with the outage threads removed.</a:t>
            </a:r>
          </a:p>
          <a:p>
            <a:pPr algn="l">
              <a:spcAft>
                <a:spcPts val="600"/>
              </a:spcAft>
            </a:pPr>
            <a:r>
              <a:rPr sz="1500" b="0" i="0">
                <a:solidFill>
                  <a:srgbClr val="1E293B"/>
                </a:solidFill>
                <a:latin typeface="Calibri"/>
              </a:rPr>
              <a:t>No brand league table.</a:t>
            </a:r>
          </a:p>
          <a:p>
            <a:pPr algn="l">
              <a:spcAft>
                <a:spcPts val="600"/>
              </a:spcAft>
            </a:pPr>
            <a:r>
              <a:rPr sz="1500" b="0" i="0">
                <a:solidFill>
                  <a:srgbClr val="1E293B"/>
                </a:solidFill>
                <a:latin typeface="Calibri"/>
              </a:rPr>
              <a:t>Mentions are not customers: one post can name several brands.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The dashboard runs a weekly 30-minute huddle</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22</a:t>
            </a:r>
          </a:p>
        </p:txBody>
      </p:sp>
      <p:sp>
        <p:nvSpPr>
          <p:cNvPr id="4" name="Pentagon 3"/>
          <p:cNvSpPr/>
          <p:nvPr/>
        </p:nvSpPr>
        <p:spPr>
          <a:xfrm>
            <a:off x="548640" y="1828800"/>
            <a:ext cx="2159812" cy="1188720"/>
          </a:xfrm>
          <a:prstGeom prst="homePlate">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a:solidFill>
                  <a:srgbClr val="FFFFFF"/>
                </a:solidFill>
                <a:latin typeface="Calibri"/>
              </a:rPr>
              <a:t>1  Queue</a:t>
            </a:r>
          </a:p>
        </p:txBody>
      </p:sp>
      <p:sp>
        <p:nvSpPr>
          <p:cNvPr id="5" name="Chevron 4"/>
          <p:cNvSpPr/>
          <p:nvPr/>
        </p:nvSpPr>
        <p:spPr>
          <a:xfrm>
            <a:off x="2781604" y="1828800"/>
            <a:ext cx="215981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a:solidFill>
                  <a:srgbClr val="FFFFFF"/>
                </a:solidFill>
                <a:latin typeface="Calibri"/>
              </a:rPr>
              <a:t>2  Open 10</a:t>
            </a:r>
          </a:p>
        </p:txBody>
      </p:sp>
      <p:sp>
        <p:nvSpPr>
          <p:cNvPr id="6" name="Chevron 5"/>
          <p:cNvSpPr/>
          <p:nvPr/>
        </p:nvSpPr>
        <p:spPr>
          <a:xfrm>
            <a:off x="5014569" y="1828800"/>
            <a:ext cx="215981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a:solidFill>
                  <a:srgbClr val="FFFFFF"/>
                </a:solidFill>
                <a:latin typeface="Calibri"/>
              </a:rPr>
              <a:t>3  Match</a:t>
            </a:r>
          </a:p>
        </p:txBody>
      </p:sp>
      <p:sp>
        <p:nvSpPr>
          <p:cNvPr id="7" name="Chevron 6"/>
          <p:cNvSpPr/>
          <p:nvPr/>
        </p:nvSpPr>
        <p:spPr>
          <a:xfrm>
            <a:off x="7247534" y="1828800"/>
            <a:ext cx="215981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a:solidFill>
                  <a:srgbClr val="FFFFFF"/>
                </a:solidFill>
                <a:latin typeface="Calibri"/>
              </a:rPr>
              <a:t>4  One owner</a:t>
            </a:r>
          </a:p>
        </p:txBody>
      </p:sp>
      <p:sp>
        <p:nvSpPr>
          <p:cNvPr id="8" name="Chevron 7"/>
          <p:cNvSpPr/>
          <p:nvPr/>
        </p:nvSpPr>
        <p:spPr>
          <a:xfrm>
            <a:off x="9480499" y="1828800"/>
            <a:ext cx="215981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a:solidFill>
                  <a:srgbClr val="FFFFFF"/>
                </a:solidFill>
                <a:latin typeface="Calibri"/>
              </a:rPr>
              <a:t>5  Next week</a:t>
            </a:r>
          </a:p>
        </p:txBody>
      </p:sp>
      <p:sp>
        <p:nvSpPr>
          <p:cNvPr id="9" name="TextBox 8"/>
          <p:cNvSpPr txBox="1"/>
          <p:nvPr/>
        </p:nvSpPr>
        <p:spPr>
          <a:xfrm>
            <a:off x="594360" y="3200400"/>
            <a:ext cx="2022652" cy="128016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Not-happy posts in Network, App &amp; Account, Porting; act only if n ≥ 20</a:t>
            </a:r>
          </a:p>
        </p:txBody>
      </p:sp>
      <p:sp>
        <p:nvSpPr>
          <p:cNvPr id="10" name="TextBox 9"/>
          <p:cNvSpPr txBox="1"/>
          <p:nvPr/>
        </p:nvSpPr>
        <p:spPr>
          <a:xfrm>
            <a:off x="2827324" y="3200400"/>
            <a:ext cx="2022652" cy="128016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Read ten source posts; drop sarcasm and mislabels</a:t>
            </a:r>
          </a:p>
        </p:txBody>
      </p:sp>
      <p:sp>
        <p:nvSpPr>
          <p:cNvPr id="11" name="TextBox 10"/>
          <p:cNvSpPr txBox="1"/>
          <p:nvPr/>
        </p:nvSpPr>
        <p:spPr>
          <a:xfrm>
            <a:off x="5060289" y="3200400"/>
            <a:ext cx="2022652" cy="128016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Tie what’s left to tickets, outages or bills</a:t>
            </a:r>
          </a:p>
        </p:txBody>
      </p:sp>
      <p:sp>
        <p:nvSpPr>
          <p:cNvPr id="12" name="TextBox 11"/>
          <p:cNvSpPr txBox="1"/>
          <p:nvPr/>
        </p:nvSpPr>
        <p:spPr>
          <a:xfrm>
            <a:off x="7293254" y="3200400"/>
            <a:ext cx="2022652" cy="128016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Assign one squad and a response date</a:t>
            </a:r>
          </a:p>
        </p:txBody>
      </p:sp>
      <p:sp>
        <p:nvSpPr>
          <p:cNvPr id="13" name="TextBox 12"/>
          <p:cNvSpPr txBox="1"/>
          <p:nvPr/>
        </p:nvSpPr>
        <p:spPr>
          <a:xfrm>
            <a:off x="9526219" y="3200400"/>
            <a:ext cx="2022652" cy="128016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Check whether that issue’s share fell</a:t>
            </a:r>
          </a:p>
        </p:txBody>
      </p:sp>
      <p:sp>
        <p:nvSpPr>
          <p:cNvPr id="14" name="Rounded Rectangle 13"/>
          <p:cNvSpPr/>
          <p:nvPr/>
        </p:nvSpPr>
        <p:spPr>
          <a:xfrm>
            <a:off x="548640" y="4754880"/>
            <a:ext cx="11091672" cy="11887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846320"/>
            <a:ext cx="3931920" cy="1005840"/>
          </a:xfrm>
          <a:prstGeom prst="rect">
            <a:avLst/>
          </a:prstGeom>
          <a:noFill/>
        </p:spPr>
        <p:txBody>
          <a:bodyPr wrap="square" lIns="0" rIns="0" tIns="0" bIns="0" anchor="ctr">
            <a:spAutoFit/>
          </a:bodyPr>
          <a:lstStyle/>
          <a:p>
            <a:pPr algn="l">
              <a:spcAft>
                <a:spcPts val="600"/>
              </a:spcAft>
            </a:pPr>
            <a:r>
              <a:rPr sz="2200" b="1" i="0">
                <a:solidFill>
                  <a:srgbClr val="1C2E6E"/>
                </a:solidFill>
                <a:latin typeface="Calibri"/>
              </a:rPr>
              <a:t>3 weeks </a:t>
            </a:r>
            <a:r>
              <a:rPr sz="1600" b="0" i="0">
                <a:solidFill>
                  <a:srgbClr val="1E293B"/>
                </a:solidFill>
                <a:latin typeface="Calibri"/>
              </a:rPr>
              <a:t>crossed n ≥ 20</a:t>
            </a:r>
          </a:p>
        </p:txBody>
      </p:sp>
      <p:sp>
        <p:nvSpPr>
          <p:cNvPr id="16" name="TextBox 15"/>
          <p:cNvSpPr txBox="1"/>
          <p:nvPr/>
        </p:nvSpPr>
        <p:spPr>
          <a:xfrm>
            <a:off x="4937760" y="4846320"/>
            <a:ext cx="6492240" cy="1005840"/>
          </a:xfrm>
          <a:prstGeom prst="rect">
            <a:avLst/>
          </a:prstGeom>
          <a:noFill/>
        </p:spPr>
        <p:txBody>
          <a:bodyPr wrap="square" lIns="0" rIns="0" tIns="0" bIns="0" anchor="ctr">
            <a:spAutoFit/>
          </a:bodyPr>
          <a:lstStyle/>
          <a:p>
            <a:pPr algn="l">
              <a:spcAft>
                <a:spcPts val="400"/>
              </a:spcAft>
            </a:pPr>
            <a:r>
              <a:rPr sz="1600" b="0" i="0">
                <a:solidFill>
                  <a:srgbClr val="1E293B"/>
                </a:solidFill>
                <a:latin typeface="Calibri"/>
              </a:rPr>
              <a:t>16, 23 and 30 March 2026: 349, 70 and 42 queue posts</a:t>
            </a:r>
          </a:p>
          <a:p>
            <a:pPr algn="l">
              <a:spcAft>
                <a:spcPts val="400"/>
              </a:spcAft>
            </a:pPr>
            <a:r>
              <a:rPr sz="1600" b="0" i="0">
                <a:solidFill>
                  <a:srgbClr val="1E293B"/>
                </a:solidFill>
                <a:latin typeface="Calibri"/>
              </a:rPr>
              <a:t>Demo: open dashboard/index.html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4800" b="1">
                <a:solidFill>
                  <a:srgbClr val="FFFFFF"/>
                </a:solidFill>
                <a:latin typeface="Calibri"/>
              </a:rPr>
              <a:t>E</a:t>
            </a:r>
          </a:p>
        </p:txBody>
      </p:sp>
      <p:sp>
        <p:nvSpPr>
          <p:cNvPr id="3" name="TextBox 2"/>
          <p:cNvSpPr txBox="1"/>
          <p:nvPr/>
        </p:nvSpPr>
        <p:spPr>
          <a:xfrm>
            <a:off x="2423160" y="2011680"/>
            <a:ext cx="8686800" cy="822960"/>
          </a:xfrm>
          <a:prstGeom prst="rect">
            <a:avLst/>
          </a:prstGeom>
          <a:noFill/>
        </p:spPr>
        <p:txBody>
          <a:bodyPr wrap="square" lIns="0" rIns="0" tIns="0" bIns="0" anchor="t">
            <a:spAutoFit/>
          </a:bodyPr>
          <a:lstStyle/>
          <a:p>
            <a:pPr algn="l">
              <a:spcAft>
                <a:spcPts val="600"/>
              </a:spcAft>
            </a:pPr>
            <a:r>
              <a:rPr sz="4000" b="1" i="0">
                <a:solidFill>
                  <a:srgbClr val="1C2E6E"/>
                </a:solidFill>
                <a:latin typeface="Calibri"/>
              </a:rPr>
              <a:t>Actions and reflection</a:t>
            </a:r>
          </a:p>
        </p:txBody>
      </p:sp>
      <p:sp>
        <p:nvSpPr>
          <p:cNvPr id="4" name="TextBox 3"/>
          <p:cNvSpPr txBox="1"/>
          <p:nvPr/>
        </p:nvSpPr>
        <p:spPr>
          <a:xfrm>
            <a:off x="2423160" y="2834640"/>
            <a:ext cx="8686800" cy="548640"/>
          </a:xfrm>
          <a:prstGeom prst="rect">
            <a:avLst/>
          </a:prstGeom>
          <a:noFill/>
        </p:spPr>
        <p:txBody>
          <a:bodyPr wrap="square" lIns="0" rIns="0" tIns="0" bIns="0" anchor="t">
            <a:spAutoFit/>
          </a:bodyPr>
          <a:lstStyle/>
          <a:p>
            <a:pPr algn="l">
              <a:spcAft>
                <a:spcPts val="600"/>
              </a:spcAft>
            </a:pPr>
            <a:r>
              <a:rPr sz="2000" b="0" i="0">
                <a:solidFill>
                  <a:srgbClr val="5B6475"/>
                </a:solidFill>
                <a:latin typeface="Calibri"/>
              </a:rPr>
              <a:t>What operators should do, and what I learned</a:t>
            </a:r>
          </a:p>
        </p:txBody>
      </p:sp>
      <p:sp>
        <p:nvSpPr>
          <p:cNvPr id="5" name="TextBox 4"/>
          <p:cNvSpPr txBox="1"/>
          <p:nvPr/>
        </p:nvSpPr>
        <p:spPr>
          <a:xfrm>
            <a:off x="2423160" y="3520440"/>
            <a:ext cx="8686800" cy="365760"/>
          </a:xfrm>
          <a:prstGeom prst="rect">
            <a:avLst/>
          </a:prstGeom>
          <a:noFill/>
        </p:spPr>
        <p:txBody>
          <a:bodyPr wrap="square" lIns="0" rIns="0" tIns="0" bIns="0" anchor="t">
            <a:spAutoFit/>
          </a:bodyPr>
          <a:lstStyle/>
          <a:p>
            <a:pPr algn="l">
              <a:spcAft>
                <a:spcPts val="600"/>
              </a:spcAft>
            </a:pPr>
            <a:r>
              <a:rPr sz="1600" b="1" i="0">
                <a:solidFill>
                  <a:srgbClr val="D29B08"/>
                </a:solidFill>
                <a:latin typeface="Calibri"/>
              </a:rPr>
              <a:t>About 4 minutes</a:t>
            </a:r>
          </a:p>
        </p:txBody>
      </p:sp>
      <p:sp>
        <p:nvSpPr>
          <p:cNvPr id="6" name="TextBox 5"/>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Recommendations, ordered by not-happy share</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24</a:t>
            </a:r>
          </a:p>
        </p:txBody>
      </p:sp>
      <p:sp>
        <p:nvSpPr>
          <p:cNvPr id="4" name="Rounded Rectangle 3"/>
          <p:cNvSpPr/>
          <p:nvPr/>
        </p:nvSpPr>
        <p:spPr>
          <a:xfrm>
            <a:off x="548640" y="1691640"/>
            <a:ext cx="3544824" cy="210312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20"/>
            <a:ext cx="3087624" cy="411480"/>
          </a:xfrm>
          <a:prstGeom prst="rect">
            <a:avLst/>
          </a:prstGeom>
          <a:noFill/>
        </p:spPr>
        <p:txBody>
          <a:bodyPr wrap="square" lIns="0" rIns="0" tIns="0" bIns="0" anchor="t">
            <a:spAutoFit/>
          </a:bodyPr>
          <a:lstStyle/>
          <a:p>
            <a:pPr algn="l">
              <a:spcAft>
                <a:spcPts val="600"/>
              </a:spcAft>
            </a:pPr>
            <a:r>
              <a:rPr sz="1800" b="1" i="0">
                <a:solidFill>
                  <a:srgbClr val="1C2E6E"/>
                </a:solidFill>
                <a:latin typeface="Calibri"/>
              </a:rPr>
              <a:t>1  Network</a:t>
            </a:r>
          </a:p>
        </p:txBody>
      </p:sp>
      <p:sp>
        <p:nvSpPr>
          <p:cNvPr id="6" name="TextBox 5"/>
          <p:cNvSpPr txBox="1"/>
          <p:nvPr/>
        </p:nvSpPr>
        <p:spPr>
          <a:xfrm>
            <a:off x="777240" y="2331720"/>
            <a:ext cx="3087624" cy="86868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Status page and restoration ETA during incidents; join named-location posts to tickets</a:t>
            </a:r>
          </a:p>
        </p:txBody>
      </p:sp>
      <p:sp>
        <p:nvSpPr>
          <p:cNvPr id="7" name="TextBox 6"/>
          <p:cNvSpPr txBox="1"/>
          <p:nvPr/>
        </p:nvSpPr>
        <p:spPr>
          <a:xfrm>
            <a:off x="777240" y="3154680"/>
            <a:ext cx="3087624" cy="548640"/>
          </a:xfrm>
          <a:prstGeom prst="rect">
            <a:avLst/>
          </a:prstGeom>
          <a:noFill/>
        </p:spPr>
        <p:txBody>
          <a:bodyPr wrap="square" lIns="0" rIns="0" t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Faster first update; fewer tickets at that location</a:t>
            </a:r>
          </a:p>
        </p:txBody>
      </p:sp>
      <p:sp>
        <p:nvSpPr>
          <p:cNvPr id="8" name="Rounded Rectangle 7"/>
          <p:cNvSpPr/>
          <p:nvPr/>
        </p:nvSpPr>
        <p:spPr>
          <a:xfrm>
            <a:off x="4322064" y="1691640"/>
            <a:ext cx="3544824" cy="210312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0664" y="1874520"/>
            <a:ext cx="3087624" cy="411480"/>
          </a:xfrm>
          <a:prstGeom prst="rect">
            <a:avLst/>
          </a:prstGeom>
          <a:noFill/>
        </p:spPr>
        <p:txBody>
          <a:bodyPr wrap="square" lIns="0" rIns="0" tIns="0" bIns="0" anchor="t">
            <a:spAutoFit/>
          </a:bodyPr>
          <a:lstStyle/>
          <a:p>
            <a:pPr algn="l">
              <a:spcAft>
                <a:spcPts val="600"/>
              </a:spcAft>
            </a:pPr>
            <a:r>
              <a:rPr sz="1800" b="1" i="0">
                <a:solidFill>
                  <a:srgbClr val="1C2E6E"/>
                </a:solidFill>
                <a:latin typeface="Calibri"/>
              </a:rPr>
              <a:t>2  Billing &amp; service</a:t>
            </a:r>
          </a:p>
        </p:txBody>
      </p:sp>
      <p:sp>
        <p:nvSpPr>
          <p:cNvPr id="10" name="TextBox 9"/>
          <p:cNvSpPr txBox="1"/>
          <p:nvPr/>
        </p:nvSpPr>
        <p:spPr>
          <a:xfrm>
            <a:off x="4550664" y="2331720"/>
            <a:ext cx="3087624" cy="86868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Publish the compensation rule with the outage notice; keep self-service open</a:t>
            </a:r>
          </a:p>
        </p:txBody>
      </p:sp>
      <p:sp>
        <p:nvSpPr>
          <p:cNvPr id="11" name="TextBox 10"/>
          <p:cNvSpPr txBox="1"/>
          <p:nvPr/>
        </p:nvSpPr>
        <p:spPr>
          <a:xfrm>
            <a:off x="4550664" y="3154680"/>
            <a:ext cx="3087624" cy="548640"/>
          </a:xfrm>
          <a:prstGeom prst="rect">
            <a:avLst/>
          </a:prstGeom>
          <a:noFill/>
        </p:spPr>
        <p:txBody>
          <a:bodyPr wrap="square" lIns="0" rIns="0" t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Fewer compensation and “can’t reach support” posts</a:t>
            </a:r>
          </a:p>
        </p:txBody>
      </p:sp>
      <p:sp>
        <p:nvSpPr>
          <p:cNvPr id="12" name="Rounded Rectangle 11"/>
          <p:cNvSpPr/>
          <p:nvPr/>
        </p:nvSpPr>
        <p:spPr>
          <a:xfrm>
            <a:off x="8095488" y="1691640"/>
            <a:ext cx="3544824" cy="21031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4088" y="1874520"/>
            <a:ext cx="3087624" cy="411480"/>
          </a:xfrm>
          <a:prstGeom prst="rect">
            <a:avLst/>
          </a:prstGeom>
          <a:noFill/>
        </p:spPr>
        <p:txBody>
          <a:bodyPr wrap="square" lIns="0" rIns="0" tIns="0" bIns="0" anchor="t">
            <a:spAutoFit/>
          </a:bodyPr>
          <a:lstStyle/>
          <a:p>
            <a:pPr algn="l">
              <a:spcAft>
                <a:spcPts val="600"/>
              </a:spcAft>
            </a:pPr>
            <a:r>
              <a:rPr sz="1800" b="1" i="0">
                <a:solidFill>
                  <a:srgbClr val="1C2E6E"/>
                </a:solidFill>
                <a:latin typeface="Calibri"/>
              </a:rPr>
              <a:t>3  Product &amp; commercial</a:t>
            </a:r>
          </a:p>
        </p:txBody>
      </p:sp>
      <p:sp>
        <p:nvSpPr>
          <p:cNvPr id="14" name="TextBox 13"/>
          <p:cNvSpPr txBox="1"/>
          <p:nvPr/>
        </p:nvSpPr>
        <p:spPr>
          <a:xfrm>
            <a:off x="8324088" y="2331720"/>
            <a:ext cx="3087624" cy="86868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Show fair-use limits, add-on charges and recurring price at checkout</a:t>
            </a:r>
          </a:p>
        </p:txBody>
      </p:sp>
      <p:sp>
        <p:nvSpPr>
          <p:cNvPr id="15" name="TextBox 14"/>
          <p:cNvSpPr txBox="1"/>
          <p:nvPr/>
        </p:nvSpPr>
        <p:spPr>
          <a:xfrm>
            <a:off x="8324088" y="3154680"/>
            <a:ext cx="3087624" cy="548640"/>
          </a:xfrm>
          <a:prstGeom prst="rect">
            <a:avLst/>
          </a:prstGeom>
          <a:noFill/>
        </p:spPr>
        <p:txBody>
          <a:bodyPr wrap="square" lIns="0" rIns="0" t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Fewer hidden-charge threads</a:t>
            </a:r>
          </a:p>
        </p:txBody>
      </p:sp>
      <p:sp>
        <p:nvSpPr>
          <p:cNvPr id="16" name="Rounded Rectangle 15"/>
          <p:cNvSpPr/>
          <p:nvPr/>
        </p:nvSpPr>
        <p:spPr>
          <a:xfrm>
            <a:off x="548640" y="4023360"/>
            <a:ext cx="3544824" cy="21031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206240"/>
            <a:ext cx="3087624" cy="411480"/>
          </a:xfrm>
          <a:prstGeom prst="rect">
            <a:avLst/>
          </a:prstGeom>
          <a:noFill/>
        </p:spPr>
        <p:txBody>
          <a:bodyPr wrap="square" lIns="0" rIns="0" tIns="0" bIns="0" anchor="t">
            <a:spAutoFit/>
          </a:bodyPr>
          <a:lstStyle/>
          <a:p>
            <a:pPr algn="l">
              <a:spcAft>
                <a:spcPts val="600"/>
              </a:spcAft>
            </a:pPr>
            <a:r>
              <a:rPr sz="1800" b="1" i="0">
                <a:solidFill>
                  <a:srgbClr val="1C2E6E"/>
                </a:solidFill>
                <a:latin typeface="Calibri"/>
              </a:rPr>
              <a:t>4  Devices</a:t>
            </a:r>
          </a:p>
        </p:txBody>
      </p:sp>
      <p:sp>
        <p:nvSpPr>
          <p:cNvPr id="18" name="TextBox 17"/>
          <p:cNvSpPr txBox="1"/>
          <p:nvPr/>
        </p:nvSpPr>
        <p:spPr>
          <a:xfrm>
            <a:off x="777240" y="4663440"/>
            <a:ext cx="3087624" cy="86868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Publish router, ONR and eSIM requirements per plan</a:t>
            </a:r>
          </a:p>
        </p:txBody>
      </p:sp>
      <p:sp>
        <p:nvSpPr>
          <p:cNvPr id="19" name="TextBox 18"/>
          <p:cNvSpPr txBox="1"/>
          <p:nvPr/>
        </p:nvSpPr>
        <p:spPr>
          <a:xfrm>
            <a:off x="777240" y="5486400"/>
            <a:ext cx="3087624" cy="548640"/>
          </a:xfrm>
          <a:prstGeom prst="rect">
            <a:avLst/>
          </a:prstGeom>
          <a:noFill/>
        </p:spPr>
        <p:txBody>
          <a:bodyPr wrap="square" lIns="0" rIns="0" t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Fewer equipment threads</a:t>
            </a:r>
          </a:p>
        </p:txBody>
      </p:sp>
      <p:sp>
        <p:nvSpPr>
          <p:cNvPr id="20" name="Rounded Rectangle 19"/>
          <p:cNvSpPr/>
          <p:nvPr/>
        </p:nvSpPr>
        <p:spPr>
          <a:xfrm>
            <a:off x="4322064" y="4023360"/>
            <a:ext cx="3544824" cy="21031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50664" y="4206240"/>
            <a:ext cx="3087624" cy="411480"/>
          </a:xfrm>
          <a:prstGeom prst="rect">
            <a:avLst/>
          </a:prstGeom>
          <a:noFill/>
        </p:spPr>
        <p:txBody>
          <a:bodyPr wrap="square" lIns="0" rIns="0" tIns="0" bIns="0" anchor="t">
            <a:spAutoFit/>
          </a:bodyPr>
          <a:lstStyle/>
          <a:p>
            <a:pPr algn="l">
              <a:spcAft>
                <a:spcPts val="600"/>
              </a:spcAft>
            </a:pPr>
            <a:r>
              <a:rPr sz="1800" b="1" i="0">
                <a:solidFill>
                  <a:srgbClr val="1C2E6E"/>
                </a:solidFill>
                <a:latin typeface="Calibri"/>
              </a:rPr>
              <a:t>5  App, roaming, porting</a:t>
            </a:r>
          </a:p>
        </p:txBody>
      </p:sp>
      <p:sp>
        <p:nvSpPr>
          <p:cNvPr id="22" name="TextBox 21"/>
          <p:cNvSpPr txBox="1"/>
          <p:nvPr/>
        </p:nvSpPr>
        <p:spPr>
          <a:xfrm>
            <a:off x="4550664" y="4663440"/>
            <a:ext cx="3087624" cy="86868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Small here (1–4% each): watch after releases; checklists and timelines</a:t>
            </a:r>
          </a:p>
        </p:txBody>
      </p:sp>
      <p:sp>
        <p:nvSpPr>
          <p:cNvPr id="23" name="TextBox 22"/>
          <p:cNvSpPr txBox="1"/>
          <p:nvPr/>
        </p:nvSpPr>
        <p:spPr>
          <a:xfrm>
            <a:off x="4550664" y="5486400"/>
            <a:ext cx="3087624" cy="548640"/>
          </a:xfrm>
          <a:prstGeom prst="rect">
            <a:avLst/>
          </a:prstGeom>
          <a:noFill/>
        </p:spPr>
        <p:txBody>
          <a:bodyPr wrap="square" lIns="0" rIns="0" t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No priority unless volume rises</a:t>
            </a:r>
          </a:p>
        </p:txBody>
      </p:sp>
      <p:sp>
        <p:nvSpPr>
          <p:cNvPr id="24" name="Rounded Rectangle 23"/>
          <p:cNvSpPr/>
          <p:nvPr/>
        </p:nvSpPr>
        <p:spPr>
          <a:xfrm>
            <a:off x="8095488" y="4023360"/>
            <a:ext cx="3544824" cy="21031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4088" y="4206240"/>
            <a:ext cx="3087624" cy="411480"/>
          </a:xfrm>
          <a:prstGeom prst="rect">
            <a:avLst/>
          </a:prstGeom>
          <a:noFill/>
        </p:spPr>
        <p:txBody>
          <a:bodyPr wrap="square" lIns="0" rIns="0" tIns="0" bIns="0" anchor="t">
            <a:spAutoFit/>
          </a:bodyPr>
          <a:lstStyle/>
          <a:p>
            <a:pPr algn="l">
              <a:spcAft>
                <a:spcPts val="600"/>
              </a:spcAft>
            </a:pPr>
            <a:r>
              <a:rPr sz="1800" b="1" i="0">
                <a:solidFill>
                  <a:srgbClr val="1C2E6E"/>
                </a:solidFill>
                <a:latin typeface="Calibri"/>
              </a:rPr>
              <a:t>6  Weekly huddle</a:t>
            </a:r>
          </a:p>
        </p:txBody>
      </p:sp>
      <p:sp>
        <p:nvSpPr>
          <p:cNvPr id="26" name="TextBox 25"/>
          <p:cNvSpPr txBox="1"/>
          <p:nvPr/>
        </p:nvSpPr>
        <p:spPr>
          <a:xfrm>
            <a:off x="8324088" y="4663440"/>
            <a:ext cx="3087624" cy="868680"/>
          </a:xfrm>
          <a:prstGeom prst="rect">
            <a:avLst/>
          </a:prstGeom>
          <a:noFill/>
        </p:spPr>
        <p:txBody>
          <a:bodyPr wrap="square" lIns="0" rIns="0" tIns="0" bIns="0" anchor="t">
            <a:spAutoFit/>
          </a:bodyPr>
          <a:lstStyle/>
          <a:p>
            <a:pPr algn="l">
              <a:spcAft>
                <a:spcPts val="600"/>
              </a:spcAft>
            </a:pPr>
            <a:r>
              <a:rPr sz="1400" b="0" i="0">
                <a:solidFill>
                  <a:srgbClr val="1E293B"/>
                </a:solidFill>
                <a:latin typeface="Calibri"/>
              </a:rPr>
              <a:t>Act only when a week crosses n ≥ 20; one owner, one date</a:t>
            </a:r>
          </a:p>
        </p:txBody>
      </p:sp>
      <p:sp>
        <p:nvSpPr>
          <p:cNvPr id="27" name="TextBox 26"/>
          <p:cNvSpPr txBox="1"/>
          <p:nvPr/>
        </p:nvSpPr>
        <p:spPr>
          <a:xfrm>
            <a:off x="8324088" y="5486400"/>
            <a:ext cx="3087624" cy="548640"/>
          </a:xfrm>
          <a:prstGeom prst="rect">
            <a:avLst/>
          </a:prstGeom>
          <a:noFill/>
        </p:spPr>
        <p:txBody>
          <a:bodyPr wrap="square" lIns="0" rIns="0" t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That issue’s share falls next week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What I found most interesting</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25</a:t>
            </a:r>
          </a:p>
        </p:txBody>
      </p:sp>
      <p:sp>
        <p:nvSpPr>
          <p:cNvPr id="4" name="Oval 3"/>
          <p:cNvSpPr/>
          <p:nvPr/>
        </p:nvSpPr>
        <p:spPr>
          <a:xfrm>
            <a:off x="548640" y="175564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1</a:t>
            </a:r>
          </a:p>
        </p:txBody>
      </p:sp>
      <p:sp>
        <p:nvSpPr>
          <p:cNvPr id="5" name="TextBox 4"/>
          <p:cNvSpPr txBox="1"/>
          <p:nvPr/>
        </p:nvSpPr>
        <p:spPr>
          <a:xfrm>
            <a:off x="1371600" y="1691640"/>
            <a:ext cx="3977639" cy="731520"/>
          </a:xfrm>
          <a:prstGeom prst="rect">
            <a:avLst/>
          </a:prstGeom>
          <a:noFill/>
        </p:spPr>
        <p:txBody>
          <a:bodyPr wrap="square" lIns="0" rIns="0" tIns="0" bIns="0" anchor="ctr">
            <a:spAutoFit/>
          </a:bodyPr>
          <a:lstStyle/>
          <a:p>
            <a:pPr algn="l">
              <a:spcAft>
                <a:spcPts val="600"/>
              </a:spcAft>
            </a:pPr>
            <a:r>
              <a:rPr sz="1800" b="1" i="0">
                <a:solidFill>
                  <a:srgbClr val="1C2E6E"/>
                </a:solidFill>
                <a:latin typeface="Calibri"/>
              </a:rPr>
              <a:t>A perfect score was the warning sign</a:t>
            </a:r>
          </a:p>
        </p:txBody>
      </p:sp>
      <p:sp>
        <p:nvSpPr>
          <p:cNvPr id="6" name="TextBox 5"/>
          <p:cNvSpPr txBox="1"/>
          <p:nvPr/>
        </p:nvSpPr>
        <p:spPr>
          <a:xfrm>
            <a:off x="5486400" y="1691640"/>
            <a:ext cx="6153912" cy="731520"/>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100% VADER accuracy came from model-prefilled labels.</a:t>
            </a:r>
          </a:p>
        </p:txBody>
      </p:sp>
      <p:sp>
        <p:nvSpPr>
          <p:cNvPr id="7" name="Oval 6"/>
          <p:cNvSpPr/>
          <p:nvPr/>
        </p:nvSpPr>
        <p:spPr>
          <a:xfrm>
            <a:off x="548640" y="267004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2</a:t>
            </a:r>
          </a:p>
        </p:txBody>
      </p:sp>
      <p:sp>
        <p:nvSpPr>
          <p:cNvPr id="8" name="TextBox 7"/>
          <p:cNvSpPr txBox="1"/>
          <p:nvPr/>
        </p:nvSpPr>
        <p:spPr>
          <a:xfrm>
            <a:off x="1371600" y="2606039"/>
            <a:ext cx="3977639" cy="731520"/>
          </a:xfrm>
          <a:prstGeom prst="rect">
            <a:avLst/>
          </a:prstGeom>
          <a:noFill/>
        </p:spPr>
        <p:txBody>
          <a:bodyPr wrap="square" lIns="0" rIns="0" tIns="0" bIns="0" anchor="ctr">
            <a:spAutoFit/>
          </a:bodyPr>
          <a:lstStyle/>
          <a:p>
            <a:pPr algn="l">
              <a:spcAft>
                <a:spcPts val="600"/>
              </a:spcAft>
            </a:pPr>
            <a:r>
              <a:rPr sz="1800" b="1" i="0">
                <a:solidFill>
                  <a:srgbClr val="1C2E6E"/>
                </a:solidFill>
                <a:latin typeface="Calibri"/>
              </a:rPr>
              <a:t>The bigger model didn’t win</a:t>
            </a:r>
          </a:p>
        </p:txBody>
      </p:sp>
      <p:sp>
        <p:nvSpPr>
          <p:cNvPr id="9" name="TextBox 8"/>
          <p:cNvSpPr txBox="1"/>
          <p:nvPr/>
        </p:nvSpPr>
        <p:spPr>
          <a:xfrm>
            <a:off x="5486400" y="2606039"/>
            <a:ext cx="6153912" cy="731520"/>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GPT-4o ties mini on sentiment at ~17× the cost, on both gold sets.</a:t>
            </a:r>
          </a:p>
        </p:txBody>
      </p:sp>
      <p:sp>
        <p:nvSpPr>
          <p:cNvPr id="10" name="Oval 9"/>
          <p:cNvSpPr/>
          <p:nvPr/>
        </p:nvSpPr>
        <p:spPr>
          <a:xfrm>
            <a:off x="548640" y="358444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3</a:t>
            </a:r>
          </a:p>
        </p:txBody>
      </p:sp>
      <p:sp>
        <p:nvSpPr>
          <p:cNvPr id="11" name="TextBox 10"/>
          <p:cNvSpPr txBox="1"/>
          <p:nvPr/>
        </p:nvSpPr>
        <p:spPr>
          <a:xfrm>
            <a:off x="1371600" y="3520439"/>
            <a:ext cx="3977639" cy="731520"/>
          </a:xfrm>
          <a:prstGeom prst="rect">
            <a:avLst/>
          </a:prstGeom>
          <a:noFill/>
        </p:spPr>
        <p:txBody>
          <a:bodyPr wrap="square" lIns="0" rIns="0" tIns="0" bIns="0" anchor="ctr">
            <a:spAutoFit/>
          </a:bodyPr>
          <a:lstStyle/>
          <a:p>
            <a:pPr algn="l">
              <a:spcAft>
                <a:spcPts val="600"/>
              </a:spcAft>
            </a:pPr>
            <a:r>
              <a:rPr sz="1800" b="1" i="0">
                <a:solidFill>
                  <a:srgbClr val="1C2E6E"/>
                </a:solidFill>
                <a:latin typeface="Calibri"/>
              </a:rPr>
              <a:t>My best method failed the held-out test</a:t>
            </a:r>
          </a:p>
        </p:txBody>
      </p:sp>
      <p:sp>
        <p:nvSpPr>
          <p:cNvPr id="12" name="TextBox 11"/>
          <p:cNvSpPr txBox="1"/>
          <p:nvPr/>
        </p:nvSpPr>
        <p:spPr>
          <a:xfrm>
            <a:off x="5486400" y="3520439"/>
            <a:ext cx="6153912" cy="731520"/>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Hybrid: 0.680 on the set I tuned on, 0.509 on held-out posts, where GPT-4o on every post won.</a:t>
            </a:r>
          </a:p>
        </p:txBody>
      </p:sp>
      <p:sp>
        <p:nvSpPr>
          <p:cNvPr id="13" name="Oval 12"/>
          <p:cNvSpPr/>
          <p:nvPr/>
        </p:nvSpPr>
        <p:spPr>
          <a:xfrm>
            <a:off x="548640" y="449884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4</a:t>
            </a:r>
          </a:p>
        </p:txBody>
      </p:sp>
      <p:sp>
        <p:nvSpPr>
          <p:cNvPr id="14" name="TextBox 13"/>
          <p:cNvSpPr txBox="1"/>
          <p:nvPr/>
        </p:nvSpPr>
        <p:spPr>
          <a:xfrm>
            <a:off x="1371600" y="4434840"/>
            <a:ext cx="3977639" cy="731520"/>
          </a:xfrm>
          <a:prstGeom prst="rect">
            <a:avLst/>
          </a:prstGeom>
          <a:noFill/>
        </p:spPr>
        <p:txBody>
          <a:bodyPr wrap="square" lIns="0" rIns="0" tIns="0" bIns="0" anchor="ctr">
            <a:spAutoFit/>
          </a:bodyPr>
          <a:lstStyle/>
          <a:p>
            <a:pPr algn="l">
              <a:spcAft>
                <a:spcPts val="600"/>
              </a:spcAft>
            </a:pPr>
            <a:r>
              <a:rPr sz="1800" b="1" i="0">
                <a:solidFill>
                  <a:srgbClr val="1C2E6E"/>
                </a:solidFill>
                <a:latin typeface="Calibri"/>
              </a:rPr>
              <a:t>Two ‘insights’ were one outage</a:t>
            </a:r>
          </a:p>
        </p:txBody>
      </p:sp>
      <p:sp>
        <p:nvSpPr>
          <p:cNvPr id="15" name="TextBox 14"/>
          <p:cNvSpPr txBox="1"/>
          <p:nvPr/>
        </p:nvSpPr>
        <p:spPr>
          <a:xfrm>
            <a:off x="5486400" y="4434840"/>
            <a:ext cx="6153912" cy="731520"/>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Reddit vs HWZ and Singtel vs StarHub both close once the 22 outage threads are removed.</a:t>
            </a:r>
          </a:p>
        </p:txBody>
      </p:sp>
      <p:sp>
        <p:nvSpPr>
          <p:cNvPr id="16" name="Oval 15"/>
          <p:cNvSpPr/>
          <p:nvPr/>
        </p:nvSpPr>
        <p:spPr>
          <a:xfrm>
            <a:off x="548640" y="541324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5</a:t>
            </a:r>
          </a:p>
        </p:txBody>
      </p:sp>
      <p:sp>
        <p:nvSpPr>
          <p:cNvPr id="17" name="TextBox 16"/>
          <p:cNvSpPr txBox="1"/>
          <p:nvPr/>
        </p:nvSpPr>
        <p:spPr>
          <a:xfrm>
            <a:off x="1371600" y="5349240"/>
            <a:ext cx="3977639" cy="731520"/>
          </a:xfrm>
          <a:prstGeom prst="rect">
            <a:avLst/>
          </a:prstGeom>
          <a:noFill/>
        </p:spPr>
        <p:txBody>
          <a:bodyPr wrap="square" lIns="0" rIns="0" tIns="0" bIns="0" anchor="ctr">
            <a:spAutoFit/>
          </a:bodyPr>
          <a:lstStyle/>
          <a:p>
            <a:pPr algn="l">
              <a:spcAft>
                <a:spcPts val="600"/>
              </a:spcAft>
            </a:pPr>
            <a:r>
              <a:rPr sz="1800" b="1" i="0">
                <a:solidFill>
                  <a:srgbClr val="1C2E6E"/>
                </a:solidFill>
                <a:latin typeface="Calibri"/>
              </a:rPr>
              <a:t>Row counts overstate voices</a:t>
            </a:r>
          </a:p>
        </p:txBody>
      </p:sp>
      <p:sp>
        <p:nvSpPr>
          <p:cNvPr id="18" name="TextBox 17"/>
          <p:cNvSpPr txBox="1"/>
          <p:nvPr/>
        </p:nvSpPr>
        <p:spPr>
          <a:xfrm>
            <a:off x="5486400" y="5349240"/>
            <a:ext cx="6153912" cy="731520"/>
          </a:xfrm>
          <a:prstGeom prst="rect">
            <a:avLst/>
          </a:prstGeom>
          <a:noFill/>
        </p:spPr>
        <p:txBody>
          <a:bodyPr wrap="square" lIns="0" rIns="0" tIns="0" bIns="0" anchor="ctr">
            <a:spAutoFit/>
          </a:bodyPr>
          <a:lstStyle/>
          <a:p>
            <a:pPr algn="l">
              <a:spcAft>
                <a:spcPts val="600"/>
              </a:spcAft>
            </a:pPr>
            <a:r>
              <a:rPr sz="1600" b="0" i="0">
                <a:solidFill>
                  <a:srgbClr val="1E293B"/>
                </a:solidFill>
                <a:latin typeface="Calibri"/>
              </a:rPr>
              <a:t>15,504 rows → 2,686 unique posts → 1,706 in telco threads.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Limitations I’d flag to any reader</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26</a:t>
            </a:r>
          </a:p>
        </p:txBody>
      </p:sp>
      <p:sp>
        <p:nvSpPr>
          <p:cNvPr id="4" name="Rounded Rectangle 3"/>
          <p:cNvSpPr/>
          <p:nvPr/>
        </p:nvSpPr>
        <p:spPr>
          <a:xfrm>
            <a:off x="548640" y="1691640"/>
            <a:ext cx="5422392" cy="39319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920240"/>
            <a:ext cx="4846320" cy="457200"/>
          </a:xfrm>
          <a:prstGeom prst="rect">
            <a:avLst/>
          </a:prstGeom>
          <a:noFill/>
        </p:spPr>
        <p:txBody>
          <a:bodyPr wrap="square" lIns="0" rIns="0" tIns="0" bIns="0" anchor="t">
            <a:spAutoFit/>
          </a:bodyPr>
          <a:lstStyle/>
          <a:p>
            <a:pPr algn="l">
              <a:spcAft>
                <a:spcPts val="600"/>
              </a:spcAft>
            </a:pPr>
            <a:r>
              <a:rPr sz="2200" b="1" i="0">
                <a:solidFill>
                  <a:srgbClr val="1C2E6E"/>
                </a:solidFill>
                <a:latin typeface="Calibri"/>
              </a:rPr>
              <a:t>Data</a:t>
            </a:r>
          </a:p>
        </p:txBody>
      </p:sp>
      <p:sp>
        <p:nvSpPr>
          <p:cNvPr id="6" name="TextBox 5"/>
          <p:cNvSpPr txBox="1"/>
          <p:nvPr/>
        </p:nvSpPr>
        <p:spPr>
          <a:xfrm>
            <a:off x="822959" y="2560320"/>
            <a:ext cx="4892040" cy="2926080"/>
          </a:xfrm>
          <a:prstGeom prst="rect">
            <a:avLst/>
          </a:prstGeom>
          <a:noFill/>
        </p:spPr>
        <p:txBody>
          <a:bodyPr wrap="square" lIns="0" rIns="0" tIns="0" bIns="0" anchor="t">
            <a:spAutoFit/>
          </a:bodyPr>
          <a:lstStyle/>
          <a:p>
            <a:pPr algn="l" marL="256032" indent="-256032">
              <a:spcAft>
                <a:spcPts val="1400"/>
              </a:spcAft>
              <a:buClr>
                <a:srgbClr val="D29B08"/>
              </a:buClr>
              <a:buFont typeface="Arial"/>
              <a:buChar char="•"/>
            </a:pPr>
            <a:r>
              <a:rPr sz="1700" b="0" i="0">
                <a:solidFill>
                  <a:srgbClr val="1E293B"/>
                </a:solidFill>
                <a:latin typeface="Calibri"/>
              </a:rPr>
              <a:t>Forum posters self-select; they are not all subscribers</a:t>
            </a:r>
          </a:p>
          <a:p>
            <a:pPr algn="l" marL="256032" indent="-256032">
              <a:spcAft>
                <a:spcPts val="1400"/>
              </a:spcAft>
              <a:buClr>
                <a:srgbClr val="D29B08"/>
              </a:buClr>
              <a:buFont typeface="Arial"/>
              <a:buChar char="•"/>
            </a:pPr>
            <a:r>
              <a:rPr sz="1700" b="0" i="0">
                <a:solidFill>
                  <a:srgbClr val="1E293B"/>
                </a:solidFill>
                <a:latin typeface="Calibri"/>
              </a:rPr>
              <a:t>39% of posts in outage threads; Reddit is all 2026</a:t>
            </a:r>
          </a:p>
          <a:p>
            <a:pPr algn="l" marL="256032" indent="-256032">
              <a:spcAft>
                <a:spcPts val="1400"/>
              </a:spcAft>
              <a:buClr>
                <a:srgbClr val="D29B08"/>
              </a:buClr>
              <a:buFont typeface="Arial"/>
              <a:buChar char="•"/>
            </a:pPr>
            <a:r>
              <a:rPr sz="1700" b="0" i="0">
                <a:solidFill>
                  <a:srgbClr val="1E293B"/>
                </a:solidFill>
                <a:latin typeface="Calibri"/>
              </a:rPr>
              <a:t>Replies cluster by thread, so posts aren’t independent</a:t>
            </a:r>
          </a:p>
          <a:p>
            <a:pPr algn="l" marL="256032" indent="-256032">
              <a:spcAft>
                <a:spcPts val="1400"/>
              </a:spcAft>
              <a:buClr>
                <a:srgbClr val="D29B08"/>
              </a:buClr>
              <a:buFont typeface="Arial"/>
              <a:buChar char="•"/>
            </a:pPr>
            <a:r>
              <a:rPr sz="1700" b="0" i="0">
                <a:solidFill>
                  <a:srgbClr val="1E293B"/>
                </a:solidFill>
                <a:latin typeface="Calibri"/>
              </a:rPr>
              <a:t>No tickets, outages or NPS to validate against</a:t>
            </a:r>
          </a:p>
        </p:txBody>
      </p:sp>
      <p:sp>
        <p:nvSpPr>
          <p:cNvPr id="7" name="Rounded Rectangle 6"/>
          <p:cNvSpPr/>
          <p:nvPr/>
        </p:nvSpPr>
        <p:spPr>
          <a:xfrm>
            <a:off x="6217920" y="1691640"/>
            <a:ext cx="5422392" cy="39319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20240"/>
            <a:ext cx="4846320" cy="457200"/>
          </a:xfrm>
          <a:prstGeom prst="rect">
            <a:avLst/>
          </a:prstGeom>
          <a:noFill/>
        </p:spPr>
        <p:txBody>
          <a:bodyPr wrap="square" lIns="0" rIns="0" tIns="0" bIns="0" anchor="t">
            <a:spAutoFit/>
          </a:bodyPr>
          <a:lstStyle/>
          <a:p>
            <a:pPr algn="l">
              <a:spcAft>
                <a:spcPts val="600"/>
              </a:spcAft>
            </a:pPr>
            <a:r>
              <a:rPr sz="2200" b="1" i="0">
                <a:solidFill>
                  <a:srgbClr val="1C2E6E"/>
                </a:solidFill>
                <a:latin typeface="Calibri"/>
              </a:rPr>
              <a:t>Method</a:t>
            </a:r>
          </a:p>
        </p:txBody>
      </p:sp>
      <p:sp>
        <p:nvSpPr>
          <p:cNvPr id="9" name="TextBox 8"/>
          <p:cNvSpPr txBox="1"/>
          <p:nvPr/>
        </p:nvSpPr>
        <p:spPr>
          <a:xfrm>
            <a:off x="6492240" y="2560320"/>
            <a:ext cx="4892040" cy="2926080"/>
          </a:xfrm>
          <a:prstGeom prst="rect">
            <a:avLst/>
          </a:prstGeom>
          <a:noFill/>
        </p:spPr>
        <p:txBody>
          <a:bodyPr wrap="square" lIns="0" rIns="0" tIns="0" bIns="0" anchor="t">
            <a:spAutoFit/>
          </a:bodyPr>
          <a:lstStyle/>
          <a:p>
            <a:pPr algn="l" marL="256032" indent="-256032">
              <a:spcAft>
                <a:spcPts val="1400"/>
              </a:spcAft>
              <a:buClr>
                <a:srgbClr val="D29B08"/>
              </a:buClr>
              <a:buFont typeface="Arial"/>
              <a:buChar char="•"/>
            </a:pPr>
            <a:r>
              <a:rPr sz="1700" b="0" i="0">
                <a:solidFill>
                  <a:srgbClr val="1E293B"/>
                </a:solidFill>
                <a:latin typeface="Calibri"/>
              </a:rPr>
              <a:t>Mini matches humans on ~2/3 of posts; humans agree at κ 0.57</a:t>
            </a:r>
          </a:p>
          <a:p>
            <a:pPr algn="l" marL="256032" indent="-256032">
              <a:spcAft>
                <a:spcPts val="1400"/>
              </a:spcAft>
              <a:buClr>
                <a:srgbClr val="D29B08"/>
              </a:buClr>
              <a:buFont typeface="Arial"/>
              <a:buChar char="•"/>
            </a:pPr>
            <a:r>
              <a:rPr sz="1700" b="0" i="0">
                <a:solidFill>
                  <a:srgbClr val="1E293B"/>
                </a:solidFill>
                <a:latin typeface="Calibri"/>
              </a:rPr>
              <a:t>Hybrid’s 0.680 is optimistic (0.509 held out)</a:t>
            </a:r>
          </a:p>
          <a:p>
            <a:pPr algn="l" marL="256032" indent="-256032">
              <a:spcAft>
                <a:spcPts val="1400"/>
              </a:spcAft>
              <a:buClr>
                <a:srgbClr val="D29B08"/>
              </a:buClr>
              <a:buFont typeface="Arial"/>
              <a:buChar char="•"/>
            </a:pPr>
            <a:r>
              <a:rPr sz="1700" b="0" i="0">
                <a:solidFill>
                  <a:srgbClr val="1E293B"/>
                </a:solidFill>
                <a:latin typeface="Calibri"/>
              </a:rPr>
              <a:t>2,606 corpus reassignments not human-checked</a:t>
            </a:r>
          </a:p>
          <a:p>
            <a:pPr algn="l" marL="256032" indent="-256032">
              <a:spcAft>
                <a:spcPts val="1400"/>
              </a:spcAft>
              <a:buClr>
                <a:srgbClr val="D29B08"/>
              </a:buClr>
              <a:buFont typeface="Arial"/>
              <a:buChar char="•"/>
            </a:pPr>
            <a:r>
              <a:rPr sz="1700" b="0" i="0">
                <a:solidFill>
                  <a:srgbClr val="1E293B"/>
                </a:solidFill>
                <a:latin typeface="Calibri"/>
              </a:rPr>
              <a:t>One sentiment is copied to every brand in a post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Next steps, in order</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27</a:t>
            </a:r>
          </a:p>
        </p:txBody>
      </p:sp>
      <p:sp>
        <p:nvSpPr>
          <p:cNvPr id="4" name="Rounded Rectangle 3"/>
          <p:cNvSpPr/>
          <p:nvPr/>
        </p:nvSpPr>
        <p:spPr>
          <a:xfrm>
            <a:off x="548640" y="1920240"/>
            <a:ext cx="2601468" cy="329184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194560"/>
            <a:ext cx="731520" cy="73152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a:solidFill>
                  <a:srgbClr val="FFFFFF"/>
                </a:solidFill>
                <a:latin typeface="Calibri"/>
              </a:rPr>
              <a:t>1</a:t>
            </a:r>
          </a:p>
        </p:txBody>
      </p:sp>
      <p:sp>
        <p:nvSpPr>
          <p:cNvPr id="6" name="TextBox 5"/>
          <p:cNvSpPr txBox="1"/>
          <p:nvPr/>
        </p:nvSpPr>
        <p:spPr>
          <a:xfrm>
            <a:off x="822959" y="3200400"/>
            <a:ext cx="2052828" cy="822960"/>
          </a:xfrm>
          <a:prstGeom prst="rect">
            <a:avLst/>
          </a:prstGeom>
          <a:noFill/>
        </p:spPr>
        <p:txBody>
          <a:bodyPr wrap="square" lIns="0" rIns="0" tIns="0" bIns="0" anchor="t">
            <a:spAutoFit/>
          </a:bodyPr>
          <a:lstStyle/>
          <a:p>
            <a:pPr algn="l">
              <a:spcAft>
                <a:spcPts val="600"/>
              </a:spcAft>
            </a:pPr>
            <a:r>
              <a:rPr sz="1900" b="1" i="0">
                <a:solidFill>
                  <a:srgbClr val="1C2E6E"/>
                </a:solidFill>
                <a:latin typeface="Calibri"/>
              </a:rPr>
              <a:t>Agreement</a:t>
            </a:r>
          </a:p>
        </p:txBody>
      </p:sp>
      <p:sp>
        <p:nvSpPr>
          <p:cNvPr id="7" name="TextBox 6"/>
          <p:cNvSpPr txBox="1"/>
          <p:nvPr/>
        </p:nvSpPr>
        <p:spPr>
          <a:xfrm>
            <a:off x="822959" y="4023360"/>
            <a:ext cx="2052828" cy="1097280"/>
          </a:xfrm>
          <a:prstGeom prst="rect">
            <a:avLst/>
          </a:prstGeom>
          <a:noFill/>
        </p:spPr>
        <p:txBody>
          <a:bodyPr wrap="square" lIns="0" rIns="0" tIns="0" bIns="0" anchor="t">
            <a:spAutoFit/>
          </a:bodyPr>
          <a:lstStyle/>
          <a:p>
            <a:pPr algn="l">
              <a:spcAft>
                <a:spcPts val="600"/>
              </a:spcAft>
            </a:pPr>
            <a:r>
              <a:rPr sz="1600" b="0" i="0">
                <a:solidFill>
                  <a:srgbClr val="1E293B"/>
                </a:solidFill>
                <a:latin typeface="Calibri"/>
              </a:rPr>
              <a:t>Confirm annotator B’s independence; adjudicate in a new file</a:t>
            </a:r>
          </a:p>
        </p:txBody>
      </p:sp>
      <p:sp>
        <p:nvSpPr>
          <p:cNvPr id="8" name="Rounded Rectangle 7"/>
          <p:cNvSpPr/>
          <p:nvPr/>
        </p:nvSpPr>
        <p:spPr>
          <a:xfrm>
            <a:off x="3378708" y="1920240"/>
            <a:ext cx="2601468" cy="329184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53028" y="2194560"/>
            <a:ext cx="731520" cy="73152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a:solidFill>
                  <a:srgbClr val="FFFFFF"/>
                </a:solidFill>
                <a:latin typeface="Calibri"/>
              </a:rPr>
              <a:t>2</a:t>
            </a:r>
          </a:p>
        </p:txBody>
      </p:sp>
      <p:sp>
        <p:nvSpPr>
          <p:cNvPr id="10" name="TextBox 9"/>
          <p:cNvSpPr txBox="1"/>
          <p:nvPr/>
        </p:nvSpPr>
        <p:spPr>
          <a:xfrm>
            <a:off x="3653028" y="3200400"/>
            <a:ext cx="2052828" cy="822960"/>
          </a:xfrm>
          <a:prstGeom prst="rect">
            <a:avLst/>
          </a:prstGeom>
          <a:noFill/>
        </p:spPr>
        <p:txBody>
          <a:bodyPr wrap="square" lIns="0" rIns="0" tIns="0" bIns="0" anchor="t">
            <a:spAutoFit/>
          </a:bodyPr>
          <a:lstStyle/>
          <a:p>
            <a:pPr algn="l">
              <a:spcAft>
                <a:spcPts val="600"/>
              </a:spcAft>
            </a:pPr>
            <a:r>
              <a:rPr sz="1900" b="1" i="0">
                <a:solidFill>
                  <a:srgbClr val="1C2E6E"/>
                </a:solidFill>
                <a:latin typeface="Calibri"/>
              </a:rPr>
              <a:t>Fresh held-out test</a:t>
            </a:r>
          </a:p>
        </p:txBody>
      </p:sp>
      <p:sp>
        <p:nvSpPr>
          <p:cNvPr id="11" name="TextBox 10"/>
          <p:cNvSpPr txBox="1"/>
          <p:nvPr/>
        </p:nvSpPr>
        <p:spPr>
          <a:xfrm>
            <a:off x="3653028" y="4023360"/>
            <a:ext cx="2052828" cy="1097280"/>
          </a:xfrm>
          <a:prstGeom prst="rect">
            <a:avLst/>
          </a:prstGeom>
          <a:noFill/>
        </p:spPr>
        <p:txBody>
          <a:bodyPr wrap="square" lIns="0" rIns="0" tIns="0" bIns="0" anchor="t">
            <a:spAutoFit/>
          </a:bodyPr>
          <a:lstStyle/>
          <a:p>
            <a:pPr algn="l">
              <a:spcAft>
                <a:spcPts val="600"/>
              </a:spcAft>
            </a:pPr>
            <a:r>
              <a:rPr sz="1600" b="0" i="0">
                <a:solidFill>
                  <a:srgbClr val="1E293B"/>
                </a:solidFill>
                <a:latin typeface="Calibri"/>
              </a:rPr>
              <a:t>Hybrid vs GPT-4o on every post, on new posts</a:t>
            </a:r>
          </a:p>
        </p:txBody>
      </p:sp>
      <p:sp>
        <p:nvSpPr>
          <p:cNvPr id="12" name="Rounded Rectangle 11"/>
          <p:cNvSpPr/>
          <p:nvPr/>
        </p:nvSpPr>
        <p:spPr>
          <a:xfrm>
            <a:off x="6208776" y="1920240"/>
            <a:ext cx="2601468" cy="329184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3096" y="2194560"/>
            <a:ext cx="731520" cy="73152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a:solidFill>
                  <a:srgbClr val="FFFFFF"/>
                </a:solidFill>
                <a:latin typeface="Calibri"/>
              </a:rPr>
              <a:t>3</a:t>
            </a:r>
          </a:p>
        </p:txBody>
      </p:sp>
      <p:sp>
        <p:nvSpPr>
          <p:cNvPr id="14" name="TextBox 13"/>
          <p:cNvSpPr txBox="1"/>
          <p:nvPr/>
        </p:nvSpPr>
        <p:spPr>
          <a:xfrm>
            <a:off x="6483096" y="3200400"/>
            <a:ext cx="2052828" cy="822960"/>
          </a:xfrm>
          <a:prstGeom prst="rect">
            <a:avLst/>
          </a:prstGeom>
          <a:noFill/>
        </p:spPr>
        <p:txBody>
          <a:bodyPr wrap="square" lIns="0" rIns="0" tIns="0" bIns="0" anchor="t">
            <a:spAutoFit/>
          </a:bodyPr>
          <a:lstStyle/>
          <a:p>
            <a:pPr algn="l">
              <a:spcAft>
                <a:spcPts val="600"/>
              </a:spcAft>
            </a:pPr>
            <a:r>
              <a:rPr sz="1900" b="1" i="0">
                <a:solidFill>
                  <a:srgbClr val="1C2E6E"/>
                </a:solidFill>
                <a:latin typeface="Calibri"/>
              </a:rPr>
              <a:t>Beyond the outage</a:t>
            </a:r>
          </a:p>
        </p:txBody>
      </p:sp>
      <p:sp>
        <p:nvSpPr>
          <p:cNvPr id="15" name="TextBox 14"/>
          <p:cNvSpPr txBox="1"/>
          <p:nvPr/>
        </p:nvSpPr>
        <p:spPr>
          <a:xfrm>
            <a:off x="6483096" y="4023360"/>
            <a:ext cx="2052828" cy="1097280"/>
          </a:xfrm>
          <a:prstGeom prst="rect">
            <a:avLst/>
          </a:prstGeom>
          <a:noFill/>
        </p:spPr>
        <p:txBody>
          <a:bodyPr wrap="square" lIns="0" rIns="0" tIns="0" bIns="0" anchor="t">
            <a:spAutoFit/>
          </a:bodyPr>
          <a:lstStyle/>
          <a:p>
            <a:pPr algn="l">
              <a:spcAft>
                <a:spcPts val="600"/>
              </a:spcAft>
            </a:pPr>
            <a:r>
              <a:rPr sz="1600" b="0" i="0">
                <a:solidFill>
                  <a:srgbClr val="1E293B"/>
                </a:solidFill>
                <a:latin typeface="Calibri"/>
              </a:rPr>
              <a:t>More HWZ threads 2024–2026 and more MVNOs</a:t>
            </a:r>
          </a:p>
        </p:txBody>
      </p:sp>
      <p:sp>
        <p:nvSpPr>
          <p:cNvPr id="16" name="Rounded Rectangle 15"/>
          <p:cNvSpPr/>
          <p:nvPr/>
        </p:nvSpPr>
        <p:spPr>
          <a:xfrm>
            <a:off x="9038844" y="1920240"/>
            <a:ext cx="2601468" cy="329184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313164" y="2194560"/>
            <a:ext cx="731520" cy="73152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a:solidFill>
                  <a:srgbClr val="FFFFFF"/>
                </a:solidFill>
                <a:latin typeface="Calibri"/>
              </a:rPr>
              <a:t>4</a:t>
            </a:r>
          </a:p>
        </p:txBody>
      </p:sp>
      <p:sp>
        <p:nvSpPr>
          <p:cNvPr id="18" name="TextBox 17"/>
          <p:cNvSpPr txBox="1"/>
          <p:nvPr/>
        </p:nvSpPr>
        <p:spPr>
          <a:xfrm>
            <a:off x="9313164" y="3200400"/>
            <a:ext cx="2052828" cy="822960"/>
          </a:xfrm>
          <a:prstGeom prst="rect">
            <a:avLst/>
          </a:prstGeom>
          <a:noFill/>
        </p:spPr>
        <p:txBody>
          <a:bodyPr wrap="square" lIns="0" rIns="0" tIns="0" bIns="0" anchor="t">
            <a:spAutoFit/>
          </a:bodyPr>
          <a:lstStyle/>
          <a:p>
            <a:pPr algn="l">
              <a:spcAft>
                <a:spcPts val="600"/>
              </a:spcAft>
            </a:pPr>
            <a:r>
              <a:rPr sz="1900" b="1" i="0">
                <a:solidFill>
                  <a:srgbClr val="1C2E6E"/>
                </a:solidFill>
                <a:latin typeface="Calibri"/>
              </a:rPr>
              <a:t>Brand-level sentiment</a:t>
            </a:r>
          </a:p>
        </p:txBody>
      </p:sp>
      <p:sp>
        <p:nvSpPr>
          <p:cNvPr id="19" name="TextBox 18"/>
          <p:cNvSpPr txBox="1"/>
          <p:nvPr/>
        </p:nvSpPr>
        <p:spPr>
          <a:xfrm>
            <a:off x="9313164" y="4023360"/>
            <a:ext cx="2052828" cy="1097280"/>
          </a:xfrm>
          <a:prstGeom prst="rect">
            <a:avLst/>
          </a:prstGeom>
          <a:noFill/>
        </p:spPr>
        <p:txBody>
          <a:bodyPr wrap="square" lIns="0" rIns="0" tIns="0" bIns="0" anchor="t">
            <a:spAutoFit/>
          </a:bodyPr>
          <a:lstStyle/>
          <a:p>
            <a:pPr algn="l">
              <a:spcAft>
                <a:spcPts val="600"/>
              </a:spcAft>
            </a:pPr>
            <a:r>
              <a:rPr sz="1600" b="0" i="0">
                <a:solidFill>
                  <a:srgbClr val="1E293B"/>
                </a:solidFill>
                <a:latin typeface="Calibri"/>
              </a:rPr>
              <a:t>One label per brand per post; validate against tickets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28</a:t>
            </a:r>
          </a:p>
        </p:txBody>
      </p:sp>
      <p:sp>
        <p:nvSpPr>
          <p:cNvPr id="3" name="TextBox 2"/>
          <p:cNvSpPr txBox="1"/>
          <p:nvPr/>
        </p:nvSpPr>
        <p:spPr>
          <a:xfrm>
            <a:off x="822959" y="1828800"/>
            <a:ext cx="10515600" cy="1097280"/>
          </a:xfrm>
          <a:prstGeom prst="rect">
            <a:avLst/>
          </a:prstGeom>
          <a:noFill/>
        </p:spPr>
        <p:txBody>
          <a:bodyPr wrap="square" lIns="0" rIns="0" tIns="0" bIns="0" anchor="t">
            <a:spAutoFit/>
          </a:bodyPr>
          <a:lstStyle/>
          <a:p>
            <a:pPr algn="l">
              <a:spcAft>
                <a:spcPts val="600"/>
              </a:spcAft>
            </a:pPr>
            <a:r>
              <a:rPr sz="4800" b="1" i="0">
                <a:solidFill>
                  <a:srgbClr val="1C2E6E"/>
                </a:solidFill>
                <a:latin typeface="Calibri"/>
              </a:rPr>
              <a:t>Thank you</a:t>
            </a:r>
          </a:p>
        </p:txBody>
      </p:sp>
      <p:sp>
        <p:nvSpPr>
          <p:cNvPr id="4" name="TextBox 3"/>
          <p:cNvSpPr txBox="1"/>
          <p:nvPr/>
        </p:nvSpPr>
        <p:spPr>
          <a:xfrm>
            <a:off x="822959" y="2926080"/>
            <a:ext cx="10515600" cy="640080"/>
          </a:xfrm>
          <a:prstGeom prst="rect">
            <a:avLst/>
          </a:prstGeom>
          <a:noFill/>
        </p:spPr>
        <p:txBody>
          <a:bodyPr wrap="square" lIns="0" rIns="0" tIns="0" bIns="0" anchor="t">
            <a:spAutoFit/>
          </a:bodyPr>
          <a:lstStyle/>
          <a:p>
            <a:pPr algn="l">
              <a:spcAft>
                <a:spcPts val="600"/>
              </a:spcAft>
            </a:pPr>
            <a:r>
              <a:rPr sz="2400" b="0" i="0">
                <a:solidFill>
                  <a:srgbClr val="5B6475"/>
                </a:solidFill>
                <a:latin typeface="Calibri"/>
              </a:rPr>
              <a:t>Questions and discussion</a:t>
            </a:r>
          </a:p>
        </p:txBody>
      </p:sp>
      <p:sp>
        <p:nvSpPr>
          <p:cNvPr id="5" name="Pentagon 4"/>
          <p:cNvSpPr/>
          <p:nvPr/>
        </p:nvSpPr>
        <p:spPr>
          <a:xfrm>
            <a:off x="822959" y="4023360"/>
            <a:ext cx="3547872" cy="1005840"/>
          </a:xfrm>
          <a:prstGeom prst="homePlate">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LLM for sentiment</a:t>
            </a:r>
          </a:p>
        </p:txBody>
      </p:sp>
      <p:sp>
        <p:nvSpPr>
          <p:cNvPr id="6" name="Chevron 5"/>
          <p:cNvSpPr/>
          <p:nvPr/>
        </p:nvSpPr>
        <p:spPr>
          <a:xfrm>
            <a:off x="4443984" y="4023360"/>
            <a:ext cx="3547872" cy="100584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Rules + targeted GPT-4o for issues</a:t>
            </a:r>
          </a:p>
        </p:txBody>
      </p:sp>
      <p:sp>
        <p:nvSpPr>
          <p:cNvPr id="7" name="Chevron 6"/>
          <p:cNvSpPr/>
          <p:nvPr/>
        </p:nvSpPr>
        <p:spPr>
          <a:xfrm>
            <a:off x="8065008" y="4023360"/>
            <a:ext cx="3547872" cy="100584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People decide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4800" b="1">
                <a:solidFill>
                  <a:srgbClr val="FFFFFF"/>
                </a:solidFill>
                <a:latin typeface="Calibri"/>
              </a:rPr>
              <a:t>Q</a:t>
            </a:r>
          </a:p>
        </p:txBody>
      </p:sp>
      <p:sp>
        <p:nvSpPr>
          <p:cNvPr id="3" name="TextBox 2"/>
          <p:cNvSpPr txBox="1"/>
          <p:nvPr/>
        </p:nvSpPr>
        <p:spPr>
          <a:xfrm>
            <a:off x="2423160" y="2011680"/>
            <a:ext cx="8686800" cy="822960"/>
          </a:xfrm>
          <a:prstGeom prst="rect">
            <a:avLst/>
          </a:prstGeom>
          <a:noFill/>
        </p:spPr>
        <p:txBody>
          <a:bodyPr wrap="square" lIns="0" rIns="0" tIns="0" bIns="0" anchor="t">
            <a:spAutoFit/>
          </a:bodyPr>
          <a:lstStyle/>
          <a:p>
            <a:pPr algn="l">
              <a:spcAft>
                <a:spcPts val="600"/>
              </a:spcAft>
            </a:pPr>
            <a:r>
              <a:rPr sz="4000" b="1" i="0">
                <a:solidFill>
                  <a:srgbClr val="1C2E6E"/>
                </a:solidFill>
                <a:latin typeface="Calibri"/>
              </a:rPr>
              <a:t>Backup: anticipated questions</a:t>
            </a:r>
          </a:p>
        </p:txBody>
      </p:sp>
      <p:sp>
        <p:nvSpPr>
          <p:cNvPr id="4" name="TextBox 3"/>
          <p:cNvSpPr txBox="1"/>
          <p:nvPr/>
        </p:nvSpPr>
        <p:spPr>
          <a:xfrm>
            <a:off x="2423160" y="2834640"/>
            <a:ext cx="8686800" cy="548640"/>
          </a:xfrm>
          <a:prstGeom prst="rect">
            <a:avLst/>
          </a:prstGeom>
          <a:noFill/>
        </p:spPr>
        <p:txBody>
          <a:bodyPr wrap="square" lIns="0" rIns="0" tIns="0" bIns="0" anchor="t">
            <a:spAutoFit/>
          </a:bodyPr>
          <a:lstStyle/>
          <a:p>
            <a:pPr algn="l">
              <a:spcAft>
                <a:spcPts val="600"/>
              </a:spcAft>
            </a:pPr>
            <a:r>
              <a:rPr sz="2000" b="0" i="0">
                <a:solidFill>
                  <a:srgbClr val="5B6475"/>
                </a:solidFill>
                <a:latin typeface="Calibri"/>
              </a:rPr>
              <a:t>Short answers, with the evidence behind them</a:t>
            </a:r>
          </a:p>
        </p:txBody>
      </p:sp>
      <p:sp>
        <p:nvSpPr>
          <p:cNvPr id="5" name="TextBox 4"/>
          <p:cNvSpPr txBox="1"/>
          <p:nvPr/>
        </p:nvSpPr>
        <p:spPr>
          <a:xfrm>
            <a:off x="2423160" y="3520440"/>
            <a:ext cx="8686800" cy="365760"/>
          </a:xfrm>
          <a:prstGeom prst="rect">
            <a:avLst/>
          </a:prstGeom>
          <a:noFill/>
        </p:spPr>
        <p:txBody>
          <a:bodyPr wrap="square" lIns="0" rIns="0" tIns="0" bIns="0" anchor="t">
            <a:spAutoFit/>
          </a:bodyPr>
          <a:lstStyle/>
          <a:p>
            <a:pPr algn="l">
              <a:spcAft>
                <a:spcPts val="600"/>
              </a:spcAft>
            </a:pPr>
            <a:r>
              <a:rPr sz="1600" b="1" i="0">
                <a:solidFill>
                  <a:srgbClr val="D29B08"/>
                </a:solidFill>
                <a:latin typeface="Calibri"/>
              </a:rPr>
              <a:t>For Q&amp;A</a:t>
            </a:r>
          </a:p>
        </p:txBody>
      </p:sp>
      <p:sp>
        <p:nvSpPr>
          <p:cNvPr id="6" name="TextBox 5"/>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Anticipated questions (1 of 3)</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30</a:t>
            </a:r>
          </a:p>
        </p:txBody>
      </p:sp>
      <p:sp>
        <p:nvSpPr>
          <p:cNvPr id="4" name="Rounded Rectangle 3"/>
          <p:cNvSpPr/>
          <p:nvPr/>
        </p:nvSpPr>
        <p:spPr>
          <a:xfrm>
            <a:off x="548640" y="164592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83080"/>
            <a:ext cx="3474720" cy="1143000"/>
          </a:xfrm>
          <a:prstGeom prst="rect">
            <a:avLst/>
          </a:prstGeom>
          <a:noFill/>
        </p:spPr>
        <p:txBody>
          <a:bodyPr wrap="square" lIns="0" rIns="0" tIns="0" bIns="0" anchor="ctr">
            <a:spAutoFit/>
          </a:bodyPr>
          <a:lstStyle/>
          <a:p>
            <a:pPr algn="l">
              <a:spcAft>
                <a:spcPts val="600"/>
              </a:spcAft>
            </a:pPr>
            <a:r>
              <a:rPr sz="1700" b="1" i="0">
                <a:solidFill>
                  <a:srgbClr val="1C2E6E"/>
                </a:solidFill>
                <a:latin typeface="Calibri"/>
              </a:rPr>
              <a:t>Why not use GPT-4o for everything?</a:t>
            </a:r>
          </a:p>
        </p:txBody>
      </p:sp>
      <p:sp>
        <p:nvSpPr>
          <p:cNvPr id="6" name="TextBox 5"/>
          <p:cNvSpPr txBox="1"/>
          <p:nvPr/>
        </p:nvSpPr>
        <p:spPr>
          <a:xfrm>
            <a:off x="4572000" y="1783080"/>
            <a:ext cx="6858000" cy="1143000"/>
          </a:xfrm>
          <a:prstGeom prst="rect">
            <a:avLst/>
          </a:prstGeom>
          <a:noFill/>
        </p:spPr>
        <p:txBody>
          <a:bodyPr wrap="square" lIns="0" rIns="0" tIns="0" bIns="0" anchor="ctr">
            <a:spAutoFit/>
          </a:bodyPr>
          <a:lstStyle/>
          <a:p>
            <a:pPr algn="l">
              <a:spcAft>
                <a:spcPts val="600"/>
              </a:spcAft>
            </a:pPr>
            <a:r>
              <a:rPr sz="1500" b="0" i="0">
                <a:solidFill>
                  <a:srgbClr val="1E293B"/>
                </a:solidFill>
                <a:latin typeface="Calibri"/>
              </a:rPr>
              <a:t>On typical posts GPT-4o on every post ties rules (0.600 vs 0.639) and costs ~17× mini. On hard posts it wins (0.596 vs 0.499). At ~$0.0005 a post it’s affordable on a deduplicated feed; I’d settle it on fresh held-out data.</a:t>
            </a:r>
          </a:p>
        </p:txBody>
      </p:sp>
      <p:sp>
        <p:nvSpPr>
          <p:cNvPr id="7" name="Rounded Rectangle 6"/>
          <p:cNvSpPr/>
          <p:nvPr/>
        </p:nvSpPr>
        <p:spPr>
          <a:xfrm>
            <a:off x="548640" y="3200400"/>
            <a:ext cx="11091672" cy="1417320"/>
          </a:xfrm>
          <a:prstGeom prst="roundRect">
            <a:avLst>
              <a:gd name="adj" fmla="val 6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337560"/>
            <a:ext cx="3474720" cy="1143000"/>
          </a:xfrm>
          <a:prstGeom prst="rect">
            <a:avLst/>
          </a:prstGeom>
          <a:noFill/>
        </p:spPr>
        <p:txBody>
          <a:bodyPr wrap="square" lIns="0" rIns="0" tIns="0" bIns="0" anchor="ctr">
            <a:spAutoFit/>
          </a:bodyPr>
          <a:lstStyle/>
          <a:p>
            <a:pPr algn="l">
              <a:spcAft>
                <a:spcPts val="600"/>
              </a:spcAft>
            </a:pPr>
            <a:r>
              <a:rPr sz="1700" b="1" i="0">
                <a:solidFill>
                  <a:srgbClr val="1C2E6E"/>
                </a:solidFill>
                <a:latin typeface="Calibri"/>
              </a:rPr>
              <a:t>Is the hybrid’s gain real?</a:t>
            </a:r>
          </a:p>
        </p:txBody>
      </p:sp>
      <p:sp>
        <p:nvSpPr>
          <p:cNvPr id="9" name="TextBox 8"/>
          <p:cNvSpPr txBox="1"/>
          <p:nvPr/>
        </p:nvSpPr>
        <p:spPr>
          <a:xfrm>
            <a:off x="4572000" y="3337560"/>
            <a:ext cx="6858000" cy="1143000"/>
          </a:xfrm>
          <a:prstGeom prst="rect">
            <a:avLst/>
          </a:prstGeom>
          <a:noFill/>
        </p:spPr>
        <p:txBody>
          <a:bodyPr wrap="square" lIns="0" rIns="0" tIns="0" bIns="0" anchor="ctr">
            <a:spAutoFit/>
          </a:bodyPr>
          <a:lstStyle/>
          <a:p>
            <a:pPr algn="l">
              <a:spcAft>
                <a:spcPts val="600"/>
              </a:spcAft>
            </a:pPr>
            <a:r>
              <a:rPr sz="1500" b="0" i="0">
                <a:solidFill>
                  <a:srgbClr val="1E293B"/>
                </a:solidFill>
                <a:latin typeface="Calibri"/>
              </a:rPr>
              <a:t>On the set I tuned it on, yes: +0.041, 95% CI +0.011 to +0.072. On the held-out challenge set, no: +0.010, CI −0.04 to +0.07. So I report 0.680 as optimistic.</a:t>
            </a:r>
          </a:p>
        </p:txBody>
      </p:sp>
      <p:sp>
        <p:nvSpPr>
          <p:cNvPr id="10" name="Rounded Rectangle 9"/>
          <p:cNvSpPr/>
          <p:nvPr/>
        </p:nvSpPr>
        <p:spPr>
          <a:xfrm>
            <a:off x="548640" y="475488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4892040"/>
            <a:ext cx="3474720" cy="1143000"/>
          </a:xfrm>
          <a:prstGeom prst="rect">
            <a:avLst/>
          </a:prstGeom>
          <a:noFill/>
        </p:spPr>
        <p:txBody>
          <a:bodyPr wrap="square" lIns="0" rIns="0" tIns="0" bIns="0" anchor="ctr">
            <a:spAutoFit/>
          </a:bodyPr>
          <a:lstStyle/>
          <a:p>
            <a:pPr algn="l">
              <a:spcAft>
                <a:spcPts val="600"/>
              </a:spcAft>
            </a:pPr>
            <a:r>
              <a:rPr sz="1700" b="1" i="0">
                <a:solidFill>
                  <a:srgbClr val="1C2E6E"/>
                </a:solidFill>
                <a:latin typeface="Calibri"/>
              </a:rPr>
              <a:t>How reliable are your labels?</a:t>
            </a:r>
          </a:p>
        </p:txBody>
      </p:sp>
      <p:sp>
        <p:nvSpPr>
          <p:cNvPr id="12" name="TextBox 11"/>
          <p:cNvSpPr txBox="1"/>
          <p:nvPr/>
        </p:nvSpPr>
        <p:spPr>
          <a:xfrm>
            <a:off x="4572000" y="4892040"/>
            <a:ext cx="6858000" cy="1143000"/>
          </a:xfrm>
          <a:prstGeom prst="rect">
            <a:avLst/>
          </a:prstGeom>
          <a:noFill/>
        </p:spPr>
        <p:txBody>
          <a:bodyPr wrap="square" lIns="0" rIns="0" tIns="0" bIns="0" anchor="ctr">
            <a:spAutoFit/>
          </a:bodyPr>
          <a:lstStyle/>
          <a:p>
            <a:pPr algn="l">
              <a:spcAft>
                <a:spcPts val="600"/>
              </a:spcAft>
            </a:pPr>
            <a:r>
              <a:rPr sz="1500" b="0" i="0">
                <a:solidFill>
                  <a:srgbClr val="1E293B"/>
                </a:solidFill>
                <a:latin typeface="Calibri"/>
              </a:rPr>
              <a:t>Headline metrics use one annotator. Two annotators agree at κ 0.57 on representative posts. Challenge agreement (0.76) is unusually high, so I’m confirming it was independent.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Anticipated questions (2 of 3)</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31</a:t>
            </a:r>
          </a:p>
        </p:txBody>
      </p:sp>
      <p:sp>
        <p:nvSpPr>
          <p:cNvPr id="4" name="Rounded Rectangle 3"/>
          <p:cNvSpPr/>
          <p:nvPr/>
        </p:nvSpPr>
        <p:spPr>
          <a:xfrm>
            <a:off x="548640" y="164592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83080"/>
            <a:ext cx="3474720" cy="1143000"/>
          </a:xfrm>
          <a:prstGeom prst="rect">
            <a:avLst/>
          </a:prstGeom>
          <a:noFill/>
        </p:spPr>
        <p:txBody>
          <a:bodyPr wrap="square" lIns="0" rIns="0" tIns="0" bIns="0" anchor="ctr">
            <a:spAutoFit/>
          </a:bodyPr>
          <a:lstStyle/>
          <a:p>
            <a:pPr algn="l">
              <a:spcAft>
                <a:spcPts val="600"/>
              </a:spcAft>
            </a:pPr>
            <a:r>
              <a:rPr sz="1700" b="1" i="0">
                <a:solidFill>
                  <a:srgbClr val="1C2E6E"/>
                </a:solidFill>
                <a:latin typeface="Calibri"/>
              </a:rPr>
              <a:t>How good is GPT-4o-mini on the corpus?</a:t>
            </a:r>
          </a:p>
        </p:txBody>
      </p:sp>
      <p:sp>
        <p:nvSpPr>
          <p:cNvPr id="6" name="TextBox 5"/>
          <p:cNvSpPr txBox="1"/>
          <p:nvPr/>
        </p:nvSpPr>
        <p:spPr>
          <a:xfrm>
            <a:off x="4572000" y="1783080"/>
            <a:ext cx="6858000" cy="1143000"/>
          </a:xfrm>
          <a:prstGeom prst="rect">
            <a:avLst/>
          </a:prstGeom>
          <a:noFill/>
        </p:spPr>
        <p:txBody>
          <a:bodyPr wrap="square" lIns="0" rIns="0" tIns="0" bIns="0" anchor="ctr">
            <a:spAutoFit/>
          </a:bodyPr>
          <a:lstStyle/>
          <a:p>
            <a:pPr algn="l">
              <a:spcAft>
                <a:spcPts val="600"/>
              </a:spcAft>
            </a:pPr>
            <a:r>
              <a:rPr sz="1500" b="0" i="0">
                <a:solidFill>
                  <a:srgbClr val="1E293B"/>
                </a:solidFill>
                <a:latin typeface="Calibri"/>
              </a:rPr>
              <a:t>It matches humans on ~2/3 of gold posts (F1 0.631), its corpus shares (18/55/27) sit near the gold shares (18/50/32), and a rerun reproduced 292 of 295 labels.</a:t>
            </a:r>
          </a:p>
        </p:txBody>
      </p:sp>
      <p:sp>
        <p:nvSpPr>
          <p:cNvPr id="7" name="Rounded Rectangle 6"/>
          <p:cNvSpPr/>
          <p:nvPr/>
        </p:nvSpPr>
        <p:spPr>
          <a:xfrm>
            <a:off x="548640" y="3200400"/>
            <a:ext cx="11091672" cy="1417320"/>
          </a:xfrm>
          <a:prstGeom prst="roundRect">
            <a:avLst>
              <a:gd name="adj" fmla="val 6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337560"/>
            <a:ext cx="3474720" cy="1143000"/>
          </a:xfrm>
          <a:prstGeom prst="rect">
            <a:avLst/>
          </a:prstGeom>
          <a:noFill/>
        </p:spPr>
        <p:txBody>
          <a:bodyPr wrap="square" lIns="0" rIns="0" tIns="0" bIns="0" anchor="ctr">
            <a:spAutoFit/>
          </a:bodyPr>
          <a:lstStyle/>
          <a:p>
            <a:pPr algn="l">
              <a:spcAft>
                <a:spcPts val="600"/>
              </a:spcAft>
            </a:pPr>
            <a:r>
              <a:rPr sz="1700" b="1" i="0">
                <a:solidFill>
                  <a:srgbClr val="1C2E6E"/>
                </a:solidFill>
                <a:latin typeface="Calibri"/>
              </a:rPr>
              <a:t>How do you handle sarcasm and Singlish?</a:t>
            </a:r>
          </a:p>
        </p:txBody>
      </p:sp>
      <p:sp>
        <p:nvSpPr>
          <p:cNvPr id="9" name="TextBox 8"/>
          <p:cNvSpPr txBox="1"/>
          <p:nvPr/>
        </p:nvSpPr>
        <p:spPr>
          <a:xfrm>
            <a:off x="4572000" y="3337560"/>
            <a:ext cx="6858000" cy="1143000"/>
          </a:xfrm>
          <a:prstGeom prst="rect">
            <a:avLst/>
          </a:prstGeom>
          <a:noFill/>
        </p:spPr>
        <p:txBody>
          <a:bodyPr wrap="square" lIns="0" rIns="0" tIns="0" bIns="0" anchor="ctr">
            <a:spAutoFit/>
          </a:bodyPr>
          <a:lstStyle/>
          <a:p>
            <a:pPr algn="l">
              <a:spcAft>
                <a:spcPts val="600"/>
              </a:spcAft>
            </a:pPr>
            <a:r>
              <a:rPr sz="1500" b="0" i="0">
                <a:solidFill>
                  <a:srgbClr val="1E293B"/>
                </a:solidFill>
                <a:latin typeface="Calibri"/>
              </a:rPr>
              <a:t>VADER can’t; the challenge set targets these cases. There GPT-4o-mini reaches 0.773 macro F1 vs VADER 0.491 and GPT-4o 0.712.</a:t>
            </a:r>
          </a:p>
        </p:txBody>
      </p:sp>
      <p:sp>
        <p:nvSpPr>
          <p:cNvPr id="10" name="Rounded Rectangle 9"/>
          <p:cNvSpPr/>
          <p:nvPr/>
        </p:nvSpPr>
        <p:spPr>
          <a:xfrm>
            <a:off x="548640" y="475488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4892040"/>
            <a:ext cx="3474720" cy="1143000"/>
          </a:xfrm>
          <a:prstGeom prst="rect">
            <a:avLst/>
          </a:prstGeom>
          <a:noFill/>
        </p:spPr>
        <p:txBody>
          <a:bodyPr wrap="square" lIns="0" rIns="0" tIns="0" bIns="0" anchor="ctr">
            <a:spAutoFit/>
          </a:bodyPr>
          <a:lstStyle/>
          <a:p>
            <a:pPr algn="l">
              <a:spcAft>
                <a:spcPts val="600"/>
              </a:spcAft>
            </a:pPr>
            <a:r>
              <a:rPr sz="1700" b="1" i="0">
                <a:solidFill>
                  <a:srgbClr val="1C2E6E"/>
                </a:solidFill>
                <a:latin typeface="Calibri"/>
              </a:rPr>
              <a:t>Why keep VADER at all?</a:t>
            </a:r>
          </a:p>
        </p:txBody>
      </p:sp>
      <p:sp>
        <p:nvSpPr>
          <p:cNvPr id="12" name="TextBox 11"/>
          <p:cNvSpPr txBox="1"/>
          <p:nvPr/>
        </p:nvSpPr>
        <p:spPr>
          <a:xfrm>
            <a:off x="4572000" y="4892040"/>
            <a:ext cx="6858000" cy="1143000"/>
          </a:xfrm>
          <a:prstGeom prst="rect">
            <a:avLst/>
          </a:prstGeom>
          <a:noFill/>
        </p:spPr>
        <p:txBody>
          <a:bodyPr wrap="square" lIns="0" rIns="0" tIns="0" bIns="0" anchor="ctr">
            <a:spAutoFit/>
          </a:bodyPr>
          <a:lstStyle/>
          <a:p>
            <a:pPr algn="l">
              <a:spcAft>
                <a:spcPts val="600"/>
              </a:spcAft>
            </a:pPr>
            <a:r>
              <a:rPr sz="1500" b="0" i="0">
                <a:solidFill>
                  <a:srgbClr val="1E293B"/>
                </a:solidFill>
                <a:latin typeface="Calibri"/>
              </a:rPr>
              <a:t>It’s free, local and deterministic: a baseline to beat. I no longer use it for any headline share.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Anticipated questions (3 of 3)</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32</a:t>
            </a:r>
          </a:p>
        </p:txBody>
      </p:sp>
      <p:sp>
        <p:nvSpPr>
          <p:cNvPr id="4" name="Rounded Rectangle 3"/>
          <p:cNvSpPr/>
          <p:nvPr/>
        </p:nvSpPr>
        <p:spPr>
          <a:xfrm>
            <a:off x="548640" y="164592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83080"/>
            <a:ext cx="3474720" cy="1143000"/>
          </a:xfrm>
          <a:prstGeom prst="rect">
            <a:avLst/>
          </a:prstGeom>
          <a:noFill/>
        </p:spPr>
        <p:txBody>
          <a:bodyPr wrap="square" lIns="0" rIns="0" tIns="0" bIns="0" anchor="ctr">
            <a:spAutoFit/>
          </a:bodyPr>
          <a:lstStyle/>
          <a:p>
            <a:pPr algn="l">
              <a:spcAft>
                <a:spcPts val="600"/>
              </a:spcAft>
            </a:pPr>
            <a:r>
              <a:rPr sz="1700" b="1" i="0">
                <a:solidFill>
                  <a:srgbClr val="1C2E6E"/>
                </a:solidFill>
                <a:latin typeface="Calibri"/>
              </a:rPr>
              <a:t>Is Reddit more negative than HWZ? Is Singtel worst?</a:t>
            </a:r>
          </a:p>
        </p:txBody>
      </p:sp>
      <p:sp>
        <p:nvSpPr>
          <p:cNvPr id="6" name="TextBox 5"/>
          <p:cNvSpPr txBox="1"/>
          <p:nvPr/>
        </p:nvSpPr>
        <p:spPr>
          <a:xfrm>
            <a:off x="4572000" y="1783080"/>
            <a:ext cx="6858000" cy="1143000"/>
          </a:xfrm>
          <a:prstGeom prst="rect">
            <a:avLst/>
          </a:prstGeom>
          <a:noFill/>
        </p:spPr>
        <p:txBody>
          <a:bodyPr wrap="square" lIns="0" rIns="0" tIns="0" bIns="0" anchor="ctr">
            <a:spAutoFit/>
          </a:bodyPr>
          <a:lstStyle/>
          <a:p>
            <a:pPr algn="l">
              <a:spcAft>
                <a:spcPts val="600"/>
              </a:spcAft>
            </a:pPr>
            <a:r>
              <a:rPr sz="1500" b="0" i="0">
                <a:solidFill>
                  <a:srgbClr val="1E293B"/>
                </a:solidFill>
                <a:latin typeface="Calibri"/>
              </a:rPr>
              <a:t>Neither, once the 22 outage threads are removed: Reddit 43% vs HWZ 40%, Singtel 45% vs StarHub 47%.</a:t>
            </a:r>
          </a:p>
        </p:txBody>
      </p:sp>
      <p:sp>
        <p:nvSpPr>
          <p:cNvPr id="7" name="Rounded Rectangle 6"/>
          <p:cNvSpPr/>
          <p:nvPr/>
        </p:nvSpPr>
        <p:spPr>
          <a:xfrm>
            <a:off x="548640" y="3200400"/>
            <a:ext cx="11091672" cy="1417320"/>
          </a:xfrm>
          <a:prstGeom prst="roundRect">
            <a:avLst>
              <a:gd name="adj" fmla="val 6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337560"/>
            <a:ext cx="3474720" cy="1143000"/>
          </a:xfrm>
          <a:prstGeom prst="rect">
            <a:avLst/>
          </a:prstGeom>
          <a:noFill/>
        </p:spPr>
        <p:txBody>
          <a:bodyPr wrap="square" lIns="0" rIns="0" tIns="0" bIns="0" anchor="ctr">
            <a:spAutoFit/>
          </a:bodyPr>
          <a:lstStyle/>
          <a:p>
            <a:pPr algn="l">
              <a:spcAft>
                <a:spcPts val="600"/>
              </a:spcAft>
            </a:pPr>
            <a:r>
              <a:rPr sz="1700" b="1" i="0">
                <a:solidFill>
                  <a:srgbClr val="1C2E6E"/>
                </a:solidFill>
                <a:latin typeface="Calibri"/>
              </a:rPr>
              <a:t>What about privacy and ethics?</a:t>
            </a:r>
          </a:p>
        </p:txBody>
      </p:sp>
      <p:sp>
        <p:nvSpPr>
          <p:cNvPr id="9" name="TextBox 8"/>
          <p:cNvSpPr txBox="1"/>
          <p:nvPr/>
        </p:nvSpPr>
        <p:spPr>
          <a:xfrm>
            <a:off x="4572000" y="3337560"/>
            <a:ext cx="6858000" cy="1143000"/>
          </a:xfrm>
          <a:prstGeom prst="rect">
            <a:avLst/>
          </a:prstGeom>
          <a:noFill/>
        </p:spPr>
        <p:txBody>
          <a:bodyPr wrap="square" lIns="0" rIns="0" tIns="0" bIns="0" anchor="ctr">
            <a:spAutoFit/>
          </a:bodyPr>
          <a:lstStyle/>
          <a:p>
            <a:pPr algn="l">
              <a:spcAft>
                <a:spcPts val="600"/>
              </a:spcAft>
            </a:pPr>
            <a:r>
              <a:rPr sz="1500" b="0" i="0">
                <a:solidFill>
                  <a:srgbClr val="1E293B"/>
                </a:solidFill>
                <a:latin typeface="Calibri"/>
              </a:rPr>
              <a:t>Public posts only, no usernames in outputs, no identifiers sent to the API, and API keys kept in environment variables, never in code.</a:t>
            </a:r>
          </a:p>
        </p:txBody>
      </p:sp>
      <p:sp>
        <p:nvSpPr>
          <p:cNvPr id="10" name="Rounded Rectangle 9"/>
          <p:cNvSpPr/>
          <p:nvPr/>
        </p:nvSpPr>
        <p:spPr>
          <a:xfrm>
            <a:off x="548640" y="475488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4892040"/>
            <a:ext cx="3474720" cy="1143000"/>
          </a:xfrm>
          <a:prstGeom prst="rect">
            <a:avLst/>
          </a:prstGeom>
          <a:noFill/>
        </p:spPr>
        <p:txBody>
          <a:bodyPr wrap="square" lIns="0" rIns="0" tIns="0" bIns="0" anchor="ctr">
            <a:spAutoFit/>
          </a:bodyPr>
          <a:lstStyle/>
          <a:p>
            <a:pPr algn="l">
              <a:spcAft>
                <a:spcPts val="600"/>
              </a:spcAft>
            </a:pPr>
            <a:r>
              <a:rPr sz="1700" b="1" i="0">
                <a:solidFill>
                  <a:srgbClr val="1C2E6E"/>
                </a:solidFill>
                <a:latin typeface="Calibri"/>
              </a:rPr>
              <a:t>Can this estimate NPS or market share?</a:t>
            </a:r>
          </a:p>
        </p:txBody>
      </p:sp>
      <p:sp>
        <p:nvSpPr>
          <p:cNvPr id="12" name="TextBox 11"/>
          <p:cNvSpPr txBox="1"/>
          <p:nvPr/>
        </p:nvSpPr>
        <p:spPr>
          <a:xfrm>
            <a:off x="4572000" y="4892040"/>
            <a:ext cx="6858000" cy="1143000"/>
          </a:xfrm>
          <a:prstGeom prst="rect">
            <a:avLst/>
          </a:prstGeom>
          <a:noFill/>
        </p:spPr>
        <p:txBody>
          <a:bodyPr wrap="square" lIns="0" rIns="0" tIns="0" bIns="0" anchor="ctr">
            <a:spAutoFit/>
          </a:bodyPr>
          <a:lstStyle/>
          <a:p>
            <a:pPr algn="l">
              <a:spcAft>
                <a:spcPts val="600"/>
              </a:spcAft>
            </a:pPr>
            <a:r>
              <a:rPr sz="1500" b="0" i="0">
                <a:solidFill>
                  <a:srgbClr val="1E293B"/>
                </a:solidFill>
                <a:latin typeface="Calibri"/>
              </a:rPr>
              <a:t>No. Posters self-select, replies cluster by thread, and one outage dominates. It’s a triage queue, not a population measure.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Backup: inter-annotator agreement (preliminary)</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33</a:t>
            </a:r>
          </a:p>
        </p:txBody>
      </p:sp>
      <p:graphicFrame>
        <p:nvGraphicFramePr>
          <p:cNvPr id="4" name="Table 3"/>
          <p:cNvGraphicFramePr>
            <a:graphicFrameLocks noGrp="1"/>
          </p:cNvGraphicFramePr>
          <p:nvPr/>
        </p:nvGraphicFramePr>
        <p:xfrm>
          <a:off x="548640" y="1691640"/>
          <a:ext cx="11091672" cy="1645920"/>
        </p:xfrm>
        <a:graphic>
          <a:graphicData uri="http://schemas.openxmlformats.org/drawingml/2006/table">
            <a:tbl>
              <a:tblPr firstRow="1" bandRow="1">
                <a:tableStyleId>{5C22544A-7EE6-4342-B048-85BDC9FD1C3A}</a:tableStyleId>
              </a:tblPr>
              <a:tblGrid>
                <a:gridCol w="2377440"/>
                <a:gridCol w="1280160"/>
                <a:gridCol w="2377440"/>
                <a:gridCol w="2103120"/>
                <a:gridCol w="2953512"/>
              </a:tblGrid>
              <a:tr h="548640">
                <a:tc>
                  <a:txBody>
                    <a:bodyPr wrap="square"/>
                    <a:lstStyle/>
                    <a:p>
                      <a:pPr algn="l"/>
                      <a:r>
                        <a:rPr sz="1600" b="1">
                          <a:solidFill>
                            <a:srgbClr val="FFFFFF"/>
                          </a:solidFill>
                          <a:latin typeface="Calibri"/>
                        </a:rPr>
                        <a:t>Set</a:t>
                      </a:r>
                    </a:p>
                  </a:txBody>
                  <a:tcPr marL="91440" marR="91440" marT="36576" marB="36576" anchor="ctr">
                    <a:solidFill>
                      <a:srgbClr val="1C2E6E"/>
                    </a:solidFill>
                  </a:tcPr>
                </a:tc>
                <a:tc>
                  <a:txBody>
                    <a:bodyPr wrap="square"/>
                    <a:lstStyle/>
                    <a:p>
                      <a:pPr algn="l"/>
                      <a:r>
                        <a:rPr sz="1600" b="1">
                          <a:solidFill>
                            <a:srgbClr val="FFFFFF"/>
                          </a:solidFill>
                          <a:latin typeface="Calibri"/>
                        </a:rPr>
                        <a:t>Posts</a:t>
                      </a:r>
                    </a:p>
                  </a:txBody>
                  <a:tcPr marL="91440" marR="91440" marT="36576" marB="36576" anchor="ctr">
                    <a:solidFill>
                      <a:srgbClr val="1C2E6E"/>
                    </a:solidFill>
                  </a:tcPr>
                </a:tc>
                <a:tc>
                  <a:txBody>
                    <a:bodyPr wrap="square"/>
                    <a:lstStyle/>
                    <a:p>
                      <a:pPr algn="l"/>
                      <a:r>
                        <a:rPr sz="1600" b="1">
                          <a:solidFill>
                            <a:srgbClr val="FFFFFF"/>
                          </a:solidFill>
                          <a:latin typeface="Calibri"/>
                        </a:rPr>
                        <a:t>Sentiment agreement</a:t>
                      </a:r>
                    </a:p>
                  </a:txBody>
                  <a:tcPr marL="91440" marR="91440" marT="36576" marB="36576" anchor="ctr">
                    <a:solidFill>
                      <a:srgbClr val="1C2E6E"/>
                    </a:solidFill>
                  </a:tcPr>
                </a:tc>
                <a:tc>
                  <a:txBody>
                    <a:bodyPr wrap="square"/>
                    <a:lstStyle/>
                    <a:p>
                      <a:pPr algn="l"/>
                      <a:r>
                        <a:rPr sz="1600" b="1">
                          <a:solidFill>
                            <a:srgbClr val="FFFFFF"/>
                          </a:solidFill>
                          <a:latin typeface="Calibri"/>
                        </a:rPr>
                        <a:t>Sentiment κ</a:t>
                      </a:r>
                    </a:p>
                  </a:txBody>
                  <a:tcPr marL="91440" marR="91440" marT="36576" marB="36576" anchor="ctr">
                    <a:solidFill>
                      <a:srgbClr val="1C2E6E"/>
                    </a:solidFill>
                  </a:tcPr>
                </a:tc>
                <a:tc>
                  <a:txBody>
                    <a:bodyPr wrap="square"/>
                    <a:lstStyle/>
                    <a:p>
                      <a:pPr algn="l"/>
                      <a:r>
                        <a:rPr sz="1600" b="1">
                          <a:solidFill>
                            <a:srgbClr val="FFFFFF"/>
                          </a:solidFill>
                          <a:latin typeface="Calibri"/>
                        </a:rPr>
                        <a:t>Issue overlap (Jaccard)</a:t>
                      </a:r>
                    </a:p>
                  </a:txBody>
                  <a:tcPr marL="91440" marR="91440" marT="36576" marB="36576" anchor="ctr">
                    <a:solidFill>
                      <a:srgbClr val="1C2E6E"/>
                    </a:solidFill>
                  </a:tcPr>
                </a:tc>
              </a:tr>
              <a:tr h="548640">
                <a:tc>
                  <a:txBody>
                    <a:bodyPr wrap="square"/>
                    <a:lstStyle/>
                    <a:p>
                      <a:pPr algn="l"/>
                      <a:r>
                        <a:rPr sz="1600" b="0">
                          <a:solidFill>
                            <a:srgbClr val="1E293B"/>
                          </a:solidFill>
                          <a:latin typeface="Calibri"/>
                        </a:rPr>
                        <a:t>Representative</a:t>
                      </a:r>
                    </a:p>
                  </a:txBody>
                  <a:tcPr marL="91440" marR="91440" marT="36576" marB="36576" anchor="ctr">
                    <a:solidFill>
                      <a:srgbClr val="FFFFFF"/>
                    </a:solidFill>
                  </a:tcPr>
                </a:tc>
                <a:tc>
                  <a:txBody>
                    <a:bodyPr wrap="square"/>
                    <a:lstStyle/>
                    <a:p>
                      <a:pPr algn="l"/>
                      <a:r>
                        <a:rPr sz="1600" b="0">
                          <a:solidFill>
                            <a:srgbClr val="1E293B"/>
                          </a:solidFill>
                          <a:latin typeface="Calibri"/>
                        </a:rPr>
                        <a:t>58</a:t>
                      </a:r>
                    </a:p>
                  </a:txBody>
                  <a:tcPr marL="91440" marR="91440" marT="36576" marB="36576" anchor="ctr">
                    <a:solidFill>
                      <a:srgbClr val="FFFFFF"/>
                    </a:solidFill>
                  </a:tcPr>
                </a:tc>
                <a:tc>
                  <a:txBody>
                    <a:bodyPr wrap="square"/>
                    <a:lstStyle/>
                    <a:p>
                      <a:pPr algn="l"/>
                      <a:r>
                        <a:rPr sz="1600" b="0">
                          <a:solidFill>
                            <a:srgbClr val="1E293B"/>
                          </a:solidFill>
                          <a:latin typeface="Calibri"/>
                        </a:rPr>
                        <a:t>74%</a:t>
                      </a:r>
                    </a:p>
                  </a:txBody>
                  <a:tcPr marL="91440" marR="91440" marT="36576" marB="36576" anchor="ctr">
                    <a:solidFill>
                      <a:srgbClr val="FFFFFF"/>
                    </a:solidFill>
                  </a:tcPr>
                </a:tc>
                <a:tc>
                  <a:txBody>
                    <a:bodyPr wrap="square"/>
                    <a:lstStyle/>
                    <a:p>
                      <a:pPr algn="l"/>
                      <a:r>
                        <a:rPr sz="1600" b="0">
                          <a:solidFill>
                            <a:srgbClr val="1E293B"/>
                          </a:solidFill>
                          <a:latin typeface="Calibri"/>
                        </a:rPr>
                        <a:t>0.57</a:t>
                      </a:r>
                    </a:p>
                  </a:txBody>
                  <a:tcPr marL="91440" marR="91440" marT="36576" marB="36576" anchor="ctr">
                    <a:solidFill>
                      <a:srgbClr val="FFFFFF"/>
                    </a:solidFill>
                  </a:tcPr>
                </a:tc>
                <a:tc>
                  <a:txBody>
                    <a:bodyPr wrap="square"/>
                    <a:lstStyle/>
                    <a:p>
                      <a:pPr algn="l"/>
                      <a:r>
                        <a:rPr sz="1600" b="0">
                          <a:solidFill>
                            <a:srgbClr val="1E293B"/>
                          </a:solidFill>
                          <a:latin typeface="Calibri"/>
                        </a:rPr>
                        <a:t>0.57</a:t>
                      </a:r>
                    </a:p>
                  </a:txBody>
                  <a:tcPr marL="91440" marR="91440" marT="36576" marB="36576" anchor="ctr">
                    <a:solidFill>
                      <a:srgbClr val="FFFFFF"/>
                    </a:solidFill>
                  </a:tcPr>
                </a:tc>
              </a:tr>
              <a:tr h="548640">
                <a:tc>
                  <a:txBody>
                    <a:bodyPr wrap="square"/>
                    <a:lstStyle/>
                    <a:p>
                      <a:pPr algn="l"/>
                      <a:r>
                        <a:rPr sz="1600" b="0">
                          <a:solidFill>
                            <a:srgbClr val="1E293B"/>
                          </a:solidFill>
                          <a:latin typeface="Calibri"/>
                        </a:rPr>
                        <a:t>Challenge</a:t>
                      </a:r>
                    </a:p>
                  </a:txBody>
                  <a:tcPr marL="91440" marR="91440" marT="36576" marB="36576" anchor="ctr">
                    <a:solidFill>
                      <a:srgbClr val="F2F4F9"/>
                    </a:solidFill>
                  </a:tcPr>
                </a:tc>
                <a:tc>
                  <a:txBody>
                    <a:bodyPr wrap="square"/>
                    <a:lstStyle/>
                    <a:p>
                      <a:pPr algn="l"/>
                      <a:r>
                        <a:rPr sz="1600" b="0">
                          <a:solidFill>
                            <a:srgbClr val="1E293B"/>
                          </a:solidFill>
                          <a:latin typeface="Calibri"/>
                        </a:rPr>
                        <a:t>40</a:t>
                      </a:r>
                    </a:p>
                  </a:txBody>
                  <a:tcPr marL="91440" marR="91440" marT="36576" marB="36576" anchor="ctr">
                    <a:solidFill>
                      <a:srgbClr val="F2F4F9"/>
                    </a:solidFill>
                  </a:tcPr>
                </a:tc>
                <a:tc>
                  <a:txBody>
                    <a:bodyPr wrap="square"/>
                    <a:lstStyle/>
                    <a:p>
                      <a:pPr algn="l"/>
                      <a:r>
                        <a:rPr sz="1600" b="0">
                          <a:solidFill>
                            <a:srgbClr val="1E293B"/>
                          </a:solidFill>
                          <a:latin typeface="Calibri"/>
                        </a:rPr>
                        <a:t>85%</a:t>
                      </a:r>
                    </a:p>
                  </a:txBody>
                  <a:tcPr marL="91440" marR="91440" marT="36576" marB="36576" anchor="ctr">
                    <a:solidFill>
                      <a:srgbClr val="F2F4F9"/>
                    </a:solidFill>
                  </a:tcPr>
                </a:tc>
                <a:tc>
                  <a:txBody>
                    <a:bodyPr wrap="square"/>
                    <a:lstStyle/>
                    <a:p>
                      <a:pPr algn="l"/>
                      <a:r>
                        <a:rPr sz="1600" b="0">
                          <a:solidFill>
                            <a:srgbClr val="1E293B"/>
                          </a:solidFill>
                          <a:latin typeface="Calibri"/>
                        </a:rPr>
                        <a:t>0.76</a:t>
                      </a:r>
                    </a:p>
                  </a:txBody>
                  <a:tcPr marL="91440" marR="91440" marT="36576" marB="36576" anchor="ctr">
                    <a:solidFill>
                      <a:srgbClr val="F2F4F9"/>
                    </a:solidFill>
                  </a:tcPr>
                </a:tc>
                <a:tc>
                  <a:txBody>
                    <a:bodyPr wrap="square"/>
                    <a:lstStyle/>
                    <a:p>
                      <a:pPr algn="l"/>
                      <a:r>
                        <a:rPr sz="1600" b="0">
                          <a:solidFill>
                            <a:srgbClr val="1E293B"/>
                          </a:solidFill>
                          <a:latin typeface="Calibri"/>
                        </a:rPr>
                        <a:t>0.93</a:t>
                      </a:r>
                    </a:p>
                  </a:txBody>
                  <a:tcPr marL="91440" marR="91440" marT="36576" marB="36576" anchor="ctr">
                    <a:solidFill>
                      <a:srgbClr val="F2F4F9"/>
                    </a:solidFill>
                  </a:tcPr>
                </a:tc>
              </a:tr>
            </a:tbl>
          </a:graphicData>
        </a:graphic>
      </p:graphicFrame>
      <p:sp>
        <p:nvSpPr>
          <p:cNvPr id="5" name="Rounded Rectangle 4"/>
          <p:cNvSpPr/>
          <p:nvPr/>
        </p:nvSpPr>
        <p:spPr>
          <a:xfrm>
            <a:off x="548640" y="3703320"/>
            <a:ext cx="5394960" cy="173736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886200"/>
            <a:ext cx="4937760" cy="365760"/>
          </a:xfrm>
          <a:prstGeom prst="rect">
            <a:avLst/>
          </a:prstGeom>
          <a:noFill/>
        </p:spPr>
        <p:txBody>
          <a:bodyPr wrap="square" lIns="0" rIns="0" tIns="0" bIns="0" anchor="t">
            <a:spAutoFit/>
          </a:bodyPr>
          <a:lstStyle/>
          <a:p>
            <a:pPr algn="l">
              <a:spcAft>
                <a:spcPts val="600"/>
              </a:spcAft>
            </a:pPr>
            <a:r>
              <a:rPr sz="1700" b="1" i="0">
                <a:solidFill>
                  <a:srgbClr val="1C2E6E"/>
                </a:solidFill>
                <a:latin typeface="Calibri"/>
              </a:rPr>
              <a:t>Low human ceiling</a:t>
            </a:r>
          </a:p>
        </p:txBody>
      </p:sp>
      <p:sp>
        <p:nvSpPr>
          <p:cNvPr id="7" name="TextBox 6"/>
          <p:cNvSpPr txBox="1"/>
          <p:nvPr/>
        </p:nvSpPr>
        <p:spPr>
          <a:xfrm>
            <a:off x="777240" y="4270248"/>
            <a:ext cx="4937760" cy="1005839"/>
          </a:xfrm>
          <a:prstGeom prst="rect">
            <a:avLst/>
          </a:prstGeom>
          <a:noFill/>
        </p:spPr>
        <p:txBody>
          <a:bodyPr wrap="square" lIns="0" rIns="0" tIns="0" bIns="0" anchor="t">
            <a:spAutoFit/>
          </a:bodyPr>
          <a:lstStyle/>
          <a:p>
            <a:pPr algn="l">
              <a:spcAft>
                <a:spcPts val="600"/>
              </a:spcAft>
            </a:pPr>
            <a:r>
              <a:rPr sz="1500" b="0" i="0">
                <a:solidFill>
                  <a:srgbClr val="1E293B"/>
                </a:solidFill>
                <a:latin typeface="Calibri"/>
              </a:rPr>
              <a:t>Issue κ on the representative overlap: Devices 0.14, Customer Service 0.18. Humans disagree on these labels too.</a:t>
            </a:r>
          </a:p>
        </p:txBody>
      </p:sp>
      <p:sp>
        <p:nvSpPr>
          <p:cNvPr id="8" name="Rounded Rectangle 7"/>
          <p:cNvSpPr/>
          <p:nvPr/>
        </p:nvSpPr>
        <p:spPr>
          <a:xfrm>
            <a:off x="6245352" y="3703320"/>
            <a:ext cx="5394960" cy="173736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3886200"/>
            <a:ext cx="4937760" cy="365760"/>
          </a:xfrm>
          <a:prstGeom prst="rect">
            <a:avLst/>
          </a:prstGeom>
          <a:noFill/>
        </p:spPr>
        <p:txBody>
          <a:bodyPr wrap="square" lIns="0" rIns="0" tIns="0" bIns="0" anchor="t">
            <a:spAutoFit/>
          </a:bodyPr>
          <a:lstStyle/>
          <a:p>
            <a:pPr algn="l">
              <a:spcAft>
                <a:spcPts val="600"/>
              </a:spcAft>
            </a:pPr>
            <a:r>
              <a:rPr sz="1700" b="1" i="0">
                <a:solidFill>
                  <a:srgbClr val="1C2E6E"/>
                </a:solidFill>
                <a:latin typeface="Calibri"/>
              </a:rPr>
              <a:t>Check before reporting</a:t>
            </a:r>
          </a:p>
        </p:txBody>
      </p:sp>
      <p:sp>
        <p:nvSpPr>
          <p:cNvPr id="10" name="TextBox 9"/>
          <p:cNvSpPr txBox="1"/>
          <p:nvPr/>
        </p:nvSpPr>
        <p:spPr>
          <a:xfrm>
            <a:off x="6473952" y="4270248"/>
            <a:ext cx="4937760" cy="1005839"/>
          </a:xfrm>
          <a:prstGeom prst="rect">
            <a:avLst/>
          </a:prstGeom>
          <a:noFill/>
        </p:spPr>
        <p:txBody>
          <a:bodyPr wrap="square" lIns="0" rIns="0" tIns="0" bIns="0" anchor="t">
            <a:spAutoFit/>
          </a:bodyPr>
          <a:lstStyle/>
          <a:p>
            <a:pPr algn="l">
              <a:spcAft>
                <a:spcPts val="600"/>
              </a:spcAft>
            </a:pPr>
            <a:r>
              <a:rPr sz="1500" b="0" i="0">
                <a:solidFill>
                  <a:srgbClr val="1E293B"/>
                </a:solidFill>
                <a:latin typeface="Calibri"/>
              </a:rPr>
              <a:t>Challenge agreement is higher than representative, unusual for hard cases. Confirm the second annotator labelled independently.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88920" y="128016"/>
            <a:ext cx="9052560" cy="1097280"/>
          </a:xfrm>
          <a:prstGeom prst="rect">
            <a:avLst/>
          </a:prstGeom>
          <a:noFill/>
        </p:spPr>
        <p:txBody>
          <a:bodyPr wrap="square" lIns="0" rIns="0" tIns="0" bIns="0" anchor="ctr">
            <a:spAutoFit/>
          </a:bodyPr>
          <a:lstStyle/>
          <a:p>
            <a:pPr algn="l">
              <a:spcAft>
                <a:spcPts val="600"/>
              </a:spcAft>
            </a:pPr>
            <a:r>
              <a:rPr sz="2600" b="1" i="0">
                <a:solidFill>
                  <a:srgbClr val="1C2E6E"/>
                </a:solidFill>
                <a:latin typeface="Calibri"/>
              </a:rPr>
              <a:t>Backup: per-class sentiment metrics (n = 295)</a:t>
            </a:r>
          </a:p>
        </p:txBody>
      </p:sp>
      <p:sp>
        <p:nvSpPr>
          <p:cNvPr id="3" name="TextBox 2"/>
          <p:cNvSpPr txBox="1"/>
          <p:nvPr/>
        </p:nvSpPr>
        <p:spPr>
          <a:xfrm>
            <a:off x="11155680" y="6446520"/>
            <a:ext cx="548640" cy="274320"/>
          </a:xfrm>
          <a:prstGeom prst="rect">
            <a:avLst/>
          </a:prstGeom>
          <a:noFill/>
        </p:spPr>
        <p:txBody>
          <a:bodyPr wrap="square" lIns="0" rIns="0" tIns="0" bIns="0" anchor="t">
            <a:spAutoFit/>
          </a:bodyPr>
          <a:lstStyle/>
          <a:p>
            <a:pPr algn="r">
              <a:spcAft>
                <a:spcPts val="600"/>
              </a:spcAft>
            </a:pPr>
            <a:r>
              <a:rPr sz="1000" b="0" i="0">
                <a:solidFill>
                  <a:srgbClr val="5B6475"/>
                </a:solidFill>
                <a:latin typeface="Calibri"/>
              </a:rPr>
              <a:t>34</a:t>
            </a:r>
          </a:p>
        </p:txBody>
      </p:sp>
      <p:graphicFrame>
        <p:nvGraphicFramePr>
          <p:cNvPr id="4" name="Table 3"/>
          <p:cNvGraphicFramePr>
            <a:graphicFrameLocks noGrp="1"/>
          </p:cNvGraphicFramePr>
          <p:nvPr/>
        </p:nvGraphicFramePr>
        <p:xfrm>
          <a:off x="548640" y="1691640"/>
          <a:ext cx="11091672" cy="4297680"/>
        </p:xfrm>
        <a:graphic>
          <a:graphicData uri="http://schemas.openxmlformats.org/drawingml/2006/table">
            <a:tbl>
              <a:tblPr firstRow="1" bandRow="1">
                <a:tableStyleId>{5C22544A-7EE6-4342-B048-85BDC9FD1C3A}</a:tableStyleId>
              </a:tblPr>
              <a:tblGrid>
                <a:gridCol w="2194560"/>
                <a:gridCol w="2194560"/>
                <a:gridCol w="1828800"/>
                <a:gridCol w="1828800"/>
                <a:gridCol w="1554480"/>
                <a:gridCol w="1490472"/>
              </a:tblGrid>
              <a:tr h="429768">
                <a:tc>
                  <a:txBody>
                    <a:bodyPr wrap="square"/>
                    <a:lstStyle/>
                    <a:p>
                      <a:pPr algn="l"/>
                      <a:r>
                        <a:rPr sz="1400" b="1">
                          <a:solidFill>
                            <a:srgbClr val="FFFFFF"/>
                          </a:solidFill>
                          <a:latin typeface="Calibri"/>
                        </a:rPr>
                        <a:t>Method</a:t>
                      </a:r>
                    </a:p>
                  </a:txBody>
                  <a:tcPr marL="91440" marR="91440" marT="36576" marB="36576" anchor="ctr">
                    <a:solidFill>
                      <a:srgbClr val="1C2E6E"/>
                    </a:solidFill>
                  </a:tcPr>
                </a:tc>
                <a:tc>
                  <a:txBody>
                    <a:bodyPr wrap="square"/>
                    <a:lstStyle/>
                    <a:p>
                      <a:pPr algn="l"/>
                      <a:r>
                        <a:rPr sz="1400" b="1">
                          <a:solidFill>
                            <a:srgbClr val="FFFFFF"/>
                          </a:solidFill>
                          <a:latin typeface="Calibri"/>
                        </a:rPr>
                        <a:t>Class</a:t>
                      </a:r>
                    </a:p>
                  </a:txBody>
                  <a:tcPr marL="91440" marR="91440" marT="36576" marB="36576" anchor="ctr">
                    <a:solidFill>
                      <a:srgbClr val="1C2E6E"/>
                    </a:solidFill>
                  </a:tcPr>
                </a:tc>
                <a:tc>
                  <a:txBody>
                    <a:bodyPr wrap="square"/>
                    <a:lstStyle/>
                    <a:p>
                      <a:pPr algn="l"/>
                      <a:r>
                        <a:rPr sz="1400" b="1">
                          <a:solidFill>
                            <a:srgbClr val="FFFFFF"/>
                          </a:solidFill>
                          <a:latin typeface="Calibri"/>
                        </a:rPr>
                        <a:t>Precision</a:t>
                      </a:r>
                    </a:p>
                  </a:txBody>
                  <a:tcPr marL="91440" marR="91440" marT="36576" marB="36576" anchor="ctr">
                    <a:solidFill>
                      <a:srgbClr val="1C2E6E"/>
                    </a:solidFill>
                  </a:tcPr>
                </a:tc>
                <a:tc>
                  <a:txBody>
                    <a:bodyPr wrap="square"/>
                    <a:lstStyle/>
                    <a:p>
                      <a:pPr algn="l"/>
                      <a:r>
                        <a:rPr sz="1400" b="1">
                          <a:solidFill>
                            <a:srgbClr val="FFFFFF"/>
                          </a:solidFill>
                          <a:latin typeface="Calibri"/>
                        </a:rPr>
                        <a:t>Recall</a:t>
                      </a:r>
                    </a:p>
                  </a:txBody>
                  <a:tcPr marL="91440" marR="91440" marT="36576" marB="36576" anchor="ctr">
                    <a:solidFill>
                      <a:srgbClr val="1C2E6E"/>
                    </a:solidFill>
                  </a:tcPr>
                </a:tc>
                <a:tc>
                  <a:txBody>
                    <a:bodyPr wrap="square"/>
                    <a:lstStyle/>
                    <a:p>
                      <a:pPr algn="l"/>
                      <a:r>
                        <a:rPr sz="1400" b="1">
                          <a:solidFill>
                            <a:srgbClr val="FFFFFF"/>
                          </a:solidFill>
                          <a:latin typeface="Calibri"/>
                        </a:rPr>
                        <a:t>F1</a:t>
                      </a:r>
                    </a:p>
                  </a:txBody>
                  <a:tcPr marL="91440" marR="91440" marT="36576" marB="36576" anchor="ctr">
                    <a:solidFill>
                      <a:srgbClr val="1C2E6E"/>
                    </a:solidFill>
                  </a:tcPr>
                </a:tc>
                <a:tc>
                  <a:txBody>
                    <a:bodyPr wrap="square"/>
                    <a:lstStyle/>
                    <a:p>
                      <a:pPr algn="l"/>
                      <a:r>
                        <a:rPr sz="1400" b="1">
                          <a:solidFill>
                            <a:srgbClr val="FFFFFF"/>
                          </a:solidFill>
                          <a:latin typeface="Calibri"/>
                        </a:rPr>
                        <a:t>Support</a:t>
                      </a:r>
                    </a:p>
                  </a:txBody>
                  <a:tcPr marL="91440" marR="91440" marT="36576" marB="36576" anchor="ctr">
                    <a:solidFill>
                      <a:srgbClr val="1C2E6E"/>
                    </a:solidFill>
                  </a:tcPr>
                </a:tc>
              </a:tr>
              <a:tr h="429768">
                <a:tc>
                  <a:txBody>
                    <a:bodyPr wrap="square"/>
                    <a:lstStyle/>
                    <a:p>
                      <a:pPr algn="l"/>
                      <a:r>
                        <a:rPr sz="1400" b="0">
                          <a:solidFill>
                            <a:srgbClr val="1E293B"/>
                          </a:solidFill>
                          <a:latin typeface="Calibri"/>
                        </a:rPr>
                        <a:t>VADER</a:t>
                      </a:r>
                    </a:p>
                  </a:txBody>
                  <a:tcPr marL="91440" marR="91440" marT="36576" marB="36576" anchor="ctr">
                    <a:solidFill>
                      <a:srgbClr val="FFFFFF"/>
                    </a:solidFill>
                  </a:tcPr>
                </a:tc>
                <a:tc>
                  <a:txBody>
                    <a:bodyPr wrap="square"/>
                    <a:lstStyle/>
                    <a:p>
                      <a:pPr algn="l"/>
                      <a:r>
                        <a:rPr sz="1400" b="0">
                          <a:solidFill>
                            <a:srgbClr val="1E293B"/>
                          </a:solidFill>
                          <a:latin typeface="Calibri"/>
                        </a:rPr>
                        <a:t>Happy</a:t>
                      </a:r>
                    </a:p>
                  </a:txBody>
                  <a:tcPr marL="91440" marR="91440" marT="36576" marB="36576" anchor="ctr">
                    <a:solidFill>
                      <a:srgbClr val="FFFFFF"/>
                    </a:solidFill>
                  </a:tcPr>
                </a:tc>
                <a:tc>
                  <a:txBody>
                    <a:bodyPr wrap="square"/>
                    <a:lstStyle/>
                    <a:p>
                      <a:pPr algn="l"/>
                      <a:r>
                        <a:rPr sz="1400" b="0">
                          <a:solidFill>
                            <a:srgbClr val="1E293B"/>
                          </a:solidFill>
                          <a:latin typeface="Calibri"/>
                        </a:rPr>
                        <a:t>0.226</a:t>
                      </a:r>
                    </a:p>
                  </a:txBody>
                  <a:tcPr marL="91440" marR="91440" marT="36576" marB="36576" anchor="ctr">
                    <a:solidFill>
                      <a:srgbClr val="FFFFFF"/>
                    </a:solidFill>
                  </a:tcPr>
                </a:tc>
                <a:tc>
                  <a:txBody>
                    <a:bodyPr wrap="square"/>
                    <a:lstStyle/>
                    <a:p>
                      <a:pPr algn="l"/>
                      <a:r>
                        <a:rPr sz="1400" b="0">
                          <a:solidFill>
                            <a:srgbClr val="1E293B"/>
                          </a:solidFill>
                          <a:latin typeface="Calibri"/>
                        </a:rPr>
                        <a:t>0.585</a:t>
                      </a:r>
                    </a:p>
                  </a:txBody>
                  <a:tcPr marL="91440" marR="91440" marT="36576" marB="36576" anchor="ctr">
                    <a:solidFill>
                      <a:srgbClr val="FFFFFF"/>
                    </a:solidFill>
                  </a:tcPr>
                </a:tc>
                <a:tc>
                  <a:txBody>
                    <a:bodyPr wrap="square"/>
                    <a:lstStyle/>
                    <a:p>
                      <a:pPr algn="l"/>
                      <a:r>
                        <a:rPr sz="1400" b="0">
                          <a:solidFill>
                            <a:srgbClr val="1E293B"/>
                          </a:solidFill>
                          <a:latin typeface="Calibri"/>
                        </a:rPr>
                        <a:t>0.326</a:t>
                      </a:r>
                    </a:p>
                  </a:txBody>
                  <a:tcPr marL="91440" marR="91440" marT="36576" marB="36576" anchor="ctr">
                    <a:solidFill>
                      <a:srgbClr val="FFFFFF"/>
                    </a:solidFill>
                  </a:tcPr>
                </a:tc>
                <a:tc>
                  <a:txBody>
                    <a:bodyPr wrap="square"/>
                    <a:lstStyle/>
                    <a:p>
                      <a:pPr algn="l"/>
                      <a:r>
                        <a:rPr sz="1400" b="0">
                          <a:solidFill>
                            <a:srgbClr val="1E293B"/>
                          </a:solidFill>
                          <a:latin typeface="Calibri"/>
                        </a:rPr>
                        <a:t>53</a:t>
                      </a:r>
                    </a:p>
                  </a:txBody>
                  <a:tcPr marL="91440" marR="91440" marT="36576" marB="36576" anchor="ctr">
                    <a:solidFill>
                      <a:srgbClr val="FFFFFF"/>
                    </a:solidFill>
                  </a:tcPr>
                </a:tc>
              </a:tr>
              <a:tr h="429768">
                <a:tc>
                  <a:txBody>
                    <a:bodyPr wrap="square"/>
                    <a:lstStyle/>
                    <a:p>
                      <a:pPr algn="l"/>
                      <a:r>
                        <a:rPr sz="1400" b="1">
                          <a:solidFill>
                            <a:srgbClr val="1E293B"/>
                          </a:solidFill>
                          <a:latin typeface="Calibri"/>
                        </a:rPr>
                        <a:t>VADER</a:t>
                      </a:r>
                    </a:p>
                  </a:txBody>
                  <a:tcPr marL="91440" marR="91440" marT="36576" marB="36576" anchor="ctr">
                    <a:solidFill>
                      <a:srgbClr val="FBF3DF"/>
                    </a:solidFill>
                  </a:tcPr>
                </a:tc>
                <a:tc>
                  <a:txBody>
                    <a:bodyPr wrap="square"/>
                    <a:lstStyle/>
                    <a:p>
                      <a:pPr algn="l"/>
                      <a:r>
                        <a:rPr sz="1400" b="0">
                          <a:solidFill>
                            <a:srgbClr val="1E293B"/>
                          </a:solidFill>
                          <a:latin typeface="Calibri"/>
                        </a:rPr>
                        <a:t>Not happy</a:t>
                      </a:r>
                    </a:p>
                  </a:txBody>
                  <a:tcPr marL="91440" marR="91440" marT="36576" marB="36576" anchor="ctr">
                    <a:solidFill>
                      <a:srgbClr val="FBF3DF"/>
                    </a:solidFill>
                  </a:tcPr>
                </a:tc>
                <a:tc>
                  <a:txBody>
                    <a:bodyPr wrap="square"/>
                    <a:lstStyle/>
                    <a:p>
                      <a:pPr algn="l"/>
                      <a:r>
                        <a:rPr sz="1400" b="0">
                          <a:solidFill>
                            <a:srgbClr val="1E293B"/>
                          </a:solidFill>
                          <a:latin typeface="Calibri"/>
                        </a:rPr>
                        <a:t>0.602</a:t>
                      </a:r>
                    </a:p>
                  </a:txBody>
                  <a:tcPr marL="91440" marR="91440" marT="36576" marB="36576" anchor="ctr">
                    <a:solidFill>
                      <a:srgbClr val="FBF3DF"/>
                    </a:solidFill>
                  </a:tcPr>
                </a:tc>
                <a:tc>
                  <a:txBody>
                    <a:bodyPr wrap="square"/>
                    <a:lstStyle/>
                    <a:p>
                      <a:pPr algn="l"/>
                      <a:r>
                        <a:rPr sz="1400" b="0">
                          <a:solidFill>
                            <a:srgbClr val="1E293B"/>
                          </a:solidFill>
                          <a:latin typeface="Calibri"/>
                        </a:rPr>
                        <a:t>0.340</a:t>
                      </a:r>
                    </a:p>
                  </a:txBody>
                  <a:tcPr marL="91440" marR="91440" marT="36576" marB="36576" anchor="ctr">
                    <a:solidFill>
                      <a:srgbClr val="FBF3DF"/>
                    </a:solidFill>
                  </a:tcPr>
                </a:tc>
                <a:tc>
                  <a:txBody>
                    <a:bodyPr wrap="square"/>
                    <a:lstStyle/>
                    <a:p>
                      <a:pPr algn="l"/>
                      <a:r>
                        <a:rPr sz="1400" b="0">
                          <a:solidFill>
                            <a:srgbClr val="1E293B"/>
                          </a:solidFill>
                          <a:latin typeface="Calibri"/>
                        </a:rPr>
                        <a:t>0.435</a:t>
                      </a:r>
                    </a:p>
                  </a:txBody>
                  <a:tcPr marL="91440" marR="91440" marT="36576" marB="36576" anchor="ctr">
                    <a:solidFill>
                      <a:srgbClr val="FBF3DF"/>
                    </a:solidFill>
                  </a:tcPr>
                </a:tc>
                <a:tc>
                  <a:txBody>
                    <a:bodyPr wrap="square"/>
                    <a:lstStyle/>
                    <a:p>
                      <a:pPr algn="l"/>
                      <a:r>
                        <a:rPr sz="1400" b="0">
                          <a:solidFill>
                            <a:srgbClr val="1E293B"/>
                          </a:solidFill>
                          <a:latin typeface="Calibri"/>
                        </a:rPr>
                        <a:t>147</a:t>
                      </a:r>
                    </a:p>
                  </a:txBody>
                  <a:tcPr marL="91440" marR="91440" marT="36576" marB="36576" anchor="ctr">
                    <a:solidFill>
                      <a:srgbClr val="FBF3DF"/>
                    </a:solidFill>
                  </a:tcPr>
                </a:tc>
              </a:tr>
              <a:tr h="429768">
                <a:tc>
                  <a:txBody>
                    <a:bodyPr wrap="square"/>
                    <a:lstStyle/>
                    <a:p>
                      <a:pPr algn="l"/>
                      <a:r>
                        <a:rPr sz="1400" b="0">
                          <a:solidFill>
                            <a:srgbClr val="1E293B"/>
                          </a:solidFill>
                          <a:latin typeface="Calibri"/>
                        </a:rPr>
                        <a:t>VADER</a:t>
                      </a:r>
                    </a:p>
                  </a:txBody>
                  <a:tcPr marL="91440" marR="91440" marT="36576" marB="36576" anchor="ctr">
                    <a:solidFill>
                      <a:srgbClr val="FFFFFF"/>
                    </a:solidFill>
                  </a:tcPr>
                </a:tc>
                <a:tc>
                  <a:txBody>
                    <a:bodyPr wrap="square"/>
                    <a:lstStyle/>
                    <a:p>
                      <a:pPr algn="l"/>
                      <a:r>
                        <a:rPr sz="1400" b="0">
                          <a:solidFill>
                            <a:srgbClr val="1E293B"/>
                          </a:solidFill>
                          <a:latin typeface="Calibri"/>
                        </a:rPr>
                        <a:t>Neutral</a:t>
                      </a:r>
                    </a:p>
                  </a:txBody>
                  <a:tcPr marL="91440" marR="91440" marT="36576" marB="36576" anchor="ctr">
                    <a:solidFill>
                      <a:srgbClr val="FFFFFF"/>
                    </a:solidFill>
                  </a:tcPr>
                </a:tc>
                <a:tc>
                  <a:txBody>
                    <a:bodyPr wrap="square"/>
                    <a:lstStyle/>
                    <a:p>
                      <a:pPr algn="l"/>
                      <a:r>
                        <a:rPr sz="1400" b="0">
                          <a:solidFill>
                            <a:srgbClr val="1E293B"/>
                          </a:solidFill>
                          <a:latin typeface="Calibri"/>
                        </a:rPr>
                        <a:t>0.360</a:t>
                      </a:r>
                    </a:p>
                  </a:txBody>
                  <a:tcPr marL="91440" marR="91440" marT="36576" marB="36576" anchor="ctr">
                    <a:solidFill>
                      <a:srgbClr val="FFFFFF"/>
                    </a:solidFill>
                  </a:tcPr>
                </a:tc>
                <a:tc>
                  <a:txBody>
                    <a:bodyPr wrap="square"/>
                    <a:lstStyle/>
                    <a:p>
                      <a:pPr algn="l"/>
                      <a:r>
                        <a:rPr sz="1400" b="0">
                          <a:solidFill>
                            <a:srgbClr val="1E293B"/>
                          </a:solidFill>
                          <a:latin typeface="Calibri"/>
                        </a:rPr>
                        <a:t>0.284</a:t>
                      </a:r>
                    </a:p>
                  </a:txBody>
                  <a:tcPr marL="91440" marR="91440" marT="36576" marB="36576" anchor="ctr">
                    <a:solidFill>
                      <a:srgbClr val="FFFFFF"/>
                    </a:solidFill>
                  </a:tcPr>
                </a:tc>
                <a:tc>
                  <a:txBody>
                    <a:bodyPr wrap="square"/>
                    <a:lstStyle/>
                    <a:p>
                      <a:pPr algn="l"/>
                      <a:r>
                        <a:rPr sz="1400" b="0">
                          <a:solidFill>
                            <a:srgbClr val="1E293B"/>
                          </a:solidFill>
                          <a:latin typeface="Calibri"/>
                        </a:rPr>
                        <a:t>0.318</a:t>
                      </a:r>
                    </a:p>
                  </a:txBody>
                  <a:tcPr marL="91440" marR="91440" marT="36576" marB="36576" anchor="ctr">
                    <a:solidFill>
                      <a:srgbClr val="FFFFFF"/>
                    </a:solidFill>
                  </a:tcPr>
                </a:tc>
                <a:tc>
                  <a:txBody>
                    <a:bodyPr wrap="square"/>
                    <a:lstStyle/>
                    <a:p>
                      <a:pPr algn="l"/>
                      <a:r>
                        <a:rPr sz="1400" b="0">
                          <a:solidFill>
                            <a:srgbClr val="1E293B"/>
                          </a:solidFill>
                          <a:latin typeface="Calibri"/>
                        </a:rPr>
                        <a:t>95</a:t>
                      </a:r>
                    </a:p>
                  </a:txBody>
                  <a:tcPr marL="91440" marR="91440" marT="36576" marB="36576" anchor="ctr">
                    <a:solidFill>
                      <a:srgbClr val="FFFFFF"/>
                    </a:solidFill>
                  </a:tcPr>
                </a:tc>
              </a:tr>
              <a:tr h="429768">
                <a:tc>
                  <a:txBody>
                    <a:bodyPr wrap="square"/>
                    <a:lstStyle/>
                    <a:p>
                      <a:pPr algn="l"/>
                      <a:r>
                        <a:rPr sz="1400" b="0">
                          <a:solidFill>
                            <a:srgbClr val="1E293B"/>
                          </a:solidFill>
                          <a:latin typeface="Calibri"/>
                        </a:rPr>
                        <a:t>GPT-4o-mini</a:t>
                      </a:r>
                    </a:p>
                  </a:txBody>
                  <a:tcPr marL="91440" marR="91440" marT="36576" marB="36576" anchor="ctr">
                    <a:solidFill>
                      <a:srgbClr val="F2F4F9"/>
                    </a:solidFill>
                  </a:tcPr>
                </a:tc>
                <a:tc>
                  <a:txBody>
                    <a:bodyPr wrap="square"/>
                    <a:lstStyle/>
                    <a:p>
                      <a:pPr algn="l"/>
                      <a:r>
                        <a:rPr sz="1400" b="0">
                          <a:solidFill>
                            <a:srgbClr val="1E293B"/>
                          </a:solidFill>
                          <a:latin typeface="Calibri"/>
                        </a:rPr>
                        <a:t>Happy</a:t>
                      </a:r>
                    </a:p>
                  </a:txBody>
                  <a:tcPr marL="91440" marR="91440" marT="36576" marB="36576" anchor="ctr">
                    <a:solidFill>
                      <a:srgbClr val="F2F4F9"/>
                    </a:solidFill>
                  </a:tcPr>
                </a:tc>
                <a:tc>
                  <a:txBody>
                    <a:bodyPr wrap="square"/>
                    <a:lstStyle/>
                    <a:p>
                      <a:pPr algn="l"/>
                      <a:r>
                        <a:rPr sz="1400" b="0">
                          <a:solidFill>
                            <a:srgbClr val="1E293B"/>
                          </a:solidFill>
                          <a:latin typeface="Calibri"/>
                        </a:rPr>
                        <a:t>0.574</a:t>
                      </a:r>
                    </a:p>
                  </a:txBody>
                  <a:tcPr marL="91440" marR="91440" marT="36576" marB="36576" anchor="ctr">
                    <a:solidFill>
                      <a:srgbClr val="F2F4F9"/>
                    </a:solidFill>
                  </a:tcPr>
                </a:tc>
                <a:tc>
                  <a:txBody>
                    <a:bodyPr wrap="square"/>
                    <a:lstStyle/>
                    <a:p>
                      <a:pPr algn="l"/>
                      <a:r>
                        <a:rPr sz="1400" b="0">
                          <a:solidFill>
                            <a:srgbClr val="1E293B"/>
                          </a:solidFill>
                          <a:latin typeface="Calibri"/>
                        </a:rPr>
                        <a:t>0.509</a:t>
                      </a:r>
                    </a:p>
                  </a:txBody>
                  <a:tcPr marL="91440" marR="91440" marT="36576" marB="36576" anchor="ctr">
                    <a:solidFill>
                      <a:srgbClr val="F2F4F9"/>
                    </a:solidFill>
                  </a:tcPr>
                </a:tc>
                <a:tc>
                  <a:txBody>
                    <a:bodyPr wrap="square"/>
                    <a:lstStyle/>
                    <a:p>
                      <a:pPr algn="l"/>
                      <a:r>
                        <a:rPr sz="1400" b="0">
                          <a:solidFill>
                            <a:srgbClr val="1E293B"/>
                          </a:solidFill>
                          <a:latin typeface="Calibri"/>
                        </a:rPr>
                        <a:t>0.540</a:t>
                      </a:r>
                    </a:p>
                  </a:txBody>
                  <a:tcPr marL="91440" marR="91440" marT="36576" marB="36576" anchor="ctr">
                    <a:solidFill>
                      <a:srgbClr val="F2F4F9"/>
                    </a:solidFill>
                  </a:tcPr>
                </a:tc>
                <a:tc>
                  <a:txBody>
                    <a:bodyPr wrap="square"/>
                    <a:lstStyle/>
                    <a:p>
                      <a:pPr algn="l"/>
                      <a:r>
                        <a:rPr sz="1400" b="0">
                          <a:solidFill>
                            <a:srgbClr val="1E293B"/>
                          </a:solidFill>
                          <a:latin typeface="Calibri"/>
                        </a:rPr>
                        <a:t>53</a:t>
                      </a:r>
                    </a:p>
                  </a:txBody>
                  <a:tcPr marL="91440" marR="91440" marT="36576" marB="36576" anchor="ctr">
                    <a:solidFill>
                      <a:srgbClr val="F2F4F9"/>
                    </a:solidFill>
                  </a:tcPr>
                </a:tc>
              </a:tr>
              <a:tr h="429768">
                <a:tc>
                  <a:txBody>
                    <a:bodyPr wrap="square"/>
                    <a:lstStyle/>
                    <a:p>
                      <a:pPr algn="l"/>
                      <a:r>
                        <a:rPr sz="1400" b="1">
                          <a:solidFill>
                            <a:srgbClr val="1E293B"/>
                          </a:solidFill>
                          <a:latin typeface="Calibri"/>
                        </a:rPr>
                        <a:t>GPT-4o-mini</a:t>
                      </a:r>
                    </a:p>
                  </a:txBody>
                  <a:tcPr marL="91440" marR="91440" marT="36576" marB="36576" anchor="ctr">
                    <a:solidFill>
                      <a:srgbClr val="FBF3DF"/>
                    </a:solidFill>
                  </a:tcPr>
                </a:tc>
                <a:tc>
                  <a:txBody>
                    <a:bodyPr wrap="square"/>
                    <a:lstStyle/>
                    <a:p>
                      <a:pPr algn="l"/>
                      <a:r>
                        <a:rPr sz="1400" b="0">
                          <a:solidFill>
                            <a:srgbClr val="1E293B"/>
                          </a:solidFill>
                          <a:latin typeface="Calibri"/>
                        </a:rPr>
                        <a:t>Not happy</a:t>
                      </a:r>
                    </a:p>
                  </a:txBody>
                  <a:tcPr marL="91440" marR="91440" marT="36576" marB="36576" anchor="ctr">
                    <a:solidFill>
                      <a:srgbClr val="FBF3DF"/>
                    </a:solidFill>
                  </a:tcPr>
                </a:tc>
                <a:tc>
                  <a:txBody>
                    <a:bodyPr wrap="square"/>
                    <a:lstStyle/>
                    <a:p>
                      <a:pPr algn="l"/>
                      <a:r>
                        <a:rPr sz="1400" b="0">
                          <a:solidFill>
                            <a:srgbClr val="1E293B"/>
                          </a:solidFill>
                          <a:latin typeface="Calibri"/>
                        </a:rPr>
                        <a:t>0.753</a:t>
                      </a:r>
                    </a:p>
                  </a:txBody>
                  <a:tcPr marL="91440" marR="91440" marT="36576" marB="36576" anchor="ctr">
                    <a:solidFill>
                      <a:srgbClr val="FBF3DF"/>
                    </a:solidFill>
                  </a:tcPr>
                </a:tc>
                <a:tc>
                  <a:txBody>
                    <a:bodyPr wrap="square"/>
                    <a:lstStyle/>
                    <a:p>
                      <a:pPr algn="l"/>
                      <a:r>
                        <a:rPr sz="1400" b="0">
                          <a:solidFill>
                            <a:srgbClr val="1E293B"/>
                          </a:solidFill>
                          <a:latin typeface="Calibri"/>
                        </a:rPr>
                        <a:t>0.789</a:t>
                      </a:r>
                    </a:p>
                  </a:txBody>
                  <a:tcPr marL="91440" marR="91440" marT="36576" marB="36576" anchor="ctr">
                    <a:solidFill>
                      <a:srgbClr val="FBF3DF"/>
                    </a:solidFill>
                  </a:tcPr>
                </a:tc>
                <a:tc>
                  <a:txBody>
                    <a:bodyPr wrap="square"/>
                    <a:lstStyle/>
                    <a:p>
                      <a:pPr algn="l"/>
                      <a:r>
                        <a:rPr sz="1400" b="0">
                          <a:solidFill>
                            <a:srgbClr val="1E293B"/>
                          </a:solidFill>
                          <a:latin typeface="Calibri"/>
                        </a:rPr>
                        <a:t>0.771</a:t>
                      </a:r>
                    </a:p>
                  </a:txBody>
                  <a:tcPr marL="91440" marR="91440" marT="36576" marB="36576" anchor="ctr">
                    <a:solidFill>
                      <a:srgbClr val="FBF3DF"/>
                    </a:solidFill>
                  </a:tcPr>
                </a:tc>
                <a:tc>
                  <a:txBody>
                    <a:bodyPr wrap="square"/>
                    <a:lstStyle/>
                    <a:p>
                      <a:pPr algn="l"/>
                      <a:r>
                        <a:rPr sz="1400" b="0">
                          <a:solidFill>
                            <a:srgbClr val="1E293B"/>
                          </a:solidFill>
                          <a:latin typeface="Calibri"/>
                        </a:rPr>
                        <a:t>147</a:t>
                      </a:r>
                    </a:p>
                  </a:txBody>
                  <a:tcPr marL="91440" marR="91440" marT="36576" marB="36576" anchor="ctr">
                    <a:solidFill>
                      <a:srgbClr val="FBF3DF"/>
                    </a:solidFill>
                  </a:tcPr>
                </a:tc>
              </a:tr>
              <a:tr h="429768">
                <a:tc>
                  <a:txBody>
                    <a:bodyPr wrap="square"/>
                    <a:lstStyle/>
                    <a:p>
                      <a:pPr algn="l"/>
                      <a:r>
                        <a:rPr sz="1400" b="0">
                          <a:solidFill>
                            <a:srgbClr val="1E293B"/>
                          </a:solidFill>
                          <a:latin typeface="Calibri"/>
                        </a:rPr>
                        <a:t>GPT-4o-mini</a:t>
                      </a:r>
                    </a:p>
                  </a:txBody>
                  <a:tcPr marL="91440" marR="91440" marT="36576" marB="36576" anchor="ctr">
                    <a:solidFill>
                      <a:srgbClr val="F2F4F9"/>
                    </a:solidFill>
                  </a:tcPr>
                </a:tc>
                <a:tc>
                  <a:txBody>
                    <a:bodyPr wrap="square"/>
                    <a:lstStyle/>
                    <a:p>
                      <a:pPr algn="l"/>
                      <a:r>
                        <a:rPr sz="1400" b="0">
                          <a:solidFill>
                            <a:srgbClr val="1E293B"/>
                          </a:solidFill>
                          <a:latin typeface="Calibri"/>
                        </a:rPr>
                        <a:t>Neutral</a:t>
                      </a:r>
                    </a:p>
                  </a:txBody>
                  <a:tcPr marL="91440" marR="91440" marT="36576" marB="36576" anchor="ctr">
                    <a:solidFill>
                      <a:srgbClr val="F2F4F9"/>
                    </a:solidFill>
                  </a:tcPr>
                </a:tc>
                <a:tc>
                  <a:txBody>
                    <a:bodyPr wrap="square"/>
                    <a:lstStyle/>
                    <a:p>
                      <a:pPr algn="l"/>
                      <a:r>
                        <a:rPr sz="1400" b="0">
                          <a:solidFill>
                            <a:srgbClr val="1E293B"/>
                          </a:solidFill>
                          <a:latin typeface="Calibri"/>
                        </a:rPr>
                        <a:t>0.585</a:t>
                      </a:r>
                    </a:p>
                  </a:txBody>
                  <a:tcPr marL="91440" marR="91440" marT="36576" marB="36576" anchor="ctr">
                    <a:solidFill>
                      <a:srgbClr val="F2F4F9"/>
                    </a:solidFill>
                  </a:tcPr>
                </a:tc>
                <a:tc>
                  <a:txBody>
                    <a:bodyPr wrap="square"/>
                    <a:lstStyle/>
                    <a:p>
                      <a:pPr algn="l"/>
                      <a:r>
                        <a:rPr sz="1400" b="0">
                          <a:solidFill>
                            <a:srgbClr val="1E293B"/>
                          </a:solidFill>
                          <a:latin typeface="Calibri"/>
                        </a:rPr>
                        <a:t>0.579</a:t>
                      </a:r>
                    </a:p>
                  </a:txBody>
                  <a:tcPr marL="91440" marR="91440" marT="36576" marB="36576" anchor="ctr">
                    <a:solidFill>
                      <a:srgbClr val="F2F4F9"/>
                    </a:solidFill>
                  </a:tcPr>
                </a:tc>
                <a:tc>
                  <a:txBody>
                    <a:bodyPr wrap="square"/>
                    <a:lstStyle/>
                    <a:p>
                      <a:pPr algn="l"/>
                      <a:r>
                        <a:rPr sz="1400" b="0">
                          <a:solidFill>
                            <a:srgbClr val="1E293B"/>
                          </a:solidFill>
                          <a:latin typeface="Calibri"/>
                        </a:rPr>
                        <a:t>0.582</a:t>
                      </a:r>
                    </a:p>
                  </a:txBody>
                  <a:tcPr marL="91440" marR="91440" marT="36576" marB="36576" anchor="ctr">
                    <a:solidFill>
                      <a:srgbClr val="F2F4F9"/>
                    </a:solidFill>
                  </a:tcPr>
                </a:tc>
                <a:tc>
                  <a:txBody>
                    <a:bodyPr wrap="square"/>
                    <a:lstStyle/>
                    <a:p>
                      <a:pPr algn="l"/>
                      <a:r>
                        <a:rPr sz="1400" b="0">
                          <a:solidFill>
                            <a:srgbClr val="1E293B"/>
                          </a:solidFill>
                          <a:latin typeface="Calibri"/>
                        </a:rPr>
                        <a:t>95</a:t>
                      </a:r>
                    </a:p>
                  </a:txBody>
                  <a:tcPr marL="91440" marR="91440" marT="36576" marB="36576" anchor="ctr">
                    <a:solidFill>
                      <a:srgbClr val="F2F4F9"/>
                    </a:solidFill>
                  </a:tcPr>
                </a:tc>
              </a:tr>
              <a:tr h="429768">
                <a:tc>
                  <a:txBody>
                    <a:bodyPr wrap="square"/>
                    <a:lstStyle/>
                    <a:p>
                      <a:pPr algn="l"/>
                      <a:r>
                        <a:rPr sz="1400" b="0">
                          <a:solidFill>
                            <a:srgbClr val="1E293B"/>
                          </a:solidFill>
                          <a:latin typeface="Calibri"/>
                        </a:rPr>
                        <a:t>GPT-4o</a:t>
                      </a:r>
                    </a:p>
                  </a:txBody>
                  <a:tcPr marL="91440" marR="91440" marT="36576" marB="36576" anchor="ctr">
                    <a:solidFill>
                      <a:srgbClr val="FFFFFF"/>
                    </a:solidFill>
                  </a:tcPr>
                </a:tc>
                <a:tc>
                  <a:txBody>
                    <a:bodyPr wrap="square"/>
                    <a:lstStyle/>
                    <a:p>
                      <a:pPr algn="l"/>
                      <a:r>
                        <a:rPr sz="1400" b="0">
                          <a:solidFill>
                            <a:srgbClr val="1E293B"/>
                          </a:solidFill>
                          <a:latin typeface="Calibri"/>
                        </a:rPr>
                        <a:t>Happy</a:t>
                      </a:r>
                    </a:p>
                  </a:txBody>
                  <a:tcPr marL="91440" marR="91440" marT="36576" marB="36576" anchor="ctr">
                    <a:solidFill>
                      <a:srgbClr val="FFFFFF"/>
                    </a:solidFill>
                  </a:tcPr>
                </a:tc>
                <a:tc>
                  <a:txBody>
                    <a:bodyPr wrap="square"/>
                    <a:lstStyle/>
                    <a:p>
                      <a:pPr algn="l"/>
                      <a:r>
                        <a:rPr sz="1400" b="0">
                          <a:solidFill>
                            <a:srgbClr val="1E293B"/>
                          </a:solidFill>
                          <a:latin typeface="Calibri"/>
                        </a:rPr>
                        <a:t>0.690</a:t>
                      </a:r>
                    </a:p>
                  </a:txBody>
                  <a:tcPr marL="91440" marR="91440" marT="36576" marB="36576" anchor="ctr">
                    <a:solidFill>
                      <a:srgbClr val="FFFFFF"/>
                    </a:solidFill>
                  </a:tcPr>
                </a:tc>
                <a:tc>
                  <a:txBody>
                    <a:bodyPr wrap="square"/>
                    <a:lstStyle/>
                    <a:p>
                      <a:pPr algn="l"/>
                      <a:r>
                        <a:rPr sz="1400" b="0">
                          <a:solidFill>
                            <a:srgbClr val="1E293B"/>
                          </a:solidFill>
                          <a:latin typeface="Calibri"/>
                        </a:rPr>
                        <a:t>0.377</a:t>
                      </a:r>
                    </a:p>
                  </a:txBody>
                  <a:tcPr marL="91440" marR="91440" marT="36576" marB="36576" anchor="ctr">
                    <a:solidFill>
                      <a:srgbClr val="FFFFFF"/>
                    </a:solidFill>
                  </a:tcPr>
                </a:tc>
                <a:tc>
                  <a:txBody>
                    <a:bodyPr wrap="square"/>
                    <a:lstStyle/>
                    <a:p>
                      <a:pPr algn="l"/>
                      <a:r>
                        <a:rPr sz="1400" b="0">
                          <a:solidFill>
                            <a:srgbClr val="1E293B"/>
                          </a:solidFill>
                          <a:latin typeface="Calibri"/>
                        </a:rPr>
                        <a:t>0.488</a:t>
                      </a:r>
                    </a:p>
                  </a:txBody>
                  <a:tcPr marL="91440" marR="91440" marT="36576" marB="36576" anchor="ctr">
                    <a:solidFill>
                      <a:srgbClr val="FFFFFF"/>
                    </a:solidFill>
                  </a:tcPr>
                </a:tc>
                <a:tc>
                  <a:txBody>
                    <a:bodyPr wrap="square"/>
                    <a:lstStyle/>
                    <a:p>
                      <a:pPr algn="l"/>
                      <a:r>
                        <a:rPr sz="1400" b="0">
                          <a:solidFill>
                            <a:srgbClr val="1E293B"/>
                          </a:solidFill>
                          <a:latin typeface="Calibri"/>
                        </a:rPr>
                        <a:t>53</a:t>
                      </a:r>
                    </a:p>
                  </a:txBody>
                  <a:tcPr marL="91440" marR="91440" marT="36576" marB="36576" anchor="ctr">
                    <a:solidFill>
                      <a:srgbClr val="FFFFFF"/>
                    </a:solidFill>
                  </a:tcPr>
                </a:tc>
              </a:tr>
              <a:tr h="429768">
                <a:tc>
                  <a:txBody>
                    <a:bodyPr wrap="square"/>
                    <a:lstStyle/>
                    <a:p>
                      <a:pPr algn="l"/>
                      <a:r>
                        <a:rPr sz="1400" b="0">
                          <a:solidFill>
                            <a:srgbClr val="1E293B"/>
                          </a:solidFill>
                          <a:latin typeface="Calibri"/>
                        </a:rPr>
                        <a:t>GPT-4o</a:t>
                      </a:r>
                    </a:p>
                  </a:txBody>
                  <a:tcPr marL="91440" marR="91440" marT="36576" marB="36576" anchor="ctr">
                    <a:solidFill>
                      <a:srgbClr val="F2F4F9"/>
                    </a:solidFill>
                  </a:tcPr>
                </a:tc>
                <a:tc>
                  <a:txBody>
                    <a:bodyPr wrap="square"/>
                    <a:lstStyle/>
                    <a:p>
                      <a:pPr algn="l"/>
                      <a:r>
                        <a:rPr sz="1400" b="0">
                          <a:solidFill>
                            <a:srgbClr val="1E293B"/>
                          </a:solidFill>
                          <a:latin typeface="Calibri"/>
                        </a:rPr>
                        <a:t>Not happy</a:t>
                      </a:r>
                    </a:p>
                  </a:txBody>
                  <a:tcPr marL="91440" marR="91440" marT="36576" marB="36576" anchor="ctr">
                    <a:solidFill>
                      <a:srgbClr val="F2F4F9"/>
                    </a:solidFill>
                  </a:tcPr>
                </a:tc>
                <a:tc>
                  <a:txBody>
                    <a:bodyPr wrap="square"/>
                    <a:lstStyle/>
                    <a:p>
                      <a:pPr algn="l"/>
                      <a:r>
                        <a:rPr sz="1400" b="0">
                          <a:solidFill>
                            <a:srgbClr val="1E293B"/>
                          </a:solidFill>
                          <a:latin typeface="Calibri"/>
                        </a:rPr>
                        <a:t>0.767</a:t>
                      </a:r>
                    </a:p>
                  </a:txBody>
                  <a:tcPr marL="91440" marR="91440" marT="36576" marB="36576" anchor="ctr">
                    <a:solidFill>
                      <a:srgbClr val="F2F4F9"/>
                    </a:solidFill>
                  </a:tcPr>
                </a:tc>
                <a:tc>
                  <a:txBody>
                    <a:bodyPr wrap="square"/>
                    <a:lstStyle/>
                    <a:p>
                      <a:pPr algn="l"/>
                      <a:r>
                        <a:rPr sz="1400" b="0">
                          <a:solidFill>
                            <a:srgbClr val="1E293B"/>
                          </a:solidFill>
                          <a:latin typeface="Calibri"/>
                        </a:rPr>
                        <a:t>0.782</a:t>
                      </a:r>
                    </a:p>
                  </a:txBody>
                  <a:tcPr marL="91440" marR="91440" marT="36576" marB="36576" anchor="ctr">
                    <a:solidFill>
                      <a:srgbClr val="F2F4F9"/>
                    </a:solidFill>
                  </a:tcPr>
                </a:tc>
                <a:tc>
                  <a:txBody>
                    <a:bodyPr wrap="square"/>
                    <a:lstStyle/>
                    <a:p>
                      <a:pPr algn="l"/>
                      <a:r>
                        <a:rPr sz="1400" b="0">
                          <a:solidFill>
                            <a:srgbClr val="1E293B"/>
                          </a:solidFill>
                          <a:latin typeface="Calibri"/>
                        </a:rPr>
                        <a:t>0.774</a:t>
                      </a:r>
                    </a:p>
                  </a:txBody>
                  <a:tcPr marL="91440" marR="91440" marT="36576" marB="36576" anchor="ctr">
                    <a:solidFill>
                      <a:srgbClr val="F2F4F9"/>
                    </a:solidFill>
                  </a:tcPr>
                </a:tc>
                <a:tc>
                  <a:txBody>
                    <a:bodyPr wrap="square"/>
                    <a:lstStyle/>
                    <a:p>
                      <a:pPr algn="l"/>
                      <a:r>
                        <a:rPr sz="1400" b="0">
                          <a:solidFill>
                            <a:srgbClr val="1E293B"/>
                          </a:solidFill>
                          <a:latin typeface="Calibri"/>
                        </a:rPr>
                        <a:t>147</a:t>
                      </a:r>
                    </a:p>
                  </a:txBody>
                  <a:tcPr marL="91440" marR="91440" marT="36576" marB="36576" anchor="ctr">
                    <a:solidFill>
                      <a:srgbClr val="F2F4F9"/>
                    </a:solidFill>
                  </a:tcPr>
                </a:tc>
              </a:tr>
              <a:tr h="429768">
                <a:tc>
                  <a:txBody>
                    <a:bodyPr wrap="square"/>
                    <a:lstStyle/>
                    <a:p>
                      <a:pPr algn="l"/>
                      <a:r>
                        <a:rPr sz="1400" b="0">
                          <a:solidFill>
                            <a:srgbClr val="1E293B"/>
                          </a:solidFill>
                          <a:latin typeface="Calibri"/>
                        </a:rPr>
                        <a:t>GPT-4o</a:t>
                      </a:r>
                    </a:p>
                  </a:txBody>
                  <a:tcPr marL="91440" marR="91440" marT="36576" marB="36576" anchor="ctr">
                    <a:solidFill>
                      <a:srgbClr val="FFFFFF"/>
                    </a:solidFill>
                  </a:tcPr>
                </a:tc>
                <a:tc>
                  <a:txBody>
                    <a:bodyPr wrap="square"/>
                    <a:lstStyle/>
                    <a:p>
                      <a:pPr algn="l"/>
                      <a:r>
                        <a:rPr sz="1400" b="0">
                          <a:solidFill>
                            <a:srgbClr val="1E293B"/>
                          </a:solidFill>
                          <a:latin typeface="Calibri"/>
                        </a:rPr>
                        <a:t>Neutral</a:t>
                      </a:r>
                    </a:p>
                  </a:txBody>
                  <a:tcPr marL="91440" marR="91440" marT="36576" marB="36576" anchor="ctr">
                    <a:solidFill>
                      <a:srgbClr val="FFFFFF"/>
                    </a:solidFill>
                  </a:tcPr>
                </a:tc>
                <a:tc>
                  <a:txBody>
                    <a:bodyPr wrap="square"/>
                    <a:lstStyle/>
                    <a:p>
                      <a:pPr algn="l"/>
                      <a:r>
                        <a:rPr sz="1400" b="0">
                          <a:solidFill>
                            <a:srgbClr val="1E293B"/>
                          </a:solidFill>
                          <a:latin typeface="Calibri"/>
                        </a:rPr>
                        <a:t>0.552</a:t>
                      </a:r>
                    </a:p>
                  </a:txBody>
                  <a:tcPr marL="91440" marR="91440" marT="36576" marB="36576" anchor="ctr">
                    <a:solidFill>
                      <a:srgbClr val="FFFFFF"/>
                    </a:solidFill>
                  </a:tcPr>
                </a:tc>
                <a:tc>
                  <a:txBody>
                    <a:bodyPr wrap="square"/>
                    <a:lstStyle/>
                    <a:p>
                      <a:pPr algn="l"/>
                      <a:r>
                        <a:rPr sz="1400" b="0">
                          <a:solidFill>
                            <a:srgbClr val="1E293B"/>
                          </a:solidFill>
                          <a:latin typeface="Calibri"/>
                        </a:rPr>
                        <a:t>0.674</a:t>
                      </a:r>
                    </a:p>
                  </a:txBody>
                  <a:tcPr marL="91440" marR="91440" marT="36576" marB="36576" anchor="ctr">
                    <a:solidFill>
                      <a:srgbClr val="FFFFFF"/>
                    </a:solidFill>
                  </a:tcPr>
                </a:tc>
                <a:tc>
                  <a:txBody>
                    <a:bodyPr wrap="square"/>
                    <a:lstStyle/>
                    <a:p>
                      <a:pPr algn="l"/>
                      <a:r>
                        <a:rPr sz="1400" b="0">
                          <a:solidFill>
                            <a:srgbClr val="1E293B"/>
                          </a:solidFill>
                          <a:latin typeface="Calibri"/>
                        </a:rPr>
                        <a:t>0.607</a:t>
                      </a:r>
                    </a:p>
                  </a:txBody>
                  <a:tcPr marL="91440" marR="91440" marT="36576" marB="36576" anchor="ctr">
                    <a:solidFill>
                      <a:srgbClr val="FFFFFF"/>
                    </a:solidFill>
                  </a:tcPr>
                </a:tc>
                <a:tc>
                  <a:txBody>
                    <a:bodyPr wrap="square"/>
                    <a:lstStyle/>
                    <a:p>
                      <a:pPr algn="l"/>
                      <a:r>
                        <a:rPr sz="1400" b="0">
                          <a:solidFill>
                            <a:srgbClr val="1E293B"/>
                          </a:solidFill>
                          <a:latin typeface="Calibri"/>
                        </a:rPr>
                        <a:t>95</a:t>
                      </a:r>
                    </a:p>
                  </a:txBody>
                  <a:tcPr marL="91440" marR="91440" marT="36576" marB="36576"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Words>
  <Application>Microsoft Macintosh PowerPoint</Application>
  <PresentationFormat>Widescreen</PresentationFormat>
  <Paragraphs>1</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#LIAO ZIXIN#</dc:creator>
  <cp:lastModifiedBy>#LIAO ZIXIN#</cp:lastModifiedBy>
  <cp:revision>1</cp:revision>
  <dcterms:created xsi:type="dcterms:W3CDTF">2026-07-06T13:08:18Z</dcterms:created>
  <dcterms:modified xsi:type="dcterms:W3CDTF">2026-07-06T13:09:17Z</dcterms:modified>
</cp:coreProperties>
</file>