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3"/>
    <p:sldId id="257" r:id="rId2"/>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364"/>
  </p:normalViewPr>
  <p:slideViewPr>
    <p:cSldViewPr snapToGrid="0">
      <p:cViewPr varScale="1">
        <p:scale>
          <a:sx n="117" d="100"/>
          <a:sy n="117" d="100"/>
        </p:scale>
        <p:origin x="36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A3AAB8"/>
              </a:solidFill>
            </c:spPr>
          </c:dPt>
          <c:dPt>
            <c:idx val="1"/>
            <c:spPr>
              <a:solidFill>
                <a:srgbClr val="D29B08"/>
              </a:solidFill>
            </c:spPr>
          </c:dPt>
          <c:dPt>
            <c:idx val="2"/>
            <c:spPr>
              <a:solidFill>
                <a:srgbClr val="5C6FA6"/>
              </a:solidFill>
            </c:spPr>
          </c:dPt>
          <c:cat>
            <c:strRef>
              <c:f>Sheet1!$A$2:$A$4</c:f>
              <c:strCache>
                <c:ptCount val="3"/>
                <c:pt idx="0">
                  <c:v>VADER</c:v>
                </c:pt>
                <c:pt idx="1">
                  <c:v>GPT-4o-mini</c:v>
                </c:pt>
                <c:pt idx="2">
                  <c:v>GPT-4o</c:v>
                </c:pt>
              </c:strCache>
            </c:strRef>
          </c:cat>
          <c:val>
            <c:numRef>
              <c:f>Sheet1!$B$2:$B$4</c:f>
              <c:numCache>
                <c:formatCode>General</c:formatCode>
                <c:ptCount val="3"/>
                <c:pt idx="0">
                  <c:v>0.36</c:v>
                </c:pt>
                <c:pt idx="1">
                  <c:v>0.631</c:v>
                </c:pt>
                <c:pt idx="2">
                  <c:v>0.623</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dPt>
            <c:idx val="3"/>
            <c:spPr>
              <a:solidFill>
                <a:srgbClr val="D29B08"/>
              </a:solidFill>
            </c:spPr>
          </c:dPt>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0.639</c:v>
                </c:pt>
                <c:pt idx="1">
                  <c:v>0.504</c:v>
                </c:pt>
                <c:pt idx="2">
                  <c:v>0.6</c:v>
                </c:pt>
                <c:pt idx="3">
                  <c:v>0.68</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Representative (n = 295)</c:v>
                </c:pt>
              </c:strCache>
            </c:strRef>
          </c:tx>
          <c:spPr>
            <a:solidFill>
              <a:srgbClr val="A3AAB8"/>
            </a:solidFill>
          </c:spPr>
          <c:cat>
            <c:strRef>
              <c:f>Sheet1!$A$2:$A$4</c:f>
              <c:strCache>
                <c:ptCount val="3"/>
                <c:pt idx="0">
                  <c:v>Keyword rules</c:v>
                </c:pt>
                <c:pt idx="1">
                  <c:v>GPT-4o all posts</c:v>
                </c:pt>
                <c:pt idx="2">
                  <c:v>Hybrid</c:v>
                </c:pt>
              </c:strCache>
            </c:strRef>
          </c:cat>
          <c:val>
            <c:numRef>
              <c:f>Sheet1!$B$2:$B$4</c:f>
              <c:numCache>
                <c:formatCode>General</c:formatCode>
                <c:ptCount val="3"/>
                <c:pt idx="0">
                  <c:v>0.639</c:v>
                </c:pt>
                <c:pt idx="1">
                  <c:v>0.6</c:v>
                </c:pt>
                <c:pt idx="2">
                  <c:v>0.68</c:v>
                </c:pt>
              </c:numCache>
            </c:numRef>
          </c:val>
        </c:ser>
        <c:ser>
          <c:idx val="1"/>
          <c:order val="1"/>
          <c:tx>
            <c:strRef>
              <c:f>Sheet1!$C$1</c:f>
              <c:strCache>
                <c:ptCount val="1"/>
                <c:pt idx="0">
                  <c:v>Challenge, held out (n = 100)</c:v>
                </c:pt>
              </c:strCache>
            </c:strRef>
          </c:tx>
          <c:spPr>
            <a:solidFill>
              <a:srgbClr val="1C2E6E"/>
            </a:solidFill>
          </c:spPr>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0.596</c:v>
                </c:pt>
                <c:pt idx="2">
                  <c:v>0.509</c:v>
                </c:pt>
              </c:numCache>
            </c:numRef>
          </c:val>
        </c:ser>
        <c:dLbls>
          <c:numFmt formatCode="0.00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A3AAB8"/>
              </a:solidFill>
            </c:spPr>
          </c:dPt>
          <c:dPt>
            <c:idx val="1"/>
            <c:spPr>
              <a:solidFill>
                <a:srgbClr val="D29B08"/>
              </a:solidFill>
            </c:spPr>
          </c:dPt>
          <c:dPt>
            <c:idx val="2"/>
            <c:spPr>
              <a:solidFill>
                <a:srgbClr val="A3AAB8"/>
              </a:solidFill>
            </c:spPr>
          </c:dPt>
          <c:dPt>
            <c:idx val="3"/>
            <c:spPr>
              <a:solidFill>
                <a:srgbClr val="A3AAB8"/>
              </a:solidFill>
            </c:spPr>
          </c:dPt>
          <c:dPt>
            <c:idx val="4"/>
            <c:spPr>
              <a:solidFill>
                <a:srgbClr val="1C2E6E"/>
              </a:solidFill>
            </c:spPr>
          </c:dPt>
          <c:cat>
            <c:strRef>
              <c:f>Sheet1!$A$2:$A$6</c:f>
              <c:strCache>
                <c:ptCount val="5"/>
                <c:pt idx="0">
                  <c:v>Sentiment
VADER</c:v>
                </c:pt>
                <c:pt idx="1">
                  <c:v>Sentiment
GPT-4o-mini</c:v>
                </c:pt>
                <c:pt idx="2">
                  <c:v>Issues
rules</c:v>
                </c:pt>
                <c:pt idx="3">
                  <c:v>Issues
GPT-4o-mini</c:v>
                </c:pt>
                <c:pt idx="4">
                  <c:v>Issues
hybrid</c:v>
                </c:pt>
              </c:strCache>
            </c:strRef>
          </c:cat>
          <c:val>
            <c:numRef>
              <c:f>Sheet1!$B$2:$B$6</c:f>
              <c:numCache>
                <c:formatCode>General</c:formatCode>
                <c:ptCount val="5"/>
                <c:pt idx="0">
                  <c:v>0.428</c:v>
                </c:pt>
                <c:pt idx="1">
                  <c:v>0.637</c:v>
                </c:pt>
                <c:pt idx="2">
                  <c:v>0.413</c:v>
                </c:pt>
                <c:pt idx="3">
                  <c:v>0.44</c:v>
                </c:pt>
                <c:pt idx="4">
                  <c:v>0.477</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cat>
            <c:strRef>
              <c:f>Sheet1!$A$2:$A$4</c:f>
              <c:strCache>
                <c:ptCount val="3"/>
                <c:pt idx="0">
                  <c:v>Keyword rules</c:v>
                </c:pt>
                <c:pt idx="1">
                  <c:v>GPT-4o</c:v>
                </c:pt>
                <c:pt idx="2">
                  <c:v>GPT-4o-mini</c:v>
                </c:pt>
              </c:strCache>
            </c:strRef>
          </c:cat>
          <c:val>
            <c:numRef>
              <c:f>Sheet1!$B$2:$B$4</c:f>
              <c:numCache>
                <c:formatCode>General</c:formatCode>
                <c:ptCount val="3"/>
                <c:pt idx="0">
                  <c:v>0.81</c:v>
                </c:pt>
                <c:pt idx="1">
                  <c:v>0.25</c:v>
                </c:pt>
                <c:pt idx="2">
                  <c:v>0.06</c:v>
                </c:pt>
              </c:numCache>
            </c:numRef>
          </c:val>
        </c:ser>
        <c:dLbls>
          <c:numFmt formatCode="0%" sourceLinked="0"/>
          <c:txPr>
            <a:bodyPr/>
            <a:lstStyle/>
            <a:p>
              <a:pPr>
                <a:defRPr sz="16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AE5"/>
            </a:solidFill>
          </a:ln>
        </c:spPr>
        <c:txPr>
          <a:bodyPr/>
          <a:lstStyle/>
          <a:p>
            <a:pPr>
              <a:defRPr sz="1400">
                <a:solidFill>
                  <a:srgbClr val="1E293B"/>
                </a:solidFill>
                <a:latin typeface="Calibri"/>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4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Keyword rules</c:v>
                </c:pt>
              </c:strCache>
            </c:strRef>
          </c:tx>
          <c:spPr>
            <a:solidFill>
              <a:srgbClr val="A3AAB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8786</c:v>
                </c:pt>
                <c:pt idx="1">
                  <c:v>3607</c:v>
                </c:pt>
                <c:pt idx="2">
                  <c:v>1574</c:v>
                </c:pt>
                <c:pt idx="3">
                  <c:v>1348</c:v>
                </c:pt>
                <c:pt idx="4">
                  <c:v>1028</c:v>
                </c:pt>
                <c:pt idx="5">
                  <c:v>811</c:v>
                </c:pt>
              </c:numCache>
            </c:numRef>
          </c:val>
        </c:ser>
        <c:ser>
          <c:idx val="1"/>
          <c:order val="1"/>
          <c:tx>
            <c:strRef>
              <c:f>Sheet1!$C$1</c:f>
              <c:strCache>
                <c:ptCount val="1"/>
                <c:pt idx="0">
                  <c:v>Rules + GPT-4o hybrid</c:v>
                </c:pt>
              </c:strCache>
            </c:strRef>
          </c:tx>
          <c:spPr>
            <a:solidFill>
              <a:srgbClr val="D29B0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6180</c:v>
                </c:pt>
                <c:pt idx="1">
                  <c:v>5687</c:v>
                </c:pt>
                <c:pt idx="2">
                  <c:v>1610</c:v>
                </c:pt>
                <c:pt idx="3">
                  <c:v>1524</c:v>
                </c:pt>
                <c:pt idx="4">
                  <c:v>1300</c:v>
                </c:pt>
                <c:pt idx="5">
                  <c:v>1016</c:v>
                </c:pt>
              </c:numCache>
            </c:numRef>
          </c:val>
        </c:ser>
        <c:dLbls>
          <c:numFmt formatCode="#,##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1000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VADER, all posts</c:v>
                </c:pt>
              </c:strCache>
            </c:strRef>
          </c:tx>
          <c:spPr>
            <a:solidFill>
              <a:srgbClr val="A3AAB8"/>
            </a:solidFill>
          </c:spPr>
          <c:cat>
            <c:strRef>
              <c:f>Sheet1!$A$2:$A$4</c:f>
              <c:strCache>
                <c:ptCount val="3"/>
                <c:pt idx="0">
                  <c:v>Happy</c:v>
                </c:pt>
                <c:pt idx="1">
                  <c:v>Not happy</c:v>
                </c:pt>
                <c:pt idx="2">
                  <c:v>Neutral</c:v>
                </c:pt>
              </c:strCache>
            </c:strRef>
          </c:cat>
          <c:val>
            <c:numRef>
              <c:f>Sheet1!$B$2:$B$4</c:f>
              <c:numCache>
                <c:formatCode>General</c:formatCode>
                <c:ptCount val="3"/>
                <c:pt idx="0">
                  <c:v>46</c:v>
                </c:pt>
                <c:pt idx="1">
                  <c:v>28</c:v>
                </c:pt>
                <c:pt idx="2">
                  <c:v>27</c:v>
                </c:pt>
              </c:numCache>
            </c:numRef>
          </c:val>
        </c:ser>
        <c:ser>
          <c:idx val="1"/>
          <c:order val="1"/>
          <c:tx>
            <c:strRef>
              <c:f>Sheet1!$C$1</c:f>
              <c:strCache>
                <c:ptCount val="1"/>
                <c:pt idx="0">
                  <c:v>GPT-4o-mini, all posts</c:v>
                </c:pt>
              </c:strCache>
            </c:strRef>
          </c:tx>
          <c:spPr>
            <a:solidFill>
              <a:srgbClr val="D29B08"/>
            </a:solidFill>
          </c:spPr>
          <c:cat>
            <c:strRef>
              <c:f>Sheet1!$A$2:$A$4</c:f>
              <c:strCache>
                <c:ptCount val="3"/>
                <c:pt idx="0">
                  <c:v>Happy</c:v>
                </c:pt>
                <c:pt idx="1">
                  <c:v>Not happy</c:v>
                </c:pt>
                <c:pt idx="2">
                  <c:v>Neutral</c:v>
                </c:pt>
              </c:strCache>
            </c:strRef>
          </c:cat>
          <c:val>
            <c:numRef>
              <c:f>Sheet1!$C$2:$C$4</c:f>
              <c:numCache>
                <c:formatCode>General</c:formatCode>
                <c:ptCount val="3"/>
                <c:pt idx="0">
                  <c:v>19</c:v>
                </c:pt>
                <c:pt idx="1">
                  <c:v>44</c:v>
                </c:pt>
                <c:pt idx="2">
                  <c:v>37</c:v>
                </c:pt>
              </c:numCache>
            </c:numRef>
          </c:val>
        </c:ser>
        <c:ser>
          <c:idx val="2"/>
          <c:order val="2"/>
          <c:tx>
            <c:strRef>
              <c:f>Sheet1!$D$1</c:f>
              <c:strCache>
                <c:ptCount val="1"/>
                <c:pt idx="0">
                  <c:v>Human labels, gold set</c:v>
                </c:pt>
              </c:strCache>
            </c:strRef>
          </c:tx>
          <c:spPr>
            <a:solidFill>
              <a:srgbClr val="1C2E6E"/>
            </a:solidFill>
          </c:spPr>
          <c:cat>
            <c:strRef>
              <c:f>Sheet1!$A$2:$A$4</c:f>
              <c:strCache>
                <c:ptCount val="3"/>
                <c:pt idx="0">
                  <c:v>Happy</c:v>
                </c:pt>
                <c:pt idx="1">
                  <c:v>Not happy</c:v>
                </c:pt>
                <c:pt idx="2">
                  <c:v>Neutral</c:v>
                </c:pt>
              </c:strCache>
            </c:strRef>
          </c:cat>
          <c:val>
            <c:numRef>
              <c:f>Sheet1!$D$2:$D$4</c:f>
              <c:numCache>
                <c:formatCode>General</c:formatCode>
                <c:ptCount val="3"/>
                <c:pt idx="0">
                  <c:v>18</c:v>
                </c:pt>
                <c:pt idx="1">
                  <c:v>50</c:v>
                </c:pt>
                <c:pt idx="2">
                  <c:v>32</c:v>
                </c:pt>
              </c:numCache>
            </c:numRef>
          </c:val>
        </c:ser>
        <c:dLbls>
          <c:numFmt formatCode="0&quot;%&quot;"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7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Professor. Today I'll walk you through my capstone from the start: the problem, the data and pipeline, how I evaluated the models, what the data shows, and what I'd recommend.</a:t>
            </a:r>
          </a:p>
          <a:p/>
          <a:p>
            <a:r>
              <a:t>One-sentence summary: I built a pipeline that turns Reddit and HardwareZone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Singapore customers talk about plans, coverage, roaming and porting on Reddit and HardwareZone every day. That's unsolicited feedback an operator doesn't have to pay for, but it's messy: Singlish, sarcasm, quoted replies, several brands in one post.</a:t>
            </a:r>
          </a:p>
          <a:p/>
          <a:p>
            <a:r>
              <a:t>I framed the goal as an early-warning screen. It tells a team 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the data sources, the six pipeline stages, and two data problems I had to solve.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system. Scrapers pull Reddit through its public JSON interface and HardwareZone threads from its XenForo forums. Preprocessing maps both into one schema. The telco labeler detects brands and scores sentiment with VADER. Issue extraction applies ten keyword-rule labels, then GPT-4o on the posts the rules couldn't place. The evaluation script scores every method against blind human labels, and the dashboard generator writes a static HTML report.</a:t>
            </a:r>
          </a:p>
          <a:p/>
          <a:p>
            <a:r>
              <a:t>Each stage writes a CSV to data/processed, so I can trace any number in the report back to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wave, up to 9 April, looked large: 15,504 rows. But it held only 2,693 unique posts, because the scraper saved the same comments on repeated runs, and 47 of its 152 threads were off-topic. Worse, 39% of what remained sat in threads about one Singtel outage.</a:t>
            </a:r>
          </a:p>
          <a:p/>
          <a:p>
            <a:r>
              <a:t>So I collected a second wave, April to September: the newest HWZ thread pages, and Reddit posts and replies from the Arctic Shift research archive, because Reddit now blocks unauthenticated access. After removing duplicates by post ID and dropping off-topic threads, the combined corpus has 9,162 posts in 349 threads, and only 12% are in outage threads.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that looks trivial but wasn't: Eight is a telco brand and an ordinary word. A naive match turned 'I took eight buses' into an Eight Telecom mention. So is_eight_telco_reference()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designed the taxonomy around who would act on it. Each label maps to a team, so a spike becomes a routed task rather than a chart. Issues are multi-label, because one post can complain about roaming and billing at once. Sentiment is one label per post. General Discussion is the residual: used only when no specific label fits, never alongside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is the core of the project: how I built trustworthy gold labels and what they say about VADER, keyword rules, GPT-4o-mini and GPT-4o.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on I had a 150-post file showing VADER at 100% accuracy. That was too good, and when I checked, every 'manual' label matched VADER exactly: the sheet had been prefilled by the model. So I discarded it and rebuilt the evaluation properly.</a:t>
            </a:r>
          </a:p>
          <a:p/>
          <a:p>
            <a:r>
              <a:t>The new package hides every model column. Threads are split so the representative and challenge sets never share a thread, with at most five comments per thread. I labelled 300 representative posts (295 telco-relevant, used for headline metrics) and 100 challenge posts chosen for sarcasm, Singlish, mixed brands and long text. Challenge results are reported separately, never pooled. A second annotator has since labelled 100 overlap posts.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295 representative posts, VADER's macro F1 is 0.360; GPT-4o-mini reaches 0.631. The clearest failure: of 147 posts I labelled not happy, VADER called 61 of them happy. Its lexicon sees words like 'better' and '$12' and misses that the person just switched away.</a:t>
            </a:r>
          </a:p>
          <a:p/>
          <a:p>
            <a:r>
              <a:t>I bootstrapped the difference: mini beats VADER by 0.27, 95% interval 0.19 to 0.35, so this is not noise. GPT-4o is statistically tied with mini (interval −0.04 to +0.06) at about 17 times the cost, so mini is the right choice for sentiment. It also holds on the hard challenge posts: mini 0.773, GPT-4o 0.712, VADER 0.491. And a second mini run reproduced 292 of 295 labels, so it's stable.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surprised me. Keyword rules score 0.639 macro F1. Running GPT-4o-mini on every post scores only 0.504, and GPT-4o 0.600, which is statistically a tie with rules. The LLMs are precise but incomplete: they return one or two topics when the post has several.</a:t>
            </a:r>
          </a:p>
          <a:p/>
          <a:p>
            <a:r>
              <a:t>So I built a hybrid. Rules label everything; the 98 gold posts that rules left as General Discussion go to GPT-4o, which reassigned 70 of them. That scores 0.680, the only method that beats rules on this set, with a bootstrap interval of +0.011 to +0.072. But I designed it after seeing these results, so the next slide tests it on posts it wasn't designed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I'm most careful about. On the 100 challenge posts, which the hybrid never saw, its gain over rules shrinks to 0.01, well inside the noise: the interval is −0.04 to +0.07. GPT-4o labelling every post wins there instead, 0.596, beating both rules and the hybrid with intervals clear of zero. It does better on customer service, roaming and billing, while rules still catch more device posts.</a:t>
            </a:r>
          </a:p>
          <a:p/>
          <a:p>
            <a:r>
              <a:t>So the honest reading is split. On typical posts, which is what the corpus looks like, the hybrid is best, but its 0.680 is optimistic. On hard posts, GPT-4o on every post is best. Sentiment, by contrast, held up on both 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findings use the combined corpus, but my original gold labels were all wave-1 posts. So I labelled a blind sample of 100 wave-2 posts, 97 of them telco-relevant, and scored the labels already in the corpus against it. No new API calls.</a:t>
            </a:r>
          </a:p>
          <a:p/>
          <a:p>
            <a:r>
              <a:t>Sentiment carries over: GPT-4o-mini 0.637 against VADER 0.428, the same as on wave 1, on both Reddit and HWZ. But the error has a direction: of 39 posts I called not happy, mini called 15 neutral. So the corpus not-happy share is probably an underestimate. Issues are harder on wave 2 for every method; the hybrid still beats rules, but only reaches 0.477.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all-row LLMs lose on issues? Devices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p>
            <a:r>
              <a:t>This is why the hybrid keeps rule hits and only uses the LLM where rules have nothing. The gap holds on the challenge set too: rules 75%, GPT-4o 33%.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examples, paraphrased. A short status update like 'eSIM still down' has no sentiment words, so VADER says neutral. A switching story with 'better' and 'just $12' reads as happy to VADER, but it's a complaint about 5G drops. Elongated slang is outside the lexicon. And a user ready to port out after an outage is unhappy, whatever words they use. The LLM gets all four right.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was a design constraint. Evaluating mini on 295 posts cost under one cent; GPT-4o on the same posts cost 15 cents. The biggest job sent 8,786 unresolved wave-1 posts to GPT-4o: about 30 minutes, zero failed batches, $3.45. The same pass on wave 2 cost $1.35, and sentiment on all 9,162 combined posts cost 28 cents. The finished jobs total about $5.30; a wave-2 first pass I discarded, because it sent Reddit posts without their thread titles, added about $1.15. VADER and the rules label the same posts in a fraction of a second for free.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what GPT-4o-mini sentiment and the hybrid issue labels show on the 9,162-post combined corpus, the March outage as a case study, then a short dashboard demo.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first-wave corpus, where I ran the hybrid first. Rules alone left 8,786 posts, 57%, in General Discussion. After GPT-4o relabelled them, that dropped to 6,180. Most of the reassigned posts became Network Quality, which gained 2,080. Devices barely moved, which matches the gold result: rules already catch device posts.</a:t>
            </a:r>
          </a:p>
          <a:p/>
          <a:p>
            <a:r>
              <a:t>These corpus reassignments have no human check yet. Before they drive an alert, I'd sample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combined corpus, GPT-4o-mini labels 44% of posts not happy and 19% happy. With every thread weighted equally it's 42%, and outside outage threads 40%, so this holds across weightings. VADER on the same posts says the opposite: 46% happy. Of the 4,180 posts VADER calls happy, mini reads 1,480 as not happy.</a:t>
            </a:r>
          </a:p>
          <a:p/>
          <a:p>
            <a:r>
              <a:t>Neutral is higher than in my gold set, 37% against 32%. The wave-2 gold check explains it: on newer posts mini reads some complaints as neutral, so if anything the true not-happy share is higher.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quality is still first, 37 to 41% of posts and 46% of the not-happy discussion. Mobile plans are second and pricing third. App and account is small per post but spread across 115 threads.</a:t>
            </a:r>
          </a:p>
          <a:p/>
          <a:p>
            <a:r>
              <a:t>Reddit is 48% not happy against HWZ 37% per post, 42 against 37 outside outages. The rest is topic: HWZ is mostly plan megathreads. Brands outside outages sit within three points, 40 to 43%, except Eight, the least negative at 35% under every weighting. So no league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Wave 1 is a natural experiment. 39% of it sat in threads about the 16 March Singtel outage. That single event pushed not happy to 55%, made Singtel look uniquely negative at 63%, and made Reddit look far more negative than HWZ, 60 against 40.</a:t>
            </a:r>
          </a:p>
          <a:p/>
          <a:p>
            <a:r>
              <a:t>Remove the outage threads and all three collapse: 42% not happy, Singtel 44% level with StarHub 47%, Reddit 43 against HWZ 40. That's why every finding in this deck is checked with and without them, and why I didn't trust wave 1 alone.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built around one meeting. Step one, the queue: not-happy posts in Network Quality, App &amp; Account or Porting, but only act when the week is unusual. Step two, open ten source posts and drop sarcasm and mislabels. Step three, match what's left to tickets or outages. Step four, one owner and a date. Step five, next week, check whether that issue's share fell.</a:t>
            </a:r>
          </a:p>
          <a:p/>
          <a:p>
            <a:r>
              <a:t>A fixed threshold of 20 posts fired almost every week once I had more data, so the threshold is now twice the median week, 115 posts. Only two weeks qualify: the March Singtel outage, 352 posts, and 14 September, 149 posts, a multi-brand week with StarHub broadband down and SIMBA app OTP failures. That's the alert working.</a:t>
            </a:r>
          </a:p>
          <a:p/>
          <a:p>
            <a:r>
              <a:t>[Demo] Open dashboard/index_v2.html. Walk through: executive summary, the weekly queue chart, the tone chart next to VADER and human labels, issue shares per post and per thread, and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comes from the data: each issue's share of not-happy discussion on the combined corpus. Network is first by far, and the huddle flagged two incident weeks, so the first action is incident communication, then proving local fixes. Plans and pricing come next: terms people discover late, like fair-use limits and Caller ID charges. Devices and the app are small but steady.</a:t>
            </a:r>
          </a:p>
          <a:p/>
          <a:p>
            <a:r>
              <a:t>Billing and customer service are the most negative by rate but small, and in the outage case study they were aftercare, so that's a plan for incidents rather than a standing priority. My earlier App &amp; Account priority, from the 158-post sample, is withdrawn.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surprised me.</a:t>
            </a:r>
          </a:p>
          <a:p/>
          <a:p>
            <a:r>
              <a:t>First, the perfect score. A 100% result was the warning sign, not the achievement, and catching it changed how I ran the whole evaluation.</a:t>
            </a:r>
          </a:p>
          <a:p/>
          <a:p>
            <a:r>
              <a:t>Second, the bigger model didn't win on sentiment. GPT-4o ties mini at 17 times the cost, on typical and hard posts.</a:t>
            </a:r>
          </a:p>
          <a:p/>
          <a:p>
            <a:r>
              <a:t>Third, my best issue method didn't survive a held-out test. That's exactly why you keep a test set you don't tune on.</a:t>
            </a:r>
          </a:p>
          <a:p/>
          <a:p>
            <a:r>
              <a:t>Fourth, two gaps that looked like insights, Reddit versus HWZ and Singtel versus everyone, were one outage.</a:t>
            </a:r>
          </a:p>
          <a:p/>
          <a:p>
            <a:r>
              <a:t>Fifth, the data itself had bugs: 15,504 rows were 2,693 unique posts, and the HWZ scraper had only ever read page one of each thread. Fixing that is what made wave 2 possible.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data side: forum users choose to post, so they aren't Singapore subscribers at large; replies cluster by thread; 95% of posts are from 2026; wave-2 Reddit comes from a research archive, which can miss deleted posts; and I have no tickets or NPS to validate against.</a:t>
            </a:r>
          </a:p>
          <a:p/>
          <a:p>
            <a:r>
              <a:t>On the method side: mini matches my labels on about two-thirds of posts, and two humans only agree at kappa 0.39; on the wave-2 gold sample sentiment holds but mini under-calls complaints and issue tagging is weaker; the hybrid's 0.680 is optimistic; and a multi-brand post gives its one sentiment to every brand.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One: improve wave-2 issue tagging, which scores well below wave 1, starting with customer service, and have a second annotator label part of the wave-2 sample. Two: adjudicate the remaining disagreements between the two annotators. Three: settle hybrid versus GPT-4o on every post with a fresh held-out sample, since my gold sets disagree. Four: brand-level sentiment, so a post praising StarHub and criticising Singtel gets two labels, and validation against real tickets.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I'll only show these if the question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Why not use GPT-4o for everything?</a:t>
            </a:r>
          </a:p>
          <a:p>
            <a:r>
              <a:t>A: On typical posts GPT-4o on every post ties rules (0.600 vs 0.639) and costs ~17× mini. On hard posts it wins (0.596 vs 0.499). At ~$0.0005 a post it’s affordable on a deduplicated feed; I’d settle it on fresh held-out data.</a:t>
            </a:r>
          </a:p>
          <a:p>
            <a:r>
              <a:t>If pushed on cost: the whole clean corpus with GPT-4o on every post would be about $0.85.</a:t>
            </a:r>
          </a:p>
          <a:p/>
          <a:p>
            <a:r>
              <a:t>Q: Is the hybrid’s gain real?</a:t>
            </a:r>
          </a:p>
          <a:p>
            <a:r>
              <a:t>A: On the set I tuned it on, yes: +0.041, 95% CI +0.011 to +0.072. On the held-out challenge set, no: +0.010, CI −0.04 to +0.07. So I report 0.680 as optimistic.</a:t>
            </a:r>
          </a:p>
          <a:p>
            <a:r>
              <a:t>Paired bootstrap, 2,000 resamples of posts. Challenge-set gain of GPT-4o over the hybrid: +0.087, CI +0.017 to +0.151.</a:t>
            </a:r>
          </a:p>
          <a:p/>
          <a:p>
            <a:r>
              <a:t>Q: How reliable are your labels?</a:t>
            </a:r>
          </a:p>
          <a:p>
            <a:r>
              <a:t>A: Two annotators agree at κ 0.39 on typical posts and 0.59 on hard ones, mostly split on complaint vs neutral. The guide now has an explicit rule for failure reports.</a:t>
            </a:r>
          </a:p>
          <a:p>
            <a:r>
              <a:t>Per-label issue κ on the representative overlap: Network Quality 0.79, but Devices 0.16, App &amp; Account 0.17 and Customer Service 0.28. Two earlier versions of B's sheet were superseded because they copied my labels; the one used was relabelled with B's own notes.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How good is GPT-4o-mini on the corpus?</a:t>
            </a:r>
          </a:p>
          <a:p>
            <a:r>
              <a:t>A: F1 0.631 on wave-1 gold and 0.637 on a separate wave-2 gold sample; a rerun reproduced 292 of 295 labels. On wave 2 it under-calls complaints, so not-happy is likely understated.</a:t>
            </a:r>
          </a:p>
          <a:p>
            <a:r>
              <a:t>Mini's weakest class is happy (F1 0.54). Corpus shares are estimates, not measurements.</a:t>
            </a:r>
          </a:p>
          <a:p/>
          <a:p>
            <a:r>
              <a:t>Q: How do you handle sarcasm and Singlish?</a:t>
            </a:r>
          </a:p>
          <a:p>
            <a:r>
              <a:t>A: VADER can’t; the challenge set targets these cases. There GPT-4o-mini reaches 0.773 macro F1 vs VADER 0.491 and GPT-4o 0.712.</a:t>
            </a:r>
          </a:p>
          <a:p/>
          <a:p>
            <a:r>
              <a:t>Q: Why keep VADER at all?</a:t>
            </a:r>
          </a:p>
          <a:p>
            <a:r>
              <a:t>A: It’s free, local and deterministic: a baseline to beat. I no longer use it for any headline share.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Is Reddit more negative than HWZ? Is Singtel worst?</a:t>
            </a:r>
          </a:p>
          <a:p>
            <a:r>
              <a:t>A: Outside outage threads, Reddit 42% vs HWZ 37%, mostly topic mix; brands sit within 3 points (Singtel 42%, StarHub 40%), with Eight lowest at 35%.</a:t>
            </a:r>
          </a:p>
          <a:p/>
          <a:p>
            <a:r>
              <a:t>Q: What about privacy and ethics?</a:t>
            </a:r>
          </a:p>
          <a:p>
            <a:r>
              <a:t>A: Public posts only, no usernames in outputs, no identifiers sent to the API, and API keys kept in environment variables, never in code.</a:t>
            </a:r>
          </a:p>
          <a:p/>
          <a:p>
            <a:r>
              <a:t>Q: Can this estimate NPS or market share?</a:t>
            </a:r>
          </a:p>
          <a:p>
            <a:r>
              <a:t>A: No. Posters self-select, replies cluster by thread, and 95% of posts are from 2026. It’s a triage queue, not a population measure.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on the 100 overlap posts, per set. Representative sentiment kappa is 0.39, fair; challenge is 0.59. Most disagreements are one pattern: posts I labelled not happy that the second annotator labelled neutral, typically questions about compensation, troubleshooting tips or second-hand reports. My guide never said whether a failure report is a complaint or a fact; it now does, and the second annotator's final pass applied that rule.</a:t>
            </a:r>
          </a:p>
          <a:p/>
          <a:p>
            <a:r>
              <a:t>Two earlier versions of the second annotator's sheet are superseded: the first contradicted their own notes and matched mine, the second only revised sentiment. The version used was relabelled with their own notes throughout; no notes match mine and 9 of 40 challenge rows match on every field. Issue agreement is high for network quality, 0.79, but low for devices, app and customer service.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Per-class detail. VADER's weakness is not-happy recall: 0.34. GPT-4o-mini recovers 79% of complaints. GPT-4o is more conservative on happy, with recall 0.38, which is why it doesn't beat mini overall.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chart" Target="../charts/char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chart" Target="../charts/char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rIns="0" tIns="0" bIns="0" anchor="t">
            <a:spAutoFit/>
          </a:bodyPr>
          <a:lstStyle/>
          <a:p>
            <a:pPr algn="l">
              <a:spcAft>
                <a:spcPts val="0"/>
              </a:spcAft>
            </a:pPr>
            <a:r>
              <a:rPr sz="4400" b="1" i="0">
                <a:solidFill>
                  <a:srgbClr val="1C2E6E"/>
                </a:solidFill>
                <a:latin typeface="Calibri"/>
              </a:rPr>
              <a:t>From Forum Posts</a:t>
            </a:r>
          </a:p>
          <a:p>
            <a:pPr algn="l">
              <a:spcAft>
                <a:spcPts val="0"/>
              </a:spcAft>
            </a:pPr>
            <a:r>
              <a:rPr sz="4400" b="1" i="0">
                <a:solidFill>
                  <a:srgbClr val="1C2E6E"/>
                </a:solidFill>
                <a:latin typeface="Calibri"/>
              </a:rPr>
              <a:t>to Telco Actions</a:t>
            </a:r>
          </a:p>
        </p:txBody>
      </p:sp>
      <p:sp>
        <p:nvSpPr>
          <p:cNvPr id="4" name="TextBox 3"/>
          <p:cNvSpPr txBox="1"/>
          <p:nvPr/>
        </p:nvSpPr>
        <p:spPr>
          <a:xfrm>
            <a:off x="822959" y="3246120"/>
            <a:ext cx="6766560" cy="109728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Public sentiment analysis of Singapore mobile-plan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rIns="0" t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September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463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9,162</a:t>
            </a:r>
          </a:p>
        </p:txBody>
      </p:sp>
      <p:sp>
        <p:nvSpPr>
          <p:cNvPr id="8" name="TextBox 7"/>
          <p:cNvSpPr txBox="1"/>
          <p:nvPr/>
        </p:nvSpPr>
        <p:spPr>
          <a:xfrm>
            <a:off x="8321040" y="1965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unique posts in 349 telco threads</a:t>
            </a:r>
          </a:p>
        </p:txBody>
      </p:sp>
      <p:sp>
        <p:nvSpPr>
          <p:cNvPr id="9" name="TextBox 8"/>
          <p:cNvSpPr txBox="1"/>
          <p:nvPr/>
        </p:nvSpPr>
        <p:spPr>
          <a:xfrm>
            <a:off x="8321040" y="2606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395</a:t>
            </a:r>
          </a:p>
        </p:txBody>
      </p:sp>
      <p:sp>
        <p:nvSpPr>
          <p:cNvPr id="10" name="TextBox 9"/>
          <p:cNvSpPr txBox="1"/>
          <p:nvPr/>
        </p:nvSpPr>
        <p:spPr>
          <a:xfrm>
            <a:off x="8321040" y="3108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0.631</a:t>
            </a:r>
          </a:p>
        </p:txBody>
      </p:sp>
      <p:sp>
        <p:nvSpPr>
          <p:cNvPr id="12" name="TextBox 11"/>
          <p:cNvSpPr txBox="1"/>
          <p:nvPr/>
        </p:nvSpPr>
        <p:spPr>
          <a:xfrm>
            <a:off x="8321040" y="4251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sentiment macro F1, GPT-4o-mini (VADER 0.360)</a:t>
            </a:r>
          </a:p>
        </p:txBody>
      </p:sp>
      <p:sp>
        <p:nvSpPr>
          <p:cNvPr id="13" name="TextBox 12"/>
          <p:cNvSpPr txBox="1"/>
          <p:nvPr/>
        </p:nvSpPr>
        <p:spPr>
          <a:xfrm>
            <a:off x="8321040" y="4892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 $6.50</a:t>
            </a:r>
          </a:p>
        </p:txBody>
      </p:sp>
      <p:sp>
        <p:nvSpPr>
          <p:cNvPr id="14" name="TextBox 13"/>
          <p:cNvSpPr txBox="1"/>
          <p:nvPr/>
        </p:nvSpPr>
        <p:spPr>
          <a:xfrm>
            <a:off x="8321040" y="5394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for all LLM work combined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Roadmap for the next 22 minutes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10634472" cy="365760"/>
          </a:xfrm>
          <a:prstGeom prst="rect">
            <a:avLst/>
          </a:prstGeom>
          <a:noFill/>
        </p:spPr>
        <p:txBody>
          <a:bodyPr wrap="square" lIns="0" rIns="0" t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868680"/>
          </a:xfrm>
          <a:prstGeom prst="rect">
            <a:avLst/>
          </a:prstGeom>
          <a:noFill/>
        </p:spPr>
        <p:txBody>
          <a:bodyPr wrap="square" lIns="0" rIns="0" tIns="0" bIns="0" anchor="t">
            <a:spAutoFit/>
          </a:bodyPr>
          <a:lstStyle/>
          <a:p>
            <a:pPr algn="l">
              <a:spcAft>
                <a:spcPts val="600"/>
              </a:spcAft>
            </a:pPr>
            <a:r>
              <a:rPr sz="1800" b="1" i="0">
                <a:solidFill>
                  <a:srgbClr val="1E293B"/>
                </a:solidFill>
                <a:latin typeface="Calibri"/>
              </a:rPr>
              <a:t>Use an LLM for sentiment. </a:t>
            </a:r>
            <a:r>
              <a:rPr sz="1800" b="0" i="0">
                <a:solidFill>
                  <a:srgbClr val="1E293B"/>
                </a:solidFill>
                <a:latin typeface="Calibri"/>
              </a:rPr>
              <a:t>For issues, use keyword rules plus a targeted GPT-4o pass, and report honestly where that fails. </a:t>
            </a:r>
            <a:r>
              <a:rPr sz="1800" b="1" i="0">
                <a:solidFill>
                  <a:srgbClr val="1E293B"/>
                </a:solidFill>
                <a:latin typeface="Calibri"/>
              </a:rPr>
              <a:t>Put a person in the loop before acting. </a:t>
            </a:r>
            <a:r>
              <a:rPr sz="1800" b="0" i="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Customers discuss plans, coverage, roaming and porting in public, unprompted</a:t>
            </a:r>
          </a:p>
          <a:p>
            <a:pPr algn="l" marL="256032" indent="-256032">
              <a:spcAft>
                <a:spcPts val="1400"/>
              </a:spcAft>
              <a:buClr>
                <a:srgbClr val="D29B08"/>
              </a:buClr>
              <a:buFont typeface="Arial"/>
              <a:buChar char="•"/>
            </a:pPr>
            <a:r>
              <a:rPr sz="1700" b="0" i="0">
                <a:solidFill>
                  <a:srgbClr val="1E293B"/>
                </a:solidFill>
                <a:latin typeface="Calibri"/>
              </a:rPr>
              <a:t>The text is hard: Singlish, sarcasm, quoted replies, several brands in one post</a:t>
            </a:r>
          </a:p>
          <a:p>
            <a:pPr algn="l" marL="256032" indent="-256032">
              <a:spcAft>
                <a:spcPts val="1400"/>
              </a:spcAft>
              <a:buClr>
                <a:srgbClr val="D29B08"/>
              </a:buClr>
              <a:buFont typeface="Arial"/>
              <a:buChar char="•"/>
            </a:pPr>
            <a:r>
              <a:rPr sz="1700" b="0" i="0">
                <a:solidFill>
                  <a:srgbClr val="1E293B"/>
                </a:solidFill>
                <a:latin typeface="Calibri"/>
              </a:rPr>
              <a:t>Brand names collide with ordinary words: “Eight”, “M1”, “Giga”</a:t>
            </a:r>
          </a:p>
          <a:p>
            <a:pPr algn="l" marL="256032" indent="-256032">
              <a:spcAft>
                <a:spcPts val="1400"/>
              </a:spcAft>
              <a:buClr>
                <a:srgbClr val="D29B08"/>
              </a:buClr>
              <a:buFont typeface="Arial"/>
              <a:buChar char="•"/>
            </a:pPr>
            <a:r>
              <a:rPr sz="1700" b="0" i="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72200" y="173736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283464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393192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502920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Reddit JSON API, HWZ XenForo threads</a:t>
            </a:r>
          </a:p>
        </p:txBody>
      </p:sp>
      <p:sp>
        <p:nvSpPr>
          <p:cNvPr id="12" name="TextBox 11"/>
          <p:cNvSpPr txBox="1"/>
          <p:nvPr/>
        </p:nvSpPr>
        <p:spPr>
          <a:xfrm>
            <a:off x="2455164"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76772"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10 keyword labels, then GPT-4o on leftovers</a:t>
            </a:r>
          </a:p>
        </p:txBody>
      </p:sp>
      <p:sp>
        <p:nvSpPr>
          <p:cNvPr id="18" name="TextBox 17"/>
          <p:cNvSpPr txBox="1"/>
          <p:nvPr/>
        </p:nvSpPr>
        <p:spPr>
          <a:xfrm>
            <a:off x="8037576"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74920"/>
            <a:ext cx="10634472" cy="86868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Two collection waves, 9,162 posts worth analysing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1,711</a:t>
            </a:r>
          </a:p>
        </p:txBody>
      </p:sp>
      <p:sp>
        <p:nvSpPr>
          <p:cNvPr id="6" name="TextBox 5"/>
          <p:cNvSpPr txBox="1"/>
          <p:nvPr/>
        </p:nvSpPr>
        <p:spPr>
          <a:xfrm>
            <a:off x="77724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wave 1 posts (to 9 Apr 2026)</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+7,451</a:t>
            </a:r>
          </a:p>
        </p:txBody>
      </p:sp>
      <p:sp>
        <p:nvSpPr>
          <p:cNvPr id="9" name="TextBox 8"/>
          <p:cNvSpPr txBox="1"/>
          <p:nvPr/>
        </p:nvSpPr>
        <p:spPr>
          <a:xfrm>
            <a:off x="361188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wave 2 posts (Apr–Sep 2026)</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9,162</a:t>
            </a:r>
          </a:p>
        </p:txBody>
      </p:sp>
      <p:sp>
        <p:nvSpPr>
          <p:cNvPr id="12" name="TextBox 11"/>
          <p:cNvSpPr txBox="1"/>
          <p:nvPr/>
        </p:nvSpPr>
        <p:spPr>
          <a:xfrm>
            <a:off x="644652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in 349 telco 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12%</a:t>
            </a:r>
          </a:p>
        </p:txBody>
      </p:sp>
      <p:sp>
        <p:nvSpPr>
          <p:cNvPr id="15" name="TextBox 14"/>
          <p:cNvSpPr txBox="1"/>
          <p:nvPr/>
        </p:nvSpPr>
        <p:spPr>
          <a:xfrm>
            <a:off x="928116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in outage threads (was 39%)</a:t>
            </a: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43400"/>
            <a:ext cx="1063447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The first wave mostly measured one outage. Wave 2 adds six months of ordinary discussion, and HWZ grows from 454 to 3,451 posts. Every share is shown per post and per thread.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“took eight buses to get home”</a:t>
            </a:r>
          </a:p>
          <a:p>
            <a:pPr algn="l" marL="256032" indent="-256032">
              <a:spcAft>
                <a:spcPts val="800"/>
              </a:spcAft>
              <a:buClr>
                <a:srgbClr val="D29B08"/>
              </a:buClr>
              <a:buFont typeface="Arial"/>
              <a:buChar char="•"/>
            </a:pPr>
            <a:r>
              <a:rPr sz="1600" b="0" i="0">
                <a:solidFill>
                  <a:srgbClr val="1E293B"/>
                </a:solidFill>
                <a:latin typeface="Calibri"/>
              </a:rPr>
              <a:t>“eight people in my team”</a:t>
            </a:r>
          </a:p>
          <a:p>
            <a:pPr algn="l" marL="256032" indent="-256032">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“Eight Telecom’s new SIM-only plan”</a:t>
            </a:r>
          </a:p>
          <a:p>
            <a:pPr algn="l" marL="256032" indent="-256032">
              <a:spcAft>
                <a:spcPts val="800"/>
              </a:spcAft>
              <a:buClr>
                <a:srgbClr val="D29B08"/>
              </a:buClr>
              <a:buFont typeface="Arial"/>
              <a:buChar char="•"/>
            </a:pPr>
            <a:r>
              <a:rPr sz="1600" b="0" i="0">
                <a:solidFill>
                  <a:srgbClr val="1E293B"/>
                </a:solidFill>
                <a:latin typeface="Calibri"/>
              </a:rPr>
              <a:t>“ported to eight, it runs on StarHub’s network”</a:t>
            </a:r>
          </a:p>
          <a:p>
            <a:pPr algn="l" marL="256032" indent="-256032">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Network Quality</a:t>
            </a:r>
          </a:p>
        </p:txBody>
      </p:sp>
      <p:sp>
        <p:nvSpPr>
          <p:cNvPr id="6" name="TextBox 5"/>
          <p:cNvSpPr txBox="1"/>
          <p:nvPr/>
        </p:nvSpPr>
        <p:spPr>
          <a:xfrm>
            <a:off x="73152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Network team</a:t>
            </a:r>
          </a:p>
        </p:txBody>
      </p:sp>
      <p:sp>
        <p:nvSpPr>
          <p:cNvPr id="7" name="Rounded Rectangle 6"/>
          <p:cNvSpPr/>
          <p:nvPr/>
        </p:nvSpPr>
        <p:spPr>
          <a:xfrm>
            <a:off x="280355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43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Pricing &amp; Promotions</a:t>
            </a:r>
          </a:p>
        </p:txBody>
      </p:sp>
      <p:sp>
        <p:nvSpPr>
          <p:cNvPr id="9" name="TextBox 8"/>
          <p:cNvSpPr txBox="1"/>
          <p:nvPr/>
        </p:nvSpPr>
        <p:spPr>
          <a:xfrm>
            <a:off x="298643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Commercial</a:t>
            </a:r>
          </a:p>
        </p:txBody>
      </p:sp>
      <p:sp>
        <p:nvSpPr>
          <p:cNvPr id="10" name="Rounded Rectangle 9"/>
          <p:cNvSpPr/>
          <p:nvPr/>
        </p:nvSpPr>
        <p:spPr>
          <a:xfrm>
            <a:off x="505846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4134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Mobile Plans</a:t>
            </a:r>
          </a:p>
        </p:txBody>
      </p:sp>
      <p:sp>
        <p:nvSpPr>
          <p:cNvPr id="12" name="TextBox 11"/>
          <p:cNvSpPr txBox="1"/>
          <p:nvPr/>
        </p:nvSpPr>
        <p:spPr>
          <a:xfrm>
            <a:off x="524134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Product</a:t>
            </a:r>
          </a:p>
        </p:txBody>
      </p:sp>
      <p:sp>
        <p:nvSpPr>
          <p:cNvPr id="13" name="Rounded Rectangle 12"/>
          <p:cNvSpPr/>
          <p:nvPr/>
        </p:nvSpPr>
        <p:spPr>
          <a:xfrm>
            <a:off x="731337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625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Roaming</a:t>
            </a:r>
          </a:p>
        </p:txBody>
      </p:sp>
      <p:sp>
        <p:nvSpPr>
          <p:cNvPr id="15" name="TextBox 14"/>
          <p:cNvSpPr txBox="1"/>
          <p:nvPr/>
        </p:nvSpPr>
        <p:spPr>
          <a:xfrm>
            <a:off x="749625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Roaming product</a:t>
            </a:r>
          </a:p>
        </p:txBody>
      </p:sp>
      <p:sp>
        <p:nvSpPr>
          <p:cNvPr id="16" name="Rounded Rectangle 15"/>
          <p:cNvSpPr/>
          <p:nvPr/>
        </p:nvSpPr>
        <p:spPr>
          <a:xfrm>
            <a:off x="956828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5116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Porting</a:t>
            </a:r>
          </a:p>
        </p:txBody>
      </p:sp>
      <p:sp>
        <p:nvSpPr>
          <p:cNvPr id="18" name="TextBox 17"/>
          <p:cNvSpPr txBox="1"/>
          <p:nvPr/>
        </p:nvSpPr>
        <p:spPr>
          <a:xfrm>
            <a:off x="975116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MNP operations</a:t>
            </a:r>
          </a:p>
        </p:txBody>
      </p:sp>
      <p:sp>
        <p:nvSpPr>
          <p:cNvPr id="19" name="Rounded Rectangle 18"/>
          <p:cNvSpPr/>
          <p:nvPr/>
        </p:nvSpPr>
        <p:spPr>
          <a:xfrm>
            <a:off x="54864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Customer Service</a:t>
            </a:r>
          </a:p>
        </p:txBody>
      </p:sp>
      <p:sp>
        <p:nvSpPr>
          <p:cNvPr id="21" name="TextBox 20"/>
          <p:cNvSpPr txBox="1"/>
          <p:nvPr/>
        </p:nvSpPr>
        <p:spPr>
          <a:xfrm>
            <a:off x="73152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Service operations</a:t>
            </a:r>
          </a:p>
        </p:txBody>
      </p:sp>
      <p:sp>
        <p:nvSpPr>
          <p:cNvPr id="22" name="Rounded Rectangle 21"/>
          <p:cNvSpPr/>
          <p:nvPr/>
        </p:nvSpPr>
        <p:spPr>
          <a:xfrm>
            <a:off x="280355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8643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Billing &amp; Payment</a:t>
            </a:r>
          </a:p>
        </p:txBody>
      </p:sp>
      <p:sp>
        <p:nvSpPr>
          <p:cNvPr id="24" name="TextBox 23"/>
          <p:cNvSpPr txBox="1"/>
          <p:nvPr/>
        </p:nvSpPr>
        <p:spPr>
          <a:xfrm>
            <a:off x="298643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Billing</a:t>
            </a:r>
          </a:p>
        </p:txBody>
      </p:sp>
      <p:sp>
        <p:nvSpPr>
          <p:cNvPr id="25" name="Rounded Rectangle 24"/>
          <p:cNvSpPr/>
          <p:nvPr/>
        </p:nvSpPr>
        <p:spPr>
          <a:xfrm>
            <a:off x="505846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134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App &amp; Account</a:t>
            </a:r>
          </a:p>
        </p:txBody>
      </p:sp>
      <p:sp>
        <p:nvSpPr>
          <p:cNvPr id="27" name="TextBox 26"/>
          <p:cNvSpPr txBox="1"/>
          <p:nvPr/>
        </p:nvSpPr>
        <p:spPr>
          <a:xfrm>
            <a:off x="524134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Digital CX</a:t>
            </a:r>
          </a:p>
        </p:txBody>
      </p:sp>
      <p:sp>
        <p:nvSpPr>
          <p:cNvPr id="28" name="Rounded Rectangle 27"/>
          <p:cNvSpPr/>
          <p:nvPr/>
        </p:nvSpPr>
        <p:spPr>
          <a:xfrm>
            <a:off x="7313371"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625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Devices</a:t>
            </a:r>
          </a:p>
        </p:txBody>
      </p:sp>
      <p:sp>
        <p:nvSpPr>
          <p:cNvPr id="30" name="TextBox 29"/>
          <p:cNvSpPr txBox="1"/>
          <p:nvPr/>
        </p:nvSpPr>
        <p:spPr>
          <a:xfrm>
            <a:off x="749625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Device support</a:t>
            </a:r>
          </a:p>
        </p:txBody>
      </p:sp>
      <p:sp>
        <p:nvSpPr>
          <p:cNvPr id="31" name="Rounded Rectangle 30"/>
          <p:cNvSpPr/>
          <p:nvPr/>
        </p:nvSpPr>
        <p:spPr>
          <a:xfrm>
            <a:off x="9568281" y="3383280"/>
            <a:ext cx="2072030" cy="14173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5116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General Discussion</a:t>
            </a:r>
          </a:p>
        </p:txBody>
      </p:sp>
      <p:sp>
        <p:nvSpPr>
          <p:cNvPr id="33" name="TextBox 32"/>
          <p:cNvSpPr txBox="1"/>
          <p:nvPr/>
        </p:nvSpPr>
        <p:spPr>
          <a:xfrm>
            <a:off x="975116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Analyst review</a:t>
            </a:r>
          </a:p>
        </p:txBody>
      </p:sp>
      <p:sp>
        <p:nvSpPr>
          <p:cNvPr id="34" name="TextBox 33"/>
          <p:cNvSpPr txBox="1"/>
          <p:nvPr/>
        </p:nvSpPr>
        <p:spPr>
          <a:xfrm>
            <a:off x="548640" y="5029200"/>
            <a:ext cx="11091672" cy="82296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Issues are multi-label; sentiment is one label per post. General Discussion is the residual, used only when nothing specific fits.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 blind gold set, built after I threw out a perfect score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11</a:t>
            </a:r>
          </a:p>
        </p:txBody>
      </p:sp>
      <p:sp>
        <p:nvSpPr>
          <p:cNvPr id="4" name="Rounded Rectangle 3"/>
          <p:cNvSpPr/>
          <p:nvPr/>
        </p:nvSpPr>
        <p:spPr>
          <a:xfrm>
            <a:off x="548640" y="169164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300</a:t>
            </a:r>
          </a:p>
        </p:txBody>
      </p:sp>
      <p:sp>
        <p:nvSpPr>
          <p:cNvPr id="6" name="TextBox 5"/>
          <p:cNvSpPr txBox="1"/>
          <p:nvPr/>
        </p:nvSpPr>
        <p:spPr>
          <a:xfrm>
            <a:off x="2148840" y="169164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representative posts, 295 telco-relevant: headline metrics</a:t>
            </a:r>
          </a:p>
        </p:txBody>
      </p:sp>
      <p:sp>
        <p:nvSpPr>
          <p:cNvPr id="7" name="Rounded Rectangle 6"/>
          <p:cNvSpPr/>
          <p:nvPr/>
        </p:nvSpPr>
        <p:spPr>
          <a:xfrm>
            <a:off x="548640" y="315468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15468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9" name="TextBox 8"/>
          <p:cNvSpPr txBox="1"/>
          <p:nvPr/>
        </p:nvSpPr>
        <p:spPr>
          <a:xfrm>
            <a:off x="2148840" y="315468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challenge posts: sarcasm, Singlish, mixed brands, long text</a:t>
            </a:r>
          </a:p>
        </p:txBody>
      </p:sp>
      <p:sp>
        <p:nvSpPr>
          <p:cNvPr id="10" name="Rounded Rectangle 9"/>
          <p:cNvSpPr/>
          <p:nvPr/>
        </p:nvSpPr>
        <p:spPr>
          <a:xfrm>
            <a:off x="548640" y="461772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12" name="TextBox 11"/>
          <p:cNvSpPr txBox="1"/>
          <p:nvPr/>
        </p:nvSpPr>
        <p:spPr>
          <a:xfrm>
            <a:off x="2148840" y="461772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second-annotator overlap: 60 representative + 40 challenge</a:t>
            </a:r>
          </a:p>
        </p:txBody>
      </p:sp>
      <p:sp>
        <p:nvSpPr>
          <p:cNvPr id="13" name="Rounded Rectangle 12"/>
          <p:cNvSpPr/>
          <p:nvPr/>
        </p:nvSpPr>
        <p:spPr>
          <a:xfrm>
            <a:off x="6400800" y="1691640"/>
            <a:ext cx="5239512" cy="42245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874520"/>
            <a:ext cx="478231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 discarded 100% accuracy</a:t>
            </a:r>
          </a:p>
        </p:txBody>
      </p:sp>
      <p:sp>
        <p:nvSpPr>
          <p:cNvPr id="15" name="TextBox 14"/>
          <p:cNvSpPr txBox="1"/>
          <p:nvPr/>
        </p:nvSpPr>
        <p:spPr>
          <a:xfrm>
            <a:off x="6629400" y="2258568"/>
            <a:ext cx="4782312" cy="3493008"/>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An earlier 150-post file showed VADER at 100% accuracy.</a:t>
            </a:r>
          </a:p>
          <a:p>
            <a:pPr algn="l">
              <a:spcAft>
                <a:spcPts val="600"/>
              </a:spcAft>
            </a:pPr>
            <a:r>
              <a:rPr sz="1600" b="0" i="0">
                <a:solidFill>
                  <a:srgbClr val="1E293B"/>
                </a:solidFill>
                <a:latin typeface="Calibri"/>
              </a:rPr>
              <a:t>Every “manual” label matched VADER exactly: the sheet had been prefilled by the model.</a:t>
            </a:r>
          </a:p>
          <a:p>
            <a:pPr algn="l">
              <a:spcAft>
                <a:spcPts val="600"/>
              </a:spcAft>
            </a:pPr>
            <a:r>
              <a:rPr sz="1600" b="0" i="0">
                <a:solidFill>
                  <a:srgbClr val="1E293B"/>
                </a:solidFill>
                <a:latin typeface="Calibri"/>
              </a:rPr>
              <a:t>The rebuilt set hides all model columns, splits by thread, and caps each thread at five comments.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12</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Sentiment macro F1, representative set (n = 295)</a:t>
            </a:r>
          </a:p>
        </p:txBody>
      </p:sp>
      <p:sp>
        <p:nvSpPr>
          <p:cNvPr id="6" name="TextBox 5"/>
          <p:cNvSpPr txBox="1"/>
          <p:nvPr/>
        </p:nvSpPr>
        <p:spPr>
          <a:xfrm>
            <a:off x="7040880" y="1737360"/>
            <a:ext cx="4572000" cy="548640"/>
          </a:xfrm>
          <a:prstGeom prst="rect">
            <a:avLst/>
          </a:prstGeom>
          <a:noFill/>
        </p:spPr>
        <p:txBody>
          <a:bodyPr wrap="square" lIns="0" rIns="0" tIns="0" bIns="0" anchor="t">
            <a:spAutoFit/>
          </a:bodyPr>
          <a:lstStyle/>
          <a:p>
            <a:pPr algn="l">
              <a:spcAft>
                <a:spcPts val="600"/>
              </a:spcAft>
            </a:pPr>
            <a:r>
              <a:rPr sz="3600" b="1" i="0">
                <a:solidFill>
                  <a:srgbClr val="1C2E6E"/>
                </a:solidFill>
                <a:latin typeface="Calibri"/>
              </a:rPr>
              <a:t>61 of 147</a:t>
            </a:r>
          </a:p>
        </p:txBody>
      </p:sp>
      <p:sp>
        <p:nvSpPr>
          <p:cNvPr id="7" name="TextBox 6"/>
          <p:cNvSpPr txBox="1"/>
          <p:nvPr/>
        </p:nvSpPr>
        <p:spPr>
          <a:xfrm>
            <a:off x="7040880" y="2331720"/>
            <a:ext cx="457200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 labelled not happy that VADER called happy</a:t>
            </a:r>
          </a:p>
        </p:txBody>
      </p:sp>
      <p:sp>
        <p:nvSpPr>
          <p:cNvPr id="8" name="TextBox 7"/>
          <p:cNvSpPr txBox="1"/>
          <p:nvPr/>
        </p:nvSpPr>
        <p:spPr>
          <a:xfrm>
            <a:off x="7040880" y="3429000"/>
            <a:ext cx="4572000" cy="2743200"/>
          </a:xfrm>
          <a:prstGeom prst="rect">
            <a:avLst/>
          </a:prstGeom>
          <a:noFill/>
        </p:spPr>
        <p:txBody>
          <a:bodyPr wrap="square" lIns="0" rIns="0" tIns="0" bIns="0" anchor="t">
            <a:spAutoFit/>
          </a:bodyPr>
          <a:lstStyle/>
          <a:p>
            <a:pPr algn="l" marL="256032" indent="-256032">
              <a:spcAft>
                <a:spcPts val="1200"/>
              </a:spcAft>
              <a:buClr>
                <a:srgbClr val="D29B08"/>
              </a:buClr>
              <a:buFont typeface="Arial"/>
              <a:buChar char="•"/>
            </a:pPr>
            <a:r>
              <a:rPr sz="1600" b="1" i="0">
                <a:solidFill>
                  <a:srgbClr val="1C2E6E"/>
                </a:solidFill>
                <a:latin typeface="Calibri"/>
              </a:rPr>
              <a:t>+0.27 </a:t>
            </a:r>
            <a:r>
              <a:rPr sz="1600" b="0" i="0">
                <a:solidFill>
                  <a:srgbClr val="1E293B"/>
                </a:solidFill>
                <a:latin typeface="Calibri"/>
              </a:rPr>
              <a:t>macro F1 for mini over VADER (95% CI +0.19 to +0.35)</a:t>
            </a:r>
          </a:p>
          <a:p>
            <a:pPr algn="l" marL="256032" indent="-256032">
              <a:spcAft>
                <a:spcPts val="1200"/>
              </a:spcAft>
              <a:buClr>
                <a:srgbClr val="D29B08"/>
              </a:buClr>
              <a:buFont typeface="Arial"/>
              <a:buChar char="•"/>
            </a:pPr>
            <a:r>
              <a:rPr sz="1600" b="1" i="0">
                <a:solidFill>
                  <a:srgbClr val="1C2E6E"/>
                </a:solidFill>
                <a:latin typeface="Calibri"/>
              </a:rPr>
              <a:t>Tie </a:t>
            </a:r>
            <a:r>
              <a:rPr sz="1600" b="0" i="0">
                <a:solidFill>
                  <a:srgbClr val="1E293B"/>
                </a:solidFill>
                <a:latin typeface="Calibri"/>
              </a:rPr>
              <a:t>between mini and GPT-4o (95% CI −0.05 to +0.06)</a:t>
            </a:r>
          </a:p>
          <a:p>
            <a:pPr algn="l" marL="256032" indent="-256032">
              <a:spcAft>
                <a:spcPts val="1200"/>
              </a:spcAft>
              <a:buClr>
                <a:srgbClr val="D29B08"/>
              </a:buClr>
              <a:buFont typeface="Arial"/>
              <a:buChar char="•"/>
            </a:pPr>
            <a:r>
              <a:rPr sz="1600" b="1" i="0">
                <a:solidFill>
                  <a:srgbClr val="1C2E6E"/>
                </a:solidFill>
                <a:latin typeface="Calibri"/>
              </a:rPr>
              <a:t>~17× </a:t>
            </a:r>
            <a:r>
              <a:rPr sz="1600" b="0" i="0">
                <a:solidFill>
                  <a:srgbClr val="1E293B"/>
                </a:solidFill>
                <a:latin typeface="Calibri"/>
              </a:rPr>
              <a:t>GPT-4o’s cost over mini for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13</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40080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multi-label, representative set (n = 295)</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2</a:t>
            </a:r>
          </a:p>
        </p:txBody>
      </p:sp>
      <p:sp>
        <p:nvSpPr>
          <p:cNvPr id="9" name="TextBox 8"/>
          <p:cNvSpPr txBox="1"/>
          <p:nvPr/>
        </p:nvSpPr>
        <p:spPr>
          <a:xfrm>
            <a:off x="8046720" y="260604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98 of 295 left as 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3</a:t>
            </a:r>
          </a:p>
        </p:txBody>
      </p:sp>
      <p:sp>
        <p:nvSpPr>
          <p:cNvPr id="11" name="TextBox 10"/>
          <p:cNvSpPr txBox="1"/>
          <p:nvPr/>
        </p:nvSpPr>
        <p:spPr>
          <a:xfrm>
            <a:off x="8046720" y="347472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relabels those 98, moves 70</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4572000"/>
            <a:ext cx="3867912"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Gain over rules: +0.041</a:t>
            </a:r>
          </a:p>
        </p:txBody>
      </p:sp>
      <p:sp>
        <p:nvSpPr>
          <p:cNvPr id="14" name="TextBox 13"/>
          <p:cNvSpPr txBox="1"/>
          <p:nvPr/>
        </p:nvSpPr>
        <p:spPr>
          <a:xfrm>
            <a:off x="7543800" y="4956048"/>
            <a:ext cx="3867912"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95% CI +0.011 to +0.072. Chosen on this set, so it needs a held-out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hybrid didn’t survive the held-out test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14</a:t>
            </a:r>
          </a:p>
        </p:txBody>
      </p:sp>
      <p:graphicFrame>
        <p:nvGraphicFramePr>
          <p:cNvPr id="4" name="Chart 3"/>
          <p:cNvGraphicFramePr>
            <a:graphicFrameLocks noGrp="1"/>
          </p:cNvGraphicFramePr>
          <p:nvPr/>
        </p:nvGraphicFramePr>
        <p:xfrm>
          <a:off x="548640" y="1600200"/>
          <a:ext cx="6766560" cy="448056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76656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331720"/>
                <a:gridCol w="1719072"/>
              </a:tblGrid>
              <a:tr h="457200">
                <a:tc>
                  <a:txBody>
                    <a:bodyPr wrap="square"/>
                    <a:lstStyle/>
                    <a:p>
                      <a:pPr algn="l"/>
                      <a:r>
                        <a:rPr sz="1400" b="1">
                          <a:solidFill>
                            <a:srgbClr val="FFFFFF"/>
                          </a:solidFill>
                          <a:latin typeface="Calibri"/>
                        </a:rPr>
                        <a:t>Challenge set</a:t>
                      </a:r>
                    </a:p>
                  </a:txBody>
                  <a:tcPr marL="91440" marR="91440" marT="36576" marB="36576" anchor="ctr">
                    <a:solidFill>
                      <a:srgbClr val="1C2E6E"/>
                    </a:solidFill>
                  </a:tcPr>
                </a:tc>
                <a:tc>
                  <a:txBody>
                    <a:bodyPr wrap="square"/>
                    <a:lstStyle/>
                    <a:p>
                      <a:pPr algn="l"/>
                      <a:r>
                        <a:rPr sz="1400" b="1">
                          <a:solidFill>
                            <a:srgbClr val="FFFFFF"/>
                          </a:solidFill>
                          <a:latin typeface="Calibri"/>
                        </a:rPr>
                        <a:t>95% CI</a:t>
                      </a:r>
                    </a:p>
                  </a:txBody>
                  <a:tcPr marL="91440" marR="91440" marT="36576" marB="36576" anchor="ctr">
                    <a:solidFill>
                      <a:srgbClr val="1C2E6E"/>
                    </a:solidFill>
                  </a:tcPr>
                </a:tc>
              </a:tr>
              <a:tr h="457200">
                <a:tc>
                  <a:txBody>
                    <a:bodyPr wrap="square"/>
                    <a:lstStyle/>
                    <a:p>
                      <a:pPr algn="l"/>
                      <a:r>
                        <a:rPr sz="1400" b="0">
                          <a:solidFill>
                            <a:srgbClr val="1E293B"/>
                          </a:solidFill>
                          <a:latin typeface="Calibri"/>
                        </a:rPr>
                        <a:t>Hybrid − rules</a:t>
                      </a:r>
                    </a:p>
                  </a:txBody>
                  <a:tcPr marL="91440" marR="91440" marT="36576" marB="36576" anchor="ctr">
                    <a:solidFill>
                      <a:srgbClr val="FFFFFF"/>
                    </a:solidFill>
                  </a:tcPr>
                </a:tc>
                <a:tc>
                  <a:txBody>
                    <a:bodyPr wrap="square"/>
                    <a:lstStyle/>
                    <a:p>
                      <a:pPr algn="l"/>
                      <a:r>
                        <a:rPr sz="1400" b="0">
                          <a:solidFill>
                            <a:srgbClr val="1E293B"/>
                          </a:solidFill>
                          <a:latin typeface="Calibri"/>
                        </a:rPr>
                        <a:t>−0.04 to +0.07</a:t>
                      </a:r>
                    </a:p>
                  </a:txBody>
                  <a:tcPr marL="91440" marR="91440" marT="36576" marB="36576" anchor="ctr">
                    <a:solidFill>
                      <a:srgbClr val="FFFFFF"/>
                    </a:solidFill>
                  </a:tcPr>
                </a:tc>
              </a:tr>
              <a:tr h="457200">
                <a:tc>
                  <a:txBody>
                    <a:bodyPr wrap="square"/>
                    <a:lstStyle/>
                    <a:p>
                      <a:pPr algn="l"/>
                      <a:r>
                        <a:rPr sz="1400" b="1">
                          <a:solidFill>
                            <a:srgbClr val="1E293B"/>
                          </a:solidFill>
                          <a:latin typeface="Calibri"/>
                        </a:rPr>
                        <a:t>GPT-4o − rules</a:t>
                      </a:r>
                    </a:p>
                  </a:txBody>
                  <a:tcPr marL="91440" marR="91440" marT="36576" marB="36576" anchor="ctr">
                    <a:solidFill>
                      <a:srgbClr val="FBF3DF"/>
                    </a:solidFill>
                  </a:tcPr>
                </a:tc>
                <a:tc>
                  <a:txBody>
                    <a:bodyPr wrap="square"/>
                    <a:lstStyle/>
                    <a:p>
                      <a:pPr algn="l"/>
                      <a:r>
                        <a:rPr sz="1400" b="0">
                          <a:solidFill>
                            <a:srgbClr val="1E293B"/>
                          </a:solidFill>
                          <a:latin typeface="Calibri"/>
                        </a:rPr>
                        <a:t>+0.01 to +0.18</a:t>
                      </a:r>
                    </a:p>
                  </a:txBody>
                  <a:tcPr marL="91440" marR="91440" marT="36576" marB="36576" anchor="ctr">
                    <a:solidFill>
                      <a:srgbClr val="FBF3DF"/>
                    </a:solidFill>
                  </a:tcPr>
                </a:tc>
              </a:tr>
              <a:tr h="457200">
                <a:tc>
                  <a:txBody>
                    <a:bodyPr wrap="square"/>
                    <a:lstStyle/>
                    <a:p>
                      <a:pPr algn="l"/>
                      <a:r>
                        <a:rPr sz="1400" b="1">
                          <a:solidFill>
                            <a:srgbClr val="1E293B"/>
                          </a:solidFill>
                          <a:latin typeface="Calibri"/>
                        </a:rPr>
                        <a:t>GPT-4o − hybrid</a:t>
                      </a:r>
                    </a:p>
                  </a:txBody>
                  <a:tcPr marL="91440" marR="91440" marT="36576" marB="36576" anchor="ctr">
                    <a:solidFill>
                      <a:srgbClr val="FBF3DF"/>
                    </a:solidFill>
                  </a:tcPr>
                </a:tc>
                <a:tc>
                  <a:txBody>
                    <a:bodyPr wrap="square"/>
                    <a:lstStyle/>
                    <a:p>
                      <a:pPr algn="l"/>
                      <a:r>
                        <a:rPr sz="1400" b="0">
                          <a:solidFill>
                            <a:srgbClr val="1E293B"/>
                          </a:solidFill>
                          <a:latin typeface="Calibri"/>
                        </a:rPr>
                        <a:t>+0.02 to +0.15</a:t>
                      </a:r>
                    </a:p>
                  </a:txBody>
                  <a:tcPr marL="91440" marR="91440" marT="36576" marB="36576" anchor="ctr">
                    <a:solidFill>
                      <a:srgbClr val="FBF3DF"/>
                    </a:solidFill>
                  </a:tcPr>
                </a:tc>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4023360"/>
            <a:ext cx="3593591"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What I conclude</a:t>
            </a:r>
          </a:p>
        </p:txBody>
      </p:sp>
      <p:sp>
        <p:nvSpPr>
          <p:cNvPr id="9" name="TextBox 8"/>
          <p:cNvSpPr txBox="1"/>
          <p:nvPr/>
        </p:nvSpPr>
        <p:spPr>
          <a:xfrm>
            <a:off x="7818120" y="4407408"/>
            <a:ext cx="3593591" cy="14173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Keep the hybrid for typical posts, but report 0.680 as optimistic. On hard posts, GPT-4o on every post is worth its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sentiment result holds on the newer posts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76656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Macro F1 on 97 wave-2 gold posts, production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404872"/>
                <a:gridCol w="822960"/>
                <a:gridCol w="822960"/>
              </a:tblGrid>
              <a:tr h="457200">
                <a:tc>
                  <a:txBody>
                    <a:bodyPr wrap="square"/>
                    <a:lstStyle/>
                    <a:p>
                      <a:pPr algn="l"/>
                      <a:r>
                        <a:rPr sz="1400" b="1">
                          <a:solidFill>
                            <a:srgbClr val="FFFFFF"/>
                          </a:solidFill>
                          <a:latin typeface="Calibri"/>
                        </a:rPr>
                        <a:t>Share of posts</a:t>
                      </a:r>
                    </a:p>
                  </a:txBody>
                  <a:tcPr marL="91440" marR="91440" marT="36576" marB="36576" anchor="ctr">
                    <a:solidFill>
                      <a:srgbClr val="1C2E6E"/>
                    </a:solidFill>
                  </a:tcPr>
                </a:tc>
                <a:tc>
                  <a:txBody>
                    <a:bodyPr wrap="square"/>
                    <a:lstStyle/>
                    <a:p>
                      <a:pPr algn="l"/>
                      <a:r>
                        <a:rPr sz="1400" b="1">
                          <a:solidFill>
                            <a:srgbClr val="FFFFFF"/>
                          </a:solidFill>
                          <a:latin typeface="Calibri"/>
                        </a:rPr>
                        <a:t>Human</a:t>
                      </a:r>
                    </a:p>
                  </a:txBody>
                  <a:tcPr marL="91440" marR="91440" marT="36576" marB="36576" anchor="ctr">
                    <a:solidFill>
                      <a:srgbClr val="1C2E6E"/>
                    </a:solidFill>
                  </a:tcPr>
                </a:tc>
                <a:tc>
                  <a:txBody>
                    <a:bodyPr wrap="square"/>
                    <a:lstStyle/>
                    <a:p>
                      <a:pPr algn="l"/>
                      <a:r>
                        <a:rPr sz="1400" b="1">
                          <a:solidFill>
                            <a:srgbClr val="FFFFFF"/>
                          </a:solidFill>
                          <a:latin typeface="Calibri"/>
                        </a:rPr>
                        <a:t>Mini</a:t>
                      </a:r>
                    </a:p>
                  </a:txBody>
                  <a:tcPr marL="91440" marR="91440" marT="36576" marB="36576" anchor="ctr">
                    <a:solidFill>
                      <a:srgbClr val="1C2E6E"/>
                    </a:solidFill>
                  </a:tcPr>
                </a:tc>
              </a:tr>
              <a:tr h="457200">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30%</a:t>
                      </a:r>
                    </a:p>
                  </a:txBody>
                  <a:tcPr marL="91440" marR="91440" marT="36576" marB="36576" anchor="ctr">
                    <a:solidFill>
                      <a:srgbClr val="FFFFFF"/>
                    </a:solidFill>
                  </a:tcPr>
                </a:tc>
                <a:tc>
                  <a:txBody>
                    <a:bodyPr wrap="square"/>
                    <a:lstStyle/>
                    <a:p>
                      <a:pPr algn="l"/>
                      <a:r>
                        <a:rPr sz="1400" b="0">
                          <a:solidFill>
                            <a:srgbClr val="1E293B"/>
                          </a:solidFill>
                          <a:latin typeface="Calibri"/>
                        </a:rPr>
                        <a:t>26%</a:t>
                      </a:r>
                    </a:p>
                  </a:txBody>
                  <a:tcPr marL="91440" marR="91440" marT="36576" marB="36576" anchor="ctr">
                    <a:solidFill>
                      <a:srgbClr val="FFFFFF"/>
                    </a:solidFill>
                  </a:tcPr>
                </a:tc>
              </a:tr>
              <a:tr h="457200">
                <a:tc>
                  <a:txBody>
                    <a:bodyPr wrap="square"/>
                    <a:lstStyle/>
                    <a:p>
                      <a:pPr algn="l"/>
                      <a:r>
                        <a:rPr sz="1400" b="1">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40%</a:t>
                      </a:r>
                    </a:p>
                  </a:txBody>
                  <a:tcPr marL="91440" marR="91440" marT="36576" marB="36576" anchor="ctr">
                    <a:solidFill>
                      <a:srgbClr val="FBF3DF"/>
                    </a:solidFill>
                  </a:tcPr>
                </a:tc>
                <a:tc>
                  <a:txBody>
                    <a:bodyPr wrap="square"/>
                    <a:lstStyle/>
                    <a:p>
                      <a:pPr algn="l"/>
                      <a:r>
                        <a:rPr sz="1400" b="0">
                          <a:solidFill>
                            <a:srgbClr val="1E293B"/>
                          </a:solidFill>
                          <a:latin typeface="Calibri"/>
                        </a:rPr>
                        <a:t>33%</a:t>
                      </a:r>
                    </a:p>
                  </a:txBody>
                  <a:tcPr marL="91440" marR="91440" marT="36576" marB="36576" anchor="ctr">
                    <a:solidFill>
                      <a:srgbClr val="FBF3DF"/>
                    </a:solidFill>
                  </a:tcPr>
                </a:tc>
              </a:tr>
              <a:tr h="457200">
                <a:tc>
                  <a:txBody>
                    <a:bodyPr wrap="square"/>
                    <a:lstStyle/>
                    <a:p>
                      <a:pPr algn="l"/>
                      <a:r>
                        <a:rPr sz="1400" b="1">
                          <a:solidFill>
                            <a:srgbClr val="1E293B"/>
                          </a:solidFill>
                          <a:latin typeface="Calibri"/>
                        </a:rPr>
                        <a:t>Neutral</a:t>
                      </a:r>
                    </a:p>
                  </a:txBody>
                  <a:tcPr marL="91440" marR="91440" marT="36576" marB="36576" anchor="ctr">
                    <a:solidFill>
                      <a:srgbClr val="FBF3DF"/>
                    </a:solidFill>
                  </a:tcPr>
                </a:tc>
                <a:tc>
                  <a:txBody>
                    <a:bodyPr wrap="square"/>
                    <a:lstStyle/>
                    <a:p>
                      <a:pPr algn="l"/>
                      <a:r>
                        <a:rPr sz="1400" b="0">
                          <a:solidFill>
                            <a:srgbClr val="1E293B"/>
                          </a:solidFill>
                          <a:latin typeface="Calibri"/>
                        </a:rPr>
                        <a:t>30%</a:t>
                      </a:r>
                    </a:p>
                  </a:txBody>
                  <a:tcPr marL="91440" marR="91440" marT="36576" marB="36576" anchor="ctr">
                    <a:solidFill>
                      <a:srgbClr val="FBF3DF"/>
                    </a:solidFill>
                  </a:tcPr>
                </a:tc>
                <a:tc>
                  <a:txBody>
                    <a:bodyPr wrap="square"/>
                    <a:lstStyle/>
                    <a:p>
                      <a:pPr algn="l"/>
                      <a:r>
                        <a:rPr sz="1400" b="0">
                          <a:solidFill>
                            <a:srgbClr val="1E293B"/>
                          </a:solidFill>
                          <a:latin typeface="Calibri"/>
                        </a:rPr>
                        <a:t>41%</a:t>
                      </a:r>
                    </a:p>
                  </a:txBody>
                  <a:tcPr marL="91440" marR="91440" marT="36576" marB="36576" anchor="ctr">
                    <a:solidFill>
                      <a:srgbClr val="FBF3DF"/>
                    </a:solidFill>
                  </a:tcPr>
                </a:tc>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4023360"/>
            <a:ext cx="3593591"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What it means</a:t>
            </a:r>
          </a:p>
        </p:txBody>
      </p:sp>
      <p:sp>
        <p:nvSpPr>
          <p:cNvPr id="9" name="TextBox 8"/>
          <p:cNvSpPr txBox="1"/>
          <p:nvPr/>
        </p:nvSpPr>
        <p:spPr>
          <a:xfrm>
            <a:off x="7818120" y="4407408"/>
            <a:ext cx="3593591" cy="14173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Mini reads complaints as neutral, so the corpus not-happy share is likely understated, not inflated.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16</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709160"/>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Devices recall, representative set (52 device posts)</a:t>
            </a:r>
          </a:p>
        </p:txBody>
      </p:sp>
      <p:sp>
        <p:nvSpPr>
          <p:cNvPr id="6" name="TextBox 5"/>
          <p:cNvSpPr txBox="1"/>
          <p:nvPr/>
        </p:nvSpPr>
        <p:spPr>
          <a:xfrm>
            <a:off x="548640" y="5120640"/>
            <a:ext cx="6035040" cy="91440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965960"/>
            <a:ext cx="4206240" cy="822960"/>
          </a:xfrm>
          <a:prstGeom prst="rect">
            <a:avLst/>
          </a:prstGeom>
          <a:noFill/>
        </p:spPr>
        <p:txBody>
          <a:bodyPr wrap="square" lIns="0" rIns="0" tIns="0" bIns="0" anchor="t">
            <a:spAutoFit/>
          </a:bodyPr>
          <a:lstStyle/>
          <a:p>
            <a:pPr algn="l">
              <a:spcAft>
                <a:spcPts val="600"/>
              </a:spcAft>
            </a:pPr>
            <a:r>
              <a:rPr sz="2400" b="1" i="1">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gridCol w="2011680"/>
              </a:tblGrid>
              <a:tr h="420624">
                <a:tc>
                  <a:txBody>
                    <a:bodyPr wrap="square"/>
                    <a:lstStyle/>
                    <a:p>
                      <a:pPr algn="l"/>
                      <a:r>
                        <a:rPr sz="1400" b="1">
                          <a:solidFill>
                            <a:srgbClr val="FFFFFF"/>
                          </a:solidFill>
                          <a:latin typeface="Calibri"/>
                        </a:rPr>
                        <a:t>Labeller</a:t>
                      </a:r>
                    </a:p>
                  </a:txBody>
                  <a:tcPr marL="91440" marR="91440" marT="36576" marB="36576" anchor="ctr">
                    <a:solidFill>
                      <a:srgbClr val="1C2E6E"/>
                    </a:solidFill>
                  </a:tcPr>
                </a:tc>
                <a:tc>
                  <a:txBody>
                    <a:bodyPr wrap="square"/>
                    <a:lstStyle/>
                    <a:p>
                      <a:pPr algn="l"/>
                      <a:r>
                        <a:rPr sz="1400" b="1">
                          <a:solidFill>
                            <a:srgbClr val="FFFFFF"/>
                          </a:solidFill>
                          <a:latin typeface="Calibri"/>
                        </a:rPr>
                        <a:t>Issue label</a:t>
                      </a:r>
                    </a:p>
                  </a:txBody>
                  <a:tcPr marL="91440" marR="91440" marT="36576" marB="36576" anchor="ctr">
                    <a:solidFill>
                      <a:srgbClr val="1C2E6E"/>
                    </a:solidFill>
                  </a:tcPr>
                </a:tc>
              </a:tr>
              <a:tr h="420624">
                <a:tc>
                  <a:txBody>
                    <a:bodyPr wrap="square"/>
                    <a:lstStyle/>
                    <a:p>
                      <a:pPr algn="l"/>
                      <a:r>
                        <a:rPr sz="1400" b="0">
                          <a:solidFill>
                            <a:srgbClr val="1E293B"/>
                          </a:solidFill>
                          <a:latin typeface="Calibri"/>
                        </a:rPr>
                        <a:t>Human</a:t>
                      </a:r>
                    </a:p>
                  </a:txBody>
                  <a:tcPr marL="91440" marR="91440" marT="36576" marB="36576" anchor="ctr">
                    <a:solidFill>
                      <a:srgbClr val="FFFFFF"/>
                    </a:solidFill>
                  </a:tcPr>
                </a:tc>
                <a:tc>
                  <a:txBody>
                    <a:bodyPr wrap="square"/>
                    <a:lstStyle/>
                    <a:p>
                      <a:pPr algn="l"/>
                      <a:r>
                        <a:rPr sz="1400" b="0">
                          <a:solidFill>
                            <a:srgbClr val="1E293B"/>
                          </a:solidFill>
                          <a:latin typeface="Calibri"/>
                        </a:rPr>
                        <a:t>Devices</a:t>
                      </a:r>
                    </a:p>
                  </a:txBody>
                  <a:tcPr marL="91440" marR="91440" marT="36576" marB="36576" anchor="ctr">
                    <a:solidFill>
                      <a:srgbClr val="FFFFFF"/>
                    </a:solidFill>
                  </a:tcPr>
                </a:tc>
              </a:tr>
              <a:tr h="420624">
                <a:tc>
                  <a:txBody>
                    <a:bodyPr wrap="square"/>
                    <a:lstStyle/>
                    <a:p>
                      <a:pPr algn="l"/>
                      <a:r>
                        <a:rPr sz="1400" b="0">
                          <a:solidFill>
                            <a:srgbClr val="1E293B"/>
                          </a:solidFill>
                          <a:latin typeface="Calibri"/>
                        </a:rPr>
                        <a:t>Keyword rules</a:t>
                      </a:r>
                    </a:p>
                  </a:txBody>
                  <a:tcPr marL="91440" marR="91440" marT="36576" marB="36576" anchor="ctr">
                    <a:solidFill>
                      <a:srgbClr val="F2F4F9"/>
                    </a:solidFill>
                  </a:tcPr>
                </a:tc>
                <a:tc>
                  <a:txBody>
                    <a:bodyPr wrap="square"/>
                    <a:lstStyle/>
                    <a:p>
                      <a:pPr algn="l"/>
                      <a:r>
                        <a:rPr sz="1400" b="0">
                          <a:solidFill>
                            <a:srgbClr val="1E293B"/>
                          </a:solidFill>
                          <a:latin typeface="Calibri"/>
                        </a:rPr>
                        <a:t>Devices</a:t>
                      </a:r>
                    </a:p>
                  </a:txBody>
                  <a:tcPr marL="91440" marR="91440" marT="36576" marB="36576" anchor="ctr">
                    <a:solidFill>
                      <a:srgbClr val="F2F4F9"/>
                    </a:solidFill>
                  </a:tcPr>
                </a:tc>
              </a:tr>
              <a:tr h="420624">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General Discussion</a:t>
                      </a:r>
                    </a:p>
                  </a:txBody>
                  <a:tcPr marL="91440" marR="91440" marT="36576" marB="36576" anchor="ctr">
                    <a:solidFill>
                      <a:srgbClr val="FBF3DF"/>
                    </a:solidFill>
                  </a:tcPr>
                </a:tc>
              </a:tr>
            </a:tbl>
          </a:graphicData>
        </a:graphic>
      </p:graphicFrame>
      <p:sp>
        <p:nvSpPr>
          <p:cNvPr id="10" name="TextBox 9"/>
          <p:cNvSpPr txBox="1"/>
          <p:nvPr/>
        </p:nvSpPr>
        <p:spPr>
          <a:xfrm>
            <a:off x="7223760" y="4800600"/>
            <a:ext cx="4206240" cy="914400"/>
          </a:xfrm>
          <a:prstGeom prst="rect">
            <a:avLst/>
          </a:prstGeom>
          <a:noFill/>
        </p:spPr>
        <p:txBody>
          <a:bodyPr wrap="square" lIns="0" rIns="0" tIns="0" bIns="0" anchor="t">
            <a:spAutoFit/>
          </a:bodyPr>
          <a:lstStyle/>
          <a:p>
            <a:pPr algn="l">
              <a:spcAft>
                <a:spcPts val="600"/>
              </a:spcAft>
            </a:pPr>
            <a:r>
              <a:rPr sz="1300" b="0" i="0">
                <a:solidFill>
                  <a:srgbClr val="5B6475"/>
                </a:solidFill>
                <a:latin typeface="Calibri"/>
              </a:rPr>
              <a:t>ONR = optical network router; CGNAT = carrier-grade NAT. Mini also flipped this post’s sentiment to happy.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Four posts that show where VADER breaks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17</a:t>
            </a:r>
          </a:p>
        </p:txBody>
      </p:sp>
      <p:graphicFrame>
        <p:nvGraphicFramePr>
          <p:cNvPr id="4" name="Table 3"/>
          <p:cNvGraphicFramePr>
            <a:graphicFrameLocks noGrp="1"/>
          </p:cNvGraphicFramePr>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gridCol w="4937760"/>
                <a:gridCol w="1691640"/>
                <a:gridCol w="1600200"/>
                <a:gridCol w="1627632"/>
              </a:tblGrid>
              <a:tr h="731520">
                <a:tc>
                  <a:txBody>
                    <a:bodyPr wrap="square"/>
                    <a:lstStyle/>
                    <a:p>
                      <a:pPr algn="l"/>
                      <a:r>
                        <a:rPr sz="1700" b="1">
                          <a:solidFill>
                            <a:srgbClr val="FFFFFF"/>
                          </a:solidFill>
                          <a:latin typeface="Calibri"/>
                        </a:rPr>
                        <a:t>Post</a:t>
                      </a:r>
                    </a:p>
                  </a:txBody>
                  <a:tcPr marL="91440" marR="91440" marT="36576" marB="36576" anchor="ctr">
                    <a:solidFill>
                      <a:srgbClr val="1C2E6E"/>
                    </a:solidFill>
                  </a:tcPr>
                </a:tc>
                <a:tc>
                  <a:txBody>
                    <a:bodyPr wrap="square"/>
                    <a:lstStyle/>
                    <a:p>
                      <a:pPr algn="l"/>
                      <a:r>
                        <a:rPr sz="1700" b="1">
                          <a:solidFill>
                            <a:srgbClr val="FFFFFF"/>
                          </a:solidFill>
                          <a:latin typeface="Calibri"/>
                        </a:rPr>
                        <a:t>What it says (paraphrased)</a:t>
                      </a:r>
                    </a:p>
                  </a:txBody>
                  <a:tcPr marL="91440" marR="91440" marT="36576" marB="36576" anchor="ctr">
                    <a:solidFill>
                      <a:srgbClr val="1C2E6E"/>
                    </a:solidFill>
                  </a:tcPr>
                </a:tc>
                <a:tc>
                  <a:txBody>
                    <a:bodyPr wrap="square"/>
                    <a:lstStyle/>
                    <a:p>
                      <a:pPr algn="l"/>
                      <a:r>
                        <a:rPr sz="1700" b="1">
                          <a:solidFill>
                            <a:srgbClr val="FFFFFF"/>
                          </a:solidFill>
                          <a:latin typeface="Calibri"/>
                        </a:rPr>
                        <a:t>Human</a:t>
                      </a:r>
                    </a:p>
                  </a:txBody>
                  <a:tcPr marL="91440" marR="91440" marT="36576" marB="36576" anchor="ctr">
                    <a:solidFill>
                      <a:srgbClr val="1C2E6E"/>
                    </a:solidFill>
                  </a:tcPr>
                </a:tc>
                <a:tc>
                  <a:txBody>
                    <a:bodyPr wrap="square"/>
                    <a:lstStyle/>
                    <a:p>
                      <a:pPr algn="l"/>
                      <a:r>
                        <a:rPr sz="1700" b="1">
                          <a:solidFill>
                            <a:srgbClr val="FFFFFF"/>
                          </a:solidFill>
                          <a:latin typeface="Calibri"/>
                        </a:rPr>
                        <a:t>VADER</a:t>
                      </a:r>
                    </a:p>
                  </a:txBody>
                  <a:tcPr marL="91440" marR="91440" marT="36576" marB="36576" anchor="ctr">
                    <a:solidFill>
                      <a:srgbClr val="1C2E6E"/>
                    </a:solidFill>
                  </a:tcPr>
                </a:tc>
                <a:tc>
                  <a:txBody>
                    <a:bodyPr wrap="square"/>
                    <a:lstStyle/>
                    <a:p>
                      <a:pPr algn="l"/>
                      <a:r>
                        <a:rPr sz="1700" b="1">
                          <a:solidFill>
                            <a:srgbClr val="FFFFFF"/>
                          </a:solidFill>
                          <a:latin typeface="Calibri"/>
                        </a:rPr>
                        <a:t>GPT-4o-mini</a:t>
                      </a:r>
                    </a:p>
                  </a:txBody>
                  <a:tcPr marL="91440" marR="91440" marT="36576" marB="36576" anchor="ctr">
                    <a:solidFill>
                      <a:srgbClr val="1C2E6E"/>
                    </a:solidFill>
                  </a:tcPr>
                </a:tc>
              </a:tr>
              <a:tr h="731520">
                <a:tc>
                  <a:txBody>
                    <a:bodyPr wrap="square"/>
                    <a:lstStyle/>
                    <a:p>
                      <a:pPr algn="l"/>
                      <a:r>
                        <a:rPr sz="1700" b="0">
                          <a:solidFill>
                            <a:srgbClr val="1E293B"/>
                          </a:solidFill>
                          <a:latin typeface="Calibri"/>
                        </a:rPr>
                        <a:t>REP-0003</a:t>
                      </a:r>
                    </a:p>
                  </a:txBody>
                  <a:tcPr marL="91440" marR="91440" marT="36576" marB="36576" anchor="ctr">
                    <a:solidFill>
                      <a:srgbClr val="FFFFFF"/>
                    </a:solidFill>
                  </a:tcPr>
                </a:tc>
                <a:tc>
                  <a:txBody>
                    <a:bodyPr wrap="square"/>
                    <a:lstStyle/>
                    <a:p>
                      <a:pPr algn="l"/>
                      <a:r>
                        <a:rPr sz="1700" b="0">
                          <a:solidFill>
                            <a:srgbClr val="1E293B"/>
                          </a:solidFill>
                          <a:latin typeface="Calibri"/>
                        </a:rPr>
                        <a:t>“SingTel eSIM still down”</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REP-0014</a:t>
                      </a:r>
                    </a:p>
                  </a:txBody>
                  <a:tcPr marL="91440" marR="91440" marT="36576" marB="36576" anchor="ctr">
                    <a:solidFill>
                      <a:srgbClr val="F2F4F9"/>
                    </a:solidFill>
                  </a:tcPr>
                </a:tc>
                <a:tc>
                  <a:txBody>
                    <a:bodyPr wrap="square"/>
                    <a:lstStyle/>
                    <a:p>
                      <a:pPr algn="l"/>
                      <a:r>
                        <a:rPr sz="1700" b="0">
                          <a:solidFill>
                            <a:srgbClr val="1E293B"/>
                          </a:solidFill>
                          <a:latin typeface="Calibri"/>
                        </a:rPr>
                        <a:t>Switched after 5G drops, “better… just $12”</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r h="731520">
                <a:tc>
                  <a:txBody>
                    <a:bodyPr wrap="square"/>
                    <a:lstStyle/>
                    <a:p>
                      <a:pPr algn="l"/>
                      <a:r>
                        <a:rPr sz="1700" b="0">
                          <a:solidFill>
                            <a:srgbClr val="1E293B"/>
                          </a:solidFill>
                          <a:latin typeface="Calibri"/>
                        </a:rPr>
                        <a:t>CHL-0005</a:t>
                      </a:r>
                    </a:p>
                  </a:txBody>
                  <a:tcPr marL="91440" marR="91440" marT="36576" marB="36576" anchor="ctr">
                    <a:solidFill>
                      <a:srgbClr val="FFFFFF"/>
                    </a:solidFill>
                  </a:tcPr>
                </a:tc>
                <a:tc>
                  <a:txBody>
                    <a:bodyPr wrap="square"/>
                    <a:lstStyle/>
                    <a:p>
                      <a:pPr algn="l"/>
                      <a:r>
                        <a:rPr sz="1700" b="0">
                          <a:solidFill>
                            <a:srgbClr val="1E293B"/>
                          </a:solidFill>
                          <a:latin typeface="Calibri"/>
                        </a:rPr>
                        <a:t>“Smoooooooth as baby butttttt”</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CHL-0029</a:t>
                      </a:r>
                    </a:p>
                  </a:txBody>
                  <a:tcPr marL="91440" marR="91440" marT="36576" marB="36576" anchor="ctr">
                    <a:solidFill>
                      <a:srgbClr val="F2F4F9"/>
                    </a:solidFill>
                  </a:tcPr>
                </a:tc>
                <a:tc>
                  <a:txBody>
                    <a:bodyPr wrap="square"/>
                    <a:lstStyle/>
                    <a:p>
                      <a:pPr algn="l"/>
                      <a:r>
                        <a:rPr sz="1700" b="0">
                          <a:solidFill>
                            <a:srgbClr val="1E293B"/>
                          </a:solidFill>
                          <a:latin typeface="Calibri"/>
                        </a:rPr>
                        <a:t>Nationwide outage, ready to port out</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bl>
          </a:graphicData>
        </a:graphic>
      </p:graphicFrame>
      <p:sp>
        <p:nvSpPr>
          <p:cNvPr id="5" name="TextBox 4"/>
          <p:cNvSpPr txBox="1"/>
          <p:nvPr/>
        </p:nvSpPr>
        <p:spPr>
          <a:xfrm>
            <a:off x="548640" y="5486400"/>
            <a:ext cx="11091672" cy="7315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All the LLM work cost about $6.50</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18</a:t>
            </a:r>
          </a:p>
        </p:txBody>
      </p:sp>
      <p:sp>
        <p:nvSpPr>
          <p:cNvPr id="4" name="TextBox 3"/>
          <p:cNvSpPr txBox="1"/>
          <p:nvPr/>
        </p:nvSpPr>
        <p:spPr>
          <a:xfrm>
            <a:off x="548640" y="1737360"/>
            <a:ext cx="3291840" cy="762000"/>
          </a:xfrm>
          <a:prstGeom prst="rect">
            <a:avLst/>
          </a:prstGeom>
          <a:noFill/>
        </p:spPr>
        <p:txBody>
          <a:bodyPr wrap="square" lIns="0" rIns="0" tIns="0" bIns="0" anchor="t">
            <a:spAutoFit/>
          </a:bodyPr>
          <a:lstStyle/>
          <a:p>
            <a:pPr algn="l">
              <a:spcAft>
                <a:spcPts val="600"/>
              </a:spcAft>
            </a:pPr>
            <a:r>
              <a:rPr sz="5000" b="1" i="0">
                <a:solidFill>
                  <a:srgbClr val="1C2E6E"/>
                </a:solidFill>
                <a:latin typeface="Calibri"/>
              </a:rPr>
              <a:t>$0.28</a:t>
            </a:r>
          </a:p>
        </p:txBody>
      </p:sp>
      <p:sp>
        <p:nvSpPr>
          <p:cNvPr id="5" name="TextBox 4"/>
          <p:cNvSpPr txBox="1"/>
          <p:nvPr/>
        </p:nvSpPr>
        <p:spPr>
          <a:xfrm>
            <a:off x="548640" y="2545080"/>
            <a:ext cx="329184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GPT-4o-mini sentiment on all 9,162 posts</a:t>
            </a:r>
          </a:p>
        </p:txBody>
      </p:sp>
      <p:graphicFrame>
        <p:nvGraphicFramePr>
          <p:cNvPr id="6" name="Table 5"/>
          <p:cNvGraphicFramePr>
            <a:graphicFrameLocks noGrp="1"/>
          </p:cNvGraphicFramePr>
          <p:nvPr/>
        </p:nvGraphicFramePr>
        <p:xfrm>
          <a:off x="4206240" y="1691640"/>
          <a:ext cx="7434072" cy="3218688"/>
        </p:xfrm>
        <a:graphic>
          <a:graphicData uri="http://schemas.openxmlformats.org/drawingml/2006/table">
            <a:tbl>
              <a:tblPr firstRow="1" bandRow="1">
                <a:tableStyleId>{5C22544A-7EE6-4342-B048-85BDC9FD1C3A}</a:tableStyleId>
              </a:tblPr>
              <a:tblGrid>
                <a:gridCol w="2651760"/>
                <a:gridCol w="1463040"/>
                <a:gridCol w="914400"/>
                <a:gridCol w="1005840"/>
                <a:gridCol w="1399032"/>
              </a:tblGrid>
              <a:tr h="402336">
                <a:tc>
                  <a:txBody>
                    <a:bodyPr wrap="square"/>
                    <a:lstStyle/>
                    <a:p>
                      <a:pPr algn="l"/>
                      <a:r>
                        <a:rPr sz="1300" b="1">
                          <a:solidFill>
                            <a:srgbClr val="FFFFFF"/>
                          </a:solidFill>
                          <a:latin typeface="Calibri"/>
                        </a:rPr>
                        <a:t>Job</a:t>
                      </a:r>
                    </a:p>
                  </a:txBody>
                  <a:tcPr marL="91440" marR="91440" marT="36576" marB="36576" anchor="ctr">
                    <a:solidFill>
                      <a:srgbClr val="1C2E6E"/>
                    </a:solidFill>
                  </a:tcPr>
                </a:tc>
                <a:tc>
                  <a:txBody>
                    <a:bodyPr wrap="square"/>
                    <a:lstStyle/>
                    <a:p>
                      <a:pPr algn="l"/>
                      <a:r>
                        <a:rPr sz="1300" b="1">
                          <a:solidFill>
                            <a:srgbClr val="FFFFFF"/>
                          </a:solidFill>
                          <a:latin typeface="Calibri"/>
                        </a:rPr>
                        <a:t>Model</a:t>
                      </a:r>
                    </a:p>
                  </a:txBody>
                  <a:tcPr marL="91440" marR="91440" marT="36576" marB="36576" anchor="ctr">
                    <a:solidFill>
                      <a:srgbClr val="1C2E6E"/>
                    </a:solidFill>
                  </a:tcPr>
                </a:tc>
                <a:tc>
                  <a:txBody>
                    <a:bodyPr wrap="square"/>
                    <a:lstStyle/>
                    <a:p>
                      <a:pPr algn="l"/>
                      <a:r>
                        <a:rPr sz="1300" b="1">
                          <a:solidFill>
                            <a:srgbClr val="FFFFFF"/>
                          </a:solidFill>
                          <a:latin typeface="Calibri"/>
                        </a:rPr>
                        <a:t>Posts</a:t>
                      </a:r>
                    </a:p>
                  </a:txBody>
                  <a:tcPr marL="91440" marR="91440" marT="36576" marB="36576" anchor="ctr">
                    <a:solidFill>
                      <a:srgbClr val="1C2E6E"/>
                    </a:solidFill>
                  </a:tcPr>
                </a:tc>
                <a:tc>
                  <a:txBody>
                    <a:bodyPr wrap="square"/>
                    <a:lstStyle/>
                    <a:p>
                      <a:pPr algn="l"/>
                      <a:r>
                        <a:rPr sz="1300" b="1">
                          <a:solidFill>
                            <a:srgbClr val="FFFFFF"/>
                          </a:solidFill>
                          <a:latin typeface="Calibri"/>
                        </a:rPr>
                        <a:t>Seconds</a:t>
                      </a:r>
                    </a:p>
                  </a:txBody>
                  <a:tcPr marL="91440" marR="91440" marT="36576" marB="36576" anchor="ctr">
                    <a:solidFill>
                      <a:srgbClr val="1C2E6E"/>
                    </a:solidFill>
                  </a:tcPr>
                </a:tc>
                <a:tc>
                  <a:txBody>
                    <a:bodyPr wrap="square"/>
                    <a:lstStyle/>
                    <a:p>
                      <a:pPr algn="l"/>
                      <a:r>
                        <a:rPr sz="1300" b="1">
                          <a:solidFill>
                            <a:srgbClr val="FFFFFF"/>
                          </a:solidFill>
                          <a:latin typeface="Calibri"/>
                        </a:rPr>
                        <a:t>Est. USD</a:t>
                      </a:r>
                    </a:p>
                  </a:txBody>
                  <a:tcPr marL="91440" marR="91440" marT="36576" marB="36576" anchor="ctr">
                    <a:solidFill>
                      <a:srgbClr val="1C2E6E"/>
                    </a:solidFill>
                  </a:tcPr>
                </a:tc>
              </a:tr>
              <a:tr h="402336">
                <a:tc>
                  <a:txBody>
                    <a:bodyPr wrap="square"/>
                    <a:lstStyle/>
                    <a:p>
                      <a:pPr algn="l"/>
                      <a:r>
                        <a:rPr sz="1300" b="0">
                          <a:solidFill>
                            <a:srgbClr val="1E293B"/>
                          </a:solidFill>
                          <a:latin typeface="Calibri"/>
                        </a:rPr>
                        <a:t>Representative eval</a:t>
                      </a:r>
                    </a:p>
                  </a:txBody>
                  <a:tcPr marL="91440" marR="91440" marT="36576" marB="36576" anchor="ctr">
                    <a:solidFill>
                      <a:srgbClr val="FFFFFF"/>
                    </a:solidFill>
                  </a:tcPr>
                </a:tc>
                <a:tc>
                  <a:txBody>
                    <a:bodyPr wrap="square"/>
                    <a:lstStyle/>
                    <a:p>
                      <a:pPr algn="l"/>
                      <a:r>
                        <a:rPr sz="1300" b="0">
                          <a:solidFill>
                            <a:srgbClr val="1E293B"/>
                          </a:solidFill>
                          <a:latin typeface="Calibri"/>
                        </a:rPr>
                        <a:t>GPT-4o-mini</a:t>
                      </a:r>
                    </a:p>
                  </a:txBody>
                  <a:tcPr marL="91440" marR="91440" marT="36576" marB="36576" anchor="ctr">
                    <a:solidFill>
                      <a:srgbClr val="FFFFFF"/>
                    </a:solidFill>
                  </a:tcPr>
                </a:tc>
                <a:tc>
                  <a:txBody>
                    <a:bodyPr wrap="square"/>
                    <a:lstStyle/>
                    <a:p>
                      <a:pPr algn="l"/>
                      <a:r>
                        <a:rPr sz="1300" b="0">
                          <a:solidFill>
                            <a:srgbClr val="1E293B"/>
                          </a:solidFill>
                          <a:latin typeface="Calibri"/>
                        </a:rPr>
                        <a:t>295</a:t>
                      </a:r>
                    </a:p>
                  </a:txBody>
                  <a:tcPr marL="91440" marR="91440" marT="36576" marB="36576" anchor="ctr">
                    <a:solidFill>
                      <a:srgbClr val="FFFFFF"/>
                    </a:solidFill>
                  </a:tcPr>
                </a:tc>
                <a:tc>
                  <a:txBody>
                    <a:bodyPr wrap="square"/>
                    <a:lstStyle/>
                    <a:p>
                      <a:pPr algn="l"/>
                      <a:r>
                        <a:rPr sz="1300" b="0">
                          <a:solidFill>
                            <a:srgbClr val="1E293B"/>
                          </a:solidFill>
                          <a:latin typeface="Calibri"/>
                        </a:rPr>
                        <a:t>74</a:t>
                      </a:r>
                    </a:p>
                  </a:txBody>
                  <a:tcPr marL="91440" marR="91440" marT="36576" marB="36576" anchor="ctr">
                    <a:solidFill>
                      <a:srgbClr val="FFFFFF"/>
                    </a:solidFill>
                  </a:tcPr>
                </a:tc>
                <a:tc>
                  <a:txBody>
                    <a:bodyPr wrap="square"/>
                    <a:lstStyle/>
                    <a:p>
                      <a:pPr algn="l"/>
                      <a:r>
                        <a:rPr sz="1300" b="0">
                          <a:solidFill>
                            <a:srgbClr val="1E293B"/>
                          </a:solidFill>
                          <a:latin typeface="Calibri"/>
                        </a:rPr>
                        <a:t>0.0087</a:t>
                      </a:r>
                    </a:p>
                  </a:txBody>
                  <a:tcPr marL="91440" marR="91440" marT="36576" marB="36576" anchor="ctr">
                    <a:solidFill>
                      <a:srgbClr val="FFFFFF"/>
                    </a:solidFill>
                  </a:tcPr>
                </a:tc>
              </a:tr>
              <a:tr h="402336">
                <a:tc>
                  <a:txBody>
                    <a:bodyPr wrap="square"/>
                    <a:lstStyle/>
                    <a:p>
                      <a:pPr algn="l"/>
                      <a:r>
                        <a:rPr sz="1300" b="0">
                          <a:solidFill>
                            <a:srgbClr val="1E293B"/>
                          </a:solidFill>
                          <a:latin typeface="Calibri"/>
                        </a:rPr>
                        <a:t>Representative eval</a:t>
                      </a:r>
                    </a:p>
                  </a:txBody>
                  <a:tcPr marL="91440" marR="91440" marT="36576" marB="36576" anchor="ctr">
                    <a:solidFill>
                      <a:srgbClr val="F2F4F9"/>
                    </a:solidFill>
                  </a:tcPr>
                </a:tc>
                <a:tc>
                  <a:txBody>
                    <a:bodyPr wrap="square"/>
                    <a:lstStyle/>
                    <a:p>
                      <a:pPr algn="l"/>
                      <a:r>
                        <a:rPr sz="1300" b="0">
                          <a:solidFill>
                            <a:srgbClr val="1E293B"/>
                          </a:solidFill>
                          <a:latin typeface="Calibri"/>
                        </a:rPr>
                        <a:t>GPT-4o</a:t>
                      </a:r>
                    </a:p>
                  </a:txBody>
                  <a:tcPr marL="91440" marR="91440" marT="36576" marB="36576" anchor="ctr">
                    <a:solidFill>
                      <a:srgbClr val="F2F4F9"/>
                    </a:solidFill>
                  </a:tcPr>
                </a:tc>
                <a:tc>
                  <a:txBody>
                    <a:bodyPr wrap="square"/>
                    <a:lstStyle/>
                    <a:p>
                      <a:pPr algn="l"/>
                      <a:r>
                        <a:rPr sz="1300" b="0">
                          <a:solidFill>
                            <a:srgbClr val="1E293B"/>
                          </a:solidFill>
                          <a:latin typeface="Calibri"/>
                        </a:rPr>
                        <a:t>295</a:t>
                      </a:r>
                    </a:p>
                  </a:txBody>
                  <a:tcPr marL="91440" marR="91440" marT="36576" marB="36576" anchor="ctr">
                    <a:solidFill>
                      <a:srgbClr val="F2F4F9"/>
                    </a:solidFill>
                  </a:tcPr>
                </a:tc>
                <a:tc>
                  <a:txBody>
                    <a:bodyPr wrap="square"/>
                    <a:lstStyle/>
                    <a:p>
                      <a:pPr algn="l"/>
                      <a:r>
                        <a:rPr sz="1300" b="0">
                          <a:solidFill>
                            <a:srgbClr val="1E293B"/>
                          </a:solidFill>
                          <a:latin typeface="Calibri"/>
                        </a:rPr>
                        <a:t>73</a:t>
                      </a:r>
                    </a:p>
                  </a:txBody>
                  <a:tcPr marL="91440" marR="91440" marT="36576" marB="36576" anchor="ctr">
                    <a:solidFill>
                      <a:srgbClr val="F2F4F9"/>
                    </a:solidFill>
                  </a:tcPr>
                </a:tc>
                <a:tc>
                  <a:txBody>
                    <a:bodyPr wrap="square"/>
                    <a:lstStyle/>
                    <a:p>
                      <a:pPr algn="l"/>
                      <a:r>
                        <a:rPr sz="1300" b="0">
                          <a:solidFill>
                            <a:srgbClr val="1E293B"/>
                          </a:solidFill>
                          <a:latin typeface="Calibri"/>
                        </a:rPr>
                        <a:t>0.145</a:t>
                      </a:r>
                    </a:p>
                  </a:txBody>
                  <a:tcPr marL="91440" marR="91440" marT="36576" marB="36576" anchor="ctr">
                    <a:solidFill>
                      <a:srgbClr val="F2F4F9"/>
                    </a:solidFill>
                  </a:tcPr>
                </a:tc>
              </a:tr>
              <a:tr h="402336">
                <a:tc>
                  <a:txBody>
                    <a:bodyPr wrap="square"/>
                    <a:lstStyle/>
                    <a:p>
                      <a:pPr algn="l"/>
                      <a:r>
                        <a:rPr sz="1300" b="0">
                          <a:solidFill>
                            <a:srgbClr val="1E293B"/>
                          </a:solidFill>
                          <a:latin typeface="Calibri"/>
                        </a:rPr>
                        <a:t>Challenge eval</a:t>
                      </a:r>
                    </a:p>
                  </a:txBody>
                  <a:tcPr marL="91440" marR="91440" marT="36576" marB="36576" anchor="ctr">
                    <a:solidFill>
                      <a:srgbClr val="FFFFFF"/>
                    </a:solidFill>
                  </a:tcPr>
                </a:tc>
                <a:tc>
                  <a:txBody>
                    <a:bodyPr wrap="square"/>
                    <a:lstStyle/>
                    <a:p>
                      <a:pPr algn="l"/>
                      <a:r>
                        <a:rPr sz="1300" b="0">
                          <a:solidFill>
                            <a:srgbClr val="1E293B"/>
                          </a:solidFill>
                          <a:latin typeface="Calibri"/>
                        </a:rPr>
                        <a:t>GPT-4o-mini</a:t>
                      </a:r>
                    </a:p>
                  </a:txBody>
                  <a:tcPr marL="91440" marR="91440" marT="36576" marB="36576" anchor="ctr">
                    <a:solidFill>
                      <a:srgbClr val="FFFFFF"/>
                    </a:solidFill>
                  </a:tcPr>
                </a:tc>
                <a:tc>
                  <a:txBody>
                    <a:bodyPr wrap="square"/>
                    <a:lstStyle/>
                    <a:p>
                      <a:pPr algn="l"/>
                      <a:r>
                        <a:rPr sz="1300" b="0">
                          <a:solidFill>
                            <a:srgbClr val="1E293B"/>
                          </a:solidFill>
                          <a:latin typeface="Calibri"/>
                        </a:rPr>
                        <a:t>100</a:t>
                      </a:r>
                    </a:p>
                  </a:txBody>
                  <a:tcPr marL="91440" marR="91440" marT="36576" marB="36576" anchor="ctr">
                    <a:solidFill>
                      <a:srgbClr val="FFFFFF"/>
                    </a:solidFill>
                  </a:tcPr>
                </a:tc>
                <a:tc>
                  <a:txBody>
                    <a:bodyPr wrap="square"/>
                    <a:lstStyle/>
                    <a:p>
                      <a:pPr algn="l"/>
                      <a:r>
                        <a:rPr sz="1300" b="0">
                          <a:solidFill>
                            <a:srgbClr val="1E293B"/>
                          </a:solidFill>
                          <a:latin typeface="Calibri"/>
                        </a:rPr>
                        <a:t>28</a:t>
                      </a:r>
                    </a:p>
                  </a:txBody>
                  <a:tcPr marL="91440" marR="91440" marT="36576" marB="36576" anchor="ctr">
                    <a:solidFill>
                      <a:srgbClr val="FFFFFF"/>
                    </a:solidFill>
                  </a:tcPr>
                </a:tc>
                <a:tc>
                  <a:txBody>
                    <a:bodyPr wrap="square"/>
                    <a:lstStyle/>
                    <a:p>
                      <a:pPr algn="l"/>
                      <a:r>
                        <a:rPr sz="1300" b="0">
                          <a:solidFill>
                            <a:srgbClr val="1E293B"/>
                          </a:solidFill>
                          <a:latin typeface="Calibri"/>
                        </a:rPr>
                        <a:t>0.0030</a:t>
                      </a:r>
                    </a:p>
                  </a:txBody>
                  <a:tcPr marL="91440" marR="91440" marT="36576" marB="36576" anchor="ctr">
                    <a:solidFill>
                      <a:srgbClr val="FFFFFF"/>
                    </a:solidFill>
                  </a:tcPr>
                </a:tc>
              </a:tr>
              <a:tr h="402336">
                <a:tc>
                  <a:txBody>
                    <a:bodyPr wrap="square"/>
                    <a:lstStyle/>
                    <a:p>
                      <a:pPr algn="l"/>
                      <a:r>
                        <a:rPr sz="1300" b="0">
                          <a:solidFill>
                            <a:srgbClr val="1E293B"/>
                          </a:solidFill>
                          <a:latin typeface="Calibri"/>
                        </a:rPr>
                        <a:t>Challenge eval</a:t>
                      </a:r>
                    </a:p>
                  </a:txBody>
                  <a:tcPr marL="91440" marR="91440" marT="36576" marB="36576" anchor="ctr">
                    <a:solidFill>
                      <a:srgbClr val="F2F4F9"/>
                    </a:solidFill>
                  </a:tcPr>
                </a:tc>
                <a:tc>
                  <a:txBody>
                    <a:bodyPr wrap="square"/>
                    <a:lstStyle/>
                    <a:p>
                      <a:pPr algn="l"/>
                      <a:r>
                        <a:rPr sz="1300" b="0">
                          <a:solidFill>
                            <a:srgbClr val="1E293B"/>
                          </a:solidFill>
                          <a:latin typeface="Calibri"/>
                        </a:rPr>
                        <a:t>GPT-4o</a:t>
                      </a:r>
                    </a:p>
                  </a:txBody>
                  <a:tcPr marL="91440" marR="91440" marT="36576" marB="36576" anchor="ctr">
                    <a:solidFill>
                      <a:srgbClr val="F2F4F9"/>
                    </a:solidFill>
                  </a:tcPr>
                </a:tc>
                <a:tc>
                  <a:txBody>
                    <a:bodyPr wrap="square"/>
                    <a:lstStyle/>
                    <a:p>
                      <a:pPr algn="l"/>
                      <a:r>
                        <a:rPr sz="1300" b="0">
                          <a:solidFill>
                            <a:srgbClr val="1E293B"/>
                          </a:solidFill>
                          <a:latin typeface="Calibri"/>
                        </a:rPr>
                        <a:t>100</a:t>
                      </a:r>
                    </a:p>
                  </a:txBody>
                  <a:tcPr marL="91440" marR="91440" marT="36576" marB="36576" anchor="ctr">
                    <a:solidFill>
                      <a:srgbClr val="F2F4F9"/>
                    </a:solidFill>
                  </a:tcPr>
                </a:tc>
                <a:tc>
                  <a:txBody>
                    <a:bodyPr wrap="square"/>
                    <a:lstStyle/>
                    <a:p>
                      <a:pPr algn="l"/>
                      <a:r>
                        <a:rPr sz="1300" b="0">
                          <a:solidFill>
                            <a:srgbClr val="1E293B"/>
                          </a:solidFill>
                          <a:latin typeface="Calibri"/>
                        </a:rPr>
                        <a:t>20</a:t>
                      </a:r>
                    </a:p>
                  </a:txBody>
                  <a:tcPr marL="91440" marR="91440" marT="36576" marB="36576" anchor="ctr">
                    <a:solidFill>
                      <a:srgbClr val="F2F4F9"/>
                    </a:solidFill>
                  </a:tcPr>
                </a:tc>
                <a:tc>
                  <a:txBody>
                    <a:bodyPr wrap="square"/>
                    <a:lstStyle/>
                    <a:p>
                      <a:pPr algn="l"/>
                      <a:r>
                        <a:rPr sz="1300" b="0">
                          <a:solidFill>
                            <a:srgbClr val="1E293B"/>
                          </a:solidFill>
                          <a:latin typeface="Calibri"/>
                        </a:rPr>
                        <a:t>0.050</a:t>
                      </a:r>
                    </a:p>
                  </a:txBody>
                  <a:tcPr marL="91440" marR="91440" marT="36576" marB="36576" anchor="ctr">
                    <a:solidFill>
                      <a:srgbClr val="F2F4F9"/>
                    </a:solidFill>
                  </a:tcPr>
                </a:tc>
              </a:tr>
              <a:tr h="402336">
                <a:tc>
                  <a:txBody>
                    <a:bodyPr wrap="square"/>
                    <a:lstStyle/>
                    <a:p>
                      <a:pPr algn="l"/>
                      <a:r>
                        <a:rPr sz="1300" b="1">
                          <a:solidFill>
                            <a:srgbClr val="1E293B"/>
                          </a:solidFill>
                          <a:latin typeface="Calibri"/>
                        </a:rPr>
                        <a:t>Wave-1 residual issues</a:t>
                      </a:r>
                    </a:p>
                  </a:txBody>
                  <a:tcPr marL="91440" marR="91440" marT="36576" marB="36576" anchor="ctr">
                    <a:solidFill>
                      <a:srgbClr val="FBF3DF"/>
                    </a:solidFill>
                  </a:tcPr>
                </a:tc>
                <a:tc>
                  <a:txBody>
                    <a:bodyPr wrap="square"/>
                    <a:lstStyle/>
                    <a:p>
                      <a:pPr algn="l"/>
                      <a:r>
                        <a:rPr sz="1300" b="0">
                          <a:solidFill>
                            <a:srgbClr val="1E293B"/>
                          </a:solidFill>
                          <a:latin typeface="Calibri"/>
                        </a:rPr>
                        <a:t>GPT-4o</a:t>
                      </a:r>
                    </a:p>
                  </a:txBody>
                  <a:tcPr marL="91440" marR="91440" marT="36576" marB="36576" anchor="ctr">
                    <a:solidFill>
                      <a:srgbClr val="FBF3DF"/>
                    </a:solidFill>
                  </a:tcPr>
                </a:tc>
                <a:tc>
                  <a:txBody>
                    <a:bodyPr wrap="square"/>
                    <a:lstStyle/>
                    <a:p>
                      <a:pPr algn="l"/>
                      <a:r>
                        <a:rPr sz="1300" b="0">
                          <a:solidFill>
                            <a:srgbClr val="1E293B"/>
                          </a:solidFill>
                          <a:latin typeface="Calibri"/>
                        </a:rPr>
                        <a:t>8,786</a:t>
                      </a:r>
                    </a:p>
                  </a:txBody>
                  <a:tcPr marL="91440" marR="91440" marT="36576" marB="36576" anchor="ctr">
                    <a:solidFill>
                      <a:srgbClr val="FBF3DF"/>
                    </a:solidFill>
                  </a:tcPr>
                </a:tc>
                <a:tc>
                  <a:txBody>
                    <a:bodyPr wrap="square"/>
                    <a:lstStyle/>
                    <a:p>
                      <a:pPr algn="l"/>
                      <a:r>
                        <a:rPr sz="1300" b="0">
                          <a:solidFill>
                            <a:srgbClr val="1E293B"/>
                          </a:solidFill>
                          <a:latin typeface="Calibri"/>
                        </a:rPr>
                        <a:t>1,785</a:t>
                      </a:r>
                    </a:p>
                  </a:txBody>
                  <a:tcPr marL="91440" marR="91440" marT="36576" marB="36576" anchor="ctr">
                    <a:solidFill>
                      <a:srgbClr val="FBF3DF"/>
                    </a:solidFill>
                  </a:tcPr>
                </a:tc>
                <a:tc>
                  <a:txBody>
                    <a:bodyPr wrap="square"/>
                    <a:lstStyle/>
                    <a:p>
                      <a:pPr algn="l"/>
                      <a:r>
                        <a:rPr sz="1300" b="0">
                          <a:solidFill>
                            <a:srgbClr val="1E293B"/>
                          </a:solidFill>
                          <a:latin typeface="Calibri"/>
                        </a:rPr>
                        <a:t>3.45</a:t>
                      </a:r>
                    </a:p>
                  </a:txBody>
                  <a:tcPr marL="91440" marR="91440" marT="36576" marB="36576" anchor="ctr">
                    <a:solidFill>
                      <a:srgbClr val="FBF3DF"/>
                    </a:solidFill>
                  </a:tcPr>
                </a:tc>
              </a:tr>
              <a:tr h="402336">
                <a:tc>
                  <a:txBody>
                    <a:bodyPr wrap="square"/>
                    <a:lstStyle/>
                    <a:p>
                      <a:pPr algn="l"/>
                      <a:r>
                        <a:rPr sz="1300" b="1">
                          <a:solidFill>
                            <a:srgbClr val="1E293B"/>
                          </a:solidFill>
                          <a:latin typeface="Calibri"/>
                        </a:rPr>
                        <a:t>Wave-2 residual issues</a:t>
                      </a:r>
                    </a:p>
                  </a:txBody>
                  <a:tcPr marL="91440" marR="91440" marT="36576" marB="36576" anchor="ctr">
                    <a:solidFill>
                      <a:srgbClr val="FBF3DF"/>
                    </a:solidFill>
                  </a:tcPr>
                </a:tc>
                <a:tc>
                  <a:txBody>
                    <a:bodyPr wrap="square"/>
                    <a:lstStyle/>
                    <a:p>
                      <a:pPr algn="l"/>
                      <a:r>
                        <a:rPr sz="1300" b="0">
                          <a:solidFill>
                            <a:srgbClr val="1E293B"/>
                          </a:solidFill>
                          <a:latin typeface="Calibri"/>
                        </a:rPr>
                        <a:t>GPT-4o</a:t>
                      </a:r>
                    </a:p>
                  </a:txBody>
                  <a:tcPr marL="91440" marR="91440" marT="36576" marB="36576" anchor="ctr">
                    <a:solidFill>
                      <a:srgbClr val="FBF3DF"/>
                    </a:solidFill>
                  </a:tcPr>
                </a:tc>
                <a:tc>
                  <a:txBody>
                    <a:bodyPr wrap="square"/>
                    <a:lstStyle/>
                    <a:p>
                      <a:pPr algn="l"/>
                      <a:r>
                        <a:rPr sz="1300" b="0">
                          <a:solidFill>
                            <a:srgbClr val="1E293B"/>
                          </a:solidFill>
                          <a:latin typeface="Calibri"/>
                        </a:rPr>
                        <a:t>3,711</a:t>
                      </a:r>
                    </a:p>
                  </a:txBody>
                  <a:tcPr marL="91440" marR="91440" marT="36576" marB="36576" anchor="ctr">
                    <a:solidFill>
                      <a:srgbClr val="FBF3DF"/>
                    </a:solidFill>
                  </a:tcPr>
                </a:tc>
                <a:tc>
                  <a:txBody>
                    <a:bodyPr wrap="square"/>
                    <a:lstStyle/>
                    <a:p>
                      <a:pPr algn="l"/>
                      <a:r>
                        <a:rPr sz="1300" b="0">
                          <a:solidFill>
                            <a:srgbClr val="1E293B"/>
                          </a:solidFill>
                          <a:latin typeface="Calibri"/>
                        </a:rPr>
                        <a:t>660</a:t>
                      </a:r>
                    </a:p>
                  </a:txBody>
                  <a:tcPr marL="91440" marR="91440" marT="36576" marB="36576" anchor="ctr">
                    <a:solidFill>
                      <a:srgbClr val="FBF3DF"/>
                    </a:solidFill>
                  </a:tcPr>
                </a:tc>
                <a:tc>
                  <a:txBody>
                    <a:bodyPr wrap="square"/>
                    <a:lstStyle/>
                    <a:p>
                      <a:pPr algn="l"/>
                      <a:r>
                        <a:rPr sz="1300" b="0">
                          <a:solidFill>
                            <a:srgbClr val="1E293B"/>
                          </a:solidFill>
                          <a:latin typeface="Calibri"/>
                        </a:rPr>
                        <a:t>1.35</a:t>
                      </a:r>
                    </a:p>
                  </a:txBody>
                  <a:tcPr marL="91440" marR="91440" marT="36576" marB="36576" anchor="ctr">
                    <a:solidFill>
                      <a:srgbClr val="FBF3DF"/>
                    </a:solidFill>
                  </a:tcPr>
                </a:tc>
              </a:tr>
              <a:tr h="402336">
                <a:tc>
                  <a:txBody>
                    <a:bodyPr wrap="square"/>
                    <a:lstStyle/>
                    <a:p>
                      <a:pPr algn="l"/>
                      <a:r>
                        <a:rPr sz="1300" b="1">
                          <a:solidFill>
                            <a:srgbClr val="1E293B"/>
                          </a:solidFill>
                          <a:latin typeface="Calibri"/>
                        </a:rPr>
                        <a:t>All-post sentiment</a:t>
                      </a:r>
                    </a:p>
                  </a:txBody>
                  <a:tcPr marL="91440" marR="91440" marT="36576" marB="36576" anchor="ctr">
                    <a:solidFill>
                      <a:srgbClr val="FBF3DF"/>
                    </a:solidFill>
                  </a:tcPr>
                </a:tc>
                <a:tc>
                  <a:txBody>
                    <a:bodyPr wrap="square"/>
                    <a:lstStyle/>
                    <a:p>
                      <a:pPr algn="l"/>
                      <a:r>
                        <a:rPr sz="1300" b="0">
                          <a:solidFill>
                            <a:srgbClr val="1E293B"/>
                          </a:solidFill>
                          <a:latin typeface="Calibri"/>
                        </a:rPr>
                        <a:t>GPT-4o-mini</a:t>
                      </a:r>
                    </a:p>
                  </a:txBody>
                  <a:tcPr marL="91440" marR="91440" marT="36576" marB="36576" anchor="ctr">
                    <a:solidFill>
                      <a:srgbClr val="FBF3DF"/>
                    </a:solidFill>
                  </a:tcPr>
                </a:tc>
                <a:tc>
                  <a:txBody>
                    <a:bodyPr wrap="square"/>
                    <a:lstStyle/>
                    <a:p>
                      <a:pPr algn="l"/>
                      <a:r>
                        <a:rPr sz="1300" b="0">
                          <a:solidFill>
                            <a:srgbClr val="1E293B"/>
                          </a:solidFill>
                          <a:latin typeface="Calibri"/>
                        </a:rPr>
                        <a:t>9,162</a:t>
                      </a:r>
                    </a:p>
                  </a:txBody>
                  <a:tcPr marL="91440" marR="91440" marT="36576" marB="36576" anchor="ctr">
                    <a:solidFill>
                      <a:srgbClr val="FBF3DF"/>
                    </a:solidFill>
                  </a:tcPr>
                </a:tc>
                <a:tc>
                  <a:txBody>
                    <a:bodyPr wrap="square"/>
                    <a:lstStyle/>
                    <a:p>
                      <a:pPr algn="l"/>
                      <a:r>
                        <a:rPr sz="1300" b="0">
                          <a:solidFill>
                            <a:srgbClr val="1E293B"/>
                          </a:solidFill>
                          <a:latin typeface="Calibri"/>
                        </a:rPr>
                        <a:t>—</a:t>
                      </a:r>
                    </a:p>
                  </a:txBody>
                  <a:tcPr marL="91440" marR="91440" marT="36576" marB="36576" anchor="ctr">
                    <a:solidFill>
                      <a:srgbClr val="FBF3DF"/>
                    </a:solidFill>
                  </a:tcPr>
                </a:tc>
                <a:tc>
                  <a:txBody>
                    <a:bodyPr wrap="square"/>
                    <a:lstStyle/>
                    <a:p>
                      <a:pPr algn="l"/>
                      <a:r>
                        <a:rPr sz="1300" b="0">
                          <a:solidFill>
                            <a:srgbClr val="1E293B"/>
                          </a:solidFill>
                          <a:latin typeface="Calibri"/>
                        </a:rPr>
                        <a:t>0.28</a:t>
                      </a:r>
                    </a:p>
                  </a:txBody>
                  <a:tcPr marL="91440" marR="91440" marT="36576" marB="36576" anchor="ctr">
                    <a:solidFill>
                      <a:srgbClr val="FBF3DF"/>
                    </a:solidFill>
                  </a:tcPr>
                </a:tc>
              </a:tr>
            </a:tbl>
          </a:graphicData>
        </a:graphic>
      </p:graphicFrame>
      <p:sp>
        <p:nvSpPr>
          <p:cNvPr id="7" name="TextBox 6"/>
          <p:cNvSpPr txBox="1"/>
          <p:nvPr/>
        </p:nvSpPr>
        <p:spPr>
          <a:xfrm>
            <a:off x="4206240" y="5257800"/>
            <a:ext cx="7434072" cy="7315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 moved 2,606 posts out of General Discussion</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20</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2011680"/>
            <a:ext cx="28620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34747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57% of corpus rows had no rule match.</a:t>
            </a:r>
          </a:p>
          <a:p>
            <a:pPr algn="l">
              <a:spcAft>
                <a:spcPts val="600"/>
              </a:spcAft>
            </a:pPr>
            <a:r>
              <a:rPr sz="1500" b="0" i="0">
                <a:solidFill>
                  <a:srgbClr val="1E293B"/>
                </a:solidFill>
                <a:latin typeface="Calibri"/>
              </a:rPr>
              <a:t>Most reassigned posts became Network Quality (+2,080).</a:t>
            </a:r>
          </a:p>
          <a:p>
            <a:pPr algn="l">
              <a:spcAft>
                <a:spcPts val="600"/>
              </a:spcAft>
            </a:pPr>
            <a:r>
              <a:rPr sz="1500" b="0" i="0">
                <a:solidFill>
                  <a:srgbClr val="1E293B"/>
                </a:solidFill>
                <a:latin typeface="Calibri"/>
              </a:rPr>
              <a:t>No human has checked these 2,606 moves yet.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Two in five posts are not happy, and VADER hides it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21</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9494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Shares in %; corpus n = 9,162, gold n = 295 (wave 1)</a:t>
            </a:r>
          </a:p>
        </p:txBody>
      </p:sp>
      <p:sp>
        <p:nvSpPr>
          <p:cNvPr id="6" name="TextBox 5"/>
          <p:cNvSpPr txBox="1"/>
          <p:nvPr/>
        </p:nvSpPr>
        <p:spPr>
          <a:xfrm>
            <a:off x="7863840" y="1737360"/>
            <a:ext cx="3749039" cy="457200"/>
          </a:xfrm>
          <a:prstGeom prst="rect">
            <a:avLst/>
          </a:prstGeom>
          <a:noFill/>
        </p:spPr>
        <p:txBody>
          <a:bodyPr wrap="square" lIns="0" rIns="0" tIns="0" bIns="0" anchor="t">
            <a:spAutoFit/>
          </a:bodyPr>
          <a:lstStyle/>
          <a:p>
            <a:pPr algn="l">
              <a:spcAft>
                <a:spcPts val="600"/>
              </a:spcAft>
            </a:pPr>
            <a:r>
              <a:rPr sz="3000" b="1" i="0">
                <a:solidFill>
                  <a:srgbClr val="1C2E6E"/>
                </a:solidFill>
                <a:latin typeface="Calibri"/>
              </a:rPr>
              <a:t>44% → 42% → 40%</a:t>
            </a:r>
          </a:p>
        </p:txBody>
      </p:sp>
      <p:sp>
        <p:nvSpPr>
          <p:cNvPr id="7" name="TextBox 6"/>
          <p:cNvSpPr txBox="1"/>
          <p:nvPr/>
        </p:nvSpPr>
        <p:spPr>
          <a:xfrm>
            <a:off x="7863840" y="2240280"/>
            <a:ext cx="3749039"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not happy: per post, per thread, outside outages</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84048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VADER reverses it</a:t>
            </a:r>
          </a:p>
        </p:txBody>
      </p:sp>
      <p:sp>
        <p:nvSpPr>
          <p:cNvPr id="10" name="TextBox 9"/>
          <p:cNvSpPr txBox="1"/>
          <p:nvPr/>
        </p:nvSpPr>
        <p:spPr>
          <a:xfrm>
            <a:off x="8092440" y="4224528"/>
            <a:ext cx="3319272" cy="1600199"/>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Of 4,180 posts VADER calls happy, GPT-4o-mini reads 1,480 as not happy and 1,538 as neutral.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Network leads; platforms and brands differ less than they seem</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22</a:t>
            </a:r>
          </a:p>
        </p:txBody>
      </p:sp>
      <p:graphicFrame>
        <p:nvGraphicFramePr>
          <p:cNvPr id="4" name="Table 3"/>
          <p:cNvGraphicFramePr>
            <a:graphicFrameLocks noGrp="1"/>
          </p:cNvGraphicFramePr>
          <p:nvPr/>
        </p:nvGraphicFramePr>
        <p:xfrm>
          <a:off x="548640" y="1691640"/>
          <a:ext cx="6858000" cy="4096512"/>
        </p:xfrm>
        <a:graphic>
          <a:graphicData uri="http://schemas.openxmlformats.org/drawingml/2006/table">
            <a:tbl>
              <a:tblPr firstRow="1" bandRow="1">
                <a:tableStyleId>{5C22544A-7EE6-4342-B048-85BDC9FD1C3A}</a:tableStyleId>
              </a:tblPr>
              <a:tblGrid>
                <a:gridCol w="1737360"/>
                <a:gridCol w="1188720"/>
                <a:gridCol w="1737360"/>
                <a:gridCol w="2194560"/>
              </a:tblGrid>
              <a:tr h="512064">
                <a:tc>
                  <a:txBody>
                    <a:bodyPr wrap="square"/>
                    <a:lstStyle/>
                    <a:p>
                      <a:pPr algn="l"/>
                      <a:r>
                        <a:rPr sz="1400" b="1">
                          <a:solidFill>
                            <a:srgbClr val="FFFFFF"/>
                          </a:solidFill>
                          <a:latin typeface="Calibri"/>
                        </a:rPr>
                        <a:t>Not happy</a:t>
                      </a:r>
                    </a:p>
                  </a:txBody>
                  <a:tcPr marL="91440" marR="91440" marT="36576" marB="36576" anchor="ctr">
                    <a:solidFill>
                      <a:srgbClr val="1C2E6E"/>
                    </a:solidFill>
                  </a:tcPr>
                </a:tc>
                <a:tc>
                  <a:txBody>
                    <a:bodyPr wrap="square"/>
                    <a:lstStyle/>
                    <a:p>
                      <a:pPr algn="l"/>
                      <a:r>
                        <a:rPr sz="1400" b="1">
                          <a:solidFill>
                            <a:srgbClr val="FFFFFF"/>
                          </a:solidFill>
                          <a:latin typeface="Calibri"/>
                        </a:rPr>
                        <a:t>Posts</a:t>
                      </a:r>
                    </a:p>
                  </a:txBody>
                  <a:tcPr marL="91440" marR="91440" marT="36576" marB="36576" anchor="ctr">
                    <a:solidFill>
                      <a:srgbClr val="1C2E6E"/>
                    </a:solidFill>
                  </a:tcPr>
                </a:tc>
                <a:tc>
                  <a:txBody>
                    <a:bodyPr wrap="square"/>
                    <a:lstStyle/>
                    <a:p>
                      <a:pPr algn="l"/>
                      <a:r>
                        <a:rPr sz="1400" b="1">
                          <a:solidFill>
                            <a:srgbClr val="FFFFFF"/>
                          </a:solidFill>
                          <a:latin typeface="Calibri"/>
                        </a:rPr>
                        <a:t>All threads</a:t>
                      </a:r>
                    </a:p>
                  </a:txBody>
                  <a:tcPr marL="91440" marR="91440" marT="36576" marB="36576" anchor="ctr">
                    <a:solidFill>
                      <a:srgbClr val="1C2E6E"/>
                    </a:solidFill>
                  </a:tcPr>
                </a:tc>
                <a:tc>
                  <a:txBody>
                    <a:bodyPr wrap="square"/>
                    <a:lstStyle/>
                    <a:p>
                      <a:pPr algn="l"/>
                      <a:r>
                        <a:rPr sz="1400" b="1">
                          <a:solidFill>
                            <a:srgbClr val="FFFFFF"/>
                          </a:solidFill>
                          <a:latin typeface="Calibri"/>
                        </a:rPr>
                        <a:t>Outside outage threads</a:t>
                      </a:r>
                    </a:p>
                  </a:txBody>
                  <a:tcPr marL="91440" marR="91440" marT="36576" marB="36576" anchor="ctr">
                    <a:solidFill>
                      <a:srgbClr val="1C2E6E"/>
                    </a:solidFill>
                  </a:tcPr>
                </a:tc>
              </a:tr>
              <a:tr h="512064">
                <a:tc>
                  <a:txBody>
                    <a:bodyPr wrap="square"/>
                    <a:lstStyle/>
                    <a:p>
                      <a:pPr algn="l"/>
                      <a:r>
                        <a:rPr sz="1400" b="0">
                          <a:solidFill>
                            <a:srgbClr val="1E293B"/>
                          </a:solidFill>
                          <a:latin typeface="Calibri"/>
                        </a:rPr>
                        <a:t>Reddit</a:t>
                      </a:r>
                    </a:p>
                  </a:txBody>
                  <a:tcPr marL="91440" marR="91440" marT="36576" marB="36576" anchor="ctr">
                    <a:solidFill>
                      <a:srgbClr val="FFFFFF"/>
                    </a:solidFill>
                  </a:tcPr>
                </a:tc>
                <a:tc>
                  <a:txBody>
                    <a:bodyPr wrap="square"/>
                    <a:lstStyle/>
                    <a:p>
                      <a:pPr algn="l"/>
                      <a:r>
                        <a:rPr sz="1400" b="0">
                          <a:solidFill>
                            <a:srgbClr val="1E293B"/>
                          </a:solidFill>
                          <a:latin typeface="Calibri"/>
                        </a:rPr>
                        <a:t>5,711</a:t>
                      </a:r>
                    </a:p>
                  </a:txBody>
                  <a:tcPr marL="91440" marR="91440" marT="36576" marB="36576" anchor="ctr">
                    <a:solidFill>
                      <a:srgbClr val="FFFFFF"/>
                    </a:solidFill>
                  </a:tcPr>
                </a:tc>
                <a:tc>
                  <a:txBody>
                    <a:bodyPr wrap="square"/>
                    <a:lstStyle/>
                    <a:p>
                      <a:pPr algn="l"/>
                      <a:r>
                        <a:rPr sz="1400" b="0">
                          <a:solidFill>
                            <a:srgbClr val="1E293B"/>
                          </a:solidFill>
                          <a:latin typeface="Calibri"/>
                        </a:rPr>
                        <a:t>48%</a:t>
                      </a:r>
                    </a:p>
                  </a:txBody>
                  <a:tcPr marL="91440" marR="91440" marT="36576" marB="36576" anchor="ctr">
                    <a:solidFill>
                      <a:srgbClr val="FFFFFF"/>
                    </a:solidFill>
                  </a:tcPr>
                </a:tc>
                <a:tc>
                  <a:txBody>
                    <a:bodyPr wrap="square"/>
                    <a:lstStyle/>
                    <a:p>
                      <a:pPr algn="l"/>
                      <a:r>
                        <a:rPr sz="1400" b="0">
                          <a:solidFill>
                            <a:srgbClr val="1E293B"/>
                          </a:solidFill>
                          <a:latin typeface="Calibri"/>
                        </a:rPr>
                        <a:t>42%</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HWZ</a:t>
                      </a:r>
                    </a:p>
                  </a:txBody>
                  <a:tcPr marL="91440" marR="91440" marT="36576" marB="36576" anchor="ctr">
                    <a:solidFill>
                      <a:srgbClr val="F2F4F9"/>
                    </a:solidFill>
                  </a:tcPr>
                </a:tc>
                <a:tc>
                  <a:txBody>
                    <a:bodyPr wrap="square"/>
                    <a:lstStyle/>
                    <a:p>
                      <a:pPr algn="l"/>
                      <a:r>
                        <a:rPr sz="1400" b="0">
                          <a:solidFill>
                            <a:srgbClr val="1E293B"/>
                          </a:solidFill>
                          <a:latin typeface="Calibri"/>
                        </a:rPr>
                        <a:t>3,451</a:t>
                      </a:r>
                    </a:p>
                  </a:txBody>
                  <a:tcPr marL="91440" marR="91440" marT="36576" marB="36576" anchor="ctr">
                    <a:solidFill>
                      <a:srgbClr val="F2F4F9"/>
                    </a:solidFill>
                  </a:tcPr>
                </a:tc>
                <a:tc>
                  <a:txBody>
                    <a:bodyPr wrap="square"/>
                    <a:lstStyle/>
                    <a:p>
                      <a:pPr algn="l"/>
                      <a:r>
                        <a:rPr sz="1400" b="0">
                          <a:solidFill>
                            <a:srgbClr val="1E293B"/>
                          </a:solidFill>
                          <a:latin typeface="Calibri"/>
                        </a:rPr>
                        <a:t>37%</a:t>
                      </a:r>
                    </a:p>
                  </a:txBody>
                  <a:tcPr marL="91440" marR="91440" marT="36576" marB="36576" anchor="ctr">
                    <a:solidFill>
                      <a:srgbClr val="F2F4F9"/>
                    </a:solidFill>
                  </a:tcPr>
                </a:tc>
                <a:tc>
                  <a:txBody>
                    <a:bodyPr wrap="square"/>
                    <a:lstStyle/>
                    <a:p>
                      <a:pPr algn="l"/>
                      <a:r>
                        <a:rPr sz="1400" b="0">
                          <a:solidFill>
                            <a:srgbClr val="1E293B"/>
                          </a:solidFill>
                          <a:latin typeface="Calibri"/>
                        </a:rPr>
                        <a:t>37%</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Singtel</a:t>
                      </a:r>
                    </a:p>
                  </a:txBody>
                  <a:tcPr marL="91440" marR="91440" marT="36576" marB="36576" anchor="ctr">
                    <a:solidFill>
                      <a:srgbClr val="FFFFFF"/>
                    </a:solidFill>
                  </a:tcPr>
                </a:tc>
                <a:tc>
                  <a:txBody>
                    <a:bodyPr wrap="square"/>
                    <a:lstStyle/>
                    <a:p>
                      <a:pPr algn="l"/>
                      <a:r>
                        <a:rPr sz="1400" b="0">
                          <a:solidFill>
                            <a:srgbClr val="1E293B"/>
                          </a:solidFill>
                          <a:latin typeface="Calibri"/>
                        </a:rPr>
                        <a:t>3,970</a:t>
                      </a:r>
                    </a:p>
                  </a:txBody>
                  <a:tcPr marL="91440" marR="91440" marT="36576" marB="36576" anchor="ctr">
                    <a:solidFill>
                      <a:srgbClr val="FFFFFF"/>
                    </a:solidFill>
                  </a:tcPr>
                </a:tc>
                <a:tc>
                  <a:txBody>
                    <a:bodyPr wrap="square"/>
                    <a:lstStyle/>
                    <a:p>
                      <a:pPr algn="l"/>
                      <a:r>
                        <a:rPr sz="1400" b="0">
                          <a:solidFill>
                            <a:srgbClr val="1E293B"/>
                          </a:solidFill>
                          <a:latin typeface="Calibri"/>
                        </a:rPr>
                        <a:t>48%</a:t>
                      </a:r>
                    </a:p>
                  </a:txBody>
                  <a:tcPr marL="91440" marR="91440" marT="36576" marB="36576" anchor="ctr">
                    <a:solidFill>
                      <a:srgbClr val="FFFFFF"/>
                    </a:solidFill>
                  </a:tcPr>
                </a:tc>
                <a:tc>
                  <a:txBody>
                    <a:bodyPr wrap="square"/>
                    <a:lstStyle/>
                    <a:p>
                      <a:pPr algn="l"/>
                      <a:r>
                        <a:rPr sz="1400" b="0">
                          <a:solidFill>
                            <a:srgbClr val="1E293B"/>
                          </a:solidFill>
                          <a:latin typeface="Calibri"/>
                        </a:rPr>
                        <a:t>42%</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StarHub</a:t>
                      </a:r>
                    </a:p>
                  </a:txBody>
                  <a:tcPr marL="91440" marR="91440" marT="36576" marB="36576" anchor="ctr">
                    <a:solidFill>
                      <a:srgbClr val="F2F4F9"/>
                    </a:solidFill>
                  </a:tcPr>
                </a:tc>
                <a:tc>
                  <a:txBody>
                    <a:bodyPr wrap="square"/>
                    <a:lstStyle/>
                    <a:p>
                      <a:pPr algn="l"/>
                      <a:r>
                        <a:rPr sz="1400" b="0">
                          <a:solidFill>
                            <a:srgbClr val="1E293B"/>
                          </a:solidFill>
                          <a:latin typeface="Calibri"/>
                        </a:rPr>
                        <a:t>1,638</a:t>
                      </a:r>
                    </a:p>
                  </a:txBody>
                  <a:tcPr marL="91440" marR="91440" marT="36576" marB="36576" anchor="ctr">
                    <a:solidFill>
                      <a:srgbClr val="F2F4F9"/>
                    </a:solidFill>
                  </a:tcPr>
                </a:tc>
                <a:tc>
                  <a:txBody>
                    <a:bodyPr wrap="square"/>
                    <a:lstStyle/>
                    <a:p>
                      <a:pPr algn="l"/>
                      <a:r>
                        <a:rPr sz="1400" b="0">
                          <a:solidFill>
                            <a:srgbClr val="1E293B"/>
                          </a:solidFill>
                          <a:latin typeface="Calibri"/>
                        </a:rPr>
                        <a:t>44%</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SIMBA</a:t>
                      </a:r>
                    </a:p>
                  </a:txBody>
                  <a:tcPr marL="91440" marR="91440" marT="36576" marB="36576" anchor="ctr">
                    <a:solidFill>
                      <a:srgbClr val="FFFFFF"/>
                    </a:solidFill>
                  </a:tcPr>
                </a:tc>
                <a:tc>
                  <a:txBody>
                    <a:bodyPr wrap="square"/>
                    <a:lstStyle/>
                    <a:p>
                      <a:pPr algn="l"/>
                      <a:r>
                        <a:rPr sz="1400" b="0">
                          <a:solidFill>
                            <a:srgbClr val="1E293B"/>
                          </a:solidFill>
                          <a:latin typeface="Calibri"/>
                        </a:rPr>
                        <a:t>1,461</a:t>
                      </a:r>
                    </a:p>
                  </a:txBody>
                  <a:tcPr marL="91440" marR="91440" marT="36576" marB="36576" anchor="ctr">
                    <a:solidFill>
                      <a:srgbClr val="FFFFFF"/>
                    </a:solidFill>
                  </a:tcPr>
                </a:tc>
                <a:tc>
                  <a:txBody>
                    <a:bodyPr wrap="square"/>
                    <a:lstStyle/>
                    <a:p>
                      <a:pPr algn="l"/>
                      <a:r>
                        <a:rPr sz="1400" b="0">
                          <a:solidFill>
                            <a:srgbClr val="1E293B"/>
                          </a:solidFill>
                          <a:latin typeface="Calibri"/>
                        </a:rPr>
                        <a:t>44%</a:t>
                      </a:r>
                    </a:p>
                  </a:txBody>
                  <a:tcPr marL="91440" marR="91440" marT="36576" marB="36576" anchor="ctr">
                    <a:solidFill>
                      <a:srgbClr val="FFFFFF"/>
                    </a:solidFill>
                  </a:tcPr>
                </a:tc>
                <a:tc>
                  <a:txBody>
                    <a:bodyPr wrap="square"/>
                    <a:lstStyle/>
                    <a:p>
                      <a:pPr algn="l"/>
                      <a:r>
                        <a:rPr sz="1400" b="0">
                          <a:solidFill>
                            <a:srgbClr val="1E293B"/>
                          </a:solidFill>
                          <a:latin typeface="Calibri"/>
                        </a:rPr>
                        <a:t>43%</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M1</a:t>
                      </a:r>
                    </a:p>
                  </a:txBody>
                  <a:tcPr marL="91440" marR="91440" marT="36576" marB="36576" anchor="ctr">
                    <a:solidFill>
                      <a:srgbClr val="F2F4F9"/>
                    </a:solidFill>
                  </a:tcPr>
                </a:tc>
                <a:tc>
                  <a:txBody>
                    <a:bodyPr wrap="square"/>
                    <a:lstStyle/>
                    <a:p>
                      <a:pPr algn="l"/>
                      <a:r>
                        <a:rPr sz="1400" b="0">
                          <a:solidFill>
                            <a:srgbClr val="1E293B"/>
                          </a:solidFill>
                          <a:latin typeface="Calibri"/>
                        </a:rPr>
                        <a:t>1,415</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r>
              <a:tr h="512064">
                <a:tc>
                  <a:txBody>
                    <a:bodyPr wrap="square"/>
                    <a:lstStyle/>
                    <a:p>
                      <a:pPr algn="l"/>
                      <a:r>
                        <a:rPr sz="1400" b="1">
                          <a:solidFill>
                            <a:srgbClr val="1E293B"/>
                          </a:solidFill>
                          <a:latin typeface="Calibri"/>
                        </a:rPr>
                        <a:t>Eight</a:t>
                      </a:r>
                    </a:p>
                  </a:txBody>
                  <a:tcPr marL="91440" marR="91440" marT="36576" marB="36576" anchor="ctr">
                    <a:solidFill>
                      <a:srgbClr val="FBF3DF"/>
                    </a:solidFill>
                  </a:tcPr>
                </a:tc>
                <a:tc>
                  <a:txBody>
                    <a:bodyPr wrap="square"/>
                    <a:lstStyle/>
                    <a:p>
                      <a:pPr algn="l"/>
                      <a:r>
                        <a:rPr sz="1400" b="0">
                          <a:solidFill>
                            <a:srgbClr val="1E293B"/>
                          </a:solidFill>
                          <a:latin typeface="Calibri"/>
                        </a:rPr>
                        <a:t>734</a:t>
                      </a:r>
                    </a:p>
                  </a:txBody>
                  <a:tcPr marL="91440" marR="91440" marT="36576" marB="36576" anchor="ctr">
                    <a:solidFill>
                      <a:srgbClr val="FBF3DF"/>
                    </a:solidFill>
                  </a:tcPr>
                </a:tc>
                <a:tc>
                  <a:txBody>
                    <a:bodyPr wrap="square"/>
                    <a:lstStyle/>
                    <a:p>
                      <a:pPr algn="l"/>
                      <a:r>
                        <a:rPr sz="1400" b="0">
                          <a:solidFill>
                            <a:srgbClr val="1E293B"/>
                          </a:solidFill>
                          <a:latin typeface="Calibri"/>
                        </a:rPr>
                        <a:t>35%</a:t>
                      </a:r>
                    </a:p>
                  </a:txBody>
                  <a:tcPr marL="91440" marR="91440" marT="36576" marB="36576" anchor="ctr">
                    <a:solidFill>
                      <a:srgbClr val="FBF3DF"/>
                    </a:solidFill>
                  </a:tcPr>
                </a:tc>
                <a:tc>
                  <a:txBody>
                    <a:bodyPr wrap="square"/>
                    <a:lstStyle/>
                    <a:p>
                      <a:pPr algn="l"/>
                      <a:r>
                        <a:rPr sz="1400" b="0">
                          <a:solidFill>
                            <a:srgbClr val="1E293B"/>
                          </a:solidFill>
                          <a:latin typeface="Calibri"/>
                        </a:rPr>
                        <a:t>35%</a:t>
                      </a:r>
                    </a:p>
                  </a:txBody>
                  <a:tcPr marL="91440" marR="91440" marT="36576" marB="36576" anchor="ctr">
                    <a:solidFill>
                      <a:srgbClr val="FBF3DF"/>
                    </a:solidFill>
                  </a:tcPr>
                </a:tc>
              </a:tr>
            </a:tbl>
          </a:graphicData>
        </a:graphic>
      </p:graphicFrame>
      <p:sp>
        <p:nvSpPr>
          <p:cNvPr id="5" name="TextBox 4"/>
          <p:cNvSpPr txBox="1"/>
          <p:nvPr/>
        </p:nvSpPr>
        <p:spPr>
          <a:xfrm>
            <a:off x="548640" y="5852160"/>
            <a:ext cx="6858000" cy="36576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Brands ranked only with ≥92 posts and ≥10 threads; human gold: Reddit 51%, HWZ 47%</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874520"/>
            <a:ext cx="341071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Top issues (share of posts)</a:t>
            </a:r>
          </a:p>
        </p:txBody>
      </p:sp>
      <p:sp>
        <p:nvSpPr>
          <p:cNvPr id="8" name="TextBox 7"/>
          <p:cNvSpPr txBox="1"/>
          <p:nvPr/>
        </p:nvSpPr>
        <p:spPr>
          <a:xfrm>
            <a:off x="8001000" y="2258568"/>
            <a:ext cx="3410712" cy="33832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Network Quality 41%</a:t>
            </a:r>
          </a:p>
          <a:p>
            <a:pPr algn="l">
              <a:spcAft>
                <a:spcPts val="600"/>
              </a:spcAft>
            </a:pPr>
            <a:r>
              <a:rPr sz="1500" b="0" i="0">
                <a:solidFill>
                  <a:srgbClr val="1E293B"/>
                </a:solidFill>
                <a:latin typeface="Calibri"/>
              </a:rPr>
              <a:t>Mobile Plans 14%</a:t>
            </a:r>
          </a:p>
          <a:p>
            <a:pPr algn="l">
              <a:spcAft>
                <a:spcPts val="600"/>
              </a:spcAft>
            </a:pPr>
            <a:r>
              <a:rPr sz="1500" b="0" i="0">
                <a:solidFill>
                  <a:srgbClr val="1E293B"/>
                </a:solidFill>
                <a:latin typeface="Calibri"/>
              </a:rPr>
              <a:t>Pricing &amp; Promotions 8%</a:t>
            </a:r>
          </a:p>
          <a:p>
            <a:pPr algn="l">
              <a:spcAft>
                <a:spcPts val="600"/>
              </a:spcAft>
            </a:pPr>
            <a:r>
              <a:rPr sz="1500" b="0" i="0">
                <a:solidFill>
                  <a:srgbClr val="1E293B"/>
                </a:solidFill>
                <a:latin typeface="Calibri"/>
              </a:rPr>
              <a:t>App &amp; Account 4%, in 115 threads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Case study: one outage distorted every number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23</a:t>
            </a:r>
          </a:p>
        </p:txBody>
      </p:sp>
      <p:graphicFrame>
        <p:nvGraphicFramePr>
          <p:cNvPr id="4" name="Table 3"/>
          <p:cNvGraphicFramePr>
            <a:graphicFrameLocks noGrp="1"/>
          </p:cNvGraphicFramePr>
          <p:nvPr/>
        </p:nvGraphicFramePr>
        <p:xfrm>
          <a:off x="548640" y="1691640"/>
          <a:ext cx="6949440" cy="2834640"/>
        </p:xfrm>
        <a:graphic>
          <a:graphicData uri="http://schemas.openxmlformats.org/drawingml/2006/table">
            <a:tbl>
              <a:tblPr firstRow="1" bandRow="1">
                <a:tableStyleId>{5C22544A-7EE6-4342-B048-85BDC9FD1C3A}</a:tableStyleId>
              </a:tblPr>
              <a:tblGrid>
                <a:gridCol w="2743200"/>
                <a:gridCol w="2103120"/>
                <a:gridCol w="2103120"/>
              </a:tblGrid>
              <a:tr h="566928">
                <a:tc>
                  <a:txBody>
                    <a:bodyPr wrap="square"/>
                    <a:lstStyle/>
                    <a:p>
                      <a:pPr algn="l"/>
                      <a:r>
                        <a:rPr sz="1500" b="1">
                          <a:solidFill>
                            <a:srgbClr val="FFFFFF"/>
                          </a:solidFill>
                          <a:latin typeface="Calibri"/>
                        </a:rPr>
                        <a:t>Wave 1 (1,711 posts)</a:t>
                      </a:r>
                    </a:p>
                  </a:txBody>
                  <a:tcPr marL="91440" marR="91440" marT="36576" marB="36576" anchor="ctr">
                    <a:solidFill>
                      <a:srgbClr val="1C2E6E"/>
                    </a:solidFill>
                  </a:tcPr>
                </a:tc>
                <a:tc>
                  <a:txBody>
                    <a:bodyPr wrap="square"/>
                    <a:lstStyle/>
                    <a:p>
                      <a:pPr algn="l"/>
                      <a:r>
                        <a:rPr sz="1500" b="1">
                          <a:solidFill>
                            <a:srgbClr val="FFFFFF"/>
                          </a:solidFill>
                          <a:latin typeface="Calibri"/>
                        </a:rPr>
                        <a:t>All threads</a:t>
                      </a:r>
                    </a:p>
                  </a:txBody>
                  <a:tcPr marL="91440" marR="91440" marT="36576" marB="36576" anchor="ctr">
                    <a:solidFill>
                      <a:srgbClr val="1C2E6E"/>
                    </a:solidFill>
                  </a:tcPr>
                </a:tc>
                <a:tc>
                  <a:txBody>
                    <a:bodyPr wrap="square"/>
                    <a:lstStyle/>
                    <a:p>
                      <a:pPr algn="l"/>
                      <a:r>
                        <a:rPr sz="1500" b="1">
                          <a:solidFill>
                            <a:srgbClr val="FFFFFF"/>
                          </a:solidFill>
                          <a:latin typeface="Calibri"/>
                        </a:rPr>
                        <a:t>Outside outage threads</a:t>
                      </a:r>
                    </a:p>
                  </a:txBody>
                  <a:tcPr marL="91440" marR="91440" marT="36576" marB="36576" anchor="ctr">
                    <a:solidFill>
                      <a:srgbClr val="1C2E6E"/>
                    </a:solidFill>
                  </a:tcPr>
                </a:tc>
              </a:tr>
              <a:tr h="566928">
                <a:tc>
                  <a:txBody>
                    <a:bodyPr wrap="square"/>
                    <a:lstStyle/>
                    <a:p>
                      <a:pPr algn="l"/>
                      <a:r>
                        <a:rPr sz="1500" b="0">
                          <a:solidFill>
                            <a:srgbClr val="1E293B"/>
                          </a:solidFill>
                          <a:latin typeface="Calibri"/>
                        </a:rPr>
                        <a:t>Not happy overall</a:t>
                      </a:r>
                    </a:p>
                  </a:txBody>
                  <a:tcPr marL="91440" marR="91440" marT="36576" marB="36576" anchor="ctr">
                    <a:solidFill>
                      <a:srgbClr val="FFFFFF"/>
                    </a:solidFill>
                  </a:tcPr>
                </a:tc>
                <a:tc>
                  <a:txBody>
                    <a:bodyPr wrap="square"/>
                    <a:lstStyle/>
                    <a:p>
                      <a:pPr algn="l"/>
                      <a:r>
                        <a:rPr sz="1500" b="0">
                          <a:solidFill>
                            <a:srgbClr val="1E293B"/>
                          </a:solidFill>
                          <a:latin typeface="Calibri"/>
                        </a:rPr>
                        <a:t>55%</a:t>
                      </a:r>
                    </a:p>
                  </a:txBody>
                  <a:tcPr marL="91440" marR="91440" marT="36576" marB="36576" anchor="ctr">
                    <a:solidFill>
                      <a:srgbClr val="FFFFFF"/>
                    </a:solidFill>
                  </a:tcPr>
                </a:tc>
                <a:tc>
                  <a:txBody>
                    <a:bodyPr wrap="square"/>
                    <a:lstStyle/>
                    <a:p>
                      <a:pPr algn="l"/>
                      <a:r>
                        <a:rPr sz="1500" b="0">
                          <a:solidFill>
                            <a:srgbClr val="1E293B"/>
                          </a:solidFill>
                          <a:latin typeface="Calibri"/>
                        </a:rPr>
                        <a:t>42%</a:t>
                      </a:r>
                    </a:p>
                  </a:txBody>
                  <a:tcPr marL="91440" marR="91440" marT="36576" marB="36576" anchor="ctr">
                    <a:solidFill>
                      <a:srgbClr val="FFFFFF"/>
                    </a:solidFill>
                  </a:tcPr>
                </a:tc>
              </a:tr>
              <a:tr h="566928">
                <a:tc>
                  <a:txBody>
                    <a:bodyPr wrap="square"/>
                    <a:lstStyle/>
                    <a:p>
                      <a:pPr algn="l"/>
                      <a:r>
                        <a:rPr sz="1500" b="1">
                          <a:solidFill>
                            <a:srgbClr val="1E293B"/>
                          </a:solidFill>
                          <a:latin typeface="Calibri"/>
                        </a:rPr>
                        <a:t>Singtel not happy</a:t>
                      </a:r>
                    </a:p>
                  </a:txBody>
                  <a:tcPr marL="91440" marR="91440" marT="36576" marB="36576" anchor="ctr">
                    <a:solidFill>
                      <a:srgbClr val="FBF3DF"/>
                    </a:solidFill>
                  </a:tcPr>
                </a:tc>
                <a:tc>
                  <a:txBody>
                    <a:bodyPr wrap="square"/>
                    <a:lstStyle/>
                    <a:p>
                      <a:pPr algn="l"/>
                      <a:r>
                        <a:rPr sz="1500" b="0">
                          <a:solidFill>
                            <a:srgbClr val="1E293B"/>
                          </a:solidFill>
                          <a:latin typeface="Calibri"/>
                        </a:rPr>
                        <a:t>63%</a:t>
                      </a:r>
                    </a:p>
                  </a:txBody>
                  <a:tcPr marL="91440" marR="91440" marT="36576" marB="36576" anchor="ctr">
                    <a:solidFill>
                      <a:srgbClr val="FBF3DF"/>
                    </a:solidFill>
                  </a:tcPr>
                </a:tc>
                <a:tc>
                  <a:txBody>
                    <a:bodyPr wrap="square"/>
                    <a:lstStyle/>
                    <a:p>
                      <a:pPr algn="l"/>
                      <a:r>
                        <a:rPr sz="1500" b="0">
                          <a:solidFill>
                            <a:srgbClr val="1E293B"/>
                          </a:solidFill>
                          <a:latin typeface="Calibri"/>
                        </a:rPr>
                        <a:t>44%</a:t>
                      </a:r>
                    </a:p>
                  </a:txBody>
                  <a:tcPr marL="91440" marR="91440" marT="36576" marB="36576" anchor="ctr">
                    <a:solidFill>
                      <a:srgbClr val="FBF3DF"/>
                    </a:solidFill>
                  </a:tcPr>
                </a:tc>
              </a:tr>
              <a:tr h="566928">
                <a:tc>
                  <a:txBody>
                    <a:bodyPr wrap="square"/>
                    <a:lstStyle/>
                    <a:p>
                      <a:pPr algn="l"/>
                      <a:r>
                        <a:rPr sz="1500" b="0">
                          <a:solidFill>
                            <a:srgbClr val="1E293B"/>
                          </a:solidFill>
                          <a:latin typeface="Calibri"/>
                        </a:rPr>
                        <a:t>StarHub not happy</a:t>
                      </a:r>
                    </a:p>
                  </a:txBody>
                  <a:tcPr marL="91440" marR="91440" marT="36576" marB="36576" anchor="ctr">
                    <a:solidFill>
                      <a:srgbClr val="FFFFFF"/>
                    </a:solidFill>
                  </a:tcPr>
                </a:tc>
                <a:tc>
                  <a:txBody>
                    <a:bodyPr wrap="square"/>
                    <a:lstStyle/>
                    <a:p>
                      <a:pPr algn="l"/>
                      <a:r>
                        <a:rPr sz="1500" b="0">
                          <a:solidFill>
                            <a:srgbClr val="1E293B"/>
                          </a:solidFill>
                          <a:latin typeface="Calibri"/>
                        </a:rPr>
                        <a:t>48%</a:t>
                      </a:r>
                    </a:p>
                  </a:txBody>
                  <a:tcPr marL="91440" marR="91440" marT="36576" marB="36576" anchor="ctr">
                    <a:solidFill>
                      <a:srgbClr val="FFFFFF"/>
                    </a:solidFill>
                  </a:tcPr>
                </a:tc>
                <a:tc>
                  <a:txBody>
                    <a:bodyPr wrap="square"/>
                    <a:lstStyle/>
                    <a:p>
                      <a:pPr algn="l"/>
                      <a:r>
                        <a:rPr sz="1500" b="0">
                          <a:solidFill>
                            <a:srgbClr val="1E293B"/>
                          </a:solidFill>
                          <a:latin typeface="Calibri"/>
                        </a:rPr>
                        <a:t>47%</a:t>
                      </a:r>
                    </a:p>
                  </a:txBody>
                  <a:tcPr marL="91440" marR="91440" marT="36576" marB="36576" anchor="ctr">
                    <a:solidFill>
                      <a:srgbClr val="FFFFFF"/>
                    </a:solidFill>
                  </a:tcPr>
                </a:tc>
              </a:tr>
              <a:tr h="566928">
                <a:tc>
                  <a:txBody>
                    <a:bodyPr wrap="square"/>
                    <a:lstStyle/>
                    <a:p>
                      <a:pPr algn="l"/>
                      <a:r>
                        <a:rPr sz="1500" b="1">
                          <a:solidFill>
                            <a:srgbClr val="1E293B"/>
                          </a:solidFill>
                          <a:latin typeface="Calibri"/>
                        </a:rPr>
                        <a:t>Reddit vs HWZ</a:t>
                      </a:r>
                    </a:p>
                  </a:txBody>
                  <a:tcPr marL="91440" marR="91440" marT="36576" marB="36576" anchor="ctr">
                    <a:solidFill>
                      <a:srgbClr val="FBF3DF"/>
                    </a:solidFill>
                  </a:tcPr>
                </a:tc>
                <a:tc>
                  <a:txBody>
                    <a:bodyPr wrap="square"/>
                    <a:lstStyle/>
                    <a:p>
                      <a:pPr algn="l"/>
                      <a:r>
                        <a:rPr sz="1500" b="0">
                          <a:solidFill>
                            <a:srgbClr val="1E293B"/>
                          </a:solidFill>
                          <a:latin typeface="Calibri"/>
                        </a:rPr>
                        <a:t>60% vs 40%</a:t>
                      </a:r>
                    </a:p>
                  </a:txBody>
                  <a:tcPr marL="91440" marR="91440" marT="36576" marB="36576" anchor="ctr">
                    <a:solidFill>
                      <a:srgbClr val="FBF3DF"/>
                    </a:solidFill>
                  </a:tcPr>
                </a:tc>
                <a:tc>
                  <a:txBody>
                    <a:bodyPr wrap="square"/>
                    <a:lstStyle/>
                    <a:p>
                      <a:pPr algn="l"/>
                      <a:r>
                        <a:rPr sz="1500" b="0">
                          <a:solidFill>
                            <a:srgbClr val="1E293B"/>
                          </a:solidFill>
                          <a:latin typeface="Calibri"/>
                        </a:rPr>
                        <a:t>43% vs 40%</a:t>
                      </a:r>
                    </a:p>
                  </a:txBody>
                  <a:tcPr marL="91440" marR="91440" marT="36576" marB="36576" anchor="ctr">
                    <a:solidFill>
                      <a:srgbClr val="FBF3DF"/>
                    </a:solidFill>
                  </a:tcPr>
                </a:tc>
              </a:tr>
            </a:tbl>
          </a:graphicData>
        </a:graphic>
      </p:graphicFrame>
      <p:sp>
        <p:nvSpPr>
          <p:cNvPr id="5" name="Rounded Rectangle 4"/>
          <p:cNvSpPr/>
          <p:nvPr/>
        </p:nvSpPr>
        <p:spPr>
          <a:xfrm>
            <a:off x="7863840" y="1691640"/>
            <a:ext cx="377647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187452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The lesson</a:t>
            </a:r>
          </a:p>
        </p:txBody>
      </p:sp>
      <p:sp>
        <p:nvSpPr>
          <p:cNvPr id="7" name="TextBox 6"/>
          <p:cNvSpPr txBox="1"/>
          <p:nvPr/>
        </p:nvSpPr>
        <p:spPr>
          <a:xfrm>
            <a:off x="8092440" y="2258568"/>
            <a:ext cx="3319272" cy="33832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A single incident can create a brand gap and a platform gap.</a:t>
            </a:r>
          </a:p>
          <a:p>
            <a:pPr algn="l">
              <a:spcAft>
                <a:spcPts val="600"/>
              </a:spcAft>
            </a:pPr>
            <a:r>
              <a:rPr sz="1500" b="0" i="0">
                <a:solidFill>
                  <a:srgbClr val="1E293B"/>
                </a:solidFill>
                <a:latin typeface="Calibri"/>
              </a:rPr>
              <a:t>Check with the incident removed.</a:t>
            </a:r>
          </a:p>
          <a:p>
            <a:pPr algn="l">
              <a:spcAft>
                <a:spcPts val="600"/>
              </a:spcAft>
            </a:pPr>
            <a:r>
              <a:rPr sz="1500" b="0" i="0">
                <a:solidFill>
                  <a:srgbClr val="1E293B"/>
                </a:solidFill>
                <a:latin typeface="Calibri"/>
              </a:rPr>
              <a:t>More, broader data (wave 2) is the fix.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dashboard runs a weekly 30-minute huddle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24</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Not-happy posts in Network, App &amp; Account, Porting; act only above 2× a normal week</a:t>
            </a:r>
          </a:p>
        </p:txBody>
      </p:sp>
      <p:sp>
        <p:nvSpPr>
          <p:cNvPr id="10" name="TextBox 9"/>
          <p:cNvSpPr txBox="1"/>
          <p:nvPr/>
        </p:nvSpPr>
        <p:spPr>
          <a:xfrm>
            <a:off x="282732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846320"/>
            <a:ext cx="3931920" cy="1005840"/>
          </a:xfrm>
          <a:prstGeom prst="rect">
            <a:avLst/>
          </a:prstGeom>
          <a:noFill/>
        </p:spPr>
        <p:txBody>
          <a:bodyPr wrap="square" lIns="0" rIns="0" tIns="0" bIns="0" anchor="ctr">
            <a:spAutoFit/>
          </a:bodyPr>
          <a:lstStyle/>
          <a:p>
            <a:pPr algn="l">
              <a:spcAft>
                <a:spcPts val="600"/>
              </a:spcAft>
            </a:pPr>
            <a:r>
              <a:rPr sz="2200" b="1" i="0">
                <a:solidFill>
                  <a:srgbClr val="1C2E6E"/>
                </a:solidFill>
                <a:latin typeface="Calibri"/>
              </a:rPr>
              <a:t>2 weeks </a:t>
            </a:r>
            <a:r>
              <a:rPr sz="1600" b="0" i="0">
                <a:solidFill>
                  <a:srgbClr val="1E293B"/>
                </a:solidFill>
                <a:latin typeface="Calibri"/>
              </a:rPr>
              <a:t>crossed n ≥ 115</a:t>
            </a:r>
          </a:p>
        </p:txBody>
      </p:sp>
      <p:sp>
        <p:nvSpPr>
          <p:cNvPr id="16" name="TextBox 15"/>
          <p:cNvSpPr txBox="1"/>
          <p:nvPr/>
        </p:nvSpPr>
        <p:spPr>
          <a:xfrm>
            <a:off x="4937760" y="4846320"/>
            <a:ext cx="6492240" cy="1005840"/>
          </a:xfrm>
          <a:prstGeom prst="rect">
            <a:avLst/>
          </a:prstGeom>
          <a:noFill/>
        </p:spPr>
        <p:txBody>
          <a:bodyPr wrap="square" lIns="0" rIns="0" tIns="0" bIns="0" anchor="ctr">
            <a:spAutoFit/>
          </a:bodyPr>
          <a:lstStyle/>
          <a:p>
            <a:pPr algn="l">
              <a:spcAft>
                <a:spcPts val="400"/>
              </a:spcAft>
            </a:pPr>
            <a:r>
              <a:rPr sz="1600" b="0" i="0">
                <a:solidFill>
                  <a:srgbClr val="1E293B"/>
                </a:solidFill>
                <a:latin typeface="Calibri"/>
              </a:rPr>
              <a:t>16 Mar: Singtel outage (352)  ·  14 Sep: multi-brand (149)</a:t>
            </a:r>
          </a:p>
          <a:p>
            <a:pPr algn="l">
              <a:spcAft>
                <a:spcPts val="400"/>
              </a:spcAft>
            </a:pPr>
            <a:r>
              <a:rPr sz="1600" b="0" i="0">
                <a:solidFill>
                  <a:srgbClr val="1E293B"/>
                </a:solidFill>
                <a:latin typeface="Calibri"/>
              </a:rPr>
              <a:t>Demo: open dashboard/index_v2.html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26</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0664"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2  Plans &amp; pricing</a:t>
            </a:r>
          </a:p>
        </p:txBody>
      </p:sp>
      <p:sp>
        <p:nvSpPr>
          <p:cNvPr id="10" name="TextBox 9"/>
          <p:cNvSpPr txBox="1"/>
          <p:nvPr/>
        </p:nvSpPr>
        <p:spPr>
          <a:xfrm>
            <a:off x="4550664"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1" name="TextBox 10"/>
          <p:cNvSpPr txBox="1"/>
          <p:nvPr/>
        </p:nvSpPr>
        <p:spPr>
          <a:xfrm>
            <a:off x="4550664"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4088"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3  Devices &amp; app</a:t>
            </a:r>
          </a:p>
        </p:txBody>
      </p:sp>
      <p:sp>
        <p:nvSpPr>
          <p:cNvPr id="14" name="TextBox 13"/>
          <p:cNvSpPr txBox="1"/>
          <p:nvPr/>
        </p:nvSpPr>
        <p:spPr>
          <a:xfrm>
            <a:off x="8324088"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router and eSIM requirements; watch posts after each app release</a:t>
            </a:r>
          </a:p>
        </p:txBody>
      </p:sp>
      <p:sp>
        <p:nvSpPr>
          <p:cNvPr id="15" name="TextBox 14"/>
          <p:cNvSpPr txBox="1"/>
          <p:nvPr/>
        </p:nvSpPr>
        <p:spPr>
          <a:xfrm>
            <a:off x="8324088"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and “can’t log in”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4  Incident aftercare</a:t>
            </a:r>
          </a:p>
        </p:txBody>
      </p:sp>
      <p:sp>
        <p:nvSpPr>
          <p:cNvPr id="18" name="TextBox 17"/>
          <p:cNvSpPr txBox="1"/>
          <p:nvPr/>
        </p:nvSpPr>
        <p:spPr>
          <a:xfrm>
            <a:off x="777240"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9" name="TextBox 18"/>
          <p:cNvSpPr txBox="1"/>
          <p:nvPr/>
        </p:nvSpPr>
        <p:spPr>
          <a:xfrm>
            <a:off x="777240"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0664"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5  Roaming, porting</a:t>
            </a:r>
          </a:p>
        </p:txBody>
      </p:sp>
      <p:sp>
        <p:nvSpPr>
          <p:cNvPr id="22" name="TextBox 21"/>
          <p:cNvSpPr txBox="1"/>
          <p:nvPr/>
        </p:nvSpPr>
        <p:spPr>
          <a:xfrm>
            <a:off x="4550664"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Small, mostly questions: a travel checklist and clearer port timelines</a:t>
            </a:r>
          </a:p>
        </p:txBody>
      </p:sp>
      <p:sp>
        <p:nvSpPr>
          <p:cNvPr id="23" name="TextBox 22"/>
          <p:cNvSpPr txBox="1"/>
          <p:nvPr/>
        </p:nvSpPr>
        <p:spPr>
          <a:xfrm>
            <a:off x="4550664"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4088"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Act only when a week reaches twice a normal week; one owner, one date</a:t>
            </a:r>
          </a:p>
        </p:txBody>
      </p:sp>
      <p:sp>
        <p:nvSpPr>
          <p:cNvPr id="27" name="TextBox 26"/>
          <p:cNvSpPr txBox="1"/>
          <p:nvPr/>
        </p:nvSpPr>
        <p:spPr>
          <a:xfrm>
            <a:off x="8324088"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27</a:t>
            </a:r>
          </a:p>
        </p:txBody>
      </p:sp>
      <p:sp>
        <p:nvSpPr>
          <p:cNvPr id="4" name="Oval 3"/>
          <p:cNvSpPr/>
          <p:nvPr/>
        </p:nvSpPr>
        <p:spPr>
          <a:xfrm>
            <a:off x="548640" y="1755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1</a:t>
            </a:r>
          </a:p>
        </p:txBody>
      </p:sp>
      <p:sp>
        <p:nvSpPr>
          <p:cNvPr id="5" name="TextBox 4"/>
          <p:cNvSpPr txBox="1"/>
          <p:nvPr/>
        </p:nvSpPr>
        <p:spPr>
          <a:xfrm>
            <a:off x="1371600" y="16916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A perfect score was the warning sign</a:t>
            </a:r>
          </a:p>
        </p:txBody>
      </p:sp>
      <p:sp>
        <p:nvSpPr>
          <p:cNvPr id="6" name="TextBox 5"/>
          <p:cNvSpPr txBox="1"/>
          <p:nvPr/>
        </p:nvSpPr>
        <p:spPr>
          <a:xfrm>
            <a:off x="5486400" y="16916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100% VADER accuracy came from model-prefilled labels.</a:t>
            </a:r>
          </a:p>
        </p:txBody>
      </p:sp>
      <p:sp>
        <p:nvSpPr>
          <p:cNvPr id="7" name="Oval 6"/>
          <p:cNvSpPr/>
          <p:nvPr/>
        </p:nvSpPr>
        <p:spPr>
          <a:xfrm>
            <a:off x="548640" y="26700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2</a:t>
            </a:r>
          </a:p>
        </p:txBody>
      </p:sp>
      <p:sp>
        <p:nvSpPr>
          <p:cNvPr id="8" name="TextBox 7"/>
          <p:cNvSpPr txBox="1"/>
          <p:nvPr/>
        </p:nvSpPr>
        <p:spPr>
          <a:xfrm>
            <a:off x="1371600" y="26060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The bigger model didn’t win</a:t>
            </a:r>
          </a:p>
        </p:txBody>
      </p:sp>
      <p:sp>
        <p:nvSpPr>
          <p:cNvPr id="9" name="TextBox 8"/>
          <p:cNvSpPr txBox="1"/>
          <p:nvPr/>
        </p:nvSpPr>
        <p:spPr>
          <a:xfrm>
            <a:off x="5486400" y="26060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10" name="Oval 9"/>
          <p:cNvSpPr/>
          <p:nvPr/>
        </p:nvSpPr>
        <p:spPr>
          <a:xfrm>
            <a:off x="548640" y="35844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3</a:t>
            </a:r>
          </a:p>
        </p:txBody>
      </p:sp>
      <p:sp>
        <p:nvSpPr>
          <p:cNvPr id="11" name="TextBox 10"/>
          <p:cNvSpPr txBox="1"/>
          <p:nvPr/>
        </p:nvSpPr>
        <p:spPr>
          <a:xfrm>
            <a:off x="1371600" y="35204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My best method failed the held-out test</a:t>
            </a:r>
          </a:p>
        </p:txBody>
      </p:sp>
      <p:sp>
        <p:nvSpPr>
          <p:cNvPr id="12" name="TextBox 11"/>
          <p:cNvSpPr txBox="1"/>
          <p:nvPr/>
        </p:nvSpPr>
        <p:spPr>
          <a:xfrm>
            <a:off x="5486400" y="35204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Hybrid: 0.680 on the set I tuned on, 0.509 on held-out posts, where GPT-4o on every post won.</a:t>
            </a:r>
          </a:p>
        </p:txBody>
      </p:sp>
      <p:sp>
        <p:nvSpPr>
          <p:cNvPr id="13" name="Oval 12"/>
          <p:cNvSpPr/>
          <p:nvPr/>
        </p:nvSpPr>
        <p:spPr>
          <a:xfrm>
            <a:off x="548640" y="44988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4</a:t>
            </a:r>
          </a:p>
        </p:txBody>
      </p:sp>
      <p:sp>
        <p:nvSpPr>
          <p:cNvPr id="14" name="TextBox 13"/>
          <p:cNvSpPr txBox="1"/>
          <p:nvPr/>
        </p:nvSpPr>
        <p:spPr>
          <a:xfrm>
            <a:off x="1371600" y="44348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Two ‘insights’ were one outage</a:t>
            </a:r>
          </a:p>
        </p:txBody>
      </p:sp>
      <p:sp>
        <p:nvSpPr>
          <p:cNvPr id="15" name="TextBox 14"/>
          <p:cNvSpPr txBox="1"/>
          <p:nvPr/>
        </p:nvSpPr>
        <p:spPr>
          <a:xfrm>
            <a:off x="5486400" y="44348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Reddit vs HWZ and Singtel vs StarHub both close once the 22 outage threads are removed.</a:t>
            </a:r>
          </a:p>
        </p:txBody>
      </p:sp>
      <p:sp>
        <p:nvSpPr>
          <p:cNvPr id="16" name="Oval 15"/>
          <p:cNvSpPr/>
          <p:nvPr/>
        </p:nvSpPr>
        <p:spPr>
          <a:xfrm>
            <a:off x="548640" y="54132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5</a:t>
            </a:r>
          </a:p>
        </p:txBody>
      </p:sp>
      <p:sp>
        <p:nvSpPr>
          <p:cNvPr id="17" name="TextBox 16"/>
          <p:cNvSpPr txBox="1"/>
          <p:nvPr/>
        </p:nvSpPr>
        <p:spPr>
          <a:xfrm>
            <a:off x="1371600" y="53492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The data had bugs too</a:t>
            </a:r>
          </a:p>
        </p:txBody>
      </p:sp>
      <p:sp>
        <p:nvSpPr>
          <p:cNvPr id="18" name="TextBox 17"/>
          <p:cNvSpPr txBox="1"/>
          <p:nvPr/>
        </p:nvSpPr>
        <p:spPr>
          <a:xfrm>
            <a:off x="5486400" y="53492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15,504 rows → 2,693 unique posts; HWZ scraper only read page 1 of threads.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28</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Forum posters self-select; they are not all subscribers</a:t>
            </a:r>
          </a:p>
          <a:p>
            <a:pPr algn="l" marL="256032" indent="-256032">
              <a:spcAft>
                <a:spcPts val="1400"/>
              </a:spcAft>
              <a:buClr>
                <a:srgbClr val="D29B08"/>
              </a:buClr>
              <a:buFont typeface="Arial"/>
              <a:buChar char="•"/>
            </a:pPr>
            <a:r>
              <a:rPr sz="1700" b="0" i="0">
                <a:solidFill>
                  <a:srgbClr val="1E293B"/>
                </a:solidFill>
                <a:latin typeface="Calibri"/>
              </a:rPr>
              <a:t>95% of posts from 2026; replies cluster by thread</a:t>
            </a:r>
          </a:p>
          <a:p>
            <a:pPr algn="l" marL="256032" indent="-256032">
              <a:spcAft>
                <a:spcPts val="1400"/>
              </a:spcAft>
              <a:buClr>
                <a:srgbClr val="D29B08"/>
              </a:buClr>
              <a:buFont typeface="Arial"/>
              <a:buChar char="•"/>
            </a:pPr>
            <a:r>
              <a:rPr sz="1700" b="0" i="0">
                <a:solidFill>
                  <a:srgbClr val="1E293B"/>
                </a:solidFill>
                <a:latin typeface="Calibri"/>
              </a:rPr>
              <a:t>Wave-2 Reddit via a research archive</a:t>
            </a:r>
          </a:p>
          <a:p>
            <a:pPr algn="l" marL="256032" indent="-256032">
              <a:spcAft>
                <a:spcPts val="1400"/>
              </a:spcAft>
              <a:buClr>
                <a:srgbClr val="D29B08"/>
              </a:buClr>
              <a:buFont typeface="Arial"/>
              <a:buChar char="•"/>
            </a:pPr>
            <a:r>
              <a:rPr sz="1700" b="0" i="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Mini matches humans on ~2/3 of posts; humans agree at κ 0.39</a:t>
            </a:r>
          </a:p>
          <a:p>
            <a:pPr algn="l" marL="256032" indent="-256032">
              <a:spcAft>
                <a:spcPts val="1400"/>
              </a:spcAft>
              <a:buClr>
                <a:srgbClr val="D29B08"/>
              </a:buClr>
              <a:buFont typeface="Arial"/>
              <a:buChar char="•"/>
            </a:pPr>
            <a:r>
              <a:rPr sz="1700" b="0" i="0">
                <a:solidFill>
                  <a:srgbClr val="1E293B"/>
                </a:solidFill>
                <a:latin typeface="Calibri"/>
              </a:rPr>
              <a:t>Wave 2: sentiment holds; issues weaker (0.477)</a:t>
            </a:r>
          </a:p>
          <a:p>
            <a:pPr algn="l" marL="256032" indent="-256032">
              <a:spcAft>
                <a:spcPts val="1400"/>
              </a:spcAft>
              <a:buClr>
                <a:srgbClr val="D29B08"/>
              </a:buClr>
              <a:buFont typeface="Arial"/>
              <a:buChar char="•"/>
            </a:pPr>
            <a:r>
              <a:rPr sz="1700" b="0" i="0">
                <a:solidFill>
                  <a:srgbClr val="1E293B"/>
                </a:solidFill>
                <a:latin typeface="Calibri"/>
              </a:rPr>
              <a:t>Hybrid’s 0.680 is optimistic (0.509 held out)</a:t>
            </a:r>
          </a:p>
          <a:p>
            <a:pPr algn="l" marL="256032" indent="-256032">
              <a:spcAft>
                <a:spcPts val="1400"/>
              </a:spcAft>
              <a:buClr>
                <a:srgbClr val="D29B08"/>
              </a:buClr>
              <a:buFont typeface="Arial"/>
              <a:buChar char="•"/>
            </a:pPr>
            <a:r>
              <a:rPr sz="1700" b="0" i="0">
                <a:solidFill>
                  <a:srgbClr val="1E293B"/>
                </a:solidFill>
                <a:latin typeface="Calibri"/>
              </a:rPr>
              <a:t>One sentiment is copied to every brand in a post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29</a:t>
            </a:r>
          </a:p>
        </p:txBody>
      </p:sp>
      <p:sp>
        <p:nvSpPr>
          <p:cNvPr id="4" name="Rounded Rectangle 3"/>
          <p:cNvSpPr/>
          <p:nvPr/>
        </p:nvSpPr>
        <p:spPr>
          <a:xfrm>
            <a:off x="548640"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Wave-2 issues</a:t>
            </a:r>
          </a:p>
        </p:txBody>
      </p:sp>
      <p:sp>
        <p:nvSpPr>
          <p:cNvPr id="7" name="TextBox 6"/>
          <p:cNvSpPr txBox="1"/>
          <p:nvPr/>
        </p:nvSpPr>
        <p:spPr>
          <a:xfrm>
            <a:off x="822959"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Lift issue F1 (0.477), starting with Customer Service</a:t>
            </a: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Adjudicate</a:t>
            </a:r>
          </a:p>
        </p:txBody>
      </p:sp>
      <p:sp>
        <p:nvSpPr>
          <p:cNvPr id="11" name="TextBox 10"/>
          <p:cNvSpPr txBox="1"/>
          <p:nvPr/>
        </p:nvSpPr>
        <p:spPr>
          <a:xfrm>
            <a:off x="3653028"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Resolve A–B disagreements in a separate file</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Fresh held-out test</a:t>
            </a:r>
          </a:p>
        </p:txBody>
      </p:sp>
      <p:sp>
        <p:nvSpPr>
          <p:cNvPr id="15" name="TextBox 14"/>
          <p:cNvSpPr txBox="1"/>
          <p:nvPr/>
        </p:nvSpPr>
        <p:spPr>
          <a:xfrm>
            <a:off x="6483096"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Hybrid vs GPT-4o on every post, on new posts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30</a:t>
            </a:r>
          </a:p>
        </p:txBody>
      </p:sp>
      <p:sp>
        <p:nvSpPr>
          <p:cNvPr id="3" name="TextBox 2"/>
          <p:cNvSpPr txBox="1"/>
          <p:nvPr/>
        </p:nvSpPr>
        <p:spPr>
          <a:xfrm>
            <a:off x="822959" y="1828800"/>
            <a:ext cx="10515600" cy="1097280"/>
          </a:xfrm>
          <a:prstGeom prst="rect">
            <a:avLst/>
          </a:prstGeom>
          <a:noFill/>
        </p:spPr>
        <p:txBody>
          <a:bodyPr wrap="square" lIns="0" rIns="0" t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rIns="0" t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People decide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(1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32</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typical posts GPT-4o on every post ties rules (0.600 vs 0.639) and costs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the set I tuned it on, yes: +0.041, 95% CI +0.011 to +0.072. On the held-out challenge set, no: +0.010, CI −0.04 to +0.07. So I report 0.680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Two annotators agree at κ 0.39 on typical posts and 0.59 on hard ones, mostly split on complaint vs neutral. The guide now has an explicit rule for failure reports.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(2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33</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F1 0.631 on wave-1 gold and 0.637 on a separate wave-2 gold sample; a rerun reproduced 292 of 295 labels. On wave 2 it under-calls complaints, so not-happy is likely understated.</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(3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34</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Outside outage threads, Reddit 42% vs HWZ 37%, mostly topic mix; brands sit within 3 points (Singtel 42%, StarHub 40%), with Eight lowest at 35%.</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No. Posters self-select, replies cluster by thread, and 95% of posts are from 2026. It’s a triage queue, not a population measure.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two humans split on complaint vs neutral</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35</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gridCol w="1280160"/>
                <a:gridCol w="2377440"/>
                <a:gridCol w="2103120"/>
                <a:gridCol w="2953512"/>
              </a:tblGrid>
              <a:tr h="548640">
                <a:tc>
                  <a:txBody>
                    <a:bodyPr wrap="square"/>
                    <a:lstStyle/>
                    <a:p>
                      <a:pPr algn="l"/>
                      <a:r>
                        <a:rPr sz="1600" b="1">
                          <a:solidFill>
                            <a:srgbClr val="FFFFFF"/>
                          </a:solidFill>
                          <a:latin typeface="Calibri"/>
                        </a:rPr>
                        <a:t>Set</a:t>
                      </a:r>
                    </a:p>
                  </a:txBody>
                  <a:tcPr marL="91440" marR="91440" marT="36576" marB="36576" anchor="ctr">
                    <a:solidFill>
                      <a:srgbClr val="1C2E6E"/>
                    </a:solidFill>
                  </a:tcPr>
                </a:tc>
                <a:tc>
                  <a:txBody>
                    <a:bodyPr wrap="square"/>
                    <a:lstStyle/>
                    <a:p>
                      <a:pPr algn="l"/>
                      <a:r>
                        <a:rPr sz="1600" b="1">
                          <a:solidFill>
                            <a:srgbClr val="FFFFFF"/>
                          </a:solidFill>
                          <a:latin typeface="Calibri"/>
                        </a:rPr>
                        <a:t>Posts</a:t>
                      </a:r>
                    </a:p>
                  </a:txBody>
                  <a:tcPr marL="91440" marR="91440" marT="36576" marB="36576" anchor="ctr">
                    <a:solidFill>
                      <a:srgbClr val="1C2E6E"/>
                    </a:solidFill>
                  </a:tcPr>
                </a:tc>
                <a:tc>
                  <a:txBody>
                    <a:bodyPr wrap="square"/>
                    <a:lstStyle/>
                    <a:p>
                      <a:pPr algn="l"/>
                      <a:r>
                        <a:rPr sz="1600" b="1">
                          <a:solidFill>
                            <a:srgbClr val="FFFFFF"/>
                          </a:solidFill>
                          <a:latin typeface="Calibri"/>
                        </a:rPr>
                        <a:t>Sentiment agreement</a:t>
                      </a:r>
                    </a:p>
                  </a:txBody>
                  <a:tcPr marL="91440" marR="91440" marT="36576" marB="36576" anchor="ctr">
                    <a:solidFill>
                      <a:srgbClr val="1C2E6E"/>
                    </a:solidFill>
                  </a:tcPr>
                </a:tc>
                <a:tc>
                  <a:txBody>
                    <a:bodyPr wrap="square"/>
                    <a:lstStyle/>
                    <a:p>
                      <a:pPr algn="l"/>
                      <a:r>
                        <a:rPr sz="1600" b="1">
                          <a:solidFill>
                            <a:srgbClr val="FFFFFF"/>
                          </a:solidFill>
                          <a:latin typeface="Calibri"/>
                        </a:rPr>
                        <a:t>Sentiment κ</a:t>
                      </a:r>
                    </a:p>
                  </a:txBody>
                  <a:tcPr marL="91440" marR="91440" marT="36576" marB="36576" anchor="ctr">
                    <a:solidFill>
                      <a:srgbClr val="1C2E6E"/>
                    </a:solidFill>
                  </a:tcPr>
                </a:tc>
                <a:tc>
                  <a:txBody>
                    <a:bodyPr wrap="square"/>
                    <a:lstStyle/>
                    <a:p>
                      <a:pPr algn="l"/>
                      <a:r>
                        <a:rPr sz="1600" b="1">
                          <a:solidFill>
                            <a:srgbClr val="FFFFFF"/>
                          </a:solidFill>
                          <a:latin typeface="Calibri"/>
                        </a:rPr>
                        <a:t>Issue overlap (Jaccard)</a:t>
                      </a:r>
                    </a:p>
                  </a:txBody>
                  <a:tcPr marL="91440" marR="91440" marT="36576" marB="36576" anchor="ctr">
                    <a:solidFill>
                      <a:srgbClr val="1C2E6E"/>
                    </a:solidFill>
                  </a:tcPr>
                </a:tc>
              </a:tr>
              <a:tr h="548640">
                <a:tc>
                  <a:txBody>
                    <a:bodyPr wrap="square"/>
                    <a:lstStyle/>
                    <a:p>
                      <a:pPr algn="l"/>
                      <a:r>
                        <a:rPr sz="1600" b="0">
                          <a:solidFill>
                            <a:srgbClr val="1E293B"/>
                          </a:solidFill>
                          <a:latin typeface="Calibri"/>
                        </a:rPr>
                        <a:t>Representative</a:t>
                      </a:r>
                    </a:p>
                  </a:txBody>
                  <a:tcPr marL="91440" marR="91440" marT="36576" marB="36576" anchor="ctr">
                    <a:solidFill>
                      <a:srgbClr val="FFFFFF"/>
                    </a:solidFill>
                  </a:tcPr>
                </a:tc>
                <a:tc>
                  <a:txBody>
                    <a:bodyPr wrap="square"/>
                    <a:lstStyle/>
                    <a:p>
                      <a:pPr algn="l"/>
                      <a:r>
                        <a:rPr sz="1600" b="0">
                          <a:solidFill>
                            <a:srgbClr val="1E293B"/>
                          </a:solidFill>
                          <a:latin typeface="Calibri"/>
                        </a:rPr>
                        <a:t>58</a:t>
                      </a:r>
                    </a:p>
                  </a:txBody>
                  <a:tcPr marL="91440" marR="91440" marT="36576" marB="36576" anchor="ctr">
                    <a:solidFill>
                      <a:srgbClr val="FFFFFF"/>
                    </a:solidFill>
                  </a:tcPr>
                </a:tc>
                <a:tc>
                  <a:txBody>
                    <a:bodyPr wrap="square"/>
                    <a:lstStyle/>
                    <a:p>
                      <a:pPr algn="l"/>
                      <a:r>
                        <a:rPr sz="1600" b="0">
                          <a:solidFill>
                            <a:srgbClr val="1E293B"/>
                          </a:solidFill>
                          <a:latin typeface="Calibri"/>
                        </a:rPr>
                        <a:t>62%</a:t>
                      </a:r>
                    </a:p>
                  </a:txBody>
                  <a:tcPr marL="91440" marR="91440" marT="36576" marB="36576" anchor="ctr">
                    <a:solidFill>
                      <a:srgbClr val="FFFFFF"/>
                    </a:solidFill>
                  </a:tcPr>
                </a:tc>
                <a:tc>
                  <a:txBody>
                    <a:bodyPr wrap="square"/>
                    <a:lstStyle/>
                    <a:p>
                      <a:pPr algn="l"/>
                      <a:r>
                        <a:rPr sz="1600" b="0">
                          <a:solidFill>
                            <a:srgbClr val="1E293B"/>
                          </a:solidFill>
                          <a:latin typeface="Calibri"/>
                        </a:rPr>
                        <a:t>0.39</a:t>
                      </a:r>
                    </a:p>
                  </a:txBody>
                  <a:tcPr marL="91440" marR="91440" marT="36576" marB="36576" anchor="ctr">
                    <a:solidFill>
                      <a:srgbClr val="FFFFFF"/>
                    </a:solidFill>
                  </a:tcPr>
                </a:tc>
                <a:tc>
                  <a:txBody>
                    <a:bodyPr wrap="square"/>
                    <a:lstStyle/>
                    <a:p>
                      <a:pPr algn="l"/>
                      <a:r>
                        <a:rPr sz="1600" b="0">
                          <a:solidFill>
                            <a:srgbClr val="1E293B"/>
                          </a:solidFill>
                          <a:latin typeface="Calibri"/>
                        </a:rPr>
                        <a:t>0.56</a:t>
                      </a:r>
                    </a:p>
                  </a:txBody>
                  <a:tcPr marL="91440" marR="91440" marT="36576" marB="36576" anchor="ctr">
                    <a:solidFill>
                      <a:srgbClr val="FFFFFF"/>
                    </a:solidFill>
                  </a:tcPr>
                </a:tc>
              </a:tr>
              <a:tr h="548640">
                <a:tc>
                  <a:txBody>
                    <a:bodyPr wrap="square"/>
                    <a:lstStyle/>
                    <a:p>
                      <a:pPr algn="l"/>
                      <a:r>
                        <a:rPr sz="1600" b="0">
                          <a:solidFill>
                            <a:srgbClr val="1E293B"/>
                          </a:solidFill>
                          <a:latin typeface="Calibri"/>
                        </a:rPr>
                        <a:t>Challenge</a:t>
                      </a:r>
                    </a:p>
                  </a:txBody>
                  <a:tcPr marL="91440" marR="91440" marT="36576" marB="36576" anchor="ctr">
                    <a:solidFill>
                      <a:srgbClr val="F2F4F9"/>
                    </a:solidFill>
                  </a:tcPr>
                </a:tc>
                <a:tc>
                  <a:txBody>
                    <a:bodyPr wrap="square"/>
                    <a:lstStyle/>
                    <a:p>
                      <a:pPr algn="l"/>
                      <a:r>
                        <a:rPr sz="1600" b="0">
                          <a:solidFill>
                            <a:srgbClr val="1E293B"/>
                          </a:solidFill>
                          <a:latin typeface="Calibri"/>
                        </a:rPr>
                        <a:t>40</a:t>
                      </a:r>
                    </a:p>
                  </a:txBody>
                  <a:tcPr marL="91440" marR="91440" marT="36576" marB="36576" anchor="ctr">
                    <a:solidFill>
                      <a:srgbClr val="F2F4F9"/>
                    </a:solidFill>
                  </a:tcPr>
                </a:tc>
                <a:tc>
                  <a:txBody>
                    <a:bodyPr wrap="square"/>
                    <a:lstStyle/>
                    <a:p>
                      <a:pPr algn="l"/>
                      <a:r>
                        <a:rPr sz="1600" b="0">
                          <a:solidFill>
                            <a:srgbClr val="1E293B"/>
                          </a:solidFill>
                          <a:latin typeface="Calibri"/>
                        </a:rPr>
                        <a:t>73%</a:t>
                      </a:r>
                    </a:p>
                  </a:txBody>
                  <a:tcPr marL="91440" marR="91440" marT="36576" marB="36576" anchor="ctr">
                    <a:solidFill>
                      <a:srgbClr val="F2F4F9"/>
                    </a:solidFill>
                  </a:tcPr>
                </a:tc>
                <a:tc>
                  <a:txBody>
                    <a:bodyPr wrap="square"/>
                    <a:lstStyle/>
                    <a:p>
                      <a:pPr algn="l"/>
                      <a:r>
                        <a:rPr sz="1600" b="0">
                          <a:solidFill>
                            <a:srgbClr val="1E293B"/>
                          </a:solidFill>
                          <a:latin typeface="Calibri"/>
                        </a:rPr>
                        <a:t>0.59</a:t>
                      </a:r>
                    </a:p>
                  </a:txBody>
                  <a:tcPr marL="91440" marR="91440" marT="36576" marB="36576" anchor="ctr">
                    <a:solidFill>
                      <a:srgbClr val="F2F4F9"/>
                    </a:solidFill>
                  </a:tcPr>
                </a:tc>
                <a:tc>
                  <a:txBody>
                    <a:bodyPr wrap="square"/>
                    <a:lstStyle/>
                    <a:p>
                      <a:pPr algn="l"/>
                      <a:r>
                        <a:rPr sz="1600" b="0">
                          <a:solidFill>
                            <a:srgbClr val="1E293B"/>
                          </a:solidFill>
                          <a:latin typeface="Calibri"/>
                        </a:rPr>
                        <a:t>0.77</a:t>
                      </a:r>
                    </a:p>
                  </a:txBody>
                  <a:tcPr marL="91440" marR="91440" marT="36576" marB="36576" anchor="ctr">
                    <a:solidFill>
                      <a:srgbClr val="F2F4F9"/>
                    </a:solidFill>
                  </a:tcPr>
                </a:tc>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One pattern explains most of it</a:t>
            </a:r>
          </a:p>
        </p:txBody>
      </p:sp>
      <p:sp>
        <p:nvSpPr>
          <p:cNvPr id="7" name="TextBox 6"/>
          <p:cNvSpPr txBox="1"/>
          <p:nvPr/>
        </p:nvSpPr>
        <p:spPr>
          <a:xfrm>
            <a:off x="777240"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9 of 22 representative disagreements (8 of 11 on challenge): I said not happy, B said neutral.</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Low human ceiling on small themes</a:t>
            </a:r>
          </a:p>
        </p:txBody>
      </p:sp>
      <p:sp>
        <p:nvSpPr>
          <p:cNvPr id="10" name="TextBox 9"/>
          <p:cNvSpPr txBox="1"/>
          <p:nvPr/>
        </p:nvSpPr>
        <p:spPr>
          <a:xfrm>
            <a:off x="6473952"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Issue κ: Network 0.79, but Devices 0.16, App 0.17, Customer Service 0.28.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per-class sentiment metrics (n = 295)</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36</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gridCol w="2194560"/>
                <a:gridCol w="1828800"/>
                <a:gridCol w="1828800"/>
                <a:gridCol w="1554480"/>
                <a:gridCol w="1490472"/>
              </a:tblGrid>
              <a:tr h="429768">
                <a:tc>
                  <a:txBody>
                    <a:bodyPr wrap="square"/>
                    <a:lstStyle/>
                    <a:p>
                      <a:pPr algn="l"/>
                      <a:r>
                        <a:rPr sz="1400" b="1">
                          <a:solidFill>
                            <a:srgbClr val="FFFFFF"/>
                          </a:solidFill>
                          <a:latin typeface="Calibri"/>
                        </a:rPr>
                        <a:t>Method</a:t>
                      </a:r>
                    </a:p>
                  </a:txBody>
                  <a:tcPr marL="91440" marR="91440" marT="36576" marB="36576" anchor="ctr">
                    <a:solidFill>
                      <a:srgbClr val="1C2E6E"/>
                    </a:solidFill>
                  </a:tcPr>
                </a:tc>
                <a:tc>
                  <a:txBody>
                    <a:bodyPr wrap="square"/>
                    <a:lstStyle/>
                    <a:p>
                      <a:pPr algn="l"/>
                      <a:r>
                        <a:rPr sz="1400" b="1">
                          <a:solidFill>
                            <a:srgbClr val="FFFFFF"/>
                          </a:solidFill>
                          <a:latin typeface="Calibri"/>
                        </a:rPr>
                        <a:t>Class</a:t>
                      </a:r>
                    </a:p>
                  </a:txBody>
                  <a:tcPr marL="91440" marR="91440" marT="36576" marB="36576" anchor="ctr">
                    <a:solidFill>
                      <a:srgbClr val="1C2E6E"/>
                    </a:solidFill>
                  </a:tcPr>
                </a:tc>
                <a:tc>
                  <a:txBody>
                    <a:bodyPr wrap="square"/>
                    <a:lstStyle/>
                    <a:p>
                      <a:pPr algn="l"/>
                      <a:r>
                        <a:rPr sz="1400" b="1">
                          <a:solidFill>
                            <a:srgbClr val="FFFFFF"/>
                          </a:solidFill>
                          <a:latin typeface="Calibri"/>
                        </a:rPr>
                        <a:t>Precision</a:t>
                      </a:r>
                    </a:p>
                  </a:txBody>
                  <a:tcPr marL="91440" marR="91440" marT="36576" marB="36576" anchor="ctr">
                    <a:solidFill>
                      <a:srgbClr val="1C2E6E"/>
                    </a:solidFill>
                  </a:tcPr>
                </a:tc>
                <a:tc>
                  <a:txBody>
                    <a:bodyPr wrap="square"/>
                    <a:lstStyle/>
                    <a:p>
                      <a:pPr algn="l"/>
                      <a:r>
                        <a:rPr sz="1400" b="1">
                          <a:solidFill>
                            <a:srgbClr val="FFFFFF"/>
                          </a:solidFill>
                          <a:latin typeface="Calibri"/>
                        </a:rPr>
                        <a:t>Recall</a:t>
                      </a:r>
                    </a:p>
                  </a:txBody>
                  <a:tcPr marL="91440" marR="91440" marT="36576" marB="36576" anchor="ctr">
                    <a:solidFill>
                      <a:srgbClr val="1C2E6E"/>
                    </a:solidFill>
                  </a:tcPr>
                </a:tc>
                <a:tc>
                  <a:txBody>
                    <a:bodyPr wrap="square"/>
                    <a:lstStyle/>
                    <a:p>
                      <a:pPr algn="l"/>
                      <a:r>
                        <a:rPr sz="1400" b="1">
                          <a:solidFill>
                            <a:srgbClr val="FFFFFF"/>
                          </a:solidFill>
                          <a:latin typeface="Calibri"/>
                        </a:rPr>
                        <a:t>F1</a:t>
                      </a:r>
                    </a:p>
                  </a:txBody>
                  <a:tcPr marL="91440" marR="91440" marT="36576" marB="36576" anchor="ctr">
                    <a:solidFill>
                      <a:srgbClr val="1C2E6E"/>
                    </a:solidFill>
                  </a:tcPr>
                </a:tc>
                <a:tc>
                  <a:txBody>
                    <a:bodyPr wrap="square"/>
                    <a:lstStyle/>
                    <a:p>
                      <a:pPr algn="l"/>
                      <a:r>
                        <a:rPr sz="1400" b="1">
                          <a:solidFill>
                            <a:srgbClr val="FFFFFF"/>
                          </a:solidFill>
                          <a:latin typeface="Calibri"/>
                        </a:rPr>
                        <a:t>Support</a:t>
                      </a:r>
                    </a:p>
                  </a:txBody>
                  <a:tcPr marL="91440" marR="91440" marT="36576" marB="36576" anchor="ctr">
                    <a:solidFill>
                      <a:srgbClr val="1C2E6E"/>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0.226</a:t>
                      </a:r>
                    </a:p>
                  </a:txBody>
                  <a:tcPr marL="91440" marR="91440" marT="36576" marB="36576" anchor="ctr">
                    <a:solidFill>
                      <a:srgbClr val="FFFFFF"/>
                    </a:solidFill>
                  </a:tcPr>
                </a:tc>
                <a:tc>
                  <a:txBody>
                    <a:bodyPr wrap="square"/>
                    <a:lstStyle/>
                    <a:p>
                      <a:pPr algn="l"/>
                      <a:r>
                        <a:rPr sz="1400" b="0">
                          <a:solidFill>
                            <a:srgbClr val="1E293B"/>
                          </a:solidFill>
                          <a:latin typeface="Calibri"/>
                        </a:rPr>
                        <a:t>0.585</a:t>
                      </a:r>
                    </a:p>
                  </a:txBody>
                  <a:tcPr marL="91440" marR="91440" marT="36576" marB="36576" anchor="ctr">
                    <a:solidFill>
                      <a:srgbClr val="FFFFFF"/>
                    </a:solidFill>
                  </a:tcPr>
                </a:tc>
                <a:tc>
                  <a:txBody>
                    <a:bodyPr wrap="square"/>
                    <a:lstStyle/>
                    <a:p>
                      <a:pPr algn="l"/>
                      <a:r>
                        <a:rPr sz="1400" b="0">
                          <a:solidFill>
                            <a:srgbClr val="1E293B"/>
                          </a:solidFill>
                          <a:latin typeface="Calibri"/>
                        </a:rPr>
                        <a:t>0.326</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1">
                          <a:solidFill>
                            <a:srgbClr val="1E293B"/>
                          </a:solidFill>
                          <a:latin typeface="Calibri"/>
                        </a:rPr>
                        <a:t>VADER</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0.602</a:t>
                      </a:r>
                    </a:p>
                  </a:txBody>
                  <a:tcPr marL="91440" marR="91440" marT="36576" marB="36576" anchor="ctr">
                    <a:solidFill>
                      <a:srgbClr val="FBF3DF"/>
                    </a:solidFill>
                  </a:tcPr>
                </a:tc>
                <a:tc>
                  <a:txBody>
                    <a:bodyPr wrap="square"/>
                    <a:lstStyle/>
                    <a:p>
                      <a:pPr algn="l"/>
                      <a:r>
                        <a:rPr sz="1400" b="0">
                          <a:solidFill>
                            <a:srgbClr val="1E293B"/>
                          </a:solidFill>
                          <a:latin typeface="Calibri"/>
                        </a:rPr>
                        <a:t>0.340</a:t>
                      </a:r>
                    </a:p>
                  </a:txBody>
                  <a:tcPr marL="91440" marR="91440" marT="36576" marB="36576" anchor="ctr">
                    <a:solidFill>
                      <a:srgbClr val="FBF3DF"/>
                    </a:solidFill>
                  </a:tcPr>
                </a:tc>
                <a:tc>
                  <a:txBody>
                    <a:bodyPr wrap="square"/>
                    <a:lstStyle/>
                    <a:p>
                      <a:pPr algn="l"/>
                      <a:r>
                        <a:rPr sz="1400" b="0">
                          <a:solidFill>
                            <a:srgbClr val="1E293B"/>
                          </a:solidFill>
                          <a:latin typeface="Calibri"/>
                        </a:rPr>
                        <a:t>0.435</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0.360</a:t>
                      </a:r>
                    </a:p>
                  </a:txBody>
                  <a:tcPr marL="91440" marR="91440" marT="36576" marB="36576" anchor="ctr">
                    <a:solidFill>
                      <a:srgbClr val="FFFFFF"/>
                    </a:solidFill>
                  </a:tcPr>
                </a:tc>
                <a:tc>
                  <a:txBody>
                    <a:bodyPr wrap="square"/>
                    <a:lstStyle/>
                    <a:p>
                      <a:pPr algn="l"/>
                      <a:r>
                        <a:rPr sz="1400" b="0">
                          <a:solidFill>
                            <a:srgbClr val="1E293B"/>
                          </a:solidFill>
                          <a:latin typeface="Calibri"/>
                        </a:rPr>
                        <a:t>0.284</a:t>
                      </a:r>
                    </a:p>
                  </a:txBody>
                  <a:tcPr marL="91440" marR="91440" marT="36576" marB="36576" anchor="ctr">
                    <a:solidFill>
                      <a:srgbClr val="FFFFFF"/>
                    </a:solidFill>
                  </a:tcPr>
                </a:tc>
                <a:tc>
                  <a:txBody>
                    <a:bodyPr wrap="square"/>
                    <a:lstStyle/>
                    <a:p>
                      <a:pPr algn="l"/>
                      <a:r>
                        <a:rPr sz="1400" b="0">
                          <a:solidFill>
                            <a:srgbClr val="1E293B"/>
                          </a:solidFill>
                          <a:latin typeface="Calibri"/>
                        </a:rPr>
                        <a:t>0.318</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Happy</a:t>
                      </a:r>
                    </a:p>
                  </a:txBody>
                  <a:tcPr marL="91440" marR="91440" marT="36576" marB="36576" anchor="ctr">
                    <a:solidFill>
                      <a:srgbClr val="F2F4F9"/>
                    </a:solidFill>
                  </a:tcPr>
                </a:tc>
                <a:tc>
                  <a:txBody>
                    <a:bodyPr wrap="square"/>
                    <a:lstStyle/>
                    <a:p>
                      <a:pPr algn="l"/>
                      <a:r>
                        <a:rPr sz="1400" b="0">
                          <a:solidFill>
                            <a:srgbClr val="1E293B"/>
                          </a:solidFill>
                          <a:latin typeface="Calibri"/>
                        </a:rPr>
                        <a:t>0.574</a:t>
                      </a:r>
                    </a:p>
                  </a:txBody>
                  <a:tcPr marL="91440" marR="91440" marT="36576" marB="36576" anchor="ctr">
                    <a:solidFill>
                      <a:srgbClr val="F2F4F9"/>
                    </a:solidFill>
                  </a:tcPr>
                </a:tc>
                <a:tc>
                  <a:txBody>
                    <a:bodyPr wrap="square"/>
                    <a:lstStyle/>
                    <a:p>
                      <a:pPr algn="l"/>
                      <a:r>
                        <a:rPr sz="1400" b="0">
                          <a:solidFill>
                            <a:srgbClr val="1E293B"/>
                          </a:solidFill>
                          <a:latin typeface="Calibri"/>
                        </a:rPr>
                        <a:t>0.509</a:t>
                      </a:r>
                    </a:p>
                  </a:txBody>
                  <a:tcPr marL="91440" marR="91440" marT="36576" marB="36576" anchor="ctr">
                    <a:solidFill>
                      <a:srgbClr val="F2F4F9"/>
                    </a:solidFill>
                  </a:tcPr>
                </a:tc>
                <a:tc>
                  <a:txBody>
                    <a:bodyPr wrap="square"/>
                    <a:lstStyle/>
                    <a:p>
                      <a:pPr algn="l"/>
                      <a:r>
                        <a:rPr sz="1400" b="0">
                          <a:solidFill>
                            <a:srgbClr val="1E293B"/>
                          </a:solidFill>
                          <a:latin typeface="Calibri"/>
                        </a:rPr>
                        <a:t>0.540</a:t>
                      </a:r>
                    </a:p>
                  </a:txBody>
                  <a:tcPr marL="91440" marR="91440" marT="36576" marB="36576" anchor="ctr">
                    <a:solidFill>
                      <a:srgbClr val="F2F4F9"/>
                    </a:solidFill>
                  </a:tcPr>
                </a:tc>
                <a:tc>
                  <a:txBody>
                    <a:bodyPr wrap="square"/>
                    <a:lstStyle/>
                    <a:p>
                      <a:pPr algn="l"/>
                      <a:r>
                        <a:rPr sz="1400" b="0">
                          <a:solidFill>
                            <a:srgbClr val="1E293B"/>
                          </a:solidFill>
                          <a:latin typeface="Calibri"/>
                        </a:rPr>
                        <a:t>53</a:t>
                      </a:r>
                    </a:p>
                  </a:txBody>
                  <a:tcPr marL="91440" marR="91440" marT="36576" marB="36576" anchor="ctr">
                    <a:solidFill>
                      <a:srgbClr val="F2F4F9"/>
                    </a:solidFill>
                  </a:tcPr>
                </a:tc>
              </a:tr>
              <a:tr h="429768">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0.753</a:t>
                      </a:r>
                    </a:p>
                  </a:txBody>
                  <a:tcPr marL="91440" marR="91440" marT="36576" marB="36576" anchor="ctr">
                    <a:solidFill>
                      <a:srgbClr val="FBF3DF"/>
                    </a:solidFill>
                  </a:tcPr>
                </a:tc>
                <a:tc>
                  <a:txBody>
                    <a:bodyPr wrap="square"/>
                    <a:lstStyle/>
                    <a:p>
                      <a:pPr algn="l"/>
                      <a:r>
                        <a:rPr sz="1400" b="0">
                          <a:solidFill>
                            <a:srgbClr val="1E293B"/>
                          </a:solidFill>
                          <a:latin typeface="Calibri"/>
                        </a:rPr>
                        <a:t>0.789</a:t>
                      </a:r>
                    </a:p>
                  </a:txBody>
                  <a:tcPr marL="91440" marR="91440" marT="36576" marB="36576" anchor="ctr">
                    <a:solidFill>
                      <a:srgbClr val="FBF3DF"/>
                    </a:solidFill>
                  </a:tcPr>
                </a:tc>
                <a:tc>
                  <a:txBody>
                    <a:bodyPr wrap="square"/>
                    <a:lstStyle/>
                    <a:p>
                      <a:pPr algn="l"/>
                      <a:r>
                        <a:rPr sz="1400" b="0">
                          <a:solidFill>
                            <a:srgbClr val="1E293B"/>
                          </a:solidFill>
                          <a:latin typeface="Calibri"/>
                        </a:rPr>
                        <a:t>0.771</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Neutral</a:t>
                      </a:r>
                    </a:p>
                  </a:txBody>
                  <a:tcPr marL="91440" marR="91440" marT="36576" marB="36576" anchor="ctr">
                    <a:solidFill>
                      <a:srgbClr val="F2F4F9"/>
                    </a:solidFill>
                  </a:tcPr>
                </a:tc>
                <a:tc>
                  <a:txBody>
                    <a:bodyPr wrap="square"/>
                    <a:lstStyle/>
                    <a:p>
                      <a:pPr algn="l"/>
                      <a:r>
                        <a:rPr sz="1400" b="0">
                          <a:solidFill>
                            <a:srgbClr val="1E293B"/>
                          </a:solidFill>
                          <a:latin typeface="Calibri"/>
                        </a:rPr>
                        <a:t>0.585</a:t>
                      </a:r>
                    </a:p>
                  </a:txBody>
                  <a:tcPr marL="91440" marR="91440" marT="36576" marB="36576" anchor="ctr">
                    <a:solidFill>
                      <a:srgbClr val="F2F4F9"/>
                    </a:solidFill>
                  </a:tcPr>
                </a:tc>
                <a:tc>
                  <a:txBody>
                    <a:bodyPr wrap="square"/>
                    <a:lstStyle/>
                    <a:p>
                      <a:pPr algn="l"/>
                      <a:r>
                        <a:rPr sz="1400" b="0">
                          <a:solidFill>
                            <a:srgbClr val="1E293B"/>
                          </a:solidFill>
                          <a:latin typeface="Calibri"/>
                        </a:rPr>
                        <a:t>0.579</a:t>
                      </a:r>
                    </a:p>
                  </a:txBody>
                  <a:tcPr marL="91440" marR="91440" marT="36576" marB="36576" anchor="ctr">
                    <a:solidFill>
                      <a:srgbClr val="F2F4F9"/>
                    </a:solidFill>
                  </a:tcPr>
                </a:tc>
                <a:tc>
                  <a:txBody>
                    <a:bodyPr wrap="square"/>
                    <a:lstStyle/>
                    <a:p>
                      <a:pPr algn="l"/>
                      <a:r>
                        <a:rPr sz="1400" b="0">
                          <a:solidFill>
                            <a:srgbClr val="1E293B"/>
                          </a:solidFill>
                          <a:latin typeface="Calibri"/>
                        </a:rPr>
                        <a:t>0.582</a:t>
                      </a:r>
                    </a:p>
                  </a:txBody>
                  <a:tcPr marL="91440" marR="91440" marT="36576" marB="36576" anchor="ctr">
                    <a:solidFill>
                      <a:srgbClr val="F2F4F9"/>
                    </a:solidFill>
                  </a:tcPr>
                </a:tc>
                <a:tc>
                  <a:txBody>
                    <a:bodyPr wrap="square"/>
                    <a:lstStyle/>
                    <a:p>
                      <a:pPr algn="l"/>
                      <a:r>
                        <a:rPr sz="1400" b="0">
                          <a:solidFill>
                            <a:srgbClr val="1E293B"/>
                          </a:solidFill>
                          <a:latin typeface="Calibri"/>
                        </a:rPr>
                        <a:t>95</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0.690</a:t>
                      </a:r>
                    </a:p>
                  </a:txBody>
                  <a:tcPr marL="91440" marR="91440" marT="36576" marB="36576" anchor="ctr">
                    <a:solidFill>
                      <a:srgbClr val="FFFFFF"/>
                    </a:solidFill>
                  </a:tcPr>
                </a:tc>
                <a:tc>
                  <a:txBody>
                    <a:bodyPr wrap="square"/>
                    <a:lstStyle/>
                    <a:p>
                      <a:pPr algn="l"/>
                      <a:r>
                        <a:rPr sz="1400" b="0">
                          <a:solidFill>
                            <a:srgbClr val="1E293B"/>
                          </a:solidFill>
                          <a:latin typeface="Calibri"/>
                        </a:rPr>
                        <a:t>0.377</a:t>
                      </a:r>
                    </a:p>
                  </a:txBody>
                  <a:tcPr marL="91440" marR="91440" marT="36576" marB="36576" anchor="ctr">
                    <a:solidFill>
                      <a:srgbClr val="FFFFFF"/>
                    </a:solidFill>
                  </a:tcPr>
                </a:tc>
                <a:tc>
                  <a:txBody>
                    <a:bodyPr wrap="square"/>
                    <a:lstStyle/>
                    <a:p>
                      <a:pPr algn="l"/>
                      <a:r>
                        <a:rPr sz="1400" b="0">
                          <a:solidFill>
                            <a:srgbClr val="1E293B"/>
                          </a:solidFill>
                          <a:latin typeface="Calibri"/>
                        </a:rPr>
                        <a:t>0.488</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2F4F9"/>
                    </a:solidFill>
                  </a:tcPr>
                </a:tc>
                <a:tc>
                  <a:txBody>
                    <a:bodyPr wrap="square"/>
                    <a:lstStyle/>
                    <a:p>
                      <a:pPr algn="l"/>
                      <a:r>
                        <a:rPr sz="1400" b="0">
                          <a:solidFill>
                            <a:srgbClr val="1E293B"/>
                          </a:solidFill>
                          <a:latin typeface="Calibri"/>
                        </a:rPr>
                        <a:t>Not happy</a:t>
                      </a:r>
                    </a:p>
                  </a:txBody>
                  <a:tcPr marL="91440" marR="91440" marT="36576" marB="36576" anchor="ctr">
                    <a:solidFill>
                      <a:srgbClr val="F2F4F9"/>
                    </a:solidFill>
                  </a:tcPr>
                </a:tc>
                <a:tc>
                  <a:txBody>
                    <a:bodyPr wrap="square"/>
                    <a:lstStyle/>
                    <a:p>
                      <a:pPr algn="l"/>
                      <a:r>
                        <a:rPr sz="1400" b="0">
                          <a:solidFill>
                            <a:srgbClr val="1E293B"/>
                          </a:solidFill>
                          <a:latin typeface="Calibri"/>
                        </a:rPr>
                        <a:t>0.767</a:t>
                      </a:r>
                    </a:p>
                  </a:txBody>
                  <a:tcPr marL="91440" marR="91440" marT="36576" marB="36576" anchor="ctr">
                    <a:solidFill>
                      <a:srgbClr val="F2F4F9"/>
                    </a:solidFill>
                  </a:tcPr>
                </a:tc>
                <a:tc>
                  <a:txBody>
                    <a:bodyPr wrap="square"/>
                    <a:lstStyle/>
                    <a:p>
                      <a:pPr algn="l"/>
                      <a:r>
                        <a:rPr sz="1400" b="0">
                          <a:solidFill>
                            <a:srgbClr val="1E293B"/>
                          </a:solidFill>
                          <a:latin typeface="Calibri"/>
                        </a:rPr>
                        <a:t>0.782</a:t>
                      </a:r>
                    </a:p>
                  </a:txBody>
                  <a:tcPr marL="91440" marR="91440" marT="36576" marB="36576" anchor="ctr">
                    <a:solidFill>
                      <a:srgbClr val="F2F4F9"/>
                    </a:solidFill>
                  </a:tcPr>
                </a:tc>
                <a:tc>
                  <a:txBody>
                    <a:bodyPr wrap="square"/>
                    <a:lstStyle/>
                    <a:p>
                      <a:pPr algn="l"/>
                      <a:r>
                        <a:rPr sz="1400" b="0">
                          <a:solidFill>
                            <a:srgbClr val="1E293B"/>
                          </a:solidFill>
                          <a:latin typeface="Calibri"/>
                        </a:rPr>
                        <a:t>0.774</a:t>
                      </a:r>
                    </a:p>
                  </a:txBody>
                  <a:tcPr marL="91440" marR="91440" marT="36576" marB="36576" anchor="ctr">
                    <a:solidFill>
                      <a:srgbClr val="F2F4F9"/>
                    </a:solidFill>
                  </a:tcPr>
                </a:tc>
                <a:tc>
                  <a:txBody>
                    <a:bodyPr wrap="square"/>
                    <a:lstStyle/>
                    <a:p>
                      <a:pPr algn="l"/>
                      <a:r>
                        <a:rPr sz="1400" b="0">
                          <a:solidFill>
                            <a:srgbClr val="1E293B"/>
                          </a:solidFill>
                          <a:latin typeface="Calibri"/>
                        </a:rPr>
                        <a:t>147</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0.552</a:t>
                      </a:r>
                    </a:p>
                  </a:txBody>
                  <a:tcPr marL="91440" marR="91440" marT="36576" marB="36576" anchor="ctr">
                    <a:solidFill>
                      <a:srgbClr val="FFFFFF"/>
                    </a:solidFill>
                  </a:tcPr>
                </a:tc>
                <a:tc>
                  <a:txBody>
                    <a:bodyPr wrap="square"/>
                    <a:lstStyle/>
                    <a:p>
                      <a:pPr algn="l"/>
                      <a:r>
                        <a:rPr sz="1400" b="0">
                          <a:solidFill>
                            <a:srgbClr val="1E293B"/>
                          </a:solidFill>
                          <a:latin typeface="Calibri"/>
                        </a:rPr>
                        <a:t>0.674</a:t>
                      </a:r>
                    </a:p>
                  </a:txBody>
                  <a:tcPr marL="91440" marR="91440" marT="36576" marB="36576" anchor="ctr">
                    <a:solidFill>
                      <a:srgbClr val="FFFFFF"/>
                    </a:solidFill>
                  </a:tcPr>
                </a:tc>
                <a:tc>
                  <a:txBody>
                    <a:bodyPr wrap="square"/>
                    <a:lstStyle/>
                    <a:p>
                      <a:pPr algn="l"/>
                      <a:r>
                        <a:rPr sz="1400" b="0">
                          <a:solidFill>
                            <a:srgbClr val="1E293B"/>
                          </a:solidFill>
                          <a:latin typeface="Calibri"/>
                        </a:rPr>
                        <a:t>0.607</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Words>
  <Application>Microsoft Macintosh PowerPoint</Application>
  <PresentationFormat>Widescreen</PresentationFormat>
  <Paragraphs>1</Paragraphs>
  <Slides>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1</cp:revision>
  <dcterms:created xsi:type="dcterms:W3CDTF">2026-07-06T13:08:18Z</dcterms:created>
  <dcterms:modified xsi:type="dcterms:W3CDTF">2026-07-06T13:09:17Z</dcterms:modified>
</cp:coreProperties>
</file>