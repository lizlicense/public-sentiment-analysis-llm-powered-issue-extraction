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2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5364"/>
  </p:normalViewPr>
  <p:slideViewPr>
    <p:cSldViewPr snapToGrid="0">
      <p:cViewPr varScale="1">
        <p:scale>
          <a:sx n="117" d="100"/>
          <a:sy n="117" d="100"/>
        </p:scale>
        <p:origin x="36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7B7642-B353-2B4B-B2B1-5200A78C1ED7}" type="datetimeFigureOut">
              <a:rPr lang="en-US" smtClean="0"/>
              <a:t>7/6/26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0DB06B-229C-144D-A3B7-AAAA8C5554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00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5D93A-A78D-456C-F1BA-C5BF20B8D4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78692F-B32A-169A-745A-C3A71CBDBA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08EA3-7C93-10F3-146A-44FFC8D82D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AD244-9817-3047-A477-01BB4324E821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3EE075-8833-3C5C-C71C-BE8CB66F95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E93EC6-D01C-BFF2-3749-9CD174CCA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2FB5B2-ACED-4C4A-A8C8-EE412B7C99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0550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67E07-11EA-F563-1F9C-0AE786CF1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98740D-D49C-40BC-4390-2249BC1583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23ED43-67BA-16A3-A7F3-C3D0A98E25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AD244-9817-3047-A477-01BB4324E821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22EB8-E5BF-463E-F3FE-18471E2970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70D48C-AD49-50E4-82CF-D1A68C52A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2FB5B2-ACED-4C4A-A8C8-EE412B7C99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52076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0272EF-75C9-2E16-0370-7750DB5C64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63D0E5-3F98-571A-907B-1BE411D23B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3AC597-EFF4-69FF-D84C-F9FE4370DA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AD244-9817-3047-A477-01BB4324E821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F943EC-46E5-AE54-23D0-82DB819033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4F4554-8AE4-8312-F8E2-FDB1F9967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2FB5B2-ACED-4C4A-A8C8-EE412B7C99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7567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45B14E-EC1A-CEB7-3DD9-FC55628A9C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CFC9A5-B5E6-C23B-3DAF-851168FB7F1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E52D71-CE41-A530-E2A9-8A34AE6A57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F3C509-125D-EFFE-7A85-3D82B64462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AD244-9817-3047-A477-01BB4324E821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0C51B3-076F-63FC-7BB1-985DF7561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63FD6E-B166-5C00-0CB4-9FC2570FBA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2FB5B2-ACED-4C4A-A8C8-EE412B7C99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01504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BA6DF-0F05-E6C7-2805-9C9C995D8D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CED22C-3A89-A029-AB65-907D88E562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72B57E-C6AC-E68E-61CB-DD1707A4A6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E59FC8-F21E-CA83-82B3-0127A97F6A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45968AB-CA15-E8FE-4FBF-19E9A51FF1E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2BED5E-115E-4FB1-E015-7843EAF3A5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AD244-9817-3047-A477-01BB4324E821}" type="datetimeFigureOut">
              <a:rPr lang="en-US" smtClean="0"/>
              <a:t>7/6/26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AE0651A-B93D-949B-46F6-F962BB566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281BCBC-FF65-6343-4349-4C9E35E2A3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2FB5B2-ACED-4C4A-A8C8-EE412B7C99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40803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7C978-B833-9211-A322-1907EE2B33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B7869B-0DA1-1A4F-B73F-D49D0BEE0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AD244-9817-3047-A477-01BB4324E821}" type="datetimeFigureOut">
              <a:rPr lang="en-US" smtClean="0"/>
              <a:t>7/6/26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B1C5F0-293E-1718-606A-4C5A6A305A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397E27-3F50-3DFC-04E7-DC7823E0D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2FB5B2-ACED-4C4A-A8C8-EE412B7C99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6934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603F74F-D7A7-9C62-7E6C-E902134E77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AD244-9817-3047-A477-01BB4324E821}" type="datetimeFigureOut">
              <a:rPr lang="en-US" smtClean="0"/>
              <a:t>7/6/26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D4DF2B7-8126-E8F1-B5B8-AC75F60817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D22276-0EA4-C769-712B-96406B40D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2FB5B2-ACED-4C4A-A8C8-EE412B7C99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99276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73AD2-9D3C-5150-D437-15D421F1BA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13E28F-87A5-40AC-B60D-9489BA2325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A44B67-8155-7EC9-1A06-8BA387F345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4F341F-50F0-5397-23A0-8117B6EDB4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AD244-9817-3047-A477-01BB4324E821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7862B8-8739-0123-8D80-D1AB6AF71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E4B092-2DAD-4C07-BD9E-31DB7CDCB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2FB5B2-ACED-4C4A-A8C8-EE412B7C99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23481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72020-6A6C-B368-D46A-1C98B40EF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A29D2D6-51AF-B2CF-15D0-95666FB7A89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06F60A-1702-A309-3FEC-7B39FE5ABB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AD23A4-0EB1-3CF3-B6AA-38A9C6629B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AD244-9817-3047-A477-01BB4324E821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9A9EDD-8DA4-073C-FE48-7F932F9731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303D31-F6FC-8FA6-B178-73DE541672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2FB5B2-ACED-4C4A-A8C8-EE412B7C99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26924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EA48DD-BAD4-AAEE-CB1A-8586FAFEA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BBFBC6-D2A8-42C7-CD7F-D4D1E58086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5CEE1B-FE4D-B5A9-D7C0-2B4D01E584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AD244-9817-3047-A477-01BB4324E821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5C7891-942A-46F2-66C2-0A86A8188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BA9B9F-0006-FD0C-BAEA-9C3C96E7E9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2FB5B2-ACED-4C4A-A8C8-EE412B7C99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9397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CAFCF34-E3EC-5BDA-2554-C980D8244C8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329B9C-D8B0-5BD1-55CF-5ADD9945D4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9A80F5-A5FB-FFBB-9F51-3F12C4FBD5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AD244-9817-3047-A477-01BB4324E821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703F68-56C9-33AC-BF47-969C054B79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0D6FEE-5CE8-9322-DBFC-1CA8393326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2FB5B2-ACED-4C4A-A8C8-EE412B7C99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5650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1_Title and Content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7"/>
          <p:cNvPicPr preferRelativeResize="0"/>
          <p:nvPr/>
        </p:nvPicPr>
        <p:blipFill rotWithShape="1">
          <a:blip r:embed="rId2">
            <a:alphaModFix/>
          </a:blip>
          <a:srcRect l="-1" r="49658"/>
          <a:stretch/>
        </p:blipFill>
        <p:spPr>
          <a:xfrm>
            <a:off x="1" y="1"/>
            <a:ext cx="12191999" cy="136226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7" name="Google Shape;17;p7"/>
          <p:cNvCxnSpPr/>
          <p:nvPr/>
        </p:nvCxnSpPr>
        <p:spPr>
          <a:xfrm>
            <a:off x="0" y="1362269"/>
            <a:ext cx="12192000" cy="0"/>
          </a:xfrm>
          <a:prstGeom prst="straightConnector1">
            <a:avLst/>
          </a:prstGeom>
          <a:noFill/>
          <a:ln w="9525" cap="flat" cmpd="sng">
            <a:solidFill>
              <a:srgbClr val="D5A10F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29542087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1_Section Header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-4761"/>
            <a:ext cx="12192000" cy="6858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13897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286BB02-548D-7AC0-FD1C-85568EC083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FE936F-5919-04F5-1F76-7305520289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097F57-260C-C8C2-904E-8DCCA2FBAF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19AD244-9817-3047-A477-01BB4324E821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763691-8C8F-D460-C5C9-01D86DBE76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247E2E-EA0A-5DEA-BE96-30CB532606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2FB5B2-ACED-4C4A-A8C8-EE412B7C99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242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28800"/>
            <a:ext cx="109728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  <a:defRPr sz="3400" b="1">
                <a:solidFill>
                  <a:srgbClr val="003366"/>
                </a:solidFill>
              </a:defRPr>
            </a:pPr>
            <a:r>
              <a:t>Singapore Telco Forum</a:t>
            </a:r>
            <a:br/>
            <a:r>
              <a:t>Sentiment &amp; Issue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566160"/>
            <a:ext cx="109728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  <a:defRPr sz="1800" b="0">
                <a:solidFill>
                  <a:srgbClr val="64748B"/>
                </a:solidFill>
              </a:defRPr>
            </a:pPr>
            <a:r>
              <a:t>Scrape → Label → Analyse → Visualise mobile-plan discussions</a:t>
            </a:r>
            <a:br/>
            <a:r>
              <a:t>(Reddit + HardwareZone)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7607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  <a:defRPr sz="1200" b="0">
                <a:solidFill>
                  <a:srgbClr val="64748B"/>
                </a:solidFill>
              </a:defRPr>
            </a:pPr>
            <a:r>
              <a:t>Capstone Project  ·  Singapore Telco Forum Sentiment Analysis  ·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50876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  <a:defRPr sz="2600" b="1">
                <a:solidFill>
                  <a:srgbClr val="003366"/>
                </a:solidFill>
              </a:defRPr>
            </a:pPr>
            <a:r>
              <a:t>Agenda (~15–20 minutes)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14884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1E293B"/>
                </a:solidFill>
              </a:defRPr>
            </a:pPr>
            <a:r>
              <a:t>A.  Problem &amp; research goal  (2 min)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1E293B"/>
                </a:solidFill>
              </a:defRPr>
            </a:pPr>
            <a:r>
              <a:t>B.  End-to-end pipeline  (3 min)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1E293B"/>
                </a:solidFill>
              </a:defRPr>
            </a:pPr>
            <a:r>
              <a:t>C.  Dataset &amp; mobile topics  (3 min)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1E293B"/>
                </a:solidFill>
              </a:defRPr>
            </a:pPr>
            <a:r>
              <a:t>D.  Sentiment &amp; issue extraction methods  (4 min)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1E293B"/>
                </a:solidFill>
              </a:defRPr>
            </a:pPr>
            <a:r>
              <a:t>E.  Results dashboard &amp; key findings  (5 min)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1E293B"/>
                </a:solidFill>
              </a:defRPr>
            </a:pPr>
            <a:r>
              <a:t>F.  Limitations &amp; next steps  (2 min)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1E293B"/>
                </a:solidFill>
              </a:defRPr>
            </a:pPr>
            <a:r>
              <a:t>Q&amp;A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6459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  <a:defRPr sz="3000" b="1">
                <a:solidFill>
                  <a:srgbClr val="003366"/>
                </a:solidFill>
              </a:defRPr>
            </a:pPr>
            <a:r>
              <a:t>A.  Problem &amp; Research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60604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0056A8"/>
                </a:solidFill>
              </a:defRPr>
            </a:pPr>
            <a:r>
              <a:t>~2 minutes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50876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  <a:defRPr sz="2600" b="1">
                <a:solidFill>
                  <a:srgbClr val="003366"/>
                </a:solidFill>
              </a:defRPr>
            </a:pPr>
            <a:r>
              <a:t>Why this project?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14884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  <a:defRPr sz="1300" b="0">
                <a:solidFill>
                  <a:srgbClr val="64748B"/>
                </a:solidFill>
              </a:defRPr>
            </a:pPr>
            <a:r>
              <a:t>Forum data complements surveys: real pain points, launch reactions, switching intent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606040"/>
            <a:ext cx="1097280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1E293B"/>
                </a:solidFill>
              </a:defRPr>
            </a:pPr>
            <a:r>
              <a:t>Singapore mobile market: Singtel, StarHub, M1, SIMBA, MVNOs (Giga, Eight, Zym, …)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1E293B"/>
                </a:solidFill>
              </a:defRPr>
            </a:pPr>
            <a:r>
              <a:t>Customers discuss plans, coverage, and service on public forums — rich unsolicited feedback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1E293B"/>
                </a:solidFill>
              </a:defRPr>
            </a:pPr>
            <a:r>
              <a:t>Research question: What do forum users say about telcos, and on which topics?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1E293B"/>
                </a:solidFill>
              </a:defRPr>
            </a:pPr>
            <a:r>
              <a:t>Goal: Build a reproducible pipeline to collect, label, and visualise sentiment + mobile-specific issues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6459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  <a:defRPr sz="3000" b="1">
                <a:solidFill>
                  <a:srgbClr val="003366"/>
                </a:solidFill>
              </a:defRPr>
            </a:pPr>
            <a:r>
              <a:t>B.  End-to-End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60604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0056A8"/>
                </a:solidFill>
              </a:defRPr>
            </a:pPr>
            <a:r>
              <a:t>~3 minutes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50876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  <a:defRPr sz="2600" b="1">
                <a:solidFill>
                  <a:srgbClr val="003366"/>
                </a:solidFill>
              </a:defRPr>
            </a:pPr>
            <a:r>
              <a:t>Pipeline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14884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1E293B"/>
                </a:solidFill>
              </a:defRPr>
            </a:pPr>
            <a:r>
              <a:t>①  Scrape — Reddit (r/singapore, r/askSingapore) + HardwareZone threads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1E293B"/>
                </a:solidFill>
              </a:defRPr>
            </a:pPr>
            <a:r>
              <a:t>②  Preprocess — clean text, normalise columns, remove noise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1E293B"/>
                </a:solidFill>
              </a:defRPr>
            </a:pPr>
            <a:r>
              <a:t>③  Telco labeler — detect brand(s) + VADER / optional LLM sentiment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1E293B"/>
                </a:solidFill>
              </a:defRPr>
            </a:pPr>
            <a:r>
              <a:t>④  Issue extraction — classify into mobile topic taxonomy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1E293B"/>
                </a:solidFill>
              </a:defRPr>
            </a:pPr>
            <a:r>
              <a:t>⑤  Dashboard — static HTML report + interactive Streamlit app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1E293B"/>
                </a:solidFill>
              </a:defRPr>
            </a:pPr>
          </a:p>
          <a:p>
            <a:pPr algn="l">
              <a:spcAft>
                <a:spcPts val="1000"/>
              </a:spcAft>
              <a:defRPr sz="1600" b="0">
                <a:solidFill>
                  <a:srgbClr val="1E293B"/>
                </a:solidFill>
              </a:defRPr>
            </a:pPr>
            <a:r>
              <a:t>Scripts: scrapers/ → processing/ → models/ → dashboard/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1E293B"/>
                </a:solidFill>
              </a:defRPr>
            </a:pPr>
            <a:r>
              <a:t>All outputs stored in data/raw/ and data/processed/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6459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  <a:defRPr sz="3000" b="1">
                <a:solidFill>
                  <a:srgbClr val="003366"/>
                </a:solidFill>
              </a:defRPr>
            </a:pPr>
            <a:r>
              <a:t>C.  Dataset &amp; Mobile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60604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0056A8"/>
                </a:solidFill>
              </a:defRPr>
            </a:pPr>
            <a:r>
              <a:t>~3 minutes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5087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  <a:defRPr sz="2600" b="1">
                <a:solidFill>
                  <a:srgbClr val="003366"/>
                </a:solidFill>
              </a:defRPr>
            </a:pPr>
            <a:r>
              <a:t>Data sources &amp; scale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194560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  <a:defRPr sz="1500" b="1">
                <a:solidFill>
                  <a:srgbClr val="0056A8"/>
                </a:solidFill>
              </a:defRPr>
            </a:pPr>
            <a:r>
              <a:t>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560320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 b="0">
                <a:solidFill>
                  <a:srgbClr val="1E293B"/>
                </a:solidFill>
              </a:defRPr>
            </a:pPr>
            <a:r>
              <a:t>• Reddit — posts &amp; comments, keyword-filtered</a:t>
            </a:r>
          </a:p>
          <a:p>
            <a:pPr algn="l">
              <a:spcAft>
                <a:spcPts val="1000"/>
              </a:spcAft>
              <a:defRPr sz="1400" b="0">
                <a:solidFill>
                  <a:srgbClr val="1E293B"/>
                </a:solidFill>
              </a:defRPr>
            </a:pPr>
            <a:r>
              <a:t>• HardwareZone — telco / MVNO discussion threads</a:t>
            </a:r>
          </a:p>
          <a:p>
            <a:pPr algn="l">
              <a:spcAft>
                <a:spcPts val="1000"/>
              </a:spcAft>
              <a:defRPr sz="1400" b="0">
                <a:solidFill>
                  <a:srgbClr val="1E293B"/>
                </a:solidFill>
              </a:defRPr>
            </a:pPr>
            <a:r>
              <a:t>• Twitter scraper scaffolded (optional)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2194560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  <a:defRPr sz="1500" b="1">
                <a:solidFill>
                  <a:srgbClr val="0056A8"/>
                </a:solidFill>
              </a:defRPr>
            </a:pPr>
            <a:r>
              <a:t>Volume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560320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 b="0">
                <a:solidFill>
                  <a:srgbClr val="1E293B"/>
                </a:solidFill>
              </a:defRPr>
            </a:pPr>
            <a:r>
              <a:t>• ~15,504 cleaned &amp; labeled posts (full corpus)</a:t>
            </a:r>
          </a:p>
          <a:p>
            <a:pPr algn="l">
              <a:spcAft>
                <a:spcPts val="1000"/>
              </a:spcAft>
              <a:defRPr sz="1400" b="0">
                <a:solidFill>
                  <a:srgbClr val="1E293B"/>
                </a:solidFill>
              </a:defRPr>
            </a:pPr>
            <a:r>
              <a:t>• 158 telco-relevant posts (dashboard analysis sample)</a:t>
            </a:r>
          </a:p>
          <a:p>
            <a:pPr algn="l">
              <a:spcAft>
                <a:spcPts val="1000"/>
              </a:spcAft>
              <a:defRPr sz="1400" b="0">
                <a:solidFill>
                  <a:srgbClr val="1E293B"/>
                </a:solidFill>
              </a:defRPr>
            </a:pPr>
            <a:r>
              <a:t>• 300-record blind representative set awaiting human annotation</a:t>
            </a:r>
          </a:p>
          <a:p>
            <a:pPr algn="l">
              <a:spcAft>
                <a:spcPts val="1000"/>
              </a:spcAft>
              <a:defRPr sz="1400" b="0">
                <a:solidFill>
                  <a:srgbClr val="1E293B"/>
                </a:solidFill>
              </a:defRPr>
            </a:pPr>
            <a:r>
              <a:t>• Brands: Singtel, StarHub, M1, Eight, Giga, SIMBA, Zym, 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50876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  <a:defRPr sz="2600" b="1">
                <a:solidFill>
                  <a:srgbClr val="003366"/>
                </a:solidFill>
              </a:defRPr>
            </a:pPr>
            <a:r>
              <a:t>Mobile-specific issue taxonomy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14884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  <a:defRPr sz="1300" b="0">
                <a:solidFill>
                  <a:srgbClr val="64748B"/>
                </a:solidFill>
              </a:defRPr>
            </a:pPr>
            <a:r>
              <a:t>Stored as issue_primary on each row in issues_posts_labeled_*.csv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606040"/>
            <a:ext cx="1097280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1E293B"/>
                </a:solidFill>
              </a:defRPr>
            </a:pPr>
            <a:r>
              <a:t>Network Quality — signal, coverage, speed, outages and 4G/5G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1E293B"/>
                </a:solidFill>
              </a:defRPr>
            </a:pPr>
            <a:r>
              <a:t>Pricing &amp; Promotions — prices, discounts, deals and promotion fulfilment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1E293B"/>
                </a:solidFill>
              </a:defRPr>
            </a:pPr>
            <a:r>
              <a:t>Mobile Plans — SIM-only allowances, terms and plan features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1E293B"/>
                </a:solidFill>
              </a:defRPr>
            </a:pPr>
            <a:r>
              <a:t>Roaming / Porting — overseas connectivity and number transfer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1E293B"/>
                </a:solidFill>
              </a:defRPr>
            </a:pPr>
            <a:r>
              <a:t>Customer Service / Billing &amp; Payment — support, charges and refunds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1E293B"/>
                </a:solidFill>
              </a:defRPr>
            </a:pPr>
            <a:r>
              <a:t>App &amp; Account / Devices — login, apps, phones, SIMs and routers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1E293B"/>
                </a:solidFill>
              </a:defRPr>
            </a:pPr>
            <a:r>
              <a:t>General Discussion — telco news and opinions without a specific issue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6459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  <a:defRPr sz="3000" b="1">
                <a:solidFill>
                  <a:srgbClr val="003366"/>
                </a:solidFill>
              </a:defRPr>
            </a:pPr>
            <a:r>
              <a:t>D.  Sentiment &amp; Issue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60604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0056A8"/>
                </a:solidFill>
              </a:defRPr>
            </a:pPr>
            <a:r>
              <a:t>~4 minutes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50876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  <a:defRPr sz="2400" b="1">
                <a:solidFill>
                  <a:srgbClr val="003366"/>
                </a:solidFill>
              </a:defRPr>
            </a:pPr>
            <a:r>
              <a:t>Modelling approach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94360" y="2103120"/>
          <a:ext cx="1097280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Task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Method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Output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Telco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Regex on thread_title + post_text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telco_label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Sentiment (baseline)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VADER compound 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happy / not_happy / neutral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Sentiment (optional)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LLM via --use-llm-sentiment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llm_sentiment_label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Issue extraction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Keyword rules + optional LLM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issue_primary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Evaluation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Manual labels on n=150 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sentiment_benchmark.json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50876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  <a:defRPr sz="2600" b="1">
                <a:solidFill>
                  <a:srgbClr val="003366"/>
                </a:solidFill>
              </a:defRPr>
            </a:pPr>
            <a:r>
              <a:t>Evaluation &amp; honesty about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14884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1E293B"/>
                </a:solidFill>
              </a:defRPr>
            </a:pPr>
            <a:r>
              <a:t>VADER benchmarked against 150 manually labeled Reddit posts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1E293B"/>
                </a:solidFill>
              </a:defRPr>
            </a:pPr>
            <a:r>
              <a:t>LLM integration is built in (telco_labeler, issue_extraction) — optional at runtime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1E293B"/>
                </a:solidFill>
              </a:defRPr>
            </a:pPr>
            <a:r>
              <a:t>Transformer benchmark scaffolded; not yet fully compared on same sample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1E293B"/>
                </a:solidFill>
              </a:defRPr>
            </a:pPr>
            <a:r>
              <a:t>Dashboard sample uses auto-labels + keyword-inferred issues where manual labels absent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1E293B"/>
                </a:solidFill>
              </a:defRPr>
            </a:pPr>
            <a:r>
              <a:t>Important: forum tone ≠ national NPS; Reddit more negative than HWZ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6459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  <a:defRPr sz="3000" b="1">
                <a:solidFill>
                  <a:srgbClr val="003366"/>
                </a:solidFill>
              </a:defRPr>
            </a:pPr>
            <a:r>
              <a:t>E.  Results &amp;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60604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0056A8"/>
                </a:solidFill>
              </a:defRPr>
            </a:pPr>
            <a:r>
              <a:t>~5 minutes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5087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  <a:defRPr sz="2600" b="1">
                <a:solidFill>
                  <a:srgbClr val="003366"/>
                </a:solidFill>
              </a:defRPr>
            </a:pPr>
            <a:r>
              <a:t>Sentiment findings (n=158 telco-relevant)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194560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  <a:defRPr sz="1500" b="1">
                <a:solidFill>
                  <a:srgbClr val="0056A8"/>
                </a:solidFill>
              </a:defRPr>
            </a:pPr>
            <a:r>
              <a:t>Overall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560320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 b="0">
                <a:solidFill>
                  <a:srgbClr val="1E293B"/>
                </a:solidFill>
              </a:defRPr>
            </a:pPr>
            <a:r>
              <a:t>• 61% happy</a:t>
            </a:r>
          </a:p>
          <a:p>
            <a:pPr algn="l">
              <a:spcAft>
                <a:spcPts val="1000"/>
              </a:spcAft>
              <a:defRPr sz="1400" b="0">
                <a:solidFill>
                  <a:srgbClr val="1E293B"/>
                </a:solidFill>
              </a:defRPr>
            </a:pPr>
            <a:r>
              <a:t>• 22% not_happy</a:t>
            </a:r>
          </a:p>
          <a:p>
            <a:pPr algn="l">
              <a:spcAft>
                <a:spcPts val="1000"/>
              </a:spcAft>
              <a:defRPr sz="1400" b="0">
                <a:solidFill>
                  <a:srgbClr val="1E293B"/>
                </a:solidFill>
              </a:defRPr>
            </a:pPr>
            <a:r>
              <a:t>• 18% neutral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2194560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  <a:defRPr sz="1500" b="1">
                <a:solidFill>
                  <a:srgbClr val="0056A8"/>
                </a:solidFill>
              </a:defRPr>
            </a:pPr>
            <a:r>
              <a:t>By source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560320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 b="0">
                <a:solidFill>
                  <a:srgbClr val="1E293B"/>
                </a:solidFill>
              </a:defRPr>
            </a:pPr>
            <a:r>
              <a:t>• Reddit (n=67): 49% happy, 30% negative</a:t>
            </a:r>
          </a:p>
          <a:p>
            <a:pPr algn="l">
              <a:spcAft>
                <a:spcPts val="1000"/>
              </a:spcAft>
              <a:defRPr sz="1400" b="0">
                <a:solidFill>
                  <a:srgbClr val="1E293B"/>
                </a:solidFill>
              </a:defRPr>
            </a:pPr>
            <a:r>
              <a:t>• HWZ (n=91): 69% happy, 15% negative</a:t>
            </a:r>
          </a:p>
          <a:p>
            <a:pPr algn="l">
              <a:spcAft>
                <a:spcPts val="1000"/>
              </a:spcAft>
              <a:defRPr sz="1400" b="0">
                <a:solidFill>
                  <a:srgbClr val="1E293B"/>
                </a:solidFill>
              </a:defRPr>
            </a:pPr>
            <a:r>
              <a:t>• HWZ skewed toward Eight launch / plan threads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50876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  <a:defRPr sz="2400" b="1">
                <a:solidFill>
                  <a:srgbClr val="003366"/>
                </a:solidFill>
              </a:defRPr>
            </a:pPr>
            <a:r>
              <a:t>Issue breakdown (dashboard sample)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94360" y="2103120"/>
          <a:ext cx="10972800" cy="38221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47471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Theme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Share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Example signal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474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App &amp; Account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Login, verification and self-service app friction</a:t>
                      </a:r>
                    </a:p>
                  </a:txBody>
                  <a:tcPr/>
                </a:tc>
              </a:tr>
              <a:tr h="3474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Network Quality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Dead zones, outages and MVNO priority concerns</a:t>
                      </a:r>
                    </a:p>
                  </a:txBody>
                  <a:tcPr/>
                </a:tc>
              </a:tr>
              <a:tr h="3474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General Discussion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Telco news and opinions without a specific issue</a:t>
                      </a:r>
                    </a:p>
                  </a:txBody>
                  <a:tcPr/>
                </a:tc>
              </a:tr>
              <a:tr h="3474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Mobile Plans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SIM-only allowances and plan comparisons</a:t>
                      </a:r>
                    </a:p>
                  </a:txBody>
                  <a:tcPr/>
                </a:tc>
              </a:tr>
              <a:tr h="3474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Pricing &amp; Promotions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Price-value, discounts and fulfilment</a:t>
                      </a:r>
                    </a:p>
                  </a:txBody>
                  <a:tcPr/>
                </a:tc>
              </a:tr>
              <a:tr h="3474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Billing &amp; Payment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Charges, refunds and payment handling</a:t>
                      </a:r>
                    </a:p>
                  </a:txBody>
                  <a:tcPr/>
                </a:tc>
              </a:tr>
              <a:tr h="3474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Roaming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Malaysia and regional connectivity</a:t>
                      </a:r>
                    </a:p>
                  </a:txBody>
                  <a:tcPr/>
                </a:tc>
              </a:tr>
              <a:tr h="3474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Devices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Phones, SIM/eSIM, routers and equipment</a:t>
                      </a:r>
                    </a:p>
                  </a:txBody>
                  <a:tcPr/>
                </a:tc>
              </a:tr>
              <a:tr h="3474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Porting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Number-transfer and dropdown gaps</a:t>
                      </a:r>
                    </a:p>
                  </a:txBody>
                  <a:tcPr/>
                </a:tc>
              </a:tr>
              <a:tr h="34748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Customer 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Hotline, agent and escalation experience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50876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  <a:defRPr sz="2400" b="1">
                <a:solidFill>
                  <a:srgbClr val="003366"/>
                </a:solidFill>
              </a:defRPr>
            </a:pPr>
            <a:r>
              <a:t>Cross-brand highlights (≥5 mentions)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94360" y="2103120"/>
          <a:ext cx="1097280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Telco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Mentions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Neg %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Dominant themes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StarHub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27%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Pricing, CS, promo fulfilment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M1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Coverage, 4G/5G transition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Singtel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ONR/bridge mode, equipment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Eight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Launch pricing, tiering, porting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Giga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67%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Network reliability (small n)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50876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  <a:defRPr sz="2600" b="1">
                <a:solidFill>
                  <a:srgbClr val="003366"/>
                </a:solidFill>
              </a:defRPr>
            </a:pPr>
            <a:r>
              <a:t>Dashboard deliverables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14884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  <a:defRPr sz="1300" b="0">
                <a:solidFill>
                  <a:srgbClr val="64748B"/>
                </a:solidFill>
              </a:defRPr>
            </a:pPr>
            <a:r>
              <a:t>Regenerate before demo: python dashboard/generate_dashboard.py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606040"/>
            <a:ext cx="1097280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1E293B"/>
                </a:solidFill>
              </a:defRPr>
            </a:pPr>
            <a:r>
              <a:t>dashboard/index.html — static Chart.js report for capstone write-up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1E293B"/>
                </a:solidFill>
              </a:defRPr>
            </a:pPr>
            <a:r>
              <a:t>  • Sentiment doughnut, source comparison, issue bars, brand mentions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1E293B"/>
                </a:solidFill>
              </a:defRPr>
            </a:pPr>
            <a:r>
              <a:t>  • Per-telco table, quotes, recommendations, limitations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1E293B"/>
                </a:solidFill>
              </a:defRPr>
            </a:pPr>
            <a:r>
              <a:t>dashboard/generate_dashboard.py — regenerates HTML from latest CSVs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1E293B"/>
                </a:solidFill>
              </a:defRPr>
            </a:pPr>
            <a:r>
              <a:t>dashboard/app.py — Streamlit with filters (source / telco / sentiment / date)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288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  <a:defRPr sz="3200" b="1">
                <a:solidFill>
                  <a:srgbClr val="003366"/>
                </a:solidFill>
              </a:defRPr>
            </a:pPr>
            <a: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743200"/>
            <a:ext cx="1097280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B"/>
                </a:solidFill>
              </a:defRPr>
            </a:pPr>
            <a:r>
              <a:t>1.  python dashboard/generate_dashboard.py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B"/>
                </a:solidFill>
              </a:defRPr>
            </a:pPr>
            <a:r>
              <a:t>2.  open dashboard/index.html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B"/>
                </a:solidFill>
              </a:defRPr>
            </a:pPr>
            <a:r>
              <a:t>3.  Walk through: KPIs → Sentiment → Source split → Issues → Brands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B"/>
                </a:solidFill>
              </a:defRPr>
            </a:pPr>
            <a:r>
              <a:t>4.  (Optional) streamlit run dashboard/app.py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6459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  <a:defRPr sz="3000" b="1">
                <a:solidFill>
                  <a:srgbClr val="003366"/>
                </a:solidFill>
              </a:defRPr>
            </a:pPr>
            <a:r>
              <a:t>F.  Limitations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60604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0056A8"/>
                </a:solidFill>
              </a:defRPr>
            </a:pPr>
            <a:r>
              <a:t>~2 minutes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5087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  <a:defRPr sz="2600" b="1">
                <a:solidFill>
                  <a:srgbClr val="003366"/>
                </a:solidFill>
              </a:defRPr>
            </a:pPr>
            <a: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194560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  <a:defRPr sz="1500" b="1">
                <a:solidFill>
                  <a:srgbClr val="0056A8"/>
                </a:solidFill>
              </a:defRPr>
            </a:pPr>
            <a:r>
              <a:t>Data &amp;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560320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 b="0">
                <a:solidFill>
                  <a:srgbClr val="1E293B"/>
                </a:solidFill>
              </a:defRPr>
            </a:pPr>
            <a:r>
              <a:t>• Forum users ≠ all mobile subscribers</a:t>
            </a:r>
          </a:p>
          <a:p>
            <a:pPr algn="l">
              <a:spcAft>
                <a:spcPts val="1000"/>
              </a:spcAft>
              <a:defRPr sz="1400" b="0">
                <a:solidFill>
                  <a:srgbClr val="1E293B"/>
                </a:solidFill>
              </a:defRPr>
            </a:pPr>
            <a:r>
              <a:t>• Reddit over-indexes on complaints</a:t>
            </a:r>
          </a:p>
          <a:p>
            <a:pPr algn="l">
              <a:spcAft>
                <a:spcPts val="1000"/>
              </a:spcAft>
              <a:defRPr sz="1400" b="0">
                <a:solidFill>
                  <a:srgbClr val="1E293B"/>
                </a:solidFill>
              </a:defRPr>
            </a:pPr>
            <a:r>
              <a:t>• HWZ over-indexes on launch threads (Eight)</a:t>
            </a:r>
          </a:p>
          <a:p>
            <a:pPr algn="l">
              <a:spcAft>
                <a:spcPts val="1000"/>
              </a:spcAft>
              <a:defRPr sz="1400" b="0">
                <a:solidFill>
                  <a:srgbClr val="1E293B"/>
                </a:solidFill>
              </a:defRPr>
            </a:pPr>
            <a:r>
              <a:t>• Small n for Giga, SIMBA, GOMO</a:t>
            </a:r>
          </a:p>
          <a:p>
            <a:pPr algn="l">
              <a:spcAft>
                <a:spcPts val="1000"/>
              </a:spcAft>
              <a:defRPr sz="1400" b="0">
                <a:solidFill>
                  <a:srgbClr val="1E293B"/>
                </a:solidFill>
              </a:defRPr>
            </a:pPr>
            <a:r>
              <a:t>• Auto-sentiment misses sarcasm / thread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2194560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  <a:defRPr sz="1500" b="1">
                <a:solidFill>
                  <a:srgbClr val="0056A8"/>
                </a:solidFill>
              </a:defRPr>
            </a:pPr>
            <a:r>
              <a:t>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560320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 b="0">
                <a:solidFill>
                  <a:srgbClr val="1E293B"/>
                </a:solidFill>
              </a:defRPr>
            </a:pPr>
            <a:r>
              <a:t>• Transformer sentiment benchmark</a:t>
            </a:r>
          </a:p>
          <a:p>
            <a:pPr algn="l">
              <a:spcAft>
                <a:spcPts val="1000"/>
              </a:spcAft>
              <a:defRPr sz="1400" b="0">
                <a:solidFill>
                  <a:srgbClr val="1E293B"/>
                </a:solidFill>
              </a:defRPr>
            </a:pPr>
            <a:r>
              <a:t>• Fill issue_manual on evaluation sample</a:t>
            </a:r>
          </a:p>
          <a:p>
            <a:pPr algn="l">
              <a:spcAft>
                <a:spcPts val="1000"/>
              </a:spcAft>
              <a:defRPr sz="1400" b="0">
                <a:solidFill>
                  <a:srgbClr val="1E293B"/>
                </a:solidFill>
              </a:defRPr>
            </a:pPr>
            <a:r>
              <a:t>• LLM issue extraction on unresolved rows</a:t>
            </a:r>
          </a:p>
          <a:p>
            <a:pPr algn="l">
              <a:spcAft>
                <a:spcPts val="1000"/>
              </a:spcAft>
              <a:defRPr sz="1400" b="0">
                <a:solidFill>
                  <a:srgbClr val="1E293B"/>
                </a:solidFill>
              </a:defRPr>
            </a:pPr>
            <a:r>
              <a:t>• Scale coverage per telco (coverage_checker)</a:t>
            </a:r>
          </a:p>
          <a:p>
            <a:pPr algn="l">
              <a:spcAft>
                <a:spcPts val="1000"/>
              </a:spcAft>
              <a:defRPr sz="1400" b="0">
                <a:solidFill>
                  <a:srgbClr val="1E293B"/>
                </a:solidFill>
              </a:defRPr>
            </a:pPr>
            <a:r>
              <a:t>• Final report: dashboard screenshots + recommendations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50876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  <a:defRPr sz="2600" b="1">
                <a:solidFill>
                  <a:srgbClr val="003366"/>
                </a:solidFill>
              </a:defRPr>
            </a:pPr>
            <a:r>
              <a:t>Key takeaways for industry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14884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1E293B"/>
                </a:solidFill>
              </a:defRPr>
            </a:pPr>
            <a:r>
              <a:t>Pricing and MVNO value dominate forum conversation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1E293B"/>
                </a:solidFill>
              </a:defRPr>
            </a:pPr>
            <a:r>
              <a:t>Network quality is hyper-local — same host network, different user experience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1E293B"/>
                </a:solidFill>
              </a:defRPr>
            </a:pPr>
            <a:r>
              <a:t>Porting and identity-document friction create disproportionate outrage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1E293B"/>
                </a:solidFill>
              </a:defRPr>
            </a:pPr>
            <a:r>
              <a:t>Bundled roaming is a key decision moment (Malaysia travel threads)</a:t>
            </a:r>
          </a:p>
          <a:p>
            <a:pPr algn="l">
              <a:spcAft>
                <a:spcPts val="1000"/>
              </a:spcAft>
              <a:defRPr sz="1600" b="0">
                <a:solidFill>
                  <a:srgbClr val="1E293B"/>
                </a:solidFill>
              </a:defRPr>
            </a:pPr>
            <a:r>
              <a:t>Transparent host-network + MVNO priority disclosure builds trust at launch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3774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  <a:defRPr sz="3600" b="1">
                <a:solidFill>
                  <a:srgbClr val="003366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3832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  <a:defRPr sz="2000" b="0">
                <a:solidFill>
                  <a:srgbClr val="64748B"/>
                </a:solidFill>
              </a:defRPr>
            </a:pPr>
            <a:r>
              <a:t>Questions &amp; live dashboard demo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</Words>
  <Application>Microsoft Macintosh PowerPoint</Application>
  <PresentationFormat>Widescreen</PresentationFormat>
  <Paragraphs>1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#LIAO ZIXIN#</dc:creator>
  <cp:lastModifiedBy>#LIAO ZIXIN#</cp:lastModifiedBy>
  <cp:revision>1</cp:revision>
  <dcterms:created xsi:type="dcterms:W3CDTF">2026-07-06T13:08:18Z</dcterms:created>
  <dcterms:modified xsi:type="dcterms:W3CDTF">2026-07-06T13:09:17Z</dcterms:modified>
</cp:coreProperties>
</file>