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comments/modernComment_10D_0.xml" ContentType="application/vnd.ms-powerpoint.comments+xml"/>
  <Override PartName="/ppt/charts/chart2.xml" ContentType="application/vnd.openxmlformats-officedocument.drawingml.chart+xml"/>
  <Override PartName="/ppt/notesSlides/notesSlide16.xml" ContentType="application/vnd.openxmlformats-officedocument.presentationml.notesSlide+xml"/>
  <Override PartName="/ppt/comments/modernComment_10E_0.xml" ContentType="application/vnd.ms-powerpoint.comments+xml"/>
  <Override PartName="/ppt/charts/chart3.xml" ContentType="application/vnd.openxmlformats-officedocument.drawingml.chart+xml"/>
  <Override PartName="/ppt/notesSlides/notesSlide17.xml" ContentType="application/vnd.openxmlformats-officedocument.presentationml.notesSlide+xml"/>
  <Override PartName="/ppt/charts/chart4.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omments/modernComment_112_0.xml" ContentType="application/vnd.ms-powerpoint.comment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5.xml" ContentType="application/vnd.openxmlformats-officedocument.drawingml.chart+xml"/>
  <Override PartName="/ppt/notesSlides/notesSlide22.xml" ContentType="application/vnd.openxmlformats-officedocument.presentationml.notesSlide+xml"/>
  <Override PartName="/ppt/charts/chart6.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omments/modernComment_126_A7261203.xml" ContentType="application/vnd.ms-powerpoint.comment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sldIdLst>
    <p:sldId id="256" r:id="rId2"/>
    <p:sldId id="257" r:id="rId3"/>
    <p:sldId id="258" r:id="rId4"/>
    <p:sldId id="259" r:id="rId5"/>
    <p:sldId id="260" r:id="rId6"/>
    <p:sldId id="261" r:id="rId7"/>
    <p:sldId id="262" r:id="rId8"/>
    <p:sldId id="263" r:id="rId9"/>
    <p:sldId id="264" r:id="rId10"/>
    <p:sldId id="266" r:id="rId11"/>
    <p:sldId id="267" r:id="rId12"/>
    <p:sldId id="298" r:id="rId13"/>
    <p:sldId id="297" r:id="rId14"/>
    <p:sldId id="268" r:id="rId15"/>
    <p:sldId id="269" r:id="rId16"/>
    <p:sldId id="270" r:id="rId17"/>
    <p:sldId id="272" r:id="rId18"/>
    <p:sldId id="293" r:id="rId19"/>
    <p:sldId id="274" r:id="rId20"/>
    <p:sldId id="275" r:id="rId21"/>
    <p:sldId id="276" r:id="rId22"/>
    <p:sldId id="277" r:id="rId23"/>
    <p:sldId id="279" r:id="rId24"/>
    <p:sldId id="278" r:id="rId25"/>
    <p:sldId id="280" r:id="rId26"/>
    <p:sldId id="281" r:id="rId27"/>
    <p:sldId id="282" r:id="rId28"/>
    <p:sldId id="283" r:id="rId29"/>
    <p:sldId id="294" r:id="rId30"/>
    <p:sldId id="285" r:id="rId31"/>
    <p:sldId id="286" r:id="rId32"/>
    <p:sldId id="287" r:id="rId33"/>
    <p:sldId id="296" r:id="rId34"/>
    <p:sldId id="288" r:id="rId35"/>
    <p:sldId id="289" r:id="rId36"/>
    <p:sldId id="290" r:id="rId37"/>
    <p:sldId id="299" r:id="rId38"/>
    <p:sldId id="291" r:id="rId39"/>
    <p:sldId id="292" r:id="rId40"/>
    <p:sldId id="295" r:id="rId41"/>
    <p:sldId id="265"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014F118-7805-1949-99D6-403040127FCA}">
          <p14:sldIdLst>
            <p14:sldId id="256"/>
            <p14:sldId id="257"/>
          </p14:sldIdLst>
        </p14:section>
        <p14:section name="A problem" id="{297D1888-C73B-4842-99F6-29D43D52BDFD}">
          <p14:sldIdLst>
            <p14:sldId id="258"/>
            <p14:sldId id="259"/>
          </p14:sldIdLst>
        </p14:section>
        <p14:section name="B Data n pipelines" id="{03AC9673-6C42-1741-B768-396B591574B5}">
          <p14:sldIdLst>
            <p14:sldId id="260"/>
            <p14:sldId id="261"/>
            <p14:sldId id="262"/>
            <p14:sldId id="263"/>
            <p14:sldId id="264"/>
          </p14:sldIdLst>
        </p14:section>
        <p14:section name="C Evaluation" id="{85AA2850-9727-014C-AB28-C6C9386CB12B}">
          <p14:sldIdLst>
            <p14:sldId id="266"/>
            <p14:sldId id="267"/>
            <p14:sldId id="298"/>
            <p14:sldId id="297"/>
            <p14:sldId id="268"/>
            <p14:sldId id="269"/>
            <p14:sldId id="270"/>
            <p14:sldId id="272"/>
            <p14:sldId id="293"/>
            <p14:sldId id="274"/>
          </p14:sldIdLst>
        </p14:section>
        <p14:section name="D Finding" id="{9826FDFC-9A4C-5F4A-BF9E-FE1A5A9088B5}">
          <p14:sldIdLst>
            <p14:sldId id="275"/>
            <p14:sldId id="276"/>
            <p14:sldId id="277"/>
            <p14:sldId id="279"/>
            <p14:sldId id="278"/>
            <p14:sldId id="280"/>
          </p14:sldIdLst>
        </p14:section>
        <p14:section name="E Actions and relection" id="{608E4990-5BD3-1244-88F6-9EA38E0C300D}">
          <p14:sldIdLst>
            <p14:sldId id="281"/>
            <p14:sldId id="282"/>
            <p14:sldId id="283"/>
            <p14:sldId id="294"/>
            <p14:sldId id="285"/>
            <p14:sldId id="286"/>
            <p14:sldId id="287"/>
            <p14:sldId id="296"/>
            <p14:sldId id="288"/>
            <p14:sldId id="289"/>
            <p14:sldId id="290"/>
            <p14:sldId id="299"/>
            <p14:sldId id="291"/>
            <p14:sldId id="292"/>
            <p14:sldId id="295"/>
            <p14:sldId id="265"/>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597BFC3-30C7-EE76-E08E-E243CF10A644}" name="LIAO Zixin" initials="LZ" userId="S::zixin.liao.2024@msc.smu.edu.sg::a9e034a8-5b93-4ab3-a499-d6048e4ed9c0"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BF3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8"/>
    <p:restoredTop sz="74565"/>
  </p:normalViewPr>
  <p:slideViewPr>
    <p:cSldViewPr snapToGrid="0">
      <p:cViewPr>
        <p:scale>
          <a:sx n="90" d="100"/>
          <a:sy n="90" d="100"/>
        </p:scale>
        <p:origin x="1456" y="1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microsoft.com/office/2018/10/relationships/authors" Target="author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Value</c:v>
                </c:pt>
              </c:strCache>
            </c:strRef>
          </c:tx>
          <c:invertIfNegative val="1"/>
          <c:dPt>
            <c:idx val="0"/>
            <c:invertIfNegative val="1"/>
            <c:bubble3D val="0"/>
            <c:spPr>
              <a:solidFill>
                <a:srgbClr val="A3AAB8"/>
              </a:solidFill>
            </c:spPr>
            <c:extLst>
              <c:ext xmlns:c16="http://schemas.microsoft.com/office/drawing/2014/chart" uri="{C3380CC4-5D6E-409C-BE32-E72D297353CC}">
                <c16:uniqueId val="{00000001-1918-D94F-B363-16393AC71D68}"/>
              </c:ext>
            </c:extLst>
          </c:dPt>
          <c:dPt>
            <c:idx val="1"/>
            <c:invertIfNegative val="1"/>
            <c:bubble3D val="0"/>
            <c:spPr>
              <a:solidFill>
                <a:srgbClr val="D29B08"/>
              </a:solidFill>
            </c:spPr>
            <c:extLst>
              <c:ext xmlns:c16="http://schemas.microsoft.com/office/drawing/2014/chart" uri="{C3380CC4-5D6E-409C-BE32-E72D297353CC}">
                <c16:uniqueId val="{00000003-1918-D94F-B363-16393AC71D68}"/>
              </c:ext>
            </c:extLst>
          </c:dPt>
          <c:dPt>
            <c:idx val="2"/>
            <c:invertIfNegative val="1"/>
            <c:bubble3D val="0"/>
            <c:spPr>
              <a:solidFill>
                <a:srgbClr val="5C6FA6"/>
              </a:solidFill>
            </c:spPr>
            <c:extLst>
              <c:ext xmlns:c16="http://schemas.microsoft.com/office/drawing/2014/chart" uri="{C3380CC4-5D6E-409C-BE32-E72D297353CC}">
                <c16:uniqueId val="{00000005-1918-D94F-B363-16393AC71D68}"/>
              </c:ext>
            </c:extLst>
          </c:dPt>
          <c:dLbls>
            <c:numFmt formatCode="0.000" sourceLinked="0"/>
            <c:spPr>
              <a:noFill/>
              <a:ln>
                <a:noFill/>
              </a:ln>
              <a:effectLst/>
            </c:spPr>
            <c:txPr>
              <a:bodyPr/>
              <a:lstStyle/>
              <a:p>
                <a:pPr>
                  <a:defRPr sz="1400" b="1">
                    <a:solidFill>
                      <a:srgbClr val="1E293B"/>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VADER</c:v>
                </c:pt>
                <c:pt idx="1">
                  <c:v>GPT-4o-mini</c:v>
                </c:pt>
                <c:pt idx="2">
                  <c:v>GPT-4o</c:v>
                </c:pt>
              </c:strCache>
            </c:strRef>
          </c:cat>
          <c:val>
            <c:numRef>
              <c:f>Sheet1!$B$2:$B$4</c:f>
              <c:numCache>
                <c:formatCode>General</c:formatCode>
                <c:ptCount val="3"/>
                <c:pt idx="0">
                  <c:v>0.38</c:v>
                </c:pt>
                <c:pt idx="1">
                  <c:v>0.64100000000000001</c:v>
                </c:pt>
                <c:pt idx="2">
                  <c:v>0.61099999999999999</c:v>
                </c:pt>
              </c:numCache>
            </c:numRef>
          </c:val>
          <c:extLst>
            <c:ext xmlns:c16="http://schemas.microsoft.com/office/drawing/2014/chart" uri="{C3380CC4-5D6E-409C-BE32-E72D297353CC}">
              <c16:uniqueId val="{00000006-1918-D94F-B363-16393AC71D68}"/>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5DAE5"/>
            </a:solidFill>
          </a:ln>
        </c:spPr>
        <c:txPr>
          <a:bodyPr/>
          <a:lstStyle/>
          <a:p>
            <a:pPr>
              <a:defRPr sz="1200">
                <a:solidFill>
                  <a:srgbClr val="1E293B"/>
                </a:solidFill>
                <a:latin typeface="Calibri"/>
              </a:defRPr>
            </a:pPr>
            <a:endParaRPr lang="en-US"/>
          </a:p>
        </c:txPr>
        <c:crossAx val="-2113994440"/>
        <c:crosses val="autoZero"/>
        <c:auto val="1"/>
        <c:lblAlgn val="ctr"/>
        <c:lblOffset val="100"/>
        <c:noMultiLvlLbl val="0"/>
      </c:catAx>
      <c:valAx>
        <c:axId val="-2113994440"/>
        <c:scaling>
          <c:orientation val="minMax"/>
          <c:max val="0.8"/>
          <c:min val="0"/>
        </c:scaling>
        <c:delete val="0"/>
        <c:axPos val="l"/>
        <c:majorGridlines>
          <c:spPr>
            <a:ln>
              <a:solidFill>
                <a:srgbClr val="D5DAE5"/>
              </a:solidFill>
            </a:ln>
          </c:spPr>
        </c:majorGridlines>
        <c:numFmt formatCode="0.0" sourceLinked="0"/>
        <c:majorTickMark val="out"/>
        <c:minorTickMark val="none"/>
        <c:tickLblPos val="nextTo"/>
        <c:spPr>
          <a:ln>
            <a:noFill/>
          </a:ln>
        </c:spPr>
        <c:txPr>
          <a:bodyPr/>
          <a:lstStyle/>
          <a:p>
            <a:pPr>
              <a:defRPr sz="1200">
                <a:solidFill>
                  <a:srgbClr val="5B6475"/>
                </a:solidFill>
                <a:latin typeface="Calibri"/>
              </a:defRPr>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Value</c:v>
                </c:pt>
              </c:strCache>
            </c:strRef>
          </c:tx>
          <c:invertIfNegative val="1"/>
          <c:dPt>
            <c:idx val="0"/>
            <c:invertIfNegative val="1"/>
            <c:bubble3D val="0"/>
            <c:spPr>
              <a:solidFill>
                <a:srgbClr val="5C6FA6"/>
              </a:solidFill>
            </c:spPr>
            <c:extLst>
              <c:ext xmlns:c16="http://schemas.microsoft.com/office/drawing/2014/chart" uri="{C3380CC4-5D6E-409C-BE32-E72D297353CC}">
                <c16:uniqueId val="{00000001-073F-4E49-9AD3-AD0F028393ED}"/>
              </c:ext>
            </c:extLst>
          </c:dPt>
          <c:dPt>
            <c:idx val="1"/>
            <c:invertIfNegative val="1"/>
            <c:bubble3D val="0"/>
            <c:spPr>
              <a:solidFill>
                <a:srgbClr val="A3AAB8"/>
              </a:solidFill>
            </c:spPr>
            <c:extLst>
              <c:ext xmlns:c16="http://schemas.microsoft.com/office/drawing/2014/chart" uri="{C3380CC4-5D6E-409C-BE32-E72D297353CC}">
                <c16:uniqueId val="{00000003-073F-4E49-9AD3-AD0F028393ED}"/>
              </c:ext>
            </c:extLst>
          </c:dPt>
          <c:dPt>
            <c:idx val="2"/>
            <c:invertIfNegative val="1"/>
            <c:bubble3D val="0"/>
            <c:spPr>
              <a:solidFill>
                <a:srgbClr val="A3AAB8"/>
              </a:solidFill>
            </c:spPr>
            <c:extLst>
              <c:ext xmlns:c16="http://schemas.microsoft.com/office/drawing/2014/chart" uri="{C3380CC4-5D6E-409C-BE32-E72D297353CC}">
                <c16:uniqueId val="{00000005-073F-4E49-9AD3-AD0F028393ED}"/>
              </c:ext>
            </c:extLst>
          </c:dPt>
          <c:dPt>
            <c:idx val="3"/>
            <c:invertIfNegative val="1"/>
            <c:bubble3D val="0"/>
            <c:spPr>
              <a:solidFill>
                <a:srgbClr val="D29B08"/>
              </a:solidFill>
            </c:spPr>
            <c:extLst>
              <c:ext xmlns:c16="http://schemas.microsoft.com/office/drawing/2014/chart" uri="{C3380CC4-5D6E-409C-BE32-E72D297353CC}">
                <c16:uniqueId val="{00000007-073F-4E49-9AD3-AD0F028393ED}"/>
              </c:ext>
            </c:extLst>
          </c:dPt>
          <c:dLbls>
            <c:numFmt formatCode="0.000" sourceLinked="0"/>
            <c:spPr>
              <a:noFill/>
              <a:ln>
                <a:noFill/>
              </a:ln>
              <a:effectLst/>
            </c:spPr>
            <c:txPr>
              <a:bodyPr/>
              <a:lstStyle/>
              <a:p>
                <a:pPr>
                  <a:defRPr sz="1400" b="1">
                    <a:solidFill>
                      <a:srgbClr val="1E293B"/>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Keyword rules</c:v>
                </c:pt>
                <c:pt idx="1">
                  <c:v>GPT-4o-mini
all posts</c:v>
                </c:pt>
                <c:pt idx="2">
                  <c:v>GPT-4o
all posts</c:v>
                </c:pt>
                <c:pt idx="3">
                  <c:v>Hybrid</c:v>
                </c:pt>
              </c:strCache>
            </c:strRef>
          </c:cat>
          <c:val>
            <c:numRef>
              <c:f>Sheet1!$B$2:$B$5</c:f>
              <c:numCache>
                <c:formatCode>General</c:formatCode>
                <c:ptCount val="4"/>
                <c:pt idx="0">
                  <c:v>0.59</c:v>
                </c:pt>
                <c:pt idx="1">
                  <c:v>0.498</c:v>
                </c:pt>
                <c:pt idx="2">
                  <c:v>0.58499999999999996</c:v>
                </c:pt>
                <c:pt idx="3">
                  <c:v>0.63900000000000001</c:v>
                </c:pt>
              </c:numCache>
            </c:numRef>
          </c:val>
          <c:extLst>
            <c:ext xmlns:c16="http://schemas.microsoft.com/office/drawing/2014/chart" uri="{C3380CC4-5D6E-409C-BE32-E72D297353CC}">
              <c16:uniqueId val="{00000008-073F-4E49-9AD3-AD0F028393ED}"/>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5DAE5"/>
            </a:solidFill>
          </a:ln>
        </c:spPr>
        <c:txPr>
          <a:bodyPr/>
          <a:lstStyle/>
          <a:p>
            <a:pPr>
              <a:defRPr sz="1200">
                <a:solidFill>
                  <a:srgbClr val="1E293B"/>
                </a:solidFill>
                <a:latin typeface="Calibri"/>
              </a:defRPr>
            </a:pPr>
            <a:endParaRPr lang="en-US"/>
          </a:p>
        </c:txPr>
        <c:crossAx val="-2113994440"/>
        <c:crosses val="autoZero"/>
        <c:auto val="1"/>
        <c:lblAlgn val="ctr"/>
        <c:lblOffset val="100"/>
        <c:noMultiLvlLbl val="0"/>
      </c:catAx>
      <c:valAx>
        <c:axId val="-2113994440"/>
        <c:scaling>
          <c:orientation val="minMax"/>
          <c:max val="0.8"/>
          <c:min val="0"/>
        </c:scaling>
        <c:delete val="0"/>
        <c:axPos val="l"/>
        <c:majorGridlines>
          <c:spPr>
            <a:ln>
              <a:solidFill>
                <a:srgbClr val="D5DAE5"/>
              </a:solidFill>
            </a:ln>
          </c:spPr>
        </c:majorGridlines>
        <c:numFmt formatCode="0.0" sourceLinked="0"/>
        <c:majorTickMark val="out"/>
        <c:minorTickMark val="none"/>
        <c:tickLblPos val="nextTo"/>
        <c:spPr>
          <a:ln>
            <a:noFill/>
          </a:ln>
        </c:spPr>
        <c:txPr>
          <a:bodyPr/>
          <a:lstStyle/>
          <a:p>
            <a:pPr>
              <a:defRPr sz="1200">
                <a:solidFill>
                  <a:srgbClr val="5B6475"/>
                </a:solidFill>
                <a:latin typeface="Calibri"/>
              </a:defRPr>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Representative (n = 388)</c:v>
                </c:pt>
              </c:strCache>
            </c:strRef>
          </c:tx>
          <c:spPr>
            <a:solidFill>
              <a:srgbClr val="A3AAB8"/>
            </a:solidFill>
          </c:spPr>
          <c:invertIfNegative val="1"/>
          <c:dLbls>
            <c:numFmt formatCode="0.000" sourceLinked="0"/>
            <c:spPr>
              <a:noFill/>
              <a:ln>
                <a:noFill/>
              </a:ln>
              <a:effectLst/>
            </c:spPr>
            <c:txPr>
              <a:bodyPr/>
              <a:lstStyle/>
              <a:p>
                <a:pPr>
                  <a:defRPr sz="1100">
                    <a:solidFill>
                      <a:srgbClr val="1E293B"/>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Keyword rules</c:v>
                </c:pt>
                <c:pt idx="1">
                  <c:v>GPT-4o all posts</c:v>
                </c:pt>
                <c:pt idx="2">
                  <c:v>Hybrid</c:v>
                </c:pt>
              </c:strCache>
            </c:strRef>
          </c:cat>
          <c:val>
            <c:numRef>
              <c:f>Sheet1!$B$2:$B$4</c:f>
              <c:numCache>
                <c:formatCode>General</c:formatCode>
                <c:ptCount val="3"/>
                <c:pt idx="0">
                  <c:v>0.59</c:v>
                </c:pt>
                <c:pt idx="1">
                  <c:v>0.58499999999999996</c:v>
                </c:pt>
                <c:pt idx="2">
                  <c:v>0.63900000000000001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5868-A84D-97F1-4BCC67F55E2B}"/>
            </c:ext>
          </c:extLst>
        </c:ser>
        <c:ser>
          <c:idx val="1"/>
          <c:order val="1"/>
          <c:tx>
            <c:strRef>
              <c:f>Sheet1!$C$1</c:f>
              <c:strCache>
                <c:ptCount val="1"/>
                <c:pt idx="0">
                  <c:v>Challenge, held out (n = 100)</c:v>
                </c:pt>
              </c:strCache>
            </c:strRef>
          </c:tx>
          <c:spPr>
            <a:solidFill>
              <a:srgbClr val="1C2E6E"/>
            </a:solidFill>
          </c:spPr>
          <c:invertIfNegative val="1"/>
          <c:dLbls>
            <c:numFmt formatCode="0.000" sourceLinked="0"/>
            <c:spPr>
              <a:noFill/>
              <a:ln>
                <a:noFill/>
              </a:ln>
              <a:effectLst/>
            </c:spPr>
            <c:txPr>
              <a:bodyPr/>
              <a:lstStyle/>
              <a:p>
                <a:pPr>
                  <a:defRPr sz="1100">
                    <a:solidFill>
                      <a:srgbClr val="1E293B"/>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Keyword rules</c:v>
                </c:pt>
                <c:pt idx="1">
                  <c:v>GPT-4o all posts</c:v>
                </c:pt>
                <c:pt idx="2">
                  <c:v>Hybrid</c:v>
                </c:pt>
              </c:strCache>
            </c:strRef>
          </c:cat>
          <c:val>
            <c:numRef>
              <c:f>Sheet1!$C$2:$C$4</c:f>
              <c:numCache>
                <c:formatCode>General</c:formatCode>
                <c:ptCount val="3"/>
                <c:pt idx="0">
                  <c:v>0.499</c:v>
                </c:pt>
                <c:pt idx="1">
                  <c:v>0.59599999999999997</c:v>
                </c:pt>
                <c:pt idx="2">
                  <c:v>0.50900000000000001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5868-A84D-97F1-4BCC67F55E2B}"/>
            </c:ext>
          </c:extLst>
        </c:ser>
        <c:dLbls>
          <c:dLblPos val="outEnd"/>
          <c:showLegendKey val="0"/>
          <c:showVal val="1"/>
          <c:showCatName val="0"/>
          <c:showSerName val="0"/>
          <c:showPercent val="0"/>
          <c:showBubbleSize val="0"/>
        </c:dLbls>
        <c:gapWidth val="70"/>
        <c:overlap val="-1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5DAE5"/>
            </a:solidFill>
          </a:ln>
        </c:spPr>
        <c:txPr>
          <a:bodyPr/>
          <a:lstStyle/>
          <a:p>
            <a:pPr>
              <a:defRPr sz="1200">
                <a:solidFill>
                  <a:srgbClr val="1E293B"/>
                </a:solidFill>
                <a:latin typeface="Calibri"/>
              </a:defRPr>
            </a:pPr>
            <a:endParaRPr lang="en-US"/>
          </a:p>
        </c:txPr>
        <c:crossAx val="-2113994440"/>
        <c:crosses val="autoZero"/>
        <c:auto val="1"/>
        <c:lblAlgn val="ctr"/>
        <c:lblOffset val="100"/>
        <c:noMultiLvlLbl val="0"/>
      </c:catAx>
      <c:valAx>
        <c:axId val="-2113994440"/>
        <c:scaling>
          <c:orientation val="minMax"/>
          <c:max val="0.8"/>
          <c:min val="0"/>
        </c:scaling>
        <c:delete val="1"/>
        <c:axPos val="l"/>
        <c:numFmt formatCode="General" sourceLinked="1"/>
        <c:majorTickMark val="out"/>
        <c:minorTickMark val="none"/>
        <c:tickLblPos val="nextTo"/>
        <c:crossAx val="-2068027336"/>
        <c:crosses val="autoZero"/>
        <c:crossBetween val="between"/>
      </c:valAx>
    </c:plotArea>
    <c:legend>
      <c:legendPos val="t"/>
      <c:overlay val="0"/>
      <c:txPr>
        <a:bodyPr/>
        <a:lstStyle/>
        <a:p>
          <a:pPr>
            <a:defRPr sz="1200">
              <a:solidFill>
                <a:srgbClr val="1E293B"/>
              </a:solidFill>
              <a:latin typeface="Calibri"/>
            </a:defRPr>
          </a:pPr>
          <a:endParaRPr lang="en-US"/>
        </a:p>
      </c:txPr>
    </c:legend>
    <c:plotVisOnly val="1"/>
    <c:dispBlanksAs val="gap"/>
    <c:showDLblsOverMax val="1"/>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Value</c:v>
                </c:pt>
              </c:strCache>
            </c:strRef>
          </c:tx>
          <c:invertIfNegative val="1"/>
          <c:dPt>
            <c:idx val="0"/>
            <c:invertIfNegative val="1"/>
            <c:bubble3D val="0"/>
            <c:spPr>
              <a:solidFill>
                <a:srgbClr val="5C6FA6"/>
              </a:solidFill>
            </c:spPr>
            <c:extLst>
              <c:ext xmlns:c16="http://schemas.microsoft.com/office/drawing/2014/chart" uri="{C3380CC4-5D6E-409C-BE32-E72D297353CC}">
                <c16:uniqueId val="{00000001-C399-9A48-A265-6ECBF94B0FC4}"/>
              </c:ext>
            </c:extLst>
          </c:dPt>
          <c:dPt>
            <c:idx val="1"/>
            <c:invertIfNegative val="1"/>
            <c:bubble3D val="0"/>
            <c:spPr>
              <a:solidFill>
                <a:srgbClr val="A3AAB8"/>
              </a:solidFill>
            </c:spPr>
            <c:extLst>
              <c:ext xmlns:c16="http://schemas.microsoft.com/office/drawing/2014/chart" uri="{C3380CC4-5D6E-409C-BE32-E72D297353CC}">
                <c16:uniqueId val="{00000003-C399-9A48-A265-6ECBF94B0FC4}"/>
              </c:ext>
            </c:extLst>
          </c:dPt>
          <c:dPt>
            <c:idx val="2"/>
            <c:invertIfNegative val="1"/>
            <c:bubble3D val="0"/>
            <c:spPr>
              <a:solidFill>
                <a:srgbClr val="A3AAB8"/>
              </a:solidFill>
            </c:spPr>
            <c:extLst>
              <c:ext xmlns:c16="http://schemas.microsoft.com/office/drawing/2014/chart" uri="{C3380CC4-5D6E-409C-BE32-E72D297353CC}">
                <c16:uniqueId val="{00000005-C399-9A48-A265-6ECBF94B0FC4}"/>
              </c:ext>
            </c:extLst>
          </c:dPt>
          <c:dLbls>
            <c:numFmt formatCode="0%" sourceLinked="0"/>
            <c:spPr>
              <a:noFill/>
              <a:ln>
                <a:noFill/>
              </a:ln>
              <a:effectLst/>
            </c:spPr>
            <c:txPr>
              <a:bodyPr/>
              <a:lstStyle/>
              <a:p>
                <a:pPr>
                  <a:defRPr sz="1600" b="1">
                    <a:solidFill>
                      <a:srgbClr val="1E293B"/>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Keyword rules</c:v>
                </c:pt>
                <c:pt idx="1">
                  <c:v>GPT-4o</c:v>
                </c:pt>
                <c:pt idx="2">
                  <c:v>GPT-4o-mini</c:v>
                </c:pt>
              </c:strCache>
            </c:strRef>
          </c:cat>
          <c:val>
            <c:numRef>
              <c:f>Sheet1!$B$2:$B$4</c:f>
              <c:numCache>
                <c:formatCode>General</c:formatCode>
                <c:ptCount val="3"/>
                <c:pt idx="0">
                  <c:v>0.81</c:v>
                </c:pt>
                <c:pt idx="1">
                  <c:v>0.25</c:v>
                </c:pt>
                <c:pt idx="2">
                  <c:v>0.06</c:v>
                </c:pt>
              </c:numCache>
            </c:numRef>
          </c:val>
          <c:extLst>
            <c:ext xmlns:c16="http://schemas.microsoft.com/office/drawing/2014/chart" uri="{C3380CC4-5D6E-409C-BE32-E72D297353CC}">
              <c16:uniqueId val="{00000006-C399-9A48-A265-6ECBF94B0FC4}"/>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D5DAE5"/>
            </a:solidFill>
          </a:ln>
        </c:spPr>
        <c:txPr>
          <a:bodyPr/>
          <a:lstStyle/>
          <a:p>
            <a:pPr>
              <a:defRPr sz="1400">
                <a:solidFill>
                  <a:srgbClr val="1E293B"/>
                </a:solidFill>
                <a:latin typeface="Calibri"/>
              </a:defRPr>
            </a:pPr>
            <a:endParaRPr lang="en-US"/>
          </a:p>
        </c:txPr>
        <c:crossAx val="-2113994440"/>
        <c:crosses val="autoZero"/>
        <c:auto val="1"/>
        <c:lblAlgn val="ctr"/>
        <c:lblOffset val="100"/>
        <c:noMultiLvlLbl val="0"/>
      </c:catAx>
      <c:valAx>
        <c:axId val="-2113994440"/>
        <c:scaling>
          <c:orientation val="minMax"/>
          <c:max val="1"/>
          <c:min val="0"/>
        </c:scaling>
        <c:delete val="1"/>
        <c:axPos val="t"/>
        <c:numFmt formatCode="0%" sourceLinked="0"/>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Keyword rules</c:v>
                </c:pt>
              </c:strCache>
            </c:strRef>
          </c:tx>
          <c:spPr>
            <a:solidFill>
              <a:srgbClr val="A3AAB8"/>
            </a:solidFill>
          </c:spPr>
          <c:invertIfNegative val="1"/>
          <c:dLbls>
            <c:numFmt formatCode="#,##0" sourceLinked="0"/>
            <c:spPr>
              <a:noFill/>
              <a:ln>
                <a:noFill/>
              </a:ln>
              <a:effectLst/>
            </c:spPr>
            <c:txPr>
              <a:bodyPr/>
              <a:lstStyle/>
              <a:p>
                <a:pPr>
                  <a:defRPr sz="1100">
                    <a:solidFill>
                      <a:srgbClr val="1E293B"/>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General
Discussion</c:v>
                </c:pt>
                <c:pt idx="1">
                  <c:v>Network
Quality</c:v>
                </c:pt>
                <c:pt idx="2">
                  <c:v>Devices</c:v>
                </c:pt>
                <c:pt idx="3">
                  <c:v>Mobile
Plans</c:v>
                </c:pt>
                <c:pt idx="4">
                  <c:v>Pricing &amp;
Promotions</c:v>
                </c:pt>
                <c:pt idx="5">
                  <c:v>Customer
Service</c:v>
                </c:pt>
              </c:strCache>
            </c:strRef>
          </c:cat>
          <c:val>
            <c:numRef>
              <c:f>Sheet1!$B$2:$B$7</c:f>
              <c:numCache>
                <c:formatCode>General</c:formatCode>
                <c:ptCount val="6"/>
                <c:pt idx="0">
                  <c:v>3229</c:v>
                </c:pt>
                <c:pt idx="1">
                  <c:v>2769</c:v>
                </c:pt>
                <c:pt idx="2">
                  <c:v>1611</c:v>
                </c:pt>
                <c:pt idx="3">
                  <c:v>2079</c:v>
                </c:pt>
                <c:pt idx="4">
                  <c:v>901</c:v>
                </c:pt>
                <c:pt idx="5">
                  <c:v>579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965A-364F-BF69-349480E46CD8}"/>
            </c:ext>
          </c:extLst>
        </c:ser>
        <c:ser>
          <c:idx val="1"/>
          <c:order val="1"/>
          <c:tx>
            <c:strRef>
              <c:f>Sheet1!$C$1</c:f>
              <c:strCache>
                <c:ptCount val="1"/>
                <c:pt idx="0">
                  <c:v>Rules + GPT-4o hybrid</c:v>
                </c:pt>
              </c:strCache>
            </c:strRef>
          </c:tx>
          <c:spPr>
            <a:solidFill>
              <a:srgbClr val="D29B08"/>
            </a:solidFill>
          </c:spPr>
          <c:invertIfNegative val="1"/>
          <c:dLbls>
            <c:numFmt formatCode="#,##0" sourceLinked="0"/>
            <c:spPr>
              <a:noFill/>
              <a:ln>
                <a:noFill/>
              </a:ln>
              <a:effectLst/>
            </c:spPr>
            <c:txPr>
              <a:bodyPr/>
              <a:lstStyle/>
              <a:p>
                <a:pPr>
                  <a:defRPr sz="1100">
                    <a:solidFill>
                      <a:srgbClr val="1E293B"/>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General
Discussion</c:v>
                </c:pt>
                <c:pt idx="1">
                  <c:v>Network
Quality</c:v>
                </c:pt>
                <c:pt idx="2">
                  <c:v>Devices</c:v>
                </c:pt>
                <c:pt idx="3">
                  <c:v>Mobile
Plans</c:v>
                </c:pt>
                <c:pt idx="4">
                  <c:v>Pricing &amp;
Promotions</c:v>
                </c:pt>
                <c:pt idx="5">
                  <c:v>Customer
Service</c:v>
                </c:pt>
              </c:strCache>
            </c:strRef>
          </c:cat>
          <c:val>
            <c:numRef>
              <c:f>Sheet1!$C$2:$C$7</c:f>
              <c:numCache>
                <c:formatCode>General</c:formatCode>
                <c:ptCount val="6"/>
                <c:pt idx="0">
                  <c:v>1342</c:v>
                </c:pt>
                <c:pt idx="1">
                  <c:v>3764</c:v>
                </c:pt>
                <c:pt idx="2">
                  <c:v>1691</c:v>
                </c:pt>
                <c:pt idx="3">
                  <c:v>2376</c:v>
                </c:pt>
                <c:pt idx="4">
                  <c:v>1144</c:v>
                </c:pt>
                <c:pt idx="5">
                  <c:v>748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965A-364F-BF69-349480E46CD8}"/>
            </c:ext>
          </c:extLst>
        </c:ser>
        <c:dLbls>
          <c:dLblPos val="outEnd"/>
          <c:showLegendKey val="0"/>
          <c:showVal val="1"/>
          <c:showCatName val="0"/>
          <c:showSerName val="0"/>
          <c:showPercent val="0"/>
          <c:showBubbleSize val="0"/>
        </c:dLbls>
        <c:gapWidth val="70"/>
        <c:overlap val="-1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5DAE5"/>
            </a:solidFill>
          </a:ln>
        </c:spPr>
        <c:txPr>
          <a:bodyPr/>
          <a:lstStyle/>
          <a:p>
            <a:pPr>
              <a:defRPr sz="1200">
                <a:solidFill>
                  <a:srgbClr val="1E293B"/>
                </a:solidFill>
                <a:latin typeface="Calibri"/>
              </a:defRPr>
            </a:pPr>
            <a:endParaRPr lang="en-US"/>
          </a:p>
        </c:txPr>
        <c:crossAx val="-2113994440"/>
        <c:crosses val="autoZero"/>
        <c:auto val="1"/>
        <c:lblAlgn val="ctr"/>
        <c:lblOffset val="100"/>
        <c:noMultiLvlLbl val="0"/>
      </c:catAx>
      <c:valAx>
        <c:axId val="-2113994440"/>
        <c:scaling>
          <c:orientation val="minMax"/>
          <c:max val="4000"/>
          <c:min val="0"/>
        </c:scaling>
        <c:delete val="1"/>
        <c:axPos val="l"/>
        <c:numFmt formatCode="General" sourceLinked="1"/>
        <c:majorTickMark val="out"/>
        <c:minorTickMark val="none"/>
        <c:tickLblPos val="nextTo"/>
        <c:crossAx val="-2068027336"/>
        <c:crosses val="autoZero"/>
        <c:crossBetween val="between"/>
      </c:valAx>
    </c:plotArea>
    <c:legend>
      <c:legendPos val="t"/>
      <c:overlay val="0"/>
      <c:txPr>
        <a:bodyPr/>
        <a:lstStyle/>
        <a:p>
          <a:pPr>
            <a:defRPr sz="1200">
              <a:solidFill>
                <a:srgbClr val="1E293B"/>
              </a:solidFill>
              <a:latin typeface="Calibri"/>
            </a:defRPr>
          </a:pPr>
          <a:endParaRPr lang="en-US"/>
        </a:p>
      </c:txPr>
    </c:legend>
    <c:plotVisOnly val="1"/>
    <c:dispBlanksAs val="gap"/>
    <c:showDLblsOverMax val="1"/>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VADER, all posts</c:v>
                </c:pt>
              </c:strCache>
            </c:strRef>
          </c:tx>
          <c:spPr>
            <a:solidFill>
              <a:srgbClr val="A3AAB8"/>
            </a:solidFill>
          </c:spPr>
          <c:invertIfNegative val="1"/>
          <c:dLbls>
            <c:numFmt formatCode="0&quot;%&quot;" sourceLinked="0"/>
            <c:spPr>
              <a:noFill/>
              <a:ln>
                <a:noFill/>
              </a:ln>
              <a:effectLst/>
            </c:spPr>
            <c:txPr>
              <a:bodyPr/>
              <a:lstStyle/>
              <a:p>
                <a:pPr>
                  <a:defRPr sz="1100">
                    <a:solidFill>
                      <a:srgbClr val="1E293B"/>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Happy</c:v>
                </c:pt>
                <c:pt idx="1">
                  <c:v>Not happy</c:v>
                </c:pt>
                <c:pt idx="2">
                  <c:v>Neutral</c:v>
                </c:pt>
              </c:strCache>
            </c:strRef>
          </c:cat>
          <c:val>
            <c:numRef>
              <c:f>Sheet1!$B$2:$B$4</c:f>
              <c:numCache>
                <c:formatCode>General</c:formatCode>
                <c:ptCount val="3"/>
                <c:pt idx="0">
                  <c:v>46</c:v>
                </c:pt>
                <c:pt idx="1">
                  <c:v>28</c:v>
                </c:pt>
                <c:pt idx="2">
                  <c:v>27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FD4-1147-AE3E-AB329153A2BB}"/>
            </c:ext>
          </c:extLst>
        </c:ser>
        <c:ser>
          <c:idx val="1"/>
          <c:order val="1"/>
          <c:tx>
            <c:strRef>
              <c:f>Sheet1!$C$1</c:f>
              <c:strCache>
                <c:ptCount val="1"/>
                <c:pt idx="0">
                  <c:v>GPT-4o-mini, all posts</c:v>
                </c:pt>
              </c:strCache>
            </c:strRef>
          </c:tx>
          <c:spPr>
            <a:solidFill>
              <a:srgbClr val="D29B08"/>
            </a:solidFill>
          </c:spPr>
          <c:invertIfNegative val="1"/>
          <c:dLbls>
            <c:numFmt formatCode="0&quot;%&quot;" sourceLinked="0"/>
            <c:spPr>
              <a:noFill/>
              <a:ln>
                <a:noFill/>
              </a:ln>
              <a:effectLst/>
            </c:spPr>
            <c:txPr>
              <a:bodyPr/>
              <a:lstStyle/>
              <a:p>
                <a:pPr>
                  <a:defRPr sz="1100">
                    <a:solidFill>
                      <a:srgbClr val="1E293B"/>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Happy</c:v>
                </c:pt>
                <c:pt idx="1">
                  <c:v>Not happy</c:v>
                </c:pt>
                <c:pt idx="2">
                  <c:v>Neutral</c:v>
                </c:pt>
              </c:strCache>
            </c:strRef>
          </c:cat>
          <c:val>
            <c:numRef>
              <c:f>Sheet1!$C$2:$C$4</c:f>
              <c:numCache>
                <c:formatCode>General</c:formatCode>
                <c:ptCount val="3"/>
                <c:pt idx="0">
                  <c:v>19</c:v>
                </c:pt>
                <c:pt idx="1">
                  <c:v>44</c:v>
                </c:pt>
                <c:pt idx="2">
                  <c:v>37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FFD4-1147-AE3E-AB329153A2BB}"/>
            </c:ext>
          </c:extLst>
        </c:ser>
        <c:ser>
          <c:idx val="2"/>
          <c:order val="2"/>
          <c:tx>
            <c:strRef>
              <c:f>Sheet1!$D$1</c:f>
              <c:strCache>
                <c:ptCount val="1"/>
                <c:pt idx="0">
                  <c:v>Human labels, gold set</c:v>
                </c:pt>
              </c:strCache>
            </c:strRef>
          </c:tx>
          <c:spPr>
            <a:solidFill>
              <a:srgbClr val="1C2E6E"/>
            </a:solidFill>
          </c:spPr>
          <c:invertIfNegative val="1"/>
          <c:dLbls>
            <c:numFmt formatCode="0&quot;%&quot;" sourceLinked="0"/>
            <c:spPr>
              <a:noFill/>
              <a:ln>
                <a:noFill/>
              </a:ln>
              <a:effectLst/>
            </c:spPr>
            <c:txPr>
              <a:bodyPr/>
              <a:lstStyle/>
              <a:p>
                <a:pPr>
                  <a:defRPr sz="1100">
                    <a:solidFill>
                      <a:srgbClr val="1E293B"/>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Happy</c:v>
                </c:pt>
                <c:pt idx="1">
                  <c:v>Not happy</c:v>
                </c:pt>
                <c:pt idx="2">
                  <c:v>Neutral</c:v>
                </c:pt>
              </c:strCache>
            </c:strRef>
          </c:cat>
          <c:val>
            <c:numRef>
              <c:f>Sheet1!$D$2:$D$4</c:f>
              <c:numCache>
                <c:formatCode>General</c:formatCode>
                <c:ptCount val="3"/>
                <c:pt idx="0">
                  <c:v>21</c:v>
                </c:pt>
                <c:pt idx="1">
                  <c:v>47</c:v>
                </c:pt>
                <c:pt idx="2">
                  <c:v>32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FFD4-1147-AE3E-AB329153A2BB}"/>
            </c:ext>
          </c:extLst>
        </c:ser>
        <c:dLbls>
          <c:dLblPos val="outEnd"/>
          <c:showLegendKey val="0"/>
          <c:showVal val="1"/>
          <c:showCatName val="0"/>
          <c:showSerName val="0"/>
          <c:showPercent val="0"/>
          <c:showBubbleSize val="0"/>
        </c:dLbls>
        <c:gapWidth val="70"/>
        <c:overlap val="-1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5DAE5"/>
            </a:solidFill>
          </a:ln>
        </c:spPr>
        <c:txPr>
          <a:bodyPr/>
          <a:lstStyle/>
          <a:p>
            <a:pPr>
              <a:defRPr sz="1200">
                <a:solidFill>
                  <a:srgbClr val="1E293B"/>
                </a:solidFill>
                <a:latin typeface="Calibri"/>
              </a:defRPr>
            </a:pPr>
            <a:endParaRPr lang="en-US"/>
          </a:p>
        </c:txPr>
        <c:crossAx val="-2113994440"/>
        <c:crosses val="autoZero"/>
        <c:auto val="1"/>
        <c:lblAlgn val="ctr"/>
        <c:lblOffset val="100"/>
        <c:noMultiLvlLbl val="0"/>
      </c:catAx>
      <c:valAx>
        <c:axId val="-2113994440"/>
        <c:scaling>
          <c:orientation val="minMax"/>
          <c:max val="70"/>
          <c:min val="0"/>
        </c:scaling>
        <c:delete val="1"/>
        <c:axPos val="l"/>
        <c:numFmt formatCode="General" sourceLinked="1"/>
        <c:majorTickMark val="out"/>
        <c:minorTickMark val="none"/>
        <c:tickLblPos val="nextTo"/>
        <c:crossAx val="-2068027336"/>
        <c:crosses val="autoZero"/>
        <c:crossBetween val="between"/>
      </c:valAx>
    </c:plotArea>
    <c:legend>
      <c:legendPos val="t"/>
      <c:overlay val="0"/>
      <c:txPr>
        <a:bodyPr/>
        <a:lstStyle/>
        <a:p>
          <a:pPr>
            <a:defRPr sz="1200">
              <a:solidFill>
                <a:srgbClr val="1E293B"/>
              </a:solidFill>
              <a:latin typeface="Calibri"/>
            </a:defRPr>
          </a:pPr>
          <a:endParaRPr lang="en-US"/>
        </a:p>
      </c:txPr>
    </c:legend>
    <c:plotVisOnly val="1"/>
    <c:dispBlanksAs val="gap"/>
    <c:showDLblsOverMax val="1"/>
  </c:chart>
  <c:txPr>
    <a:bodyPr/>
    <a:lstStyle/>
    <a:p>
      <a:pPr>
        <a:defRPr sz="1800"/>
      </a:pPr>
      <a:endParaRPr lang="en-US"/>
    </a:p>
  </c:txPr>
  <c:externalData r:id="rId1">
    <c:autoUpdate val="0"/>
  </c:externalData>
</c:chartSpace>
</file>

<file path=ppt/comments/modernComment_10D_0.xml><?xml version="1.0" encoding="utf-8"?>
<p188:cmLst xmlns:a="http://schemas.openxmlformats.org/drawingml/2006/main" xmlns:r="http://schemas.openxmlformats.org/officeDocument/2006/relationships" xmlns:p188="http://schemas.microsoft.com/office/powerpoint/2018/8/main">
  <p188:cm id="{3AB4EA37-B5F2-D042-A708-2C7B6EB03DAD}" authorId="{3597BFC3-30C7-EE76-E08E-E243CF10A644}" created="2026-10-04T03:32:22.739">
    <pc:sldMkLst xmlns:pc="http://schemas.microsoft.com/office/powerpoint/2013/main/command">
      <pc:docMk/>
      <pc:sldMk cId="0" sldId="269"/>
    </pc:sldMkLst>
    <p188:replyLst>
      <p188:reply id="{CC3D9B1B-E558-154F-9428-10BF7E136BB3}" authorId="{3597BFC3-30C7-EE76-E08E-E243CF10A644}" created="2026-10-04T03:32:56.269">
        <p188:txBody>
          <a:bodyPr/>
          <a:lstStyle/>
          <a:p>
            <a:r>
              <a:rPr lang="en-US"/>
              <a:t>and why use hybrid</a:t>
            </a:r>
          </a:p>
        </p188:txBody>
      </p188:reply>
    </p188:replyLst>
    <p188:txBody>
      <a:bodyPr/>
      <a:lstStyle/>
      <a:p>
        <a:r>
          <a:rPr lang="en-US"/>
          <a:t>explain the chart: what  llm perform bad</a:t>
        </a:r>
      </a:p>
    </p188:txBody>
  </p188:cm>
</p188:cmLst>
</file>

<file path=ppt/comments/modernComment_10E_0.xml><?xml version="1.0" encoding="utf-8"?>
<p188:cmLst xmlns:a="http://schemas.openxmlformats.org/drawingml/2006/main" xmlns:r="http://schemas.openxmlformats.org/officeDocument/2006/relationships" xmlns:p188="http://schemas.microsoft.com/office/powerpoint/2018/8/main">
  <p188:cm id="{1DCCB7C9-E966-2D40-8531-69BCDCF0644B}" authorId="{3597BFC3-30C7-EE76-E08E-E243CF10A644}" created="2026-10-04T03:35:57.968">
    <pc:sldMkLst xmlns:pc="http://schemas.microsoft.com/office/powerpoint/2013/main/command">
      <pc:docMk/>
      <pc:sldMk cId="0" sldId="270"/>
    </pc:sldMkLst>
    <p188:txBody>
      <a:bodyPr/>
      <a:lstStyle/>
      <a:p>
        <a:r>
          <a:rPr lang="en-US"/>
          <a:t>need more understanding</a:t>
        </a:r>
      </a:p>
    </p188:txBody>
  </p188:cm>
</p188:cmLst>
</file>

<file path=ppt/comments/modernComment_112_0.xml><?xml version="1.0" encoding="utf-8"?>
<p188:cmLst xmlns:a="http://schemas.openxmlformats.org/drawingml/2006/main" xmlns:r="http://schemas.openxmlformats.org/officeDocument/2006/relationships" xmlns:p188="http://schemas.microsoft.com/office/powerpoint/2018/8/main">
  <p188:cm id="{0FF2E62E-ED7F-B34E-8507-6EF35C98021E}" authorId="{3597BFC3-30C7-EE76-E08E-E243CF10A644}" created="2026-10-04T03:41:42.354">
    <pc:sldMkLst xmlns:pc="http://schemas.microsoft.com/office/powerpoint/2013/main/command">
      <pc:docMk/>
      <pc:sldMk cId="0" sldId="274"/>
    </pc:sldMkLst>
    <p188:txBody>
      <a:bodyPr/>
      <a:lstStyle/>
      <a:p>
        <a:r>
          <a:rPr lang="en-US"/>
          <a:t>why highlight $0.28</a:t>
        </a:r>
      </a:p>
    </p188:txBody>
  </p188:cm>
</p188:cmLst>
</file>

<file path=ppt/comments/modernComment_126_A7261203.xml><?xml version="1.0" encoding="utf-8"?>
<p188:cmLst xmlns:a="http://schemas.openxmlformats.org/drawingml/2006/main" xmlns:r="http://schemas.openxmlformats.org/officeDocument/2006/relationships" xmlns:p188="http://schemas.microsoft.com/office/powerpoint/2018/8/main">
  <p188:cm id="{BB079D3E-C32F-B74B-82E5-E5774CF8B5F0}" authorId="{3597BFC3-30C7-EE76-E08E-E243CF10A644}" created="2026-10-04T04:00:14.683">
    <ac:txMkLst xmlns:ac="http://schemas.microsoft.com/office/drawing/2013/main/command">
      <pc:docMk xmlns:pc="http://schemas.microsoft.com/office/powerpoint/2013/main/command"/>
      <pc:sldMk xmlns:pc="http://schemas.microsoft.com/office/powerpoint/2013/main/command" cId="2804290051" sldId="294"/>
      <ac:spMk id="9" creationId="{00000000-0000-0000-0000-000000000000}"/>
      <ac:txMk cp="68" len="45">
        <ac:context len="175" hash="1609762481"/>
      </ac:txMk>
    </ac:txMkLst>
    <p188:pos x="4862525" y="1108855"/>
    <p188:txBody>
      <a:bodyPr/>
      <a:lstStyle/>
      <a:p>
        <a:r>
          <a:rPr lang="en-US"/>
          <a:t>understand these points better</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7B7642-B353-2B4B-B2B1-5200A78C1ED7}" type="datetimeFigureOut">
              <a:rPr lang="en-US" smtClean="0"/>
              <a:t>10/7/26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0DB06B-229C-144D-A3B7-AAAA8C5554AE}" type="slidenum">
              <a:rPr lang="en-US" smtClean="0"/>
              <a:t>‹#›</a:t>
            </a:fld>
            <a:endParaRPr lang="en-US"/>
          </a:p>
        </p:txBody>
      </p:sp>
    </p:spTree>
    <p:extLst>
      <p:ext uri="{BB962C8B-B14F-4D97-AF65-F5344CB8AC3E}">
        <p14:creationId xmlns:p14="http://schemas.microsoft.com/office/powerpoint/2010/main" val="4058000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spcAft>
                <a:spcPts val="0"/>
              </a:spcAft>
            </a:pPr>
            <a:r>
              <a:rPr dirty="0"/>
              <a:t>Good </a:t>
            </a:r>
            <a:r>
              <a:rPr lang="en-US" dirty="0"/>
              <a:t>morning prof</a:t>
            </a:r>
            <a:r>
              <a:rPr dirty="0"/>
              <a:t>. Today I'll walk you through my capstone</a:t>
            </a:r>
            <a:r>
              <a:rPr lang="en-US" dirty="0"/>
              <a:t>: </a:t>
            </a:r>
            <a:r>
              <a:rPr lang="en-US" sz="1200" b="1" i="0" dirty="0">
                <a:solidFill>
                  <a:srgbClr val="1C2E6E"/>
                </a:solidFill>
                <a:latin typeface="Calibri"/>
              </a:rPr>
              <a:t>From Forum Posts to Telco Actions </a:t>
            </a:r>
            <a:r>
              <a:rPr dirty="0"/>
              <a:t>from the start: the problem, the data and pipeline, how I evaluated the models, what the data shows, and what I'd recommend.</a:t>
            </a:r>
            <a:endParaRPr lang="en-US" dirty="0"/>
          </a:p>
          <a:p>
            <a:endParaRPr dirty="0"/>
          </a:p>
          <a:p>
            <a:endParaRPr dirty="0"/>
          </a:p>
          <a:p>
            <a:r>
              <a:rPr dirty="0"/>
              <a:t>One-sentence summary: I built a pipeline that turns Reddit and </a:t>
            </a:r>
            <a:r>
              <a:rPr dirty="0" err="1"/>
              <a:t>HardwareZone</a:t>
            </a:r>
            <a:r>
              <a:rPr dirty="0"/>
              <a:t> posts about Singapore telcos into routed issue queues. My evaluation shows an LLM should label sentiment; for issues, keyword rules plus a targeted GPT-4o pass win on typical posts but not on hard ones.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I've split the talk into five parts. Most of the time goes to evaluation, because that's where the project's main finding is. I'll show the live dashboard in part D, and I've kept backup slides with the detailed tables and answers to questions I expect.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A: why this problem matters and the four research questions that shape the rest of the talk.</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Singapore customers talk about plans, coverage, roaming and porting on Reddit and </a:t>
            </a:r>
            <a:r>
              <a:rPr dirty="0" err="1"/>
              <a:t>HardwareZone</a:t>
            </a:r>
            <a:r>
              <a:rPr dirty="0"/>
              <a:t> every day. </a:t>
            </a:r>
            <a:r>
              <a:rPr lang="en-US" dirty="0"/>
              <a:t>Unlike the survey, </a:t>
            </a:r>
            <a:r>
              <a:rPr dirty="0"/>
              <a:t>That's feedback a </a:t>
            </a:r>
            <a:r>
              <a:rPr lang="en-US" dirty="0"/>
              <a:t>telco </a:t>
            </a:r>
            <a:r>
              <a:rPr dirty="0"/>
              <a:t>operator doesn't have to pay for, but it's messy: Singlish, sarcasm, quoted replies, several brands in one post.</a:t>
            </a:r>
          </a:p>
          <a:p>
            <a:endParaRPr lang="en-US" dirty="0"/>
          </a:p>
          <a:p>
            <a:r>
              <a:rPr lang="en-US" dirty="0"/>
              <a:t>So in this project, </a:t>
            </a:r>
            <a:r>
              <a:rPr lang="en-US" dirty="0" err="1"/>
              <a:t>tehre</a:t>
            </a:r>
            <a:r>
              <a:rPr lang="en-US" dirty="0"/>
              <a:t> are 4 RQ to study the online post – first </a:t>
            </a:r>
            <a:endParaRPr dirty="0"/>
          </a:p>
          <a:p>
            <a:r>
              <a:rPr lang="en-US" dirty="0"/>
              <a:t>//</a:t>
            </a:r>
            <a:r>
              <a:rPr dirty="0"/>
              <a:t>I framed the goal as an early-warning screen. It tells a team </a:t>
            </a:r>
            <a:r>
              <a:rPr lang="en-US" dirty="0"/>
              <a:t> </a:t>
            </a:r>
            <a:r>
              <a:rPr dirty="0"/>
              <a:t>what to look at this week. It is not a satisfaction score or NPS, and I'm careful about that throughout. These four research questions structure the evaluation and findings.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B: the data sources, the six pipeline stages, and two data problems I had to solve.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Here's the whole </a:t>
            </a:r>
            <a:r>
              <a:rPr lang="en-US" dirty="0" err="1"/>
              <a:t>peiplines</a:t>
            </a:r>
            <a:r>
              <a:rPr dirty="0"/>
              <a:t>. </a:t>
            </a:r>
            <a:r>
              <a:rPr lang="en-US" dirty="0"/>
              <a:t>First, </a:t>
            </a:r>
            <a:r>
              <a:rPr dirty="0"/>
              <a:t>Scrapers pull Reddit through its public JSON interface and </a:t>
            </a:r>
            <a:r>
              <a:rPr dirty="0" err="1"/>
              <a:t>HardwareZone</a:t>
            </a:r>
            <a:r>
              <a:rPr dirty="0"/>
              <a:t> threads from its forums. Preprocessing maps both into </a:t>
            </a:r>
            <a:r>
              <a:rPr b="1" dirty="0"/>
              <a:t>one schema</a:t>
            </a:r>
            <a:r>
              <a:rPr dirty="0"/>
              <a:t>. The telco labeler detects brands and scores sentiment with VADER. Issue extraction applies ten </a:t>
            </a:r>
            <a:r>
              <a:rPr lang="en-US" dirty="0"/>
              <a:t>keyword-rule labels</a:t>
            </a:r>
            <a:r>
              <a:rPr dirty="0"/>
              <a:t>, then GPT-4o on the posts the rules couldn't place. The evaluation script scores every method against blind human labels, and the dashboard generator writes a static HTML report.</a:t>
            </a:r>
          </a:p>
          <a:p>
            <a:endParaRPr dirty="0"/>
          </a:p>
          <a:p>
            <a:r>
              <a:rPr dirty="0"/>
              <a:t>Each stage writes a CSV to data/processed, so I can trace any number in the report back to a file.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Data cleaning numbers: </a:t>
            </a:r>
            <a:r>
              <a:rPr dirty="0"/>
              <a:t>The raw scrapes looked large: 24,690 rows. But they held only 11,643 unique posts, because the scrapers saved the same comments again on repeated runs. I removed duplicates by post ID, then dropped 96 off-topic threads, such as cost-of-living threads where nobody names a telco. That leaves 9,162 posts in 349 threads: 5,711 from Reddit and 3,451 from </a:t>
            </a:r>
            <a:r>
              <a:rPr dirty="0" err="1"/>
              <a:t>HardwareZone</a:t>
            </a:r>
            <a:r>
              <a:rPr dirty="0"/>
              <a:t>.</a:t>
            </a:r>
          </a:p>
          <a:p>
            <a:endParaRPr dirty="0"/>
          </a:p>
          <a:p>
            <a:r>
              <a:rPr dirty="0"/>
              <a:t>Recent Reddit posts and replies come from the Arctic Shift research archive, because Reddit now blocks unauthenticated access. Only 12% of posts sit in outage threads, so the corpus is mostly ordinary discussion of plans, coverage and prices.</a:t>
            </a:r>
            <a:endParaRPr lang="en-US" dirty="0"/>
          </a:p>
          <a:p>
            <a:endParaRPr lang="en-US" dirty="0"/>
          </a:p>
          <a:p>
            <a:pPr lvl="0"/>
            <a:r>
              <a:rPr lang="en-US" sz="1200" b="0" i="0" kern="1200" dirty="0">
                <a:solidFill>
                  <a:schemeClr val="tx1"/>
                </a:solidFill>
                <a:effectLst/>
                <a:latin typeface="+mn-lt"/>
                <a:ea typeface="+mn-ea"/>
                <a:cs typeface="+mn-cs"/>
              </a:rPr>
              <a:t>at least </a:t>
            </a:r>
            <a:r>
              <a:rPr lang="en-US" sz="1200" b="1" i="0" kern="1200" dirty="0">
                <a:solidFill>
                  <a:schemeClr val="tx1"/>
                </a:solidFill>
                <a:effectLst/>
                <a:latin typeface="+mn-lt"/>
                <a:ea typeface="+mn-ea"/>
                <a:cs typeface="+mn-cs"/>
              </a:rPr>
              <a:t>20% of its posts name a telco</a:t>
            </a:r>
            <a:r>
              <a:rPr lang="en-US" sz="1200" b="0" i="0" kern="1200" dirty="0">
                <a:solidFill>
                  <a:schemeClr val="tx1"/>
                </a:solidFill>
                <a:effectLst/>
                <a:latin typeface="+mn-lt"/>
                <a:ea typeface="+mn-ea"/>
                <a:cs typeface="+mn-cs"/>
              </a:rPr>
              <a:t>, using the brand regex from </a:t>
            </a:r>
            <a:r>
              <a:rPr lang="en-US" sz="1200" b="0" i="0" kern="1200" dirty="0" err="1">
                <a:solidFill>
                  <a:schemeClr val="tx1"/>
                </a:solidFill>
                <a:effectLst/>
                <a:latin typeface="+mn-lt"/>
                <a:ea typeface="+mn-ea"/>
                <a:cs typeface="+mn-cs"/>
              </a:rPr>
              <a:t>telco_labeler.py</a:t>
            </a:r>
            <a:r>
              <a:rPr lang="en-US" sz="1200" b="0" i="0" kern="1200" dirty="0">
                <a:solidFill>
                  <a:schemeClr val="tx1"/>
                </a:solidFill>
                <a:effectLst/>
                <a:latin typeface="+mn-lt"/>
                <a:ea typeface="+mn-ea"/>
                <a:cs typeface="+mn-cs"/>
              </a:rPr>
              <a:t>, or</a:t>
            </a:r>
          </a:p>
          <a:p>
            <a:pPr lvl="0"/>
            <a:r>
              <a:rPr lang="en-US" sz="1200" b="0" i="0" kern="1200" dirty="0">
                <a:solidFill>
                  <a:schemeClr val="tx1"/>
                </a:solidFill>
                <a:effectLst/>
                <a:latin typeface="+mn-lt"/>
                <a:ea typeface="+mn-ea"/>
                <a:cs typeface="+mn-cs"/>
              </a:rPr>
              <a:t>its </a:t>
            </a:r>
            <a:r>
              <a:rPr lang="en-US" sz="1200" b="1" i="0" kern="1200" dirty="0">
                <a:solidFill>
                  <a:schemeClr val="tx1"/>
                </a:solidFill>
                <a:effectLst/>
                <a:latin typeface="+mn-lt"/>
                <a:ea typeface="+mn-ea"/>
                <a:cs typeface="+mn-cs"/>
              </a:rPr>
              <a:t>title is about telcos</a:t>
            </a:r>
            <a:r>
              <a:rPr lang="en-US" sz="1200" b="0" i="0" kern="1200" dirty="0">
                <a:solidFill>
                  <a:schemeClr val="tx1"/>
                </a:solidFill>
                <a:effectLst/>
                <a:latin typeface="+mn-lt"/>
                <a:ea typeface="+mn-ea"/>
                <a:cs typeface="+mn-cs"/>
              </a:rPr>
              <a:t>, such as "Singtel hi! Discussion Thread" or "Best SIM-only plan".</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 highlights in data cleansing: </a:t>
            </a:r>
            <a:r>
              <a:rPr dirty="0"/>
              <a:t>One problem that looks trivial but wasn't: Eight is a telco brand and an ordinary word. A naive match turned 'I took eight buses' into an Eight Telecom mention. So </a:t>
            </a:r>
            <a:r>
              <a:rPr dirty="0" err="1"/>
              <a:t>is_eight_telco_reference</a:t>
            </a:r>
            <a:r>
              <a:rPr dirty="0"/>
              <a:t>() first blocks number phrases like 'eight buses' or 'eight people', then accepts strong patterns like 'Eight Telecom', and otherwise needs telco context within 60 characters. Posts that fail are marked not telco-relevant, and get no sentiment or issue label, instead of polluting the brand chart.</a:t>
            </a:r>
            <a:endParaRPr lang="en-US" dirty="0"/>
          </a:p>
          <a:p>
            <a:endParaRPr lang="en-US" dirty="0"/>
          </a:p>
          <a:p>
            <a:pPr lvl="0"/>
            <a:r>
              <a:rPr lang="en-US" sz="1200" b="0" i="0" kern="1200" dirty="0">
                <a:solidFill>
                  <a:schemeClr val="tx1"/>
                </a:solidFill>
                <a:effectLst/>
                <a:latin typeface="+mn-lt"/>
                <a:ea typeface="+mn-ea"/>
                <a:cs typeface="+mn-cs"/>
              </a:rPr>
              <a:t>at least </a:t>
            </a:r>
            <a:r>
              <a:rPr lang="en-US" sz="1200" b="1" i="0" kern="1200" dirty="0">
                <a:solidFill>
                  <a:schemeClr val="tx1"/>
                </a:solidFill>
                <a:effectLst/>
                <a:latin typeface="+mn-lt"/>
                <a:ea typeface="+mn-ea"/>
                <a:cs typeface="+mn-cs"/>
              </a:rPr>
              <a:t>20% of its posts name a telco</a:t>
            </a:r>
            <a:r>
              <a:rPr lang="en-US" sz="1200" b="0" i="0" kern="1200" dirty="0">
                <a:solidFill>
                  <a:schemeClr val="tx1"/>
                </a:solidFill>
                <a:effectLst/>
                <a:latin typeface="+mn-lt"/>
                <a:ea typeface="+mn-ea"/>
                <a:cs typeface="+mn-cs"/>
              </a:rPr>
              <a:t>, using the brand regex from </a:t>
            </a:r>
            <a:r>
              <a:rPr lang="en-US" sz="1200" b="0" i="0" kern="1200" dirty="0" err="1">
                <a:solidFill>
                  <a:schemeClr val="tx1"/>
                </a:solidFill>
                <a:effectLst/>
                <a:latin typeface="+mn-lt"/>
                <a:ea typeface="+mn-ea"/>
                <a:cs typeface="+mn-cs"/>
              </a:rPr>
              <a:t>telco_labeler.py</a:t>
            </a:r>
            <a:r>
              <a:rPr lang="en-US" sz="1200" b="0" i="0" kern="1200" dirty="0">
                <a:solidFill>
                  <a:schemeClr val="tx1"/>
                </a:solidFill>
                <a:effectLst/>
                <a:latin typeface="+mn-lt"/>
                <a:ea typeface="+mn-ea"/>
                <a:cs typeface="+mn-cs"/>
              </a:rPr>
              <a:t>, or</a:t>
            </a:r>
          </a:p>
          <a:p>
            <a:pPr lvl="0"/>
            <a:r>
              <a:rPr lang="en-US" sz="1200" b="0" i="0" kern="1200" dirty="0">
                <a:solidFill>
                  <a:schemeClr val="tx1"/>
                </a:solidFill>
                <a:effectLst/>
                <a:latin typeface="+mn-lt"/>
                <a:ea typeface="+mn-ea"/>
                <a:cs typeface="+mn-cs"/>
              </a:rPr>
              <a:t>its </a:t>
            </a:r>
            <a:r>
              <a:rPr lang="en-US" sz="1200" b="1" i="0" kern="1200" dirty="0">
                <a:solidFill>
                  <a:schemeClr val="tx1"/>
                </a:solidFill>
                <a:effectLst/>
                <a:latin typeface="+mn-lt"/>
                <a:ea typeface="+mn-ea"/>
                <a:cs typeface="+mn-cs"/>
              </a:rPr>
              <a:t>title is about telcos</a:t>
            </a:r>
            <a:r>
              <a:rPr lang="en-US" sz="1200" b="0" i="0" kern="1200" dirty="0">
                <a:solidFill>
                  <a:schemeClr val="tx1"/>
                </a:solidFill>
                <a:effectLst/>
                <a:latin typeface="+mn-lt"/>
                <a:ea typeface="+mn-ea"/>
                <a:cs typeface="+mn-cs"/>
              </a:rPr>
              <a:t>, such as "Singtel hi! Discussion Thread" or "Best SIM-only </a:t>
            </a:r>
            <a:r>
              <a:rPr lang="en-US" sz="1200" b="0" i="0" kern="1200" dirty="0" err="1">
                <a:solidFill>
                  <a:schemeClr val="tx1"/>
                </a:solidFill>
                <a:effectLst/>
                <a:latin typeface="+mn-lt"/>
                <a:ea typeface="+mn-ea"/>
                <a:cs typeface="+mn-cs"/>
              </a:rPr>
              <a:t>plan".no</a:t>
            </a:r>
            <a:r>
              <a:rPr lang="en-US" sz="1200" b="0" i="0" kern="1200" dirty="0">
                <a:solidFill>
                  <a:schemeClr val="tx1"/>
                </a:solidFill>
                <a:effectLst/>
                <a:latin typeface="+mn-lt"/>
                <a:ea typeface="+mn-ea"/>
                <a:cs typeface="+mn-cs"/>
              </a:rPr>
              <a:t> LLM checking, just filtering</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 designed the taxonomy around who would act on it.</a:t>
            </a:r>
            <a:r>
              <a:rPr lang="en-US" dirty="0"/>
              <a:t> In the dash sharing, will talk about them more. There are 10 </a:t>
            </a:r>
            <a:r>
              <a:rPr lang="en-US" dirty="0" err="1"/>
              <a:t>lssue</a:t>
            </a:r>
            <a:r>
              <a:rPr lang="en-US" dirty="0"/>
              <a:t> Category. Too many? BAU</a:t>
            </a:r>
          </a:p>
          <a:p>
            <a:r>
              <a:rPr dirty="0"/>
              <a:t> Each label maps to a team, so a spike becomes a routed task rather than a chart. Every quote here is a real post that I labelled in the blind gold sets, trimmed only where marked. The percentage is the share of the 9,162 posts with that label as their main issue, so the ten add to 100; a post can still carry several labels. Network is two in five posts; the next slide explains why I kept labels as small as Porting at 3%.</a:t>
            </a:r>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The slide 9 shares</a:t>
            </a:r>
            <a:r>
              <a:rPr lang="en-US" sz="1200" b="0" i="0" kern="1200" dirty="0">
                <a:solidFill>
                  <a:schemeClr val="tx1"/>
                </a:solidFill>
                <a:effectLst/>
                <a:latin typeface="+mn-lt"/>
                <a:ea typeface="+mn-ea"/>
                <a:cs typeface="+mn-cs"/>
              </a:rPr>
              <a:t> (Network 41% and so on) count each post once, by its main issue, so they add to 100%. A post's secondary topics don't appear there.</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Part C is the core of the project: how I built trustworthy gold labels and what they say about VADER, keyword rules, GPT-4o-mini and GPT-4o.</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Before the results, here is what gets labelled. Every post gets exactly one sentiment: happy, not happy or neutral, </a:t>
            </a:r>
            <a:endParaRPr lang="en-US" dirty="0"/>
          </a:p>
          <a:p>
            <a:r>
              <a:rPr dirty="0"/>
              <a:t>Not happy includes a plain first-hand report that a service is failing, even without emotional words. </a:t>
            </a:r>
          </a:p>
          <a:p>
            <a:r>
              <a:rPr lang="en-US" dirty="0" err="1"/>
              <a:t>Multilabels</a:t>
            </a:r>
            <a:r>
              <a:rPr lang="en-US" dirty="0"/>
              <a:t>: </a:t>
            </a:r>
            <a:r>
              <a:rPr dirty="0"/>
              <a:t>Issues are different: a post can carry several of the ten labels, because one post can complain about roaming and billing at once.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How the </a:t>
            </a:r>
            <a:r>
              <a:rPr lang="en-US" dirty="0" err="1"/>
              <a:t>llm</a:t>
            </a:r>
            <a:r>
              <a:rPr lang="en-US" dirty="0"/>
              <a:t> tag one label per post only: A post that praises one brand and </a:t>
            </a:r>
            <a:r>
              <a:rPr lang="en-US" dirty="0" err="1"/>
              <a:t>criticises</a:t>
            </a:r>
            <a:r>
              <a:rPr lang="en-US" dirty="0"/>
              <a:t> another gets the dominant tone, or neutral if neither dominates.</a:t>
            </a:r>
          </a:p>
          <a:p>
            <a:endParaRPr lang="en-US" dirty="0"/>
          </a:p>
          <a:p>
            <a:r>
              <a:rPr dirty="0"/>
              <a:t>General Discussion is the leftover label, used only when nothing specific fits. I labelled both on the gold sets without seeing any model</a:t>
            </a:r>
            <a:r>
              <a:rPr lang="en-US" dirty="0"/>
              <a:t> output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dirty="0"/>
              <a:t>The whole evaluation on one slide. It checks whether the machine labels can be trusted before any corpus number is quoted, by comparing them with my own blind labels.</a:t>
            </a:r>
          </a:p>
          <a:p>
            <a:endParaRPr b="1" dirty="0"/>
          </a:p>
          <a:p>
            <a:r>
              <a:rPr b="1" dirty="0"/>
              <a:t>Gold sets: 400 representative posts sampled across the collection period, 392 about telcos, for the headline scores; 100 hard posts held out as a test; and 100 overlap posts </a:t>
            </a:r>
            <a:r>
              <a:rPr b="1" dirty="0" err="1"/>
              <a:t>relabelled</a:t>
            </a:r>
            <a:r>
              <a:rPr b="1" dirty="0"/>
              <a:t> by a second annotator to measure human agreement. Each set is scored on its own.</a:t>
            </a:r>
          </a:p>
          <a:p>
            <a:endParaRPr dirty="0"/>
          </a:p>
          <a:p>
            <a:r>
              <a:rPr dirty="0"/>
              <a:t>Compared: VADER, GPT-4o-mini and GPT-4o for sentiment; keyword rules, both LLMs on every post and the hybrid for issues. Scored with macro F1, per-class recall and confusion matrices, with paired bootstrap intervals on every difference, kappa for human agreement and a rerun for stability.</a:t>
            </a:r>
          </a:p>
          <a:p>
            <a:endParaRPr dirty="0"/>
          </a:p>
          <a:p>
            <a:r>
              <a:rPr dirty="0"/>
              <a:t>Results: GPT-4o-mini wins sentiment on both sets, 0.641 against VADER's 0.380, and GPT-4o only ties it at about 17 times the cost. For issues the </a:t>
            </a:r>
            <a:r>
              <a:rPr b="1" dirty="0"/>
              <a:t>hybrid</a:t>
            </a:r>
            <a:r>
              <a:rPr dirty="0"/>
              <a:t> is best on the representative set, 0.639, but that is optimistic: on the held-out hard posts its lead over rules disappears and GPT-4o on every post wins. Two humans agree at kappa 0.39 on typical posts, so the labels themselves are debatable.</a:t>
            </a:r>
          </a:p>
          <a:p>
            <a:endParaRPr dirty="0"/>
          </a:p>
          <a:p>
            <a:r>
              <a:rPr dirty="0"/>
              <a:t>Decision: GPT-4o-mini for sentiment, the hybrid for issues, and issue shares read as a ranking rather than exact percentages.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5673090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how the evaluation works, and the</a:t>
            </a:r>
            <a:r>
              <a:rPr lang="en-US" b="1" dirty="0"/>
              <a:t> </a:t>
            </a:r>
            <a:r>
              <a:rPr lang="en-US" b="1" dirty="0" err="1"/>
              <a:t>annonator</a:t>
            </a:r>
            <a:r>
              <a:rPr b="1" dirty="0"/>
              <a:t> table </a:t>
            </a:r>
            <a:r>
              <a:rPr dirty="0"/>
              <a:t>shows what annotating actually looked like.</a:t>
            </a:r>
          </a:p>
          <a:p>
            <a:endParaRPr dirty="0"/>
          </a:p>
          <a:p>
            <a:r>
              <a:rPr dirty="0"/>
              <a:t>I labelled two gold sets: 400 representative posts, 392 of them about telcos, for the headline scores, and 100 hard challenge posts held out as a test. A second annotator </a:t>
            </a:r>
            <a:r>
              <a:rPr dirty="0" err="1"/>
              <a:t>relabelled</a:t>
            </a:r>
            <a:r>
              <a:rPr dirty="0"/>
              <a:t> 100 overlap posts so I can measure how much two humans agree.</a:t>
            </a:r>
          </a:p>
          <a:p>
            <a:endParaRPr dirty="0"/>
          </a:p>
          <a:p>
            <a:r>
              <a:rPr dirty="0"/>
              <a:t>For each post the sheet showed me only the thread title and the post, never a model's label. I then filled six fields: is it about a telco, which brands, one sentiment, any issue labels, how confident I am, and a note.</a:t>
            </a:r>
          </a:p>
          <a:p>
            <a:endParaRPr dirty="0"/>
          </a:p>
          <a:p>
            <a:r>
              <a:rPr dirty="0"/>
              <a:t>Two rows from the challenge sheet. CHL-0054 names Eight and SIMBA and touches roaming, signal and the plan: three issue labels. Its tone is mixed, SIMBA 'sucks' but Eight is good, so it gets the dominant tone, happy. CHL-0074 is Singlish and has no angry words, but it is a first-hand report that 5G is failing, so my guide says not happy; the post names no brand, so I took GOMO and Singtel from the thread title.</a:t>
            </a:r>
          </a:p>
          <a:p>
            <a:endParaRPr dirty="0"/>
          </a:p>
          <a:p>
            <a:r>
              <a:rPr b="1" dirty="0"/>
              <a:t>Then VADER, the keyword rules and the two GPT models labelled the same posts, and I scored them against my labels with macro F1 and bootstrap intervals. The short answer: GPT-4o-mini for sentiment, 0.641 against VADER's 0.380; the hybrid for issues, 0.639, though only 0.509 on the held-out hard posts.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188610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Show the result the for sentiment – happy not happy </a:t>
            </a:r>
            <a:r>
              <a:rPr lang="en-US" dirty="0" err="1"/>
              <a:t>netural</a:t>
            </a:r>
            <a:r>
              <a:rPr lang="en-US" dirty="0"/>
              <a:t> tags – Vader lose and </a:t>
            </a:r>
            <a:r>
              <a:rPr lang="en-US" dirty="0" err="1"/>
              <a:t>llm</a:t>
            </a:r>
            <a:r>
              <a:rPr lang="en-US" dirty="0"/>
              <a:t> wins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1.GPT-4o-mini labels sentiment far better than VADER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VADER</a:t>
            </a:r>
            <a:r>
              <a:rPr lang="en-US" u="sng" dirty="0"/>
              <a:t> misses complaints</a:t>
            </a:r>
            <a:r>
              <a:rPr lang="en-US" dirty="0"/>
              <a:t>; mini wins clearly, and the bigger GPT-4o is only a </a:t>
            </a:r>
            <a:r>
              <a:rPr lang="en-US" u="sng" dirty="0"/>
              <a:t>tie </a:t>
            </a:r>
            <a:r>
              <a:rPr lang="en-US" dirty="0"/>
              <a:t>.Cost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2.Bar: </a:t>
            </a:r>
            <a:r>
              <a:rPr dirty="0"/>
              <a:t>On the 392 representative posts, VADER's macro F1 is 0.380; GPT-4o-mini reaches 0.641. The clearest failure: of 186 posts I labelled not happy, VADER called 74 of them happy. </a:t>
            </a:r>
            <a:endParaRPr lang="en-US" dirty="0"/>
          </a:p>
          <a:p>
            <a:r>
              <a:rPr lang="en-US" dirty="0"/>
              <a:t>Example later: </a:t>
            </a:r>
            <a:r>
              <a:rPr dirty="0"/>
              <a:t>Its sees words like 'better' and '$12' and misses that the person just switched away.</a:t>
            </a:r>
          </a:p>
          <a:p>
            <a:r>
              <a:rPr lang="en-US" dirty="0"/>
              <a:t>3. </a:t>
            </a:r>
            <a:r>
              <a:rPr dirty="0"/>
              <a:t>I bootstrapped the difference: mini beats VADER by 0.26, 95% interval 0.20 to 0.32, so this is not noise. GPT-4o is statistically tied with mini (interval −0.02 to +0.08) at about 17 times the cost, so mini is the right choice for sentiment. It also holds on the hard challenge posts: mini 0.773, GPT-4o 0.712, VADER 0.491. And a second mini run reproduced 292 of 295 labels, so it's stable.</a:t>
            </a:r>
            <a:endParaRPr lang="en-US" dirty="0"/>
          </a:p>
          <a:p>
            <a:endParaRPr lang="en-US" dirty="0"/>
          </a:p>
          <a:p>
            <a:pPr lvl="0"/>
            <a:r>
              <a:rPr lang="en-US" sz="1200" b="1" i="0" kern="1200" dirty="0">
                <a:solidFill>
                  <a:schemeClr val="tx1"/>
                </a:solidFill>
                <a:effectLst/>
                <a:latin typeface="+mn-lt"/>
                <a:ea typeface="+mn-ea"/>
                <a:cs typeface="+mn-cs"/>
              </a:rPr>
              <a:t>Above zero</a:t>
            </a:r>
            <a:r>
              <a:rPr lang="en-US" sz="1200" b="0" i="0" kern="1200" dirty="0">
                <a:solidFill>
                  <a:schemeClr val="tx1"/>
                </a:solidFill>
                <a:effectLst/>
                <a:latin typeface="+mn-lt"/>
                <a:ea typeface="+mn-ea"/>
                <a:cs typeface="+mn-cs"/>
              </a:rPr>
              <a:t> (mini vs VADER, +0.20 to +0.32): mini is genuinely better.</a:t>
            </a:r>
          </a:p>
          <a:p>
            <a:pPr lvl="0"/>
            <a:r>
              <a:rPr lang="en-US" sz="1200" b="1" i="0" kern="1200" dirty="0">
                <a:solidFill>
                  <a:schemeClr val="tx1"/>
                </a:solidFill>
                <a:effectLst/>
                <a:latin typeface="+mn-lt"/>
                <a:ea typeface="+mn-ea"/>
                <a:cs typeface="+mn-cs"/>
              </a:rPr>
              <a:t>Crosses zero</a:t>
            </a:r>
            <a:r>
              <a:rPr lang="en-US" sz="1200" b="0" i="0" kern="1200" dirty="0">
                <a:solidFill>
                  <a:schemeClr val="tx1"/>
                </a:solidFill>
                <a:effectLst/>
                <a:latin typeface="+mn-lt"/>
                <a:ea typeface="+mn-ea"/>
                <a:cs typeface="+mn-cs"/>
              </a:rPr>
              <a:t> (mini vs GPT-4o, −0.02 to +0.08): a tie, because the gap could be luck.</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Show the result the for 10 issue labels – in representative post – GPT 4o mini is the lowest, we decided to use hybrid.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 What is hybrid - For issues, rules first and GPT-4o only on the leftovers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 Chart: Rules beat all-post LLMs; The </a:t>
            </a:r>
            <a:r>
              <a:rPr lang="en-US" dirty="0" err="1"/>
              <a:t>Hybrid:rules</a:t>
            </a:r>
            <a:r>
              <a:rPr lang="en-US" dirty="0"/>
              <a:t> plus GPT-4o on the leftovers is best on this set.</a:t>
            </a:r>
          </a:p>
          <a:p>
            <a:r>
              <a:rPr lang="en-US" b="1" dirty="0"/>
              <a:t>Why hybrid: </a:t>
            </a:r>
          </a:p>
          <a:p>
            <a:r>
              <a:rPr dirty="0"/>
              <a:t>Issues surprised me. Keyword rules score 0.590 macro F1. Running GPT-4o-mini on every post scores only 0.498, and GPT-4o 0.585, which is statistically a tie with rules. </a:t>
            </a:r>
            <a:endParaRPr lang="en-US" dirty="0"/>
          </a:p>
          <a:p>
            <a:r>
              <a:rPr dirty="0"/>
              <a:t>The LLMs are precise but incomplete: </a:t>
            </a:r>
            <a:r>
              <a:rPr b="1" dirty="0"/>
              <a:t>they return one or two topics when the post has several.</a:t>
            </a:r>
          </a:p>
          <a:p>
            <a:r>
              <a:rPr lang="en-US" dirty="0"/>
              <a:t> </a:t>
            </a:r>
            <a:endParaRPr dirty="0"/>
          </a:p>
          <a:p>
            <a:r>
              <a:rPr dirty="0"/>
              <a:t>So I built a hybrid. Rules label everything; the 129 gold posts that rules left as General Discussion go to GPT-4o, which reassigned 92 of them. That scores 0.639, the only method that beats rules on this set, with a </a:t>
            </a:r>
            <a:r>
              <a:rPr b="1" dirty="0"/>
              <a:t>bootstrap interval of +0.024 to +0.074</a:t>
            </a:r>
            <a:r>
              <a:rPr lang="en-US" b="1" dirty="0"/>
              <a:t> means it is not </a:t>
            </a:r>
            <a:r>
              <a:rPr dirty="0"/>
              <a:t>. But I designed it after seeing these results, so the next slide tests it on posts it wasn't designed on.</a:t>
            </a:r>
            <a:endParaRPr lang="en-US" dirty="0"/>
          </a:p>
          <a:p>
            <a:endParaRPr lang="en-US" dirty="0"/>
          </a:p>
          <a:p>
            <a:pPr lvl="0"/>
            <a:r>
              <a:rPr lang="en-US" sz="1200" b="1" i="0" kern="1200" dirty="0">
                <a:solidFill>
                  <a:schemeClr val="tx1"/>
                </a:solidFill>
                <a:effectLst/>
                <a:latin typeface="+mn-lt"/>
                <a:ea typeface="+mn-ea"/>
                <a:cs typeface="+mn-cs"/>
              </a:rPr>
              <a:t>Hybrid - Keyword rules tag every post.</a:t>
            </a:r>
            <a:r>
              <a:rPr lang="en-US" sz="1200" b="0" i="0" kern="1200" dirty="0">
                <a:solidFill>
                  <a:schemeClr val="tx1"/>
                </a:solidFill>
                <a:effectLst/>
                <a:latin typeface="+mn-lt"/>
                <a:ea typeface="+mn-ea"/>
                <a:cs typeface="+mn-cs"/>
              </a:rPr>
              <a:t> If a post contains "roaming", "5G", "GIRO" or similar, it gets those labels. Rules are free, instant and good at jargon.</a:t>
            </a:r>
          </a:p>
          <a:p>
            <a:pPr lvl="0"/>
            <a:r>
              <a:rPr lang="en-US" sz="1200" b="1" i="0" kern="1200" dirty="0">
                <a:solidFill>
                  <a:schemeClr val="tx1"/>
                </a:solidFill>
                <a:effectLst/>
                <a:latin typeface="+mn-lt"/>
                <a:ea typeface="+mn-ea"/>
                <a:cs typeface="+mn-cs"/>
              </a:rPr>
              <a:t>Posts with no keyword match fall into General Discussion.</a:t>
            </a:r>
            <a:endParaRPr lang="en-US" sz="1200" b="0" i="0" kern="1200" dirty="0">
              <a:solidFill>
                <a:schemeClr val="tx1"/>
              </a:solidFill>
              <a:effectLst/>
              <a:latin typeface="+mn-lt"/>
              <a:ea typeface="+mn-ea"/>
              <a:cs typeface="+mn-cs"/>
            </a:endParaRPr>
          </a:p>
          <a:p>
            <a:pPr lvl="0"/>
            <a:r>
              <a:rPr lang="en-US" sz="1200" b="1" i="0" kern="1200" dirty="0">
                <a:solidFill>
                  <a:schemeClr val="tx1"/>
                </a:solidFill>
                <a:effectLst/>
                <a:latin typeface="+mn-lt"/>
                <a:ea typeface="+mn-ea"/>
                <a:cs typeface="+mn-cs"/>
              </a:rPr>
              <a:t>Only those leftover posts go to GPT-4o,</a:t>
            </a:r>
            <a:r>
              <a:rPr lang="en-US" sz="1200" b="0" i="0" kern="1200" dirty="0">
                <a:solidFill>
                  <a:schemeClr val="tx1"/>
                </a:solidFill>
                <a:effectLst/>
                <a:latin typeface="+mn-lt"/>
                <a:ea typeface="+mn-ea"/>
                <a:cs typeface="+mn-cs"/>
              </a:rPr>
              <a:t> which reads the thread title and the post and assigns a label if it finds one. It might return Network Quality, for example, or leave the post as General Discussion if nothing fits.</a:t>
            </a:r>
          </a:p>
          <a:p>
            <a:pPr lvl="0"/>
            <a:r>
              <a:rPr lang="en-US" sz="1200" b="1" i="0" kern="1200" dirty="0">
                <a:solidFill>
                  <a:schemeClr val="tx1"/>
                </a:solidFill>
                <a:effectLst/>
                <a:latin typeface="+mn-lt"/>
                <a:ea typeface="+mn-ea"/>
                <a:cs typeface="+mn-cs"/>
              </a:rPr>
              <a:t>Posts the rules already tagged keep their rule labels.</a:t>
            </a:r>
            <a:r>
              <a:rPr lang="en-US" sz="1200" b="0" i="0" kern="1200" dirty="0">
                <a:solidFill>
                  <a:schemeClr val="tx1"/>
                </a:solidFill>
                <a:effectLst/>
                <a:latin typeface="+mn-lt"/>
                <a:ea typeface="+mn-ea"/>
                <a:cs typeface="+mn-cs"/>
              </a:rPr>
              <a:t> GPT-4o never sees them.</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Show the result the for 10 issue labels – on challenging post – Hybrid dominated</a:t>
            </a:r>
          </a:p>
          <a:p>
            <a:pPr marL="228600" indent="-228600">
              <a:buAutoNum type="arabicPeriod"/>
            </a:pPr>
            <a:endParaRPr lang="en-US" dirty="0"/>
          </a:p>
          <a:p>
            <a:pPr marL="228600" indent="-228600">
              <a:buAutoNum type="arabicPeriod"/>
            </a:pPr>
            <a:r>
              <a:rPr dirty="0"/>
              <a:t>This is the result I'm most careful about. On the 100 </a:t>
            </a:r>
            <a:r>
              <a:rPr b="1" dirty="0"/>
              <a:t>challenge</a:t>
            </a:r>
            <a:r>
              <a:rPr dirty="0"/>
              <a:t> posts, which the hybrid never saw, its gain over rules shrinks to 0.01, the interval is −0.04 to +0.07. </a:t>
            </a:r>
            <a:endParaRPr lang="en-US" dirty="0"/>
          </a:p>
          <a:p>
            <a:r>
              <a:rPr lang="en-US" sz="1200" b="0" i="0" kern="1200" dirty="0">
                <a:solidFill>
                  <a:schemeClr val="tx1"/>
                </a:solidFill>
                <a:effectLst/>
                <a:latin typeface="+mn-lt"/>
                <a:ea typeface="+mn-ea"/>
                <a:cs typeface="+mn-cs"/>
              </a:rPr>
              <a:t>Table: Each row compares two issue-tagging methods on the 100 challenge posts</a:t>
            </a:r>
            <a:r>
              <a:rPr lang="en-US" sz="1200" b="1" i="0" kern="1200" dirty="0">
                <a:solidFill>
                  <a:schemeClr val="tx1"/>
                </a:solidFill>
                <a:effectLst/>
                <a:latin typeface="+mn-lt"/>
                <a:ea typeface="+mn-ea"/>
                <a:cs typeface="+mn-cs"/>
              </a:rPr>
              <a:t>. The range </a:t>
            </a:r>
            <a:r>
              <a:rPr lang="en-US" sz="1200" b="0" i="0" kern="1200" dirty="0">
                <a:solidFill>
                  <a:schemeClr val="tx1"/>
                </a:solidFill>
                <a:effectLst/>
                <a:latin typeface="+mn-lt"/>
                <a:ea typeface="+mn-ea"/>
                <a:cs typeface="+mn-cs"/>
              </a:rPr>
              <a:t>is the 95% confidence interval for how much higher the first method's macro F1 is than the second's.</a:t>
            </a:r>
          </a:p>
          <a:p>
            <a:r>
              <a:rPr lang="en-US" sz="1200" b="0" i="0" kern="1200" dirty="0">
                <a:solidFill>
                  <a:schemeClr val="tx1"/>
                </a:solidFill>
                <a:effectLst/>
                <a:latin typeface="+mn-lt"/>
                <a:ea typeface="+mn-ea"/>
                <a:cs typeface="+mn-cs"/>
              </a:rPr>
              <a:t>I got it by resampling the same 100 posts 2,000 times and recomputing the difference each time; 95% of those differences fall inside the range. To read it:</a:t>
            </a:r>
          </a:p>
          <a:p>
            <a:endParaRPr lang="en-US" dirty="0"/>
          </a:p>
          <a:p>
            <a:pPr marL="228600" indent="-228600">
              <a:buAutoNum type="arabicPeriod"/>
            </a:pPr>
            <a:r>
              <a:rPr dirty="0"/>
              <a:t>GPT-4o labelling every post wins there instead, </a:t>
            </a:r>
            <a:r>
              <a:rPr b="1" dirty="0"/>
              <a:t>0.596</a:t>
            </a:r>
            <a:r>
              <a:rPr dirty="0"/>
              <a:t>, </a:t>
            </a:r>
            <a:r>
              <a:rPr b="1" dirty="0"/>
              <a:t>beating both rules and the hybr</a:t>
            </a:r>
            <a:r>
              <a:rPr dirty="0"/>
              <a:t>id. </a:t>
            </a:r>
            <a:r>
              <a:rPr b="1" dirty="0"/>
              <a:t>It does better on customer service, roaming and billing, while rules still catch more device posts.</a:t>
            </a:r>
            <a:endParaRPr lang="en-US" b="1" dirty="0"/>
          </a:p>
          <a:p>
            <a:pPr marL="228600" indent="-228600">
              <a:buAutoNum type="arabicPeriod"/>
            </a:pPr>
            <a:endParaRPr b="1" dirty="0"/>
          </a:p>
          <a:p>
            <a:endParaRPr dirty="0"/>
          </a:p>
          <a:p>
            <a:r>
              <a:rPr dirty="0"/>
              <a:t>So the honest reading is split. On typical posts, which is what the corpus looks like, the hybrid is best, but its 0.639 is optimistic. On hard posts, GPT-4o on every post is best. Sentiment, by contrast, held up on both sets.</a:t>
            </a:r>
            <a:endParaRPr lang="en-US" dirty="0"/>
          </a:p>
          <a:p>
            <a:endParaRPr lang="en-US"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a:t>
            </a:r>
            <a:r>
              <a:rPr lang="en-US" sz="1200" b="1" i="0" dirty="0">
                <a:solidFill>
                  <a:srgbClr val="1C2E6E"/>
                </a:solidFill>
                <a:latin typeface="Calibri"/>
              </a:rPr>
              <a:t> Why LLMs didn’t perform the best all the time? </a:t>
            </a:r>
            <a:r>
              <a:rPr lang="en-US" sz="1200" b="1" i="0" dirty="0" err="1">
                <a:solidFill>
                  <a:srgbClr val="1C2E6E"/>
                </a:solidFill>
                <a:latin typeface="Calibri"/>
              </a:rPr>
              <a:t>LLm</a:t>
            </a:r>
            <a:r>
              <a:rPr lang="en-US" sz="1200" b="1" i="0" dirty="0">
                <a:solidFill>
                  <a:srgbClr val="1C2E6E"/>
                </a:solidFill>
                <a:latin typeface="Calibri"/>
              </a:rPr>
              <a:t> miss the equipment jargon that rules catch</a:t>
            </a:r>
          </a:p>
          <a:p>
            <a:r>
              <a:rPr lang="en-US" dirty="0"/>
              <a:t>Bar Take </a:t>
            </a:r>
            <a:r>
              <a:rPr b="1" dirty="0"/>
              <a:t>Devices</a:t>
            </a:r>
            <a:r>
              <a:rPr dirty="0"/>
              <a:t> is the clearest case. Rules recall 81% of device posts; GPT-4o recalls 25% and GPT-4o-mini 6%. Posts like 'Starhub, no ONR, no CGNAT' are pure equipment jargon: an optical network router and carrier-grade NAT. The rules have those terms; the LLM reads the post as general chat, and mini even flips its sentiment to happy.</a:t>
            </a:r>
          </a:p>
          <a:p>
            <a:endParaRPr b="1" dirty="0"/>
          </a:p>
          <a:p>
            <a:r>
              <a:rPr b="1" dirty="0"/>
              <a:t>This is why the hybrid keeps rule hits and only uses the LLM where rules have nothing. The gap holds on the challenge set too: rules 75%, GPT-4o 33%.</a:t>
            </a:r>
            <a:endParaRPr lang="en-US" b="1" dirty="0"/>
          </a:p>
          <a:p>
            <a:endParaRPr lang="en-US" b="1" dirty="0"/>
          </a:p>
          <a:p>
            <a:endParaRPr b="1" dirty="0"/>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Four real examples, paraphrased. A short status update like '</a:t>
            </a:r>
            <a:r>
              <a:rPr dirty="0" err="1"/>
              <a:t>eSIM</a:t>
            </a:r>
            <a:r>
              <a:rPr dirty="0"/>
              <a:t> still down' has no sentiment words, so VADER says neutral. A switching story with 'better' and 'just $12' reads as happy to VADER, but it's a complaint about 5G drops. Elongated slang is outside the lexicon. And a user ready to port out after an outage is unhappy, whatever words they use. </a:t>
            </a:r>
            <a:r>
              <a:rPr b="1" dirty="0"/>
              <a:t>The LLM gets all four right.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1. Cost was a design constraint; mini on every post cost less than a coffee.</a:t>
            </a:r>
          </a:p>
          <a:p>
            <a:endParaRPr lang="en-US" dirty="0"/>
          </a:p>
          <a:p>
            <a:r>
              <a:rPr dirty="0"/>
              <a:t>Evaluating mini on 295 posts cost under one cent; GPT-4o on 388 gold posts cost 19 cents. </a:t>
            </a:r>
            <a:r>
              <a:rPr b="1" dirty="0"/>
              <a:t>The biggest job </a:t>
            </a:r>
            <a:r>
              <a:rPr dirty="0"/>
              <a:t>sent 12,497 unresolved rows to GPT-4o: about 41 minutes, zero failed batches, $4.80. Sentiment on all 9,162 posts cost 28 cents. The finished jobs total about $5.30; a first pass I discarded, because it sent Reddit posts without their thread titles, added about $1.15. VADER and the rules label the same posts in a fraction of a second </a:t>
            </a:r>
            <a:r>
              <a:rPr b="1" dirty="0"/>
              <a:t>for free</a:t>
            </a:r>
            <a:r>
              <a:rPr dirty="0"/>
              <a:t>.</a:t>
            </a:r>
            <a:endParaRPr lang="en-US"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D: what GPT-4o-mini sentiment and the hybrid issue labels show on the 9,162-post corpus, the March outage as a case study, then a short dashboard demo.</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 GPT-4o moved 1,887 posts out of General Discussion. Rules left a third of posts unplaced; GPT-4o placed most of them, mainly into Network.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Not yet human-checked.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a:t>
            </a:r>
          </a:p>
          <a:p>
            <a:r>
              <a:rPr dirty="0"/>
              <a:t>Rules alone left 3,229 of the 9,162 posts, 35%, in General Discussion. After GPT-4o </a:t>
            </a:r>
            <a:r>
              <a:rPr dirty="0" err="1"/>
              <a:t>relabelled</a:t>
            </a:r>
            <a:r>
              <a:rPr dirty="0"/>
              <a:t> them, that dropped to 1,342, or 15%. Most of the reassigned posts became Network Quality, which gained 995. Devices barely moved, which matches the gold result: rules already catch device posts.</a:t>
            </a:r>
          </a:p>
          <a:p>
            <a:endParaRPr dirty="0"/>
          </a:p>
          <a:p>
            <a:r>
              <a:rPr dirty="0"/>
              <a:t>These corpus reassignments have no human check yet. Before they drive an alert, I'd sample them.</a:t>
            </a:r>
            <a:endParaRPr lang="en-US" dirty="0"/>
          </a:p>
          <a:p>
            <a:endParaRPr lang="en-US"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1. Two in five posts are not happy, and VADER hides it.  44% not happy, holding under every weighting; VADER would have said 46% happy.</a:t>
            </a:r>
          </a:p>
          <a:p>
            <a:endParaRPr lang="en-US" dirty="0"/>
          </a:p>
          <a:p>
            <a:endParaRPr lang="en-US" dirty="0"/>
          </a:p>
          <a:p>
            <a:r>
              <a:rPr dirty="0"/>
              <a:t>On the full corpus, GPT-4o-mini labels 44% of posts not happy and 19% happy. With every thread weighted equally it's 42%, and outside outage threads 40%, so this holds across weightings. VADER on the same posts says the opposite: 46% happy. Of the 4,180 posts VADER calls happy, mini reads 1,480 as not happy.</a:t>
            </a:r>
          </a:p>
          <a:p>
            <a:endParaRPr dirty="0"/>
          </a:p>
          <a:p>
            <a:r>
              <a:rPr dirty="0"/>
              <a:t>Neutral is higher than in my gold set, 37% against 32%. On the gold posts themselves, mini's shares are close to mine: 47% not happy against my 47%.</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1. </a:t>
            </a:r>
            <a:r>
              <a:rPr dirty="0"/>
              <a:t>Outage threads, led by the 16 March Singtel mobile outage, fill 45 threads and 1,102 posts, 12% of the corpus. Inside them 71% of posts are not happy, against 40% everywhere else. And 1,099 of those 1,102 posts are on Reddit.</a:t>
            </a:r>
          </a:p>
          <a:p>
            <a:endParaRPr dirty="0"/>
          </a:p>
          <a:p>
            <a:r>
              <a:rPr b="1" dirty="0"/>
              <a:t>So one event creates most of the Reddit–HWZ gap and much of Singtel's lead</a:t>
            </a:r>
            <a:r>
              <a:rPr dirty="0"/>
              <a:t>. </a:t>
            </a:r>
            <a:endParaRPr lang="en-US" dirty="0"/>
          </a:p>
          <a:p>
            <a:r>
              <a:rPr dirty="0"/>
              <a:t>Remove the outage threads and Reddit falls from 48% to 42% not happy, and Singtel from 48% to 42%, next to StarHub at 40</a:t>
            </a:r>
            <a:r>
              <a:rPr b="1" dirty="0"/>
              <a:t>%. That's why every finding in this deck is checked with and without them.</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Network quality is still first, 37 to 41% of posts and 46% of the not-happy discussion. Mobile plans are second and pricing third. App and account is small per post but spread across 115 threads.</a:t>
            </a:r>
          </a:p>
          <a:p>
            <a:endParaRPr dirty="0"/>
          </a:p>
          <a:p>
            <a:r>
              <a:rPr dirty="0"/>
              <a:t>Reddit is 48% not happy against HWZ 37% per post, 42 against 37 outside outages. The rest is topic: HWZ is mostly plan </a:t>
            </a:r>
            <a:r>
              <a:rPr dirty="0" err="1"/>
              <a:t>megathreads</a:t>
            </a:r>
            <a:r>
              <a:rPr dirty="0"/>
              <a:t>. Brands outside outages sit within three points, 40 to 43%, except Eight, the least negative at 35% under every weighting. So no league table.</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dashboard is built around one meeting. Step one, the queue: not-happy posts in Network Quality, App &amp; Account or Porting, but only act when the week is unusual. Step two, open ten source posts and drop sarcasm and mislabels. Step three, match what's left to tickets or outages. Step four, one owner and a date. Step five, next week, check whether that issue's share fell.</a:t>
            </a:r>
          </a:p>
          <a:p>
            <a:endParaRPr/>
          </a:p>
          <a:p>
            <a:r>
              <a:t>A fixed threshold of 20 posts fired almost every week once I had more data, so the threshold is now twice the median week, 115 posts. Only two weeks qualify: the March Singtel outage, 352 posts, and 14 September, 149 posts, a multi-brand week with StarHub broadband down and SIMBA app OTP failures. That's the alert working.</a:t>
            </a:r>
          </a:p>
          <a:p>
            <a:endParaRPr/>
          </a:p>
          <a:p>
            <a:r>
              <a:t>[Demo] Open dashboard/index.html. Walk through: executive summary, the weekly queue chart, the tone chart next to VADER and human labels, issue shares per post and per thread, and the recommendations.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E: recommendations for operators, the points I found most interesting, limitations and next steps.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order comes from the data: each issue's share of not-happy discussion in the corpus. Network is first by far, and the huddle flagged two incident weeks, so the first action is incident communication, then proving local fixes. Plans and pricing come next: terms people discover late, like fair-use limits and Caller ID charges. Devices and the app are small but steady.</a:t>
            </a:r>
          </a:p>
          <a:p>
            <a:endParaRPr/>
          </a:p>
          <a:p>
            <a:r>
              <a:t>Billing and customer service are the most negative by rate but small, and in the outage case study they were aftercare, so that's a plan for incidents rather than a standing priority. My earlier App &amp; Account priority, from the 158-post sample, is withdrawn.</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Four things surprised me.</a:t>
            </a:r>
          </a:p>
          <a:p>
            <a:endParaRPr dirty="0"/>
          </a:p>
          <a:p>
            <a:r>
              <a:rPr dirty="0"/>
              <a:t>First, the bigger model didn't win on sentiment. GPT-4o ties mini at 17 times the cost, on typical and hard posts.</a:t>
            </a:r>
          </a:p>
          <a:p>
            <a:endParaRPr dirty="0"/>
          </a:p>
          <a:p>
            <a:r>
              <a:rPr dirty="0"/>
              <a:t>Second, my best issue method didn't survive a held-out test. That's exactly why you keep a test set you don't tune on.</a:t>
            </a:r>
          </a:p>
          <a:p>
            <a:endParaRPr dirty="0"/>
          </a:p>
          <a:p>
            <a:r>
              <a:rPr dirty="0"/>
              <a:t>Third, two gaps that looked like insights, Reddit versus HWZ and Singtel versus everyone, were one outage.</a:t>
            </a:r>
          </a:p>
          <a:p>
            <a:endParaRPr dirty="0"/>
          </a:p>
          <a:p>
            <a:r>
              <a:rPr dirty="0"/>
              <a:t>Fourth, the data itself had bugs: 24,690 scraped rows held only 11,643 unique posts, and </a:t>
            </a:r>
            <a:r>
              <a:rPr b="1" dirty="0"/>
              <a:t>the HWZ scraper had only ever read page one of each thread until I fixed its page counter.</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On the data side: forum users choose to post, so they aren't Singapore subscribers at large; replies cluster by thread; 95% of posts are from 2026; recent Reddit posts come from a research archive, which can miss deleted posts; and I have no tickets or NPS to validate against.</a:t>
            </a:r>
          </a:p>
          <a:p>
            <a:endParaRPr dirty="0"/>
          </a:p>
          <a:p>
            <a:r>
              <a:rPr dirty="0"/>
              <a:t>On the method side: mini matches my labels on about two-thirds of posts, and two humans only agree at kappa 0.39; the hybrid's 0.639 is optimistic; and a multi-brand post gives its one sentiment to every brand.</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lvl="0"/>
            <a:r>
              <a:rPr dirty="0"/>
              <a:t>Four next steps. One: improve issue tagging, starting with </a:t>
            </a:r>
            <a:r>
              <a:rPr lang="en-US" sz="1200" b="1" i="0" kern="1200" dirty="0">
                <a:solidFill>
                  <a:schemeClr val="tx1"/>
                </a:solidFill>
                <a:effectLst/>
                <a:latin typeface="+mn-lt"/>
                <a:ea typeface="+mn-ea"/>
                <a:cs typeface="+mn-cs"/>
              </a:rPr>
              <a:t>Customer Service is the weakest label.</a:t>
            </a:r>
            <a:r>
              <a:rPr lang="en-US" sz="1200" b="0" i="0" kern="1200" dirty="0">
                <a:solidFill>
                  <a:schemeClr val="tx1"/>
                </a:solidFill>
                <a:effectLst/>
                <a:latin typeface="+mn-lt"/>
                <a:ea typeface="+mn-ea"/>
                <a:cs typeface="+mn-cs"/>
              </a:rPr>
              <a:t> At 0.47, the hybrid gets fewer than half of those posts right.</a:t>
            </a:r>
          </a:p>
          <a:p>
            <a:endParaRPr lang="en-US" dirty="0"/>
          </a:p>
          <a:p>
            <a:r>
              <a:rPr dirty="0"/>
              <a:t>Two: adjudicate the remaining disagreements between the two annotators. Three: settle hybrid versus GPT-4o on every post with a fresh held-out sample, since my gold sets disagree. Four: brand-level sentiment, so a post praising StarHub and </a:t>
            </a:r>
            <a:r>
              <a:rPr dirty="0" err="1"/>
              <a:t>criticising</a:t>
            </a:r>
            <a:r>
              <a:rPr dirty="0"/>
              <a:t> Singtel gets two labels, and validation against real tickets.</a:t>
            </a:r>
            <a:endParaRPr lang="en-US" dirty="0"/>
          </a:p>
          <a:p>
            <a:endParaRPr lang="en-US" dirty="0"/>
          </a:p>
          <a:p>
            <a:pPr lvl="0"/>
            <a:r>
              <a:rPr lang="en-US" dirty="0"/>
              <a:t>4.</a:t>
            </a:r>
            <a:r>
              <a:rPr lang="en-US" sz="1200" b="1" i="0" kern="1200" dirty="0">
                <a:solidFill>
                  <a:schemeClr val="tx1"/>
                </a:solidFill>
                <a:effectLst/>
                <a:latin typeface="+mn-lt"/>
                <a:ea typeface="+mn-ea"/>
                <a:cs typeface="+mn-cs"/>
              </a:rPr>
              <a:t> Per-issue and per-brand not-happy rates get blurred.</a:t>
            </a:r>
            <a:r>
              <a:rPr lang="en-US" sz="1200" b="0" i="0" kern="1200" dirty="0">
                <a:solidFill>
                  <a:schemeClr val="tx1"/>
                </a:solidFill>
                <a:effectLst/>
                <a:latin typeface="+mn-lt"/>
                <a:ea typeface="+mn-ea"/>
                <a:cs typeface="+mn-cs"/>
              </a:rPr>
              <a:t> A complaint about one topic leaks into the other topics in the same post. That's part of why you don't publish a brand league table.</a:t>
            </a:r>
          </a:p>
          <a:p>
            <a:r>
              <a:rPr lang="en-US" sz="1200" b="0" i="0" kern="1200" dirty="0">
                <a:solidFill>
                  <a:schemeClr val="tx1"/>
                </a:solidFill>
                <a:effectLst/>
                <a:latin typeface="+mn-lt"/>
                <a:ea typeface="+mn-ea"/>
                <a:cs typeface="+mn-cs"/>
              </a:rPr>
              <a:t>The fix is target-aware sentiment: one sentiment per issue or brand within a post. You haven't built it, and it's already listed in your limitations and next steps ("Brand-level sentiment"). If you're asked, say it's a known simplification. Most posts raise one topic, so the effect is mostly on mixed posts, and it's the first thing you'd change.</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close: an LLM for sentiment, keyword rules plus a targeted GPT-4o pass for issues, and a weekly human huddle before anyone acts. Thank you, Professor. I'm happy to take questions, and I have backup slides with the detailed tables and agreement numbers.</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slides. I'll only show these if the question comes up.</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Q: Why not use GPT-4o for everything?</a:t>
            </a:r>
          </a:p>
          <a:p>
            <a:r>
              <a:rPr dirty="0"/>
              <a:t>A: On typical posts GPT-4o on every post ties rules (0.585 vs 0.590) and costs ~17× mini. On hard posts it wins (0.596 vs 0.499). At ~$0.0005 a post it’s affordable on a deduplicated feed; I’d settle it on fresh held-out data.</a:t>
            </a:r>
          </a:p>
          <a:p>
            <a:r>
              <a:rPr dirty="0"/>
              <a:t>If pushed on cost: the whole clean corpus with GPT-4o on every post would be about $0.85.</a:t>
            </a:r>
          </a:p>
          <a:p>
            <a:endParaRPr dirty="0"/>
          </a:p>
          <a:p>
            <a:r>
              <a:rPr dirty="0"/>
              <a:t>Q: Is the hybrid’s gain real?</a:t>
            </a:r>
          </a:p>
          <a:p>
            <a:r>
              <a:rPr dirty="0"/>
              <a:t>A: On the representative set, yes: +0.049, 95% CI +0.024 to +0.074. On the held-out challenge set, no: +0.010, CI −0.04 to +0.07. So I report 0.639 as optimistic.</a:t>
            </a:r>
          </a:p>
          <a:p>
            <a:r>
              <a:rPr dirty="0"/>
              <a:t>Paired bootstrap, 2,000 resamples of posts. Challenge-set gain of GPT-4o over the hybrid: +0.087, CI +0.017 to +0.151.</a:t>
            </a:r>
          </a:p>
          <a:p>
            <a:endParaRPr dirty="0"/>
          </a:p>
          <a:p>
            <a:r>
              <a:rPr dirty="0"/>
              <a:t>Q: How reliable are your labels?</a:t>
            </a:r>
          </a:p>
          <a:p>
            <a:r>
              <a:rPr dirty="0"/>
              <a:t>A: Two annotators agree at </a:t>
            </a:r>
            <a:r>
              <a:rPr dirty="0" err="1"/>
              <a:t>κ</a:t>
            </a:r>
            <a:r>
              <a:rPr dirty="0"/>
              <a:t> 0.39 on typical posts and 0.59 on hard ones, mostly split on complaint vs neutral. The guide now has an explicit rule for failure reports.</a:t>
            </a:r>
          </a:p>
          <a:p>
            <a:r>
              <a:rPr dirty="0"/>
              <a:t>Per-label issue </a:t>
            </a:r>
            <a:r>
              <a:rPr dirty="0" err="1"/>
              <a:t>κ</a:t>
            </a:r>
            <a:r>
              <a:rPr dirty="0"/>
              <a:t> on the representative overlap: Network Quality 0.79, but Devices 0.16, App &amp; Account 0.17 and Customer Service 0.28. Two earlier versions of B's sheet were superseded because they copied my labels; the one used was </a:t>
            </a:r>
            <a:r>
              <a:rPr dirty="0" err="1"/>
              <a:t>relabelled</a:t>
            </a:r>
            <a:r>
              <a:rPr dirty="0"/>
              <a:t> with B's own notes.</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Q: How good is GPT-4o-mini on the corpus?</a:t>
            </a:r>
          </a:p>
          <a:p>
            <a:r>
              <a:rPr dirty="0"/>
              <a:t>A: F1 0.641 on the 392-post representative set; a rerun reproduced 292 of 295 labels. On the gold posts its not-happy share matches mine (47% vs 47%).</a:t>
            </a:r>
          </a:p>
          <a:p>
            <a:r>
              <a:rPr dirty="0"/>
              <a:t>Mini's weakest class is neutral (F1 0.57). Corpus shares are estimates, not measurements.</a:t>
            </a:r>
          </a:p>
          <a:p>
            <a:endParaRPr dirty="0"/>
          </a:p>
          <a:p>
            <a:r>
              <a:rPr dirty="0"/>
              <a:t>Q: How do you handle sarcasm and Singlish?</a:t>
            </a:r>
          </a:p>
          <a:p>
            <a:r>
              <a:rPr dirty="0"/>
              <a:t>A: VADER can’t; the challenge set targets these cases. There GPT-4o-mini reaches 0.773 macro F1 vs VADER 0.491 and GPT-4o 0.712.</a:t>
            </a:r>
          </a:p>
          <a:p>
            <a:endParaRPr dirty="0"/>
          </a:p>
          <a:p>
            <a:r>
              <a:rPr dirty="0"/>
              <a:t>Q: Why keep VADER at all?</a:t>
            </a:r>
          </a:p>
          <a:p>
            <a:r>
              <a:rPr dirty="0"/>
              <a:t>A: It’s free, local and deterministic: a baseline to beat. I no longer use it for any headline share.</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 Is Reddit more negative than HWZ? Is Singtel worst?</a:t>
            </a:r>
          </a:p>
          <a:p>
            <a:r>
              <a:t>A: Outside outage threads, Reddit 42% vs HWZ 37%, mostly topic mix; brands sit within 3 points (Singtel 42%, StarHub 40%), with Eight lowest at 35%.</a:t>
            </a:r>
          </a:p>
          <a:p>
            <a:endParaRPr/>
          </a:p>
          <a:p>
            <a:r>
              <a:t>Q: What about privacy and ethics?</a:t>
            </a:r>
          </a:p>
          <a:p>
            <a:r>
              <a:t>A: Public posts only, no usernames in outputs, no identifiers sent to the API, and API keys kept in environment variables, never in code.</a:t>
            </a:r>
          </a:p>
          <a:p>
            <a:endParaRPr/>
          </a:p>
          <a:p>
            <a:r>
              <a:t>Q: Can this estimate NPS or market share?</a:t>
            </a:r>
          </a:p>
          <a:p>
            <a:r>
              <a:t>A: No. Posters self-select, replies cluster by thread, and 95% of posts are from 2026. It’s a triage queue, not a population measure.</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46E4C-98BE-55C5-BAC1-9AC6AE4B4A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DD1B37-77BF-6C9C-A7A6-DABF54AA733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C4F0C46-0162-ED35-6041-0850336245A1}"/>
              </a:ext>
            </a:extLst>
          </p:cNvPr>
          <p:cNvSpPr>
            <a:spLocks noGrp="1"/>
          </p:cNvSpPr>
          <p:nvPr>
            <p:ph type="body" sz="quarter" idx="3"/>
          </p:nvPr>
        </p:nvSpPr>
        <p:spPr/>
        <p:txBody>
          <a:bodyPr/>
          <a:lstStyle/>
          <a:p>
            <a:r>
              <a:rPr dirty="0"/>
              <a:t>Q: How good is GPT-4o-mini on the corpus?</a:t>
            </a:r>
          </a:p>
          <a:p>
            <a:r>
              <a:rPr dirty="0"/>
              <a:t>A: F1 0.641 on the 392-post representative set; a rerun reproduced 292 of 295 labels. On the gold posts its not-happy share matches mine (47% vs 47%).</a:t>
            </a:r>
          </a:p>
          <a:p>
            <a:r>
              <a:rPr dirty="0"/>
              <a:t>Mini's weakest class is neutral (F1 0.57). Corpus shares are estimates, not measurements.</a:t>
            </a:r>
          </a:p>
          <a:p>
            <a:endParaRPr dirty="0"/>
          </a:p>
          <a:p>
            <a:r>
              <a:rPr dirty="0"/>
              <a:t>Q: How do you handle sarcasm and Singlish?</a:t>
            </a:r>
          </a:p>
          <a:p>
            <a:r>
              <a:rPr dirty="0"/>
              <a:t>A: VADER can’t; the challenge set targets these cases. There GPT-4o-mini reaches 0.773 macro F1 vs VADER 0.491 and GPT-4o 0.712.</a:t>
            </a:r>
          </a:p>
          <a:p>
            <a:endParaRPr dirty="0"/>
          </a:p>
          <a:p>
            <a:r>
              <a:rPr dirty="0"/>
              <a:t>Q: Why keep VADER at all?</a:t>
            </a:r>
          </a:p>
          <a:p>
            <a:r>
              <a:rPr dirty="0"/>
              <a:t>A: It’s free, local and deterministic: a baseline to beat. I no longer use it for any headline share.</a:t>
            </a:r>
          </a:p>
        </p:txBody>
      </p:sp>
      <p:sp>
        <p:nvSpPr>
          <p:cNvPr id="4" name="Slide Number Placeholder 3">
            <a:extLst>
              <a:ext uri="{FF2B5EF4-FFF2-40B4-BE49-F238E27FC236}">
                <a16:creationId xmlns:a16="http://schemas.microsoft.com/office/drawing/2014/main" id="{454428B2-6C18-93E8-0773-961300DA99B1}"/>
              </a:ext>
            </a:extLst>
          </p:cNvPr>
          <p:cNvSpPr>
            <a:spLocks noGrp="1"/>
          </p:cNvSpPr>
          <p:nvPr>
            <p:ph type="sldNum" sz="quarter" idx="5"/>
          </p:nvPr>
        </p:nvSpPr>
        <p:spPr/>
      </p:sp>
    </p:spTree>
    <p:extLst>
      <p:ext uri="{BB962C8B-B14F-4D97-AF65-F5344CB8AC3E}">
        <p14:creationId xmlns:p14="http://schemas.microsoft.com/office/powerpoint/2010/main" val="324528526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Inter-annotator agreement on the 100 overlap posts, per set. Representative sentiment kappa is 0.39, fair; challenge is 0.59. Most disagreements are one pattern: posts I labelled not happy that the second annotator labelled neutral, typically questions about compensation, troubleshooting tips or second-hand reports. My guide never said whether a failure report is a complaint or a fact; it now does, and the second annotator's final pass applied that rule.</a:t>
            </a:r>
          </a:p>
          <a:p>
            <a:endParaRPr/>
          </a:p>
          <a:p>
            <a:r>
              <a:t>Two earlier versions of the second annotator's sheet are superseded: the first contradicted their own notes and matched mine, the second only revised sentiment. The version used was relabelled with their own notes throughout; no notes match mine and 9 of 40 challenge rows match on every field. Issue agreement is high for network quality, 0.79, but low for devices, app and customer service.</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Per-class detail. VADER's weakness is not-happy recall: 0.34. GPT-4o-mini recovers 75% of complaints. GPT-4o is more conservative on happy, with recall 0.38, which is why it doesn't beat mini overall.</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lgn="l">
              <a:buNone/>
            </a:pPr>
            <a:r>
              <a:rPr lang="en-US" dirty="0"/>
              <a:t>A</a:t>
            </a:r>
            <a:r>
              <a:rPr lang="en-US" sz="1200" b="0" i="0" dirty="0">
                <a:solidFill>
                  <a:schemeClr val="tx1"/>
                </a:solidFill>
                <a:effectLst/>
                <a:latin typeface="+mn-lt"/>
              </a:rPr>
              <a:t> post can carry several issue labels. How many it actually gets depends on the method:</a:t>
            </a:r>
          </a:p>
          <a:p>
            <a:pPr marL="342900" lvl="0" indent="-342900" algn="l">
              <a:buFont typeface="Arial" panose="020B0604020202020204" pitchFamily="34" charset="0"/>
              <a:buChar char="•"/>
            </a:pPr>
            <a:r>
              <a:rPr lang="en-US" sz="1200" b="1" i="0" dirty="0">
                <a:solidFill>
                  <a:schemeClr val="tx1"/>
                </a:solidFill>
                <a:effectLst/>
                <a:latin typeface="+mn-lt"/>
              </a:rPr>
              <a:t>Keyword rules</a:t>
            </a:r>
            <a:r>
              <a:rPr lang="en-US" sz="1200" b="0" i="0" dirty="0">
                <a:solidFill>
                  <a:schemeClr val="tx1"/>
                </a:solidFill>
                <a:effectLst/>
                <a:latin typeface="+mn-lt"/>
              </a:rPr>
              <a:t> tag every label whose keywords appear. A post mentioning roaming charges and a wrong bill gets both Roaming and Billing &amp; Payment.</a:t>
            </a:r>
          </a:p>
          <a:p>
            <a:pPr marL="342900" lvl="0" indent="-342900" algn="l">
              <a:buFont typeface="Arial" panose="020B0604020202020204" pitchFamily="34" charset="0"/>
              <a:buChar char="•"/>
            </a:pPr>
            <a:r>
              <a:rPr lang="en-US" sz="1200" b="1" i="0" dirty="0">
                <a:solidFill>
                  <a:schemeClr val="tx1"/>
                </a:solidFill>
                <a:effectLst/>
                <a:latin typeface="+mn-lt"/>
              </a:rPr>
              <a:t>LLMs</a:t>
            </a:r>
            <a:r>
              <a:rPr lang="en-US" sz="1200" b="0" i="0" dirty="0">
                <a:solidFill>
                  <a:schemeClr val="tx1"/>
                </a:solidFill>
                <a:effectLst/>
                <a:latin typeface="+mn-lt"/>
              </a:rPr>
              <a:t> are allowed to return several labels, but they usually return one or two. That's the "incomplete" part: they miss the secondary topics, which lowers their recall and is a big reason they scored below the rules.</a:t>
            </a:r>
          </a:p>
          <a:p>
            <a:pPr marL="342900" lvl="0" indent="-342900" algn="l">
              <a:buFont typeface="Arial" panose="020B0604020202020204" pitchFamily="34" charset="0"/>
              <a:buChar char="•"/>
            </a:pPr>
            <a:r>
              <a:rPr lang="en-US" sz="1200" b="1" i="0" dirty="0">
                <a:solidFill>
                  <a:schemeClr val="tx1"/>
                </a:solidFill>
                <a:effectLst/>
                <a:latin typeface="+mn-lt"/>
              </a:rPr>
              <a:t>The hybrid</a:t>
            </a:r>
            <a:r>
              <a:rPr lang="en-US" sz="1200" b="0" i="0" dirty="0">
                <a:solidFill>
                  <a:schemeClr val="tx1"/>
                </a:solidFill>
                <a:effectLst/>
                <a:latin typeface="+mn-lt"/>
              </a:rPr>
              <a:t> keeps the rule labels and only sends posts with no rule match to GPT-4o. So the LLM's habit of returning one topic only affects posts the rules couldn't place at all, which limits the damage.</a:t>
            </a:r>
          </a:p>
          <a:p>
            <a:pPr indent="0" algn="l">
              <a:buNone/>
            </a:pPr>
            <a:r>
              <a:rPr lang="en-US" sz="1200" b="0" i="0" dirty="0">
                <a:solidFill>
                  <a:schemeClr val="tx1"/>
                </a:solidFill>
                <a:effectLst/>
                <a:latin typeface="+mn-lt"/>
              </a:rPr>
              <a:t>That has three effects on your numbers:</a:t>
            </a:r>
          </a:p>
          <a:p>
            <a:pPr marL="342900" lvl="0" indent="-342900" algn="l">
              <a:buFont typeface="Arial" panose="020B0604020202020204" pitchFamily="34" charset="0"/>
              <a:buChar char="•"/>
            </a:pPr>
            <a:r>
              <a:rPr lang="en-US" sz="1200" b="1" i="0" dirty="0">
                <a:solidFill>
                  <a:schemeClr val="tx1"/>
                </a:solidFill>
                <a:effectLst/>
                <a:latin typeface="+mn-lt"/>
              </a:rPr>
              <a:t>The slide 9 shares</a:t>
            </a:r>
            <a:r>
              <a:rPr lang="en-US" sz="1200" b="0" i="0" dirty="0">
                <a:solidFill>
                  <a:schemeClr val="tx1"/>
                </a:solidFill>
                <a:effectLst/>
                <a:latin typeface="+mn-lt"/>
              </a:rPr>
              <a:t> (Network 41% and so on) count each post once, by its main issue, so they add to 100%. A post's secondary topics don't appear there.</a:t>
            </a:r>
          </a:p>
          <a:p>
            <a:pPr marL="342900" lvl="0" indent="-342900" algn="l">
              <a:buFont typeface="Arial" panose="020B0604020202020204" pitchFamily="34" charset="0"/>
              <a:buChar char="•"/>
            </a:pPr>
            <a:r>
              <a:rPr lang="en-US" sz="1200" b="1" i="0" dirty="0">
                <a:solidFill>
                  <a:schemeClr val="tx1"/>
                </a:solidFill>
                <a:effectLst/>
                <a:latin typeface="+mn-lt"/>
              </a:rPr>
              <a:t>Label counts</a:t>
            </a:r>
            <a:r>
              <a:rPr lang="en-US" sz="1200" b="0" i="0" dirty="0">
                <a:solidFill>
                  <a:schemeClr val="tx1"/>
                </a:solidFill>
                <a:effectLst/>
                <a:latin typeface="+mn-lt"/>
              </a:rPr>
              <a:t>, like the General Discussion chart, count every label a post has, so one post can add to several bars.</a:t>
            </a:r>
          </a:p>
          <a:p>
            <a:pPr marL="342900" lvl="0" indent="-342900" algn="l">
              <a:buFont typeface="Arial" panose="020B0604020202020204" pitchFamily="34" charset="0"/>
              <a:buChar char="•"/>
            </a:pPr>
            <a:r>
              <a:rPr lang="en-US" sz="1200" b="1" i="0" dirty="0">
                <a:solidFill>
                  <a:schemeClr val="tx1"/>
                </a:solidFill>
                <a:effectLst/>
                <a:latin typeface="+mn-lt"/>
              </a:rPr>
              <a:t>Sentiment</a:t>
            </a:r>
            <a:r>
              <a:rPr lang="en-US" sz="1200" b="0" i="0" dirty="0">
                <a:solidFill>
                  <a:schemeClr val="tx1"/>
                </a:solidFill>
                <a:effectLst/>
                <a:latin typeface="+mn-lt"/>
              </a:rPr>
              <a:t> is one label per post. A post that's angry about billing but neutral about roaming gives the same "not happy" to both issues, which can blur which issue is driving the complaint. That's the issue-level version of your "one sentiment copied to every brand" limitation.</a:t>
            </a:r>
          </a:p>
          <a:p>
            <a:pPr indent="0" algn="l">
              <a:buNone/>
            </a:pPr>
            <a:r>
              <a:rPr lang="en-US" sz="800" b="0" i="0" dirty="0">
                <a:solidFill>
                  <a:schemeClr val="tx1"/>
                </a:solidFill>
                <a:effectLst/>
                <a:latin typeface="+mn-lt"/>
              </a:rPr>
              <a:t>Your gold labels often give a post two or three topics. An LLM that returns only one of them is right about that one, which is the "precise" part. But it misses the others, so its recall drops, and F1 is the balance of precision and recall. The keyword rules tag every topic whose keywords appear. That catches more of the real topics, at the price of some false tags.</a:t>
            </a:r>
          </a:p>
          <a:p>
            <a:pPr indent="0" algn="l">
              <a:buNone/>
            </a:pPr>
            <a:r>
              <a:rPr lang="en-US" sz="800" b="0" i="0" dirty="0">
                <a:solidFill>
                  <a:schemeClr val="tx1"/>
                </a:solidFill>
                <a:effectLst/>
                <a:latin typeface="+mn-lt"/>
              </a:rPr>
              <a:t>Equipment jargon adds to it. Rules know terms like "ONR" and "CGNAT". The LLMs read those posts as general chat, so on Devices the rules found 81% of posts and GPT-4o 25%.</a:t>
            </a:r>
            <a:endParaRPr lang="en-US" sz="300" b="0" i="0" dirty="0">
              <a:solidFill>
                <a:srgbClr val="BFBFBF"/>
              </a:solidFill>
              <a:effectLst/>
              <a:latin typeface="-apple-system"/>
            </a:endParaRPr>
          </a:p>
          <a:p>
            <a:pPr marL="342900" lvl="0" indent="-342900" algn="l">
              <a:buFont typeface="Arial" panose="020B0604020202020204" pitchFamily="34" charset="0"/>
              <a:buChar char="•"/>
            </a:pPr>
            <a:endParaRPr lang="en-US" sz="800" b="0" i="0" dirty="0">
              <a:solidFill>
                <a:srgbClr val="3B3B3B"/>
              </a:solidFill>
              <a:effectLst/>
              <a:latin typeface="-apple-system"/>
            </a:endParaRPr>
          </a:p>
        </p:txBody>
      </p:sp>
      <p:sp>
        <p:nvSpPr>
          <p:cNvPr id="4" name="Slide Number Placeholder 3"/>
          <p:cNvSpPr>
            <a:spLocks noGrp="1"/>
          </p:cNvSpPr>
          <p:nvPr>
            <p:ph type="sldNum" sz="quarter" idx="5"/>
          </p:nvPr>
        </p:nvSpPr>
        <p:spPr/>
        <p:txBody>
          <a:bodyPr/>
          <a:lstStyle/>
          <a:p>
            <a:fld id="{720DB06B-229C-144D-A3B7-AAAA8C5554AE}" type="slidenum">
              <a:rPr lang="en-US" smtClean="0"/>
              <a:t>40</a:t>
            </a:fld>
            <a:endParaRPr lang="en-US"/>
          </a:p>
        </p:txBody>
      </p:sp>
    </p:spTree>
    <p:extLst>
      <p:ext uri="{BB962C8B-B14F-4D97-AF65-F5344CB8AC3E}">
        <p14:creationId xmlns:p14="http://schemas.microsoft.com/office/powerpoint/2010/main" val="9544292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rule behind the taxonomy: if two problems are fixed by different teams, they get different labels. My first draft used coarser labels, and you can still see them in the representative gold set: Mobile Plans &amp; Pricing, Customer Service &amp; Account, Network Outage &amp; Connectivity. The scorer maps those old names onto the new ones. I split them because a price rise goes to Commercial while a plan allowance goes to Product, and a hotline complaint goes to service operations while a login failure goes to the digital team. Small labels stay when they are sharp: Customer Service is only 4% of posts but the angriest label at 59% not happy. General Discussion is deliberately a residual, which is what made the hybrid possible: GPT-4o re-reads only those posts. The honest cost is the bottom line: finer labels are harder for humans to agree on.</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1810098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5D93A-A78D-456C-F1BA-C5BF20B8D42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AA78692F-B32A-169A-745A-C3A71CBDBAE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B0808EA3-7C93-10F3-146A-44FFC8D82DFA}"/>
              </a:ext>
            </a:extLst>
          </p:cNvPr>
          <p:cNvSpPr>
            <a:spLocks noGrp="1"/>
          </p:cNvSpPr>
          <p:nvPr>
            <p:ph type="dt" sz="half" idx="10"/>
          </p:nvPr>
        </p:nvSpPr>
        <p:spPr/>
        <p:txBody>
          <a:bodyPr/>
          <a:lstStyle/>
          <a:p>
            <a:fld id="{E19AD244-9817-3047-A477-01BB4324E821}" type="datetimeFigureOut">
              <a:rPr lang="en-US" smtClean="0"/>
              <a:t>10/7/26</a:t>
            </a:fld>
            <a:endParaRPr lang="en-US"/>
          </a:p>
        </p:txBody>
      </p:sp>
      <p:sp>
        <p:nvSpPr>
          <p:cNvPr id="5" name="Footer Placeholder 4">
            <a:extLst>
              <a:ext uri="{FF2B5EF4-FFF2-40B4-BE49-F238E27FC236}">
                <a16:creationId xmlns:a16="http://schemas.microsoft.com/office/drawing/2014/main" id="{183EE075-8833-3C5C-C71C-BE8CB66F95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E93EC6-D01C-BFF2-3749-9CD174CCA840}"/>
              </a:ext>
            </a:extLst>
          </p:cNvPr>
          <p:cNvSpPr>
            <a:spLocks noGrp="1"/>
          </p:cNvSpPr>
          <p:nvPr>
            <p:ph type="sldNum" sz="quarter" idx="12"/>
          </p:nvPr>
        </p:nvSpPr>
        <p:spPr/>
        <p:txBody>
          <a:bodyPr/>
          <a:lstStyle/>
          <a:p>
            <a:fld id="{B12FB5B2-ACED-4C4A-A8C8-EE412B7C9949}" type="slidenum">
              <a:rPr lang="en-US" smtClean="0"/>
              <a:t>‹#›</a:t>
            </a:fld>
            <a:endParaRPr lang="en-US"/>
          </a:p>
        </p:txBody>
      </p:sp>
    </p:spTree>
    <p:extLst>
      <p:ext uri="{BB962C8B-B14F-4D97-AF65-F5344CB8AC3E}">
        <p14:creationId xmlns:p14="http://schemas.microsoft.com/office/powerpoint/2010/main" val="6770550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67E07-11EA-F563-1F9C-0AE786CF12E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D98740D-D49C-40BC-4390-2249BC1583B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023ED43-67BA-16A3-A7F3-C3D0A98E25B2}"/>
              </a:ext>
            </a:extLst>
          </p:cNvPr>
          <p:cNvSpPr>
            <a:spLocks noGrp="1"/>
          </p:cNvSpPr>
          <p:nvPr>
            <p:ph type="dt" sz="half" idx="10"/>
          </p:nvPr>
        </p:nvSpPr>
        <p:spPr/>
        <p:txBody>
          <a:bodyPr/>
          <a:lstStyle/>
          <a:p>
            <a:fld id="{E19AD244-9817-3047-A477-01BB4324E821}" type="datetimeFigureOut">
              <a:rPr lang="en-US" smtClean="0"/>
              <a:t>10/7/26</a:t>
            </a:fld>
            <a:endParaRPr lang="en-US"/>
          </a:p>
        </p:txBody>
      </p:sp>
      <p:sp>
        <p:nvSpPr>
          <p:cNvPr id="5" name="Footer Placeholder 4">
            <a:extLst>
              <a:ext uri="{FF2B5EF4-FFF2-40B4-BE49-F238E27FC236}">
                <a16:creationId xmlns:a16="http://schemas.microsoft.com/office/drawing/2014/main" id="{8B722EB8-E5BF-463E-F3FE-18471E2970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70D48C-AD49-50E4-82CF-D1A68C52AEE8}"/>
              </a:ext>
            </a:extLst>
          </p:cNvPr>
          <p:cNvSpPr>
            <a:spLocks noGrp="1"/>
          </p:cNvSpPr>
          <p:nvPr>
            <p:ph type="sldNum" sz="quarter" idx="12"/>
          </p:nvPr>
        </p:nvSpPr>
        <p:spPr/>
        <p:txBody>
          <a:bodyPr/>
          <a:lstStyle/>
          <a:p>
            <a:fld id="{B12FB5B2-ACED-4C4A-A8C8-EE412B7C9949}" type="slidenum">
              <a:rPr lang="en-US" smtClean="0"/>
              <a:t>‹#›</a:t>
            </a:fld>
            <a:endParaRPr lang="en-US"/>
          </a:p>
        </p:txBody>
      </p:sp>
    </p:spTree>
    <p:extLst>
      <p:ext uri="{BB962C8B-B14F-4D97-AF65-F5344CB8AC3E}">
        <p14:creationId xmlns:p14="http://schemas.microsoft.com/office/powerpoint/2010/main" val="19452076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272EF-75C9-2E16-0370-7750DB5C649F}"/>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963D0E5-3F98-571A-907B-1BE411D23B5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13AC597-EFF4-69FF-D84C-F9FE4370DA99}"/>
              </a:ext>
            </a:extLst>
          </p:cNvPr>
          <p:cNvSpPr>
            <a:spLocks noGrp="1"/>
          </p:cNvSpPr>
          <p:nvPr>
            <p:ph type="dt" sz="half" idx="10"/>
          </p:nvPr>
        </p:nvSpPr>
        <p:spPr/>
        <p:txBody>
          <a:bodyPr/>
          <a:lstStyle/>
          <a:p>
            <a:fld id="{E19AD244-9817-3047-A477-01BB4324E821}" type="datetimeFigureOut">
              <a:rPr lang="en-US" smtClean="0"/>
              <a:t>10/7/26</a:t>
            </a:fld>
            <a:endParaRPr lang="en-US"/>
          </a:p>
        </p:txBody>
      </p:sp>
      <p:sp>
        <p:nvSpPr>
          <p:cNvPr id="5" name="Footer Placeholder 4">
            <a:extLst>
              <a:ext uri="{FF2B5EF4-FFF2-40B4-BE49-F238E27FC236}">
                <a16:creationId xmlns:a16="http://schemas.microsoft.com/office/drawing/2014/main" id="{05F943EC-46E5-AE54-23D0-82DB819033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4F4554-8AE4-8312-F8E2-FDB1F9967BFE}"/>
              </a:ext>
            </a:extLst>
          </p:cNvPr>
          <p:cNvSpPr>
            <a:spLocks noGrp="1"/>
          </p:cNvSpPr>
          <p:nvPr>
            <p:ph type="sldNum" sz="quarter" idx="12"/>
          </p:nvPr>
        </p:nvSpPr>
        <p:spPr/>
        <p:txBody>
          <a:bodyPr/>
          <a:lstStyle/>
          <a:p>
            <a:fld id="{B12FB5B2-ACED-4C4A-A8C8-EE412B7C9949}" type="slidenum">
              <a:rPr lang="en-US" smtClean="0"/>
              <a:t>‹#›</a:t>
            </a:fld>
            <a:endParaRPr lang="en-US"/>
          </a:p>
        </p:txBody>
      </p:sp>
    </p:spTree>
    <p:extLst>
      <p:ext uri="{BB962C8B-B14F-4D97-AF65-F5344CB8AC3E}">
        <p14:creationId xmlns:p14="http://schemas.microsoft.com/office/powerpoint/2010/main" val="36847567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5B14E-EC1A-CEB7-3DD9-FC55628A9C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2CFC9A5-B5E6-C23B-3DAF-851168FB7F1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09E52D71-CE41-A530-E2A9-8A34AE6A57F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DEF3C509-125D-EFFE-7A85-3D82B6446203}"/>
              </a:ext>
            </a:extLst>
          </p:cNvPr>
          <p:cNvSpPr>
            <a:spLocks noGrp="1"/>
          </p:cNvSpPr>
          <p:nvPr>
            <p:ph type="dt" sz="half" idx="10"/>
          </p:nvPr>
        </p:nvSpPr>
        <p:spPr/>
        <p:txBody>
          <a:bodyPr/>
          <a:lstStyle/>
          <a:p>
            <a:fld id="{E19AD244-9817-3047-A477-01BB4324E821}" type="datetimeFigureOut">
              <a:rPr lang="en-US" smtClean="0"/>
              <a:t>10/7/26</a:t>
            </a:fld>
            <a:endParaRPr lang="en-US"/>
          </a:p>
        </p:txBody>
      </p:sp>
      <p:sp>
        <p:nvSpPr>
          <p:cNvPr id="6" name="Footer Placeholder 5">
            <a:extLst>
              <a:ext uri="{FF2B5EF4-FFF2-40B4-BE49-F238E27FC236}">
                <a16:creationId xmlns:a16="http://schemas.microsoft.com/office/drawing/2014/main" id="{E70C51B3-076F-63FC-7BB1-985DF75617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63FD6E-B166-5C00-0CB4-9FC2570FBAE0}"/>
              </a:ext>
            </a:extLst>
          </p:cNvPr>
          <p:cNvSpPr>
            <a:spLocks noGrp="1"/>
          </p:cNvSpPr>
          <p:nvPr>
            <p:ph type="sldNum" sz="quarter" idx="12"/>
          </p:nvPr>
        </p:nvSpPr>
        <p:spPr/>
        <p:txBody>
          <a:bodyPr/>
          <a:lstStyle/>
          <a:p>
            <a:fld id="{B12FB5B2-ACED-4C4A-A8C8-EE412B7C9949}" type="slidenum">
              <a:rPr lang="en-US" smtClean="0"/>
              <a:t>‹#›</a:t>
            </a:fld>
            <a:endParaRPr lang="en-US"/>
          </a:p>
        </p:txBody>
      </p:sp>
    </p:spTree>
    <p:extLst>
      <p:ext uri="{BB962C8B-B14F-4D97-AF65-F5344CB8AC3E}">
        <p14:creationId xmlns:p14="http://schemas.microsoft.com/office/powerpoint/2010/main" val="25001504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BA6DF-0F05-E6C7-2805-9C9C995D8DE7}"/>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3CED22C-3A89-A029-AB65-907D88E562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372B57E-C6AC-E68E-61CB-DD1707A4A6D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B9E59FC8-F21E-CA83-82B3-0127A97F6A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45968AB-CA15-E8FE-4FBF-19E9A51FF1E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482BED5E-115E-4FB1-E015-7843EAF3A505}"/>
              </a:ext>
            </a:extLst>
          </p:cNvPr>
          <p:cNvSpPr>
            <a:spLocks noGrp="1"/>
          </p:cNvSpPr>
          <p:nvPr>
            <p:ph type="dt" sz="half" idx="10"/>
          </p:nvPr>
        </p:nvSpPr>
        <p:spPr/>
        <p:txBody>
          <a:bodyPr/>
          <a:lstStyle/>
          <a:p>
            <a:fld id="{E19AD244-9817-3047-A477-01BB4324E821}" type="datetimeFigureOut">
              <a:rPr lang="en-US" smtClean="0"/>
              <a:t>10/7/26</a:t>
            </a:fld>
            <a:endParaRPr lang="en-US"/>
          </a:p>
        </p:txBody>
      </p:sp>
      <p:sp>
        <p:nvSpPr>
          <p:cNvPr id="8" name="Footer Placeholder 7">
            <a:extLst>
              <a:ext uri="{FF2B5EF4-FFF2-40B4-BE49-F238E27FC236}">
                <a16:creationId xmlns:a16="http://schemas.microsoft.com/office/drawing/2014/main" id="{2AE0651A-B93D-949B-46F6-F962BB566A3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281BCBC-FF65-6343-4349-4C9E35E2A359}"/>
              </a:ext>
            </a:extLst>
          </p:cNvPr>
          <p:cNvSpPr>
            <a:spLocks noGrp="1"/>
          </p:cNvSpPr>
          <p:nvPr>
            <p:ph type="sldNum" sz="quarter" idx="12"/>
          </p:nvPr>
        </p:nvSpPr>
        <p:spPr/>
        <p:txBody>
          <a:bodyPr/>
          <a:lstStyle/>
          <a:p>
            <a:fld id="{B12FB5B2-ACED-4C4A-A8C8-EE412B7C9949}" type="slidenum">
              <a:rPr lang="en-US" smtClean="0"/>
              <a:t>‹#›</a:t>
            </a:fld>
            <a:endParaRPr lang="en-US"/>
          </a:p>
        </p:txBody>
      </p:sp>
    </p:spTree>
    <p:extLst>
      <p:ext uri="{BB962C8B-B14F-4D97-AF65-F5344CB8AC3E}">
        <p14:creationId xmlns:p14="http://schemas.microsoft.com/office/powerpoint/2010/main" val="36140803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7C978-B833-9211-A322-1907EE2B33F9}"/>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8DB7869B-0DA1-1A4F-B73F-D49D0BEE0A9A}"/>
              </a:ext>
            </a:extLst>
          </p:cNvPr>
          <p:cNvSpPr>
            <a:spLocks noGrp="1"/>
          </p:cNvSpPr>
          <p:nvPr>
            <p:ph type="dt" sz="half" idx="10"/>
          </p:nvPr>
        </p:nvSpPr>
        <p:spPr/>
        <p:txBody>
          <a:bodyPr/>
          <a:lstStyle/>
          <a:p>
            <a:fld id="{E19AD244-9817-3047-A477-01BB4324E821}" type="datetimeFigureOut">
              <a:rPr lang="en-US" smtClean="0"/>
              <a:t>10/7/26</a:t>
            </a:fld>
            <a:endParaRPr lang="en-US"/>
          </a:p>
        </p:txBody>
      </p:sp>
      <p:sp>
        <p:nvSpPr>
          <p:cNvPr id="4" name="Footer Placeholder 3">
            <a:extLst>
              <a:ext uri="{FF2B5EF4-FFF2-40B4-BE49-F238E27FC236}">
                <a16:creationId xmlns:a16="http://schemas.microsoft.com/office/drawing/2014/main" id="{C1B1C5F0-293E-1718-606A-4C5A6A305A4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9397E27-3F50-3DFC-04E7-DC7823E0D839}"/>
              </a:ext>
            </a:extLst>
          </p:cNvPr>
          <p:cNvSpPr>
            <a:spLocks noGrp="1"/>
          </p:cNvSpPr>
          <p:nvPr>
            <p:ph type="sldNum" sz="quarter" idx="12"/>
          </p:nvPr>
        </p:nvSpPr>
        <p:spPr/>
        <p:txBody>
          <a:bodyPr/>
          <a:lstStyle/>
          <a:p>
            <a:fld id="{B12FB5B2-ACED-4C4A-A8C8-EE412B7C9949}" type="slidenum">
              <a:rPr lang="en-US" smtClean="0"/>
              <a:t>‹#›</a:t>
            </a:fld>
            <a:endParaRPr lang="en-US"/>
          </a:p>
        </p:txBody>
      </p:sp>
    </p:spTree>
    <p:extLst>
      <p:ext uri="{BB962C8B-B14F-4D97-AF65-F5344CB8AC3E}">
        <p14:creationId xmlns:p14="http://schemas.microsoft.com/office/powerpoint/2010/main" val="3906934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03F74F-D7A7-9C62-7E6C-E902134E7761}"/>
              </a:ext>
            </a:extLst>
          </p:cNvPr>
          <p:cNvSpPr>
            <a:spLocks noGrp="1"/>
          </p:cNvSpPr>
          <p:nvPr>
            <p:ph type="dt" sz="half" idx="10"/>
          </p:nvPr>
        </p:nvSpPr>
        <p:spPr/>
        <p:txBody>
          <a:bodyPr/>
          <a:lstStyle/>
          <a:p>
            <a:fld id="{E19AD244-9817-3047-A477-01BB4324E821}" type="datetimeFigureOut">
              <a:rPr lang="en-US" smtClean="0"/>
              <a:t>10/7/26</a:t>
            </a:fld>
            <a:endParaRPr lang="en-US"/>
          </a:p>
        </p:txBody>
      </p:sp>
      <p:sp>
        <p:nvSpPr>
          <p:cNvPr id="3" name="Footer Placeholder 2">
            <a:extLst>
              <a:ext uri="{FF2B5EF4-FFF2-40B4-BE49-F238E27FC236}">
                <a16:creationId xmlns:a16="http://schemas.microsoft.com/office/drawing/2014/main" id="{ED4DF2B7-8126-E8F1-B5B8-AC75F608174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7D22276-0EA4-C769-712B-96406B40DE80}"/>
              </a:ext>
            </a:extLst>
          </p:cNvPr>
          <p:cNvSpPr>
            <a:spLocks noGrp="1"/>
          </p:cNvSpPr>
          <p:nvPr>
            <p:ph type="sldNum" sz="quarter" idx="12"/>
          </p:nvPr>
        </p:nvSpPr>
        <p:spPr/>
        <p:txBody>
          <a:bodyPr/>
          <a:lstStyle/>
          <a:p>
            <a:fld id="{B12FB5B2-ACED-4C4A-A8C8-EE412B7C9949}" type="slidenum">
              <a:rPr lang="en-US" smtClean="0"/>
              <a:t>‹#›</a:t>
            </a:fld>
            <a:endParaRPr lang="en-US"/>
          </a:p>
        </p:txBody>
      </p:sp>
    </p:spTree>
    <p:extLst>
      <p:ext uri="{BB962C8B-B14F-4D97-AF65-F5344CB8AC3E}">
        <p14:creationId xmlns:p14="http://schemas.microsoft.com/office/powerpoint/2010/main" val="37499276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73AD2-9D3C-5150-D437-15D421F1BAA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0D13E28F-87A5-40AC-B60D-9489BA23250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83A44B67-8155-7EC9-1A06-8BA387F345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14F341F-50F0-5397-23A0-8117B6EDB456}"/>
              </a:ext>
            </a:extLst>
          </p:cNvPr>
          <p:cNvSpPr>
            <a:spLocks noGrp="1"/>
          </p:cNvSpPr>
          <p:nvPr>
            <p:ph type="dt" sz="half" idx="10"/>
          </p:nvPr>
        </p:nvSpPr>
        <p:spPr/>
        <p:txBody>
          <a:bodyPr/>
          <a:lstStyle/>
          <a:p>
            <a:fld id="{E19AD244-9817-3047-A477-01BB4324E821}" type="datetimeFigureOut">
              <a:rPr lang="en-US" smtClean="0"/>
              <a:t>10/7/26</a:t>
            </a:fld>
            <a:endParaRPr lang="en-US"/>
          </a:p>
        </p:txBody>
      </p:sp>
      <p:sp>
        <p:nvSpPr>
          <p:cNvPr id="6" name="Footer Placeholder 5">
            <a:extLst>
              <a:ext uri="{FF2B5EF4-FFF2-40B4-BE49-F238E27FC236}">
                <a16:creationId xmlns:a16="http://schemas.microsoft.com/office/drawing/2014/main" id="{A07862B8-8739-0123-8D80-D1AB6AF71D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E4B092-2DAD-4C07-BD9E-31DB7CDCBA03}"/>
              </a:ext>
            </a:extLst>
          </p:cNvPr>
          <p:cNvSpPr>
            <a:spLocks noGrp="1"/>
          </p:cNvSpPr>
          <p:nvPr>
            <p:ph type="sldNum" sz="quarter" idx="12"/>
          </p:nvPr>
        </p:nvSpPr>
        <p:spPr/>
        <p:txBody>
          <a:bodyPr/>
          <a:lstStyle/>
          <a:p>
            <a:fld id="{B12FB5B2-ACED-4C4A-A8C8-EE412B7C9949}" type="slidenum">
              <a:rPr lang="en-US" smtClean="0"/>
              <a:t>‹#›</a:t>
            </a:fld>
            <a:endParaRPr lang="en-US"/>
          </a:p>
        </p:txBody>
      </p:sp>
    </p:spTree>
    <p:extLst>
      <p:ext uri="{BB962C8B-B14F-4D97-AF65-F5344CB8AC3E}">
        <p14:creationId xmlns:p14="http://schemas.microsoft.com/office/powerpoint/2010/main" val="37323481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72020-6A6C-B368-D46A-1C98B40EFFF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A29D2D6-51AF-B2CF-15D0-95666FB7A89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F06F60A-1702-A309-3FEC-7B39FE5ABB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6AD23A4-0EB1-3CF3-B6AA-38A9C6629B57}"/>
              </a:ext>
            </a:extLst>
          </p:cNvPr>
          <p:cNvSpPr>
            <a:spLocks noGrp="1"/>
          </p:cNvSpPr>
          <p:nvPr>
            <p:ph type="dt" sz="half" idx="10"/>
          </p:nvPr>
        </p:nvSpPr>
        <p:spPr/>
        <p:txBody>
          <a:bodyPr/>
          <a:lstStyle/>
          <a:p>
            <a:fld id="{E19AD244-9817-3047-A477-01BB4324E821}" type="datetimeFigureOut">
              <a:rPr lang="en-US" smtClean="0"/>
              <a:t>10/7/26</a:t>
            </a:fld>
            <a:endParaRPr lang="en-US"/>
          </a:p>
        </p:txBody>
      </p:sp>
      <p:sp>
        <p:nvSpPr>
          <p:cNvPr id="6" name="Footer Placeholder 5">
            <a:extLst>
              <a:ext uri="{FF2B5EF4-FFF2-40B4-BE49-F238E27FC236}">
                <a16:creationId xmlns:a16="http://schemas.microsoft.com/office/drawing/2014/main" id="{F59A9EDD-8DA4-073C-FE48-7F932F9731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303D31-F6FC-8FA6-B178-73DE54167299}"/>
              </a:ext>
            </a:extLst>
          </p:cNvPr>
          <p:cNvSpPr>
            <a:spLocks noGrp="1"/>
          </p:cNvSpPr>
          <p:nvPr>
            <p:ph type="sldNum" sz="quarter" idx="12"/>
          </p:nvPr>
        </p:nvSpPr>
        <p:spPr/>
        <p:txBody>
          <a:bodyPr/>
          <a:lstStyle/>
          <a:p>
            <a:fld id="{B12FB5B2-ACED-4C4A-A8C8-EE412B7C9949}" type="slidenum">
              <a:rPr lang="en-US" smtClean="0"/>
              <a:t>‹#›</a:t>
            </a:fld>
            <a:endParaRPr lang="en-US"/>
          </a:p>
        </p:txBody>
      </p:sp>
    </p:spTree>
    <p:extLst>
      <p:ext uri="{BB962C8B-B14F-4D97-AF65-F5344CB8AC3E}">
        <p14:creationId xmlns:p14="http://schemas.microsoft.com/office/powerpoint/2010/main" val="34026924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A48DD-BAD4-AAEE-CB1A-8586FAFEA209}"/>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EBBFBC6-D2A8-42C7-CD7F-D4D1E58086A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B5CEE1B-FE4D-B5A9-D7C0-2B4D01E584A2}"/>
              </a:ext>
            </a:extLst>
          </p:cNvPr>
          <p:cNvSpPr>
            <a:spLocks noGrp="1"/>
          </p:cNvSpPr>
          <p:nvPr>
            <p:ph type="dt" sz="half" idx="10"/>
          </p:nvPr>
        </p:nvSpPr>
        <p:spPr/>
        <p:txBody>
          <a:bodyPr/>
          <a:lstStyle/>
          <a:p>
            <a:fld id="{E19AD244-9817-3047-A477-01BB4324E821}" type="datetimeFigureOut">
              <a:rPr lang="en-US" smtClean="0"/>
              <a:t>10/7/26</a:t>
            </a:fld>
            <a:endParaRPr lang="en-US"/>
          </a:p>
        </p:txBody>
      </p:sp>
      <p:sp>
        <p:nvSpPr>
          <p:cNvPr id="5" name="Footer Placeholder 4">
            <a:extLst>
              <a:ext uri="{FF2B5EF4-FFF2-40B4-BE49-F238E27FC236}">
                <a16:creationId xmlns:a16="http://schemas.microsoft.com/office/drawing/2014/main" id="{645C7891-942A-46F2-66C2-0A86A81882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BA9B9F-0006-FD0C-BAEA-9C3C96E7E9EE}"/>
              </a:ext>
            </a:extLst>
          </p:cNvPr>
          <p:cNvSpPr>
            <a:spLocks noGrp="1"/>
          </p:cNvSpPr>
          <p:nvPr>
            <p:ph type="sldNum" sz="quarter" idx="12"/>
          </p:nvPr>
        </p:nvSpPr>
        <p:spPr/>
        <p:txBody>
          <a:bodyPr/>
          <a:lstStyle/>
          <a:p>
            <a:fld id="{B12FB5B2-ACED-4C4A-A8C8-EE412B7C9949}" type="slidenum">
              <a:rPr lang="en-US" smtClean="0"/>
              <a:t>‹#›</a:t>
            </a:fld>
            <a:endParaRPr lang="en-US"/>
          </a:p>
        </p:txBody>
      </p:sp>
    </p:spTree>
    <p:extLst>
      <p:ext uri="{BB962C8B-B14F-4D97-AF65-F5344CB8AC3E}">
        <p14:creationId xmlns:p14="http://schemas.microsoft.com/office/powerpoint/2010/main" val="3899939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AFCF34-E3EC-5BDA-2554-C980D8244C8E}"/>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0329B9C-D8B0-5BD1-55CF-5ADD9945D4F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49A80F5-A5FB-FFBB-9F51-3F12C4FBD532}"/>
              </a:ext>
            </a:extLst>
          </p:cNvPr>
          <p:cNvSpPr>
            <a:spLocks noGrp="1"/>
          </p:cNvSpPr>
          <p:nvPr>
            <p:ph type="dt" sz="half" idx="10"/>
          </p:nvPr>
        </p:nvSpPr>
        <p:spPr/>
        <p:txBody>
          <a:bodyPr/>
          <a:lstStyle/>
          <a:p>
            <a:fld id="{E19AD244-9817-3047-A477-01BB4324E821}" type="datetimeFigureOut">
              <a:rPr lang="en-US" smtClean="0"/>
              <a:t>10/7/26</a:t>
            </a:fld>
            <a:endParaRPr lang="en-US"/>
          </a:p>
        </p:txBody>
      </p:sp>
      <p:sp>
        <p:nvSpPr>
          <p:cNvPr id="5" name="Footer Placeholder 4">
            <a:extLst>
              <a:ext uri="{FF2B5EF4-FFF2-40B4-BE49-F238E27FC236}">
                <a16:creationId xmlns:a16="http://schemas.microsoft.com/office/drawing/2014/main" id="{01703F68-56C9-33AC-BF47-969C054B79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0D6FEE-5CE8-9322-DBFC-1CA839332647}"/>
              </a:ext>
            </a:extLst>
          </p:cNvPr>
          <p:cNvSpPr>
            <a:spLocks noGrp="1"/>
          </p:cNvSpPr>
          <p:nvPr>
            <p:ph type="sldNum" sz="quarter" idx="12"/>
          </p:nvPr>
        </p:nvSpPr>
        <p:spPr/>
        <p:txBody>
          <a:bodyPr/>
          <a:lstStyle/>
          <a:p>
            <a:fld id="{B12FB5B2-ACED-4C4A-A8C8-EE412B7C9949}" type="slidenum">
              <a:rPr lang="en-US" smtClean="0"/>
              <a:t>‹#›</a:t>
            </a:fld>
            <a:endParaRPr lang="en-US"/>
          </a:p>
        </p:txBody>
      </p:sp>
    </p:spTree>
    <p:extLst>
      <p:ext uri="{BB962C8B-B14F-4D97-AF65-F5344CB8AC3E}">
        <p14:creationId xmlns:p14="http://schemas.microsoft.com/office/powerpoint/2010/main" val="37055650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15"/>
        <p:cNvGrpSpPr/>
        <p:nvPr/>
      </p:nvGrpSpPr>
      <p:grpSpPr>
        <a:xfrm>
          <a:off x="0" y="0"/>
          <a:ext cx="0" cy="0"/>
          <a:chOff x="0" y="0"/>
          <a:chExt cx="0" cy="0"/>
        </a:xfrm>
      </p:grpSpPr>
      <p:pic>
        <p:nvPicPr>
          <p:cNvPr id="16" name="Google Shape;16;p7"/>
          <p:cNvPicPr preferRelativeResize="0"/>
          <p:nvPr/>
        </p:nvPicPr>
        <p:blipFill rotWithShape="1">
          <a:blip r:embed="rId2">
            <a:alphaModFix/>
          </a:blip>
          <a:srcRect l="-1" r="49658"/>
          <a:stretch/>
        </p:blipFill>
        <p:spPr>
          <a:xfrm>
            <a:off x="1" y="1"/>
            <a:ext cx="12191999" cy="1362268"/>
          </a:xfrm>
          <a:prstGeom prst="rect">
            <a:avLst/>
          </a:prstGeom>
          <a:noFill/>
          <a:ln>
            <a:noFill/>
          </a:ln>
        </p:spPr>
      </p:pic>
      <p:cxnSp>
        <p:nvCxnSpPr>
          <p:cNvPr id="17" name="Google Shape;17;p7"/>
          <p:cNvCxnSpPr/>
          <p:nvPr/>
        </p:nvCxnSpPr>
        <p:spPr>
          <a:xfrm>
            <a:off x="0" y="1362269"/>
            <a:ext cx="12192000" cy="0"/>
          </a:xfrm>
          <a:prstGeom prst="straightConnector1">
            <a:avLst/>
          </a:prstGeom>
          <a:noFill/>
          <a:ln w="9525" cap="flat" cmpd="sng">
            <a:solidFill>
              <a:srgbClr val="D5A10F"/>
            </a:solidFill>
            <a:prstDash val="solid"/>
            <a:miter lim="800000"/>
            <a:headEnd type="none" w="sm" len="sm"/>
            <a:tailEnd type="none" w="sm" len="sm"/>
          </a:ln>
        </p:spPr>
      </p:cxnSp>
    </p:spTree>
    <p:extLst>
      <p:ext uri="{BB962C8B-B14F-4D97-AF65-F5344CB8AC3E}">
        <p14:creationId xmlns:p14="http://schemas.microsoft.com/office/powerpoint/2010/main" val="29542087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1_Section Header">
    <p:spTree>
      <p:nvGrpSpPr>
        <p:cNvPr id="1" name="Shape 26"/>
        <p:cNvGrpSpPr/>
        <p:nvPr/>
      </p:nvGrpSpPr>
      <p:grpSpPr>
        <a:xfrm>
          <a:off x="0" y="0"/>
          <a:ext cx="0" cy="0"/>
          <a:chOff x="0" y="0"/>
          <a:chExt cx="0" cy="0"/>
        </a:xfrm>
      </p:grpSpPr>
      <p:pic>
        <p:nvPicPr>
          <p:cNvPr id="27" name="Google Shape;27;p8"/>
          <p:cNvPicPr preferRelativeResize="0"/>
          <p:nvPr/>
        </p:nvPicPr>
        <p:blipFill rotWithShape="1">
          <a:blip r:embed="rId2">
            <a:alphaModFix/>
          </a:blip>
          <a:srcRect/>
          <a:stretch/>
        </p:blipFill>
        <p:spPr>
          <a:xfrm>
            <a:off x="0" y="-4761"/>
            <a:ext cx="12192000" cy="685800"/>
          </a:xfrm>
          <a:prstGeom prst="rect">
            <a:avLst/>
          </a:prstGeom>
          <a:noFill/>
          <a:ln>
            <a:noFill/>
          </a:ln>
        </p:spPr>
      </p:pic>
    </p:spTree>
    <p:extLst>
      <p:ext uri="{BB962C8B-B14F-4D97-AF65-F5344CB8AC3E}">
        <p14:creationId xmlns:p14="http://schemas.microsoft.com/office/powerpoint/2010/main" val="2013897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86BB02-548D-7AC0-FD1C-85568EC083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2FE936F-5919-04F5-1F76-7305520289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097F57-260C-C8C2-904E-8DCCA2FBAF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19AD244-9817-3047-A477-01BB4324E821}" type="datetimeFigureOut">
              <a:rPr lang="en-US" smtClean="0"/>
              <a:t>10/7/26</a:t>
            </a:fld>
            <a:endParaRPr lang="en-US"/>
          </a:p>
        </p:txBody>
      </p:sp>
      <p:sp>
        <p:nvSpPr>
          <p:cNvPr id="5" name="Footer Placeholder 4">
            <a:extLst>
              <a:ext uri="{FF2B5EF4-FFF2-40B4-BE49-F238E27FC236}">
                <a16:creationId xmlns:a16="http://schemas.microsoft.com/office/drawing/2014/main" id="{0D763691-8C8F-D460-C5C9-01D86DBE76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F247E2E-EA0A-5DEA-BE96-30CB532606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12FB5B2-ACED-4C4A-A8C8-EE412B7C9949}" type="slidenum">
              <a:rPr lang="en-US" smtClean="0"/>
              <a:t>‹#›</a:t>
            </a:fld>
            <a:endParaRPr lang="en-US"/>
          </a:p>
        </p:txBody>
      </p:sp>
    </p:spTree>
    <p:extLst>
      <p:ext uri="{BB962C8B-B14F-4D97-AF65-F5344CB8AC3E}">
        <p14:creationId xmlns:p14="http://schemas.microsoft.com/office/powerpoint/2010/main" val="167242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microsoft.com/office/2018/10/relationships/comments" Target="../comments/modernComment_10D_0.xml"/><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chart" Target="../charts/chart2.xml"/></Relationships>
</file>

<file path=ppt/slides/_rels/slide16.xml.rels><?xml version="1.0" encoding="UTF-8" standalone="yes"?>
<Relationships xmlns="http://schemas.openxmlformats.org/package/2006/relationships"><Relationship Id="rId3" Type="http://schemas.microsoft.com/office/2018/10/relationships/comments" Target="../comments/modernComment_10E_0.xml"/><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chart" Target="../charts/chart3.xml"/></Relationships>
</file>

<file path=ppt/slides/_rels/slide1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microsoft.com/office/2018/10/relationships/comments" Target="../comments/modernComment_112_0.xml"/><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microsoft.com/office/2018/10/relationships/comments" Target="../comments/modernComment_126_A7261203.xml"/><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1</a:t>
            </a:r>
          </a:p>
        </p:txBody>
      </p:sp>
      <p:sp>
        <p:nvSpPr>
          <p:cNvPr id="3" name="TextBox 2"/>
          <p:cNvSpPr txBox="1"/>
          <p:nvPr/>
        </p:nvSpPr>
        <p:spPr>
          <a:xfrm>
            <a:off x="822959" y="1417320"/>
            <a:ext cx="6949440" cy="1737360"/>
          </a:xfrm>
          <a:prstGeom prst="rect">
            <a:avLst/>
          </a:prstGeom>
          <a:noFill/>
        </p:spPr>
        <p:txBody>
          <a:bodyPr wrap="square" lIns="0" tIns="0" rIns="0" bIns="0" anchor="t">
            <a:spAutoFit/>
          </a:bodyPr>
          <a:lstStyle/>
          <a:p>
            <a:pPr algn="l">
              <a:spcAft>
                <a:spcPts val="0"/>
              </a:spcAft>
            </a:pPr>
            <a:r>
              <a:rPr sz="4400" b="1" i="0" dirty="0">
                <a:solidFill>
                  <a:srgbClr val="1C2E6E"/>
                </a:solidFill>
                <a:latin typeface="Calibri"/>
              </a:rPr>
              <a:t>From Forum Posts</a:t>
            </a:r>
          </a:p>
          <a:p>
            <a:pPr algn="l">
              <a:spcAft>
                <a:spcPts val="0"/>
              </a:spcAft>
            </a:pPr>
            <a:r>
              <a:rPr sz="4400" b="1" i="0" dirty="0">
                <a:solidFill>
                  <a:srgbClr val="1C2E6E"/>
                </a:solidFill>
                <a:latin typeface="Calibri"/>
              </a:rPr>
              <a:t>to Telco Actions</a:t>
            </a:r>
          </a:p>
        </p:txBody>
      </p:sp>
      <p:sp>
        <p:nvSpPr>
          <p:cNvPr id="4" name="TextBox 3"/>
          <p:cNvSpPr txBox="1"/>
          <p:nvPr/>
        </p:nvSpPr>
        <p:spPr>
          <a:xfrm>
            <a:off x="822959" y="3246120"/>
            <a:ext cx="6766560" cy="615553"/>
          </a:xfrm>
          <a:prstGeom prst="rect">
            <a:avLst/>
          </a:prstGeom>
          <a:noFill/>
        </p:spPr>
        <p:txBody>
          <a:bodyPr wrap="square" lIns="0" tIns="0" rIns="0" bIns="0" anchor="t">
            <a:spAutoFit/>
          </a:bodyPr>
          <a:lstStyle/>
          <a:p>
            <a:pPr algn="l">
              <a:spcAft>
                <a:spcPts val="600"/>
              </a:spcAft>
            </a:pPr>
            <a:r>
              <a:rPr sz="2000" b="0" i="0" dirty="0">
                <a:solidFill>
                  <a:srgbClr val="5B6475"/>
                </a:solidFill>
                <a:latin typeface="Calibri"/>
              </a:rPr>
              <a:t>Public sentiment analysis of Singapore </a:t>
            </a:r>
            <a:r>
              <a:rPr lang="en-US" sz="2000" b="0" i="0" dirty="0">
                <a:solidFill>
                  <a:srgbClr val="5B6475"/>
                </a:solidFill>
                <a:latin typeface="Calibri"/>
              </a:rPr>
              <a:t>Telco</a:t>
            </a:r>
            <a:r>
              <a:rPr sz="2000" b="0" i="0" dirty="0">
                <a:solidFill>
                  <a:srgbClr val="5B6475"/>
                </a:solidFill>
                <a:latin typeface="Calibri"/>
              </a:rPr>
              <a:t> discussions with LLM-powered issue extraction</a:t>
            </a:r>
          </a:p>
        </p:txBody>
      </p:sp>
      <p:sp>
        <p:nvSpPr>
          <p:cNvPr id="5" name="TextBox 4"/>
          <p:cNvSpPr txBox="1"/>
          <p:nvPr/>
        </p:nvSpPr>
        <p:spPr>
          <a:xfrm>
            <a:off x="822959" y="4983480"/>
            <a:ext cx="6766560" cy="822960"/>
          </a:xfrm>
          <a:prstGeom prst="rect">
            <a:avLst/>
          </a:prstGeom>
          <a:noFill/>
        </p:spPr>
        <p:txBody>
          <a:bodyPr wrap="square" lIns="0" tIns="0" rIns="0" bIns="0" anchor="t">
            <a:spAutoFit/>
          </a:bodyPr>
          <a:lstStyle/>
          <a:p>
            <a:pPr algn="l">
              <a:spcAft>
                <a:spcPts val="200"/>
              </a:spcAft>
            </a:pPr>
            <a:r>
              <a:rPr sz="1400" b="0" i="0">
                <a:solidFill>
                  <a:srgbClr val="1E293B"/>
                </a:solidFill>
                <a:latin typeface="Calibri"/>
              </a:rPr>
              <a:t>Zixin  ·  Capstone project walkthrough</a:t>
            </a:r>
          </a:p>
          <a:p>
            <a:pPr algn="l">
              <a:spcAft>
                <a:spcPts val="200"/>
              </a:spcAft>
            </a:pPr>
            <a:r>
              <a:rPr sz="1400" b="0" i="0">
                <a:solidFill>
                  <a:srgbClr val="1E293B"/>
                </a:solidFill>
                <a:latin typeface="Calibri"/>
              </a:rPr>
              <a:t>SMU School of Computing and Information Systems  ·  September 2026</a:t>
            </a:r>
          </a:p>
        </p:txBody>
      </p:sp>
      <p:sp>
        <p:nvSpPr>
          <p:cNvPr id="6" name="Rounded Rectangle 5"/>
          <p:cNvSpPr/>
          <p:nvPr/>
        </p:nvSpPr>
        <p:spPr>
          <a:xfrm>
            <a:off x="8001000" y="1234440"/>
            <a:ext cx="3611880" cy="4892040"/>
          </a:xfrm>
          <a:prstGeom prst="roundRect">
            <a:avLst>
              <a:gd name="adj" fmla="val 5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321040" y="1463040"/>
            <a:ext cx="3108960" cy="457200"/>
          </a:xfrm>
          <a:prstGeom prst="rect">
            <a:avLst/>
          </a:prstGeom>
          <a:noFill/>
        </p:spPr>
        <p:txBody>
          <a:bodyPr wrap="square" lIns="0" tIns="0" rIns="0" bIns="0" anchor="t">
            <a:spAutoFit/>
          </a:bodyPr>
          <a:lstStyle/>
          <a:p>
            <a:pPr algn="l">
              <a:spcAft>
                <a:spcPts val="600"/>
              </a:spcAft>
            </a:pPr>
            <a:r>
              <a:rPr sz="3000" b="1" i="0">
                <a:solidFill>
                  <a:srgbClr val="D29B08"/>
                </a:solidFill>
                <a:latin typeface="Calibri"/>
              </a:rPr>
              <a:t>9,162</a:t>
            </a:r>
          </a:p>
        </p:txBody>
      </p:sp>
      <p:sp>
        <p:nvSpPr>
          <p:cNvPr id="8" name="TextBox 7"/>
          <p:cNvSpPr txBox="1"/>
          <p:nvPr/>
        </p:nvSpPr>
        <p:spPr>
          <a:xfrm>
            <a:off x="8321040" y="1965960"/>
            <a:ext cx="3108960" cy="477054"/>
          </a:xfrm>
          <a:prstGeom prst="rect">
            <a:avLst/>
          </a:prstGeom>
          <a:noFill/>
        </p:spPr>
        <p:txBody>
          <a:bodyPr wrap="square" lIns="0" tIns="0" rIns="0" bIns="0" anchor="t">
            <a:spAutoFit/>
          </a:bodyPr>
          <a:lstStyle/>
          <a:p>
            <a:pPr algn="l">
              <a:spcAft>
                <a:spcPts val="600"/>
              </a:spcAft>
            </a:pPr>
            <a:r>
              <a:rPr sz="1300" b="0" i="0" dirty="0">
                <a:solidFill>
                  <a:srgbClr val="FFFFFF"/>
                </a:solidFill>
                <a:latin typeface="Calibri"/>
              </a:rPr>
              <a:t>unique posts in 349 telco threads</a:t>
            </a:r>
            <a:r>
              <a:rPr lang="en-US" sz="1300" b="0" i="0" dirty="0">
                <a:solidFill>
                  <a:srgbClr val="FFFFFF"/>
                </a:solidFill>
                <a:latin typeface="Calibri"/>
              </a:rPr>
              <a:t> </a:t>
            </a:r>
          </a:p>
          <a:p>
            <a:pPr algn="l">
              <a:spcAft>
                <a:spcPts val="600"/>
              </a:spcAft>
            </a:pPr>
            <a:r>
              <a:rPr lang="en-US" sz="1300" dirty="0">
                <a:solidFill>
                  <a:srgbClr val="FFFFFF"/>
                </a:solidFill>
                <a:latin typeface="Calibri"/>
              </a:rPr>
              <a:t> </a:t>
            </a:r>
            <a:r>
              <a:rPr lang="en-US" sz="1300" b="0" i="0" dirty="0">
                <a:solidFill>
                  <a:srgbClr val="FFFFFF"/>
                </a:solidFill>
                <a:latin typeface="Calibri"/>
              </a:rPr>
              <a:t> Reddit HWZ</a:t>
            </a:r>
            <a:endParaRPr sz="1300" b="0" i="0" dirty="0">
              <a:solidFill>
                <a:srgbClr val="FFFFFF"/>
              </a:solidFill>
              <a:latin typeface="Calibri"/>
            </a:endParaRPr>
          </a:p>
        </p:txBody>
      </p:sp>
      <p:sp>
        <p:nvSpPr>
          <p:cNvPr id="9" name="TextBox 8"/>
          <p:cNvSpPr txBox="1"/>
          <p:nvPr/>
        </p:nvSpPr>
        <p:spPr>
          <a:xfrm>
            <a:off x="8321040" y="2606040"/>
            <a:ext cx="3108960" cy="457200"/>
          </a:xfrm>
          <a:prstGeom prst="rect">
            <a:avLst/>
          </a:prstGeom>
          <a:noFill/>
        </p:spPr>
        <p:txBody>
          <a:bodyPr wrap="square" lIns="0" tIns="0" rIns="0" bIns="0" anchor="t">
            <a:spAutoFit/>
          </a:bodyPr>
          <a:lstStyle/>
          <a:p>
            <a:pPr algn="l">
              <a:spcAft>
                <a:spcPts val="600"/>
              </a:spcAft>
            </a:pPr>
            <a:r>
              <a:rPr sz="3000" b="1" i="0">
                <a:solidFill>
                  <a:srgbClr val="D29B08"/>
                </a:solidFill>
                <a:latin typeface="Calibri"/>
              </a:rPr>
              <a:t>492</a:t>
            </a:r>
          </a:p>
        </p:txBody>
      </p:sp>
      <p:sp>
        <p:nvSpPr>
          <p:cNvPr id="10" name="TextBox 9"/>
          <p:cNvSpPr txBox="1"/>
          <p:nvPr/>
        </p:nvSpPr>
        <p:spPr>
          <a:xfrm>
            <a:off x="8321040" y="3108960"/>
            <a:ext cx="3108960" cy="822960"/>
          </a:xfrm>
          <a:prstGeom prst="rect">
            <a:avLst/>
          </a:prstGeom>
          <a:noFill/>
        </p:spPr>
        <p:txBody>
          <a:bodyPr wrap="square" lIns="0" tIns="0" rIns="0" bIns="0" anchor="t">
            <a:spAutoFit/>
          </a:bodyPr>
          <a:lstStyle/>
          <a:p>
            <a:pPr algn="l">
              <a:spcAft>
                <a:spcPts val="600"/>
              </a:spcAft>
            </a:pPr>
            <a:r>
              <a:rPr sz="1300" b="0" i="0">
                <a:solidFill>
                  <a:srgbClr val="FFFFFF"/>
                </a:solidFill>
                <a:latin typeface="Calibri"/>
              </a:rPr>
              <a:t>posts hand-labelled for evaluation</a:t>
            </a:r>
          </a:p>
        </p:txBody>
      </p:sp>
      <p:sp>
        <p:nvSpPr>
          <p:cNvPr id="11" name="TextBox 10"/>
          <p:cNvSpPr txBox="1"/>
          <p:nvPr/>
        </p:nvSpPr>
        <p:spPr>
          <a:xfrm>
            <a:off x="8321040" y="3749039"/>
            <a:ext cx="3108960" cy="457200"/>
          </a:xfrm>
          <a:prstGeom prst="rect">
            <a:avLst/>
          </a:prstGeom>
          <a:noFill/>
        </p:spPr>
        <p:txBody>
          <a:bodyPr wrap="square" lIns="0" tIns="0" rIns="0" bIns="0" anchor="t">
            <a:spAutoFit/>
          </a:bodyPr>
          <a:lstStyle/>
          <a:p>
            <a:pPr algn="l">
              <a:spcAft>
                <a:spcPts val="600"/>
              </a:spcAft>
            </a:pPr>
            <a:r>
              <a:rPr sz="3000" b="1" i="0">
                <a:solidFill>
                  <a:srgbClr val="D29B08"/>
                </a:solidFill>
                <a:latin typeface="Calibri"/>
              </a:rPr>
              <a:t>0.641</a:t>
            </a:r>
          </a:p>
        </p:txBody>
      </p:sp>
      <p:sp>
        <p:nvSpPr>
          <p:cNvPr id="12" name="TextBox 11"/>
          <p:cNvSpPr txBox="1"/>
          <p:nvPr/>
        </p:nvSpPr>
        <p:spPr>
          <a:xfrm>
            <a:off x="8321040" y="4251959"/>
            <a:ext cx="3108960" cy="822960"/>
          </a:xfrm>
          <a:prstGeom prst="rect">
            <a:avLst/>
          </a:prstGeom>
          <a:noFill/>
        </p:spPr>
        <p:txBody>
          <a:bodyPr wrap="square" lIns="0" tIns="0" rIns="0" bIns="0" anchor="t">
            <a:spAutoFit/>
          </a:bodyPr>
          <a:lstStyle/>
          <a:p>
            <a:pPr algn="l">
              <a:spcAft>
                <a:spcPts val="600"/>
              </a:spcAft>
            </a:pPr>
            <a:r>
              <a:rPr sz="1300" b="0" i="0">
                <a:solidFill>
                  <a:srgbClr val="FFFFFF"/>
                </a:solidFill>
                <a:latin typeface="Calibri"/>
              </a:rPr>
              <a:t>sentiment macro F1, GPT-4o-mini (VADER 0.380)</a:t>
            </a:r>
          </a:p>
        </p:txBody>
      </p:sp>
      <p:sp>
        <p:nvSpPr>
          <p:cNvPr id="13" name="TextBox 12"/>
          <p:cNvSpPr txBox="1"/>
          <p:nvPr/>
        </p:nvSpPr>
        <p:spPr>
          <a:xfrm>
            <a:off x="8321040" y="4892040"/>
            <a:ext cx="3108960" cy="457200"/>
          </a:xfrm>
          <a:prstGeom prst="rect">
            <a:avLst/>
          </a:prstGeom>
          <a:noFill/>
        </p:spPr>
        <p:txBody>
          <a:bodyPr wrap="square" lIns="0" tIns="0" rIns="0" bIns="0" anchor="t">
            <a:spAutoFit/>
          </a:bodyPr>
          <a:lstStyle/>
          <a:p>
            <a:pPr algn="l">
              <a:spcAft>
                <a:spcPts val="600"/>
              </a:spcAft>
            </a:pPr>
            <a:r>
              <a:rPr sz="3000" b="1" i="0" dirty="0">
                <a:solidFill>
                  <a:srgbClr val="D29B08"/>
                </a:solidFill>
                <a:latin typeface="Calibri"/>
              </a:rPr>
              <a:t>≈ $6.5</a:t>
            </a:r>
            <a:r>
              <a:rPr lang="en-US" sz="3000" b="1" i="0" dirty="0">
                <a:solidFill>
                  <a:srgbClr val="D29B08"/>
                </a:solidFill>
                <a:latin typeface="Calibri"/>
              </a:rPr>
              <a:t>5</a:t>
            </a:r>
            <a:endParaRPr sz="3000" b="1" i="0" dirty="0">
              <a:solidFill>
                <a:srgbClr val="D29B08"/>
              </a:solidFill>
              <a:latin typeface="Calibri"/>
            </a:endParaRPr>
          </a:p>
        </p:txBody>
      </p:sp>
      <p:sp>
        <p:nvSpPr>
          <p:cNvPr id="14" name="TextBox 13"/>
          <p:cNvSpPr txBox="1"/>
          <p:nvPr/>
        </p:nvSpPr>
        <p:spPr>
          <a:xfrm>
            <a:off x="8321040" y="5394959"/>
            <a:ext cx="3108960" cy="822960"/>
          </a:xfrm>
          <a:prstGeom prst="rect">
            <a:avLst/>
          </a:prstGeom>
          <a:noFill/>
        </p:spPr>
        <p:txBody>
          <a:bodyPr wrap="square" lIns="0" tIns="0" rIns="0" bIns="0" anchor="t">
            <a:spAutoFit/>
          </a:bodyPr>
          <a:lstStyle/>
          <a:p>
            <a:pPr algn="l">
              <a:spcAft>
                <a:spcPts val="600"/>
              </a:spcAft>
            </a:pPr>
            <a:r>
              <a:rPr sz="1300" b="0" i="0">
                <a:solidFill>
                  <a:srgbClr val="FFFFFF"/>
                </a:solidFill>
                <a:latin typeface="Calibri"/>
              </a:rPr>
              <a:t>for all LLM work combined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12000" y="713766"/>
            <a:ext cx="6840000" cy="350865"/>
          </a:xfrm>
          <a:prstGeom prst="rect">
            <a:avLst/>
          </a:prstGeom>
          <a:noFill/>
        </p:spPr>
        <p:txBody>
          <a:bodyPr wrap="square" lIns="0" tIns="0" rIns="0" bIns="0" anchor="ctr">
            <a:spAutoFit/>
          </a:bodyPr>
          <a:lstStyle/>
          <a:p>
            <a:pPr algn="l">
              <a:lnSpc>
                <a:spcPct val="95000"/>
              </a:lnSpc>
              <a:spcAft>
                <a:spcPts val="0"/>
              </a:spcAft>
            </a:pPr>
            <a:r>
              <a:rPr sz="2400" b="1" i="0" dirty="0">
                <a:solidFill>
                  <a:srgbClr val="1C2E6E"/>
                </a:solidFill>
                <a:latin typeface="Calibri"/>
              </a:rPr>
              <a:t>Roadmap for the </a:t>
            </a:r>
            <a:r>
              <a:rPr sz="2400" b="1" i="0">
                <a:solidFill>
                  <a:srgbClr val="1C2E6E"/>
                </a:solidFill>
                <a:latin typeface="Calibri"/>
              </a:rPr>
              <a:t>next </a:t>
            </a:r>
            <a:r>
              <a:rPr lang="en-US" sz="2400" b="1" i="0" dirty="0">
                <a:solidFill>
                  <a:srgbClr val="1C2E6E"/>
                </a:solidFill>
                <a:latin typeface="Calibri"/>
              </a:rPr>
              <a:t>5</a:t>
            </a:r>
            <a:r>
              <a:rPr lang="en-US" sz="2400" b="1">
                <a:solidFill>
                  <a:srgbClr val="1C2E6E"/>
                </a:solidFill>
                <a:latin typeface="Calibri"/>
              </a:rPr>
              <a:t>0</a:t>
            </a:r>
            <a:r>
              <a:rPr sz="2400" b="1" i="0">
                <a:solidFill>
                  <a:srgbClr val="1C2E6E"/>
                </a:solidFill>
                <a:latin typeface="Calibri"/>
              </a:rPr>
              <a:t> </a:t>
            </a:r>
            <a:r>
              <a:rPr lang="en-US" sz="2400" b="1" i="0" dirty="0">
                <a:solidFill>
                  <a:srgbClr val="1C2E6E"/>
                </a:solidFill>
                <a:latin typeface="Calibri"/>
              </a:rPr>
              <a:t>minutes</a:t>
            </a:r>
            <a:endParaRPr sz="2400" b="1" i="0" dirty="0">
              <a:solidFill>
                <a:srgbClr val="1C2E6E"/>
              </a:solidFill>
              <a:latin typeface="Calibri"/>
            </a:endParaRP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2</a:t>
            </a:r>
          </a:p>
        </p:txBody>
      </p:sp>
      <p:sp>
        <p:nvSpPr>
          <p:cNvPr id="4" name="Pentagon 3"/>
          <p:cNvSpPr/>
          <p:nvPr/>
        </p:nvSpPr>
        <p:spPr>
          <a:xfrm>
            <a:off x="548640" y="1920240"/>
            <a:ext cx="2159812" cy="1143000"/>
          </a:xfrm>
          <a:prstGeom prst="homePlate">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FFFFFF"/>
                </a:solidFill>
                <a:latin typeface="Calibri"/>
              </a:rPr>
              <a:t>A  Problem</a:t>
            </a:r>
          </a:p>
          <a:p>
            <a:pPr algn="ctr"/>
            <a:r>
              <a:rPr sz="1300" b="0">
                <a:solidFill>
                  <a:srgbClr val="FFFFFF"/>
                </a:solidFill>
                <a:latin typeface="Calibri"/>
              </a:rPr>
              <a:t>2 min</a:t>
            </a:r>
          </a:p>
        </p:txBody>
      </p:sp>
      <p:sp>
        <p:nvSpPr>
          <p:cNvPr id="5" name="Chevron 4"/>
          <p:cNvSpPr/>
          <p:nvPr/>
        </p:nvSpPr>
        <p:spPr>
          <a:xfrm>
            <a:off x="2781604" y="1920240"/>
            <a:ext cx="2159812" cy="1143000"/>
          </a:xfrm>
          <a:prstGeom prst="chevron">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FFFFFF"/>
                </a:solidFill>
                <a:latin typeface="Calibri"/>
              </a:rPr>
              <a:t>B  Data &amp; pipeline</a:t>
            </a:r>
          </a:p>
          <a:p>
            <a:pPr algn="ctr"/>
            <a:r>
              <a:rPr sz="1300" b="0">
                <a:solidFill>
                  <a:srgbClr val="FFFFFF"/>
                </a:solidFill>
                <a:latin typeface="Calibri"/>
              </a:rPr>
              <a:t>4 min</a:t>
            </a:r>
          </a:p>
        </p:txBody>
      </p:sp>
      <p:sp>
        <p:nvSpPr>
          <p:cNvPr id="6" name="Chevron 5"/>
          <p:cNvSpPr/>
          <p:nvPr/>
        </p:nvSpPr>
        <p:spPr>
          <a:xfrm>
            <a:off x="5014569" y="1920240"/>
            <a:ext cx="2159812" cy="1143000"/>
          </a:xfrm>
          <a:prstGeom prst="chevron">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FFFFFF"/>
                </a:solidFill>
                <a:latin typeface="Calibri"/>
              </a:rPr>
              <a:t>C  Evaluation</a:t>
            </a:r>
          </a:p>
          <a:p>
            <a:pPr algn="ctr"/>
            <a:r>
              <a:rPr sz="1300" b="0">
                <a:solidFill>
                  <a:srgbClr val="FFFFFF"/>
                </a:solidFill>
                <a:latin typeface="Calibri"/>
              </a:rPr>
              <a:t>7 min</a:t>
            </a:r>
          </a:p>
        </p:txBody>
      </p:sp>
      <p:sp>
        <p:nvSpPr>
          <p:cNvPr id="7" name="Chevron 6"/>
          <p:cNvSpPr/>
          <p:nvPr/>
        </p:nvSpPr>
        <p:spPr>
          <a:xfrm>
            <a:off x="7247534" y="1920240"/>
            <a:ext cx="2159812" cy="1143000"/>
          </a:xfrm>
          <a:prstGeom prst="chevron">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FFFFFF"/>
                </a:solidFill>
                <a:latin typeface="Calibri"/>
              </a:rPr>
              <a:t>D  Findings</a:t>
            </a:r>
          </a:p>
          <a:p>
            <a:pPr algn="ctr"/>
            <a:r>
              <a:rPr sz="1300" b="0">
                <a:solidFill>
                  <a:srgbClr val="FFFFFF"/>
                </a:solidFill>
                <a:latin typeface="Calibri"/>
              </a:rPr>
              <a:t>5 min</a:t>
            </a:r>
          </a:p>
        </p:txBody>
      </p:sp>
      <p:sp>
        <p:nvSpPr>
          <p:cNvPr id="8" name="Chevron 7"/>
          <p:cNvSpPr/>
          <p:nvPr/>
        </p:nvSpPr>
        <p:spPr>
          <a:xfrm>
            <a:off x="9480499" y="1920240"/>
            <a:ext cx="2159812" cy="1143000"/>
          </a:xfrm>
          <a:prstGeom prst="chevron">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FFFFFF"/>
                </a:solidFill>
                <a:latin typeface="Calibri"/>
              </a:rPr>
              <a:t>E  Actions</a:t>
            </a:r>
          </a:p>
          <a:p>
            <a:pPr algn="ctr"/>
            <a:r>
              <a:rPr sz="1300" b="0">
                <a:solidFill>
                  <a:srgbClr val="FFFFFF"/>
                </a:solidFill>
                <a:latin typeface="Calibri"/>
              </a:rPr>
              <a:t>4 min</a:t>
            </a:r>
          </a:p>
        </p:txBody>
      </p:sp>
      <p:sp>
        <p:nvSpPr>
          <p:cNvPr id="9" name="Rounded Rectangle 8"/>
          <p:cNvSpPr/>
          <p:nvPr/>
        </p:nvSpPr>
        <p:spPr>
          <a:xfrm>
            <a:off x="548640" y="3657600"/>
            <a:ext cx="11091672" cy="160020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3840480"/>
            <a:ext cx="10634472" cy="365760"/>
          </a:xfrm>
          <a:prstGeom prst="rect">
            <a:avLst/>
          </a:prstGeom>
          <a:noFill/>
        </p:spPr>
        <p:txBody>
          <a:bodyPr wrap="square" lIns="0" tIns="0" rIns="0" bIns="0" anchor="t">
            <a:spAutoFit/>
          </a:bodyPr>
          <a:lstStyle/>
          <a:p>
            <a:pPr algn="l">
              <a:spcAft>
                <a:spcPts val="600"/>
              </a:spcAft>
            </a:pPr>
            <a:r>
              <a:rPr sz="2000" b="1" i="0">
                <a:solidFill>
                  <a:srgbClr val="1C2E6E"/>
                </a:solidFill>
                <a:latin typeface="Calibri"/>
              </a:rPr>
              <a:t>The claim I'll defend</a:t>
            </a:r>
          </a:p>
        </p:txBody>
      </p:sp>
      <p:sp>
        <p:nvSpPr>
          <p:cNvPr id="11" name="TextBox 10"/>
          <p:cNvSpPr txBox="1"/>
          <p:nvPr/>
        </p:nvSpPr>
        <p:spPr>
          <a:xfrm>
            <a:off x="777240" y="4224528"/>
            <a:ext cx="10634472" cy="553998"/>
          </a:xfrm>
          <a:prstGeom prst="rect">
            <a:avLst/>
          </a:prstGeom>
          <a:noFill/>
        </p:spPr>
        <p:txBody>
          <a:bodyPr wrap="square" lIns="0" tIns="0" rIns="0" bIns="0" anchor="t">
            <a:spAutoFit/>
          </a:bodyPr>
          <a:lstStyle/>
          <a:p>
            <a:pPr algn="l">
              <a:spcAft>
                <a:spcPts val="600"/>
              </a:spcAft>
            </a:pPr>
            <a:r>
              <a:rPr sz="1800" b="1" i="0" dirty="0">
                <a:solidFill>
                  <a:srgbClr val="1E293B"/>
                </a:solidFill>
                <a:latin typeface="Calibri"/>
              </a:rPr>
              <a:t>Use an LLM for sentiment. </a:t>
            </a:r>
            <a:r>
              <a:rPr sz="1800" b="0" i="0" dirty="0">
                <a:solidFill>
                  <a:srgbClr val="1E293B"/>
                </a:solidFill>
                <a:latin typeface="Calibri"/>
              </a:rPr>
              <a:t>For issues, use keyword rules plus a targeted GPT-4o pass, and report honestly where that fails</a:t>
            </a:r>
            <a:r>
              <a:rPr sz="1800" b="1" i="0" dirty="0">
                <a:solidFill>
                  <a:srgbClr val="1E293B"/>
                </a:solidFill>
                <a:latin typeface="Calibri"/>
              </a:rPr>
              <a:t>. </a:t>
            </a:r>
            <a:r>
              <a:rPr sz="1800" b="0" i="0" dirty="0">
                <a:solidFill>
                  <a:srgbClr val="1E293B"/>
                </a:solidFill>
                <a:latin typeface="Calibri"/>
              </a:rPr>
              <a:t>Every number in this deck traces to a file in the repository.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822959" y="2148840"/>
            <a:ext cx="1234440" cy="1234440"/>
          </a:xfrm>
          <a:prstGeom prst="roundRect">
            <a:avLst>
              <a:gd name="adj" fmla="val 12000"/>
            </a:avLst>
          </a:prstGeom>
          <a:solidFill>
            <a:srgbClr val="D29B0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4800" b="1">
                <a:solidFill>
                  <a:srgbClr val="FFFFFF"/>
                </a:solidFill>
                <a:latin typeface="Calibri"/>
              </a:rPr>
              <a:t>A</a:t>
            </a:r>
          </a:p>
        </p:txBody>
      </p:sp>
      <p:sp>
        <p:nvSpPr>
          <p:cNvPr id="3" name="TextBox 2"/>
          <p:cNvSpPr txBox="1"/>
          <p:nvPr/>
        </p:nvSpPr>
        <p:spPr>
          <a:xfrm>
            <a:off x="2423160" y="2011680"/>
            <a:ext cx="8686800" cy="822960"/>
          </a:xfrm>
          <a:prstGeom prst="rect">
            <a:avLst/>
          </a:prstGeom>
          <a:noFill/>
        </p:spPr>
        <p:txBody>
          <a:bodyPr wrap="square" lIns="0" tIns="0" rIns="0" bIns="0" anchor="t">
            <a:spAutoFit/>
          </a:bodyPr>
          <a:lstStyle/>
          <a:p>
            <a:pPr algn="l">
              <a:spcAft>
                <a:spcPts val="600"/>
              </a:spcAft>
            </a:pPr>
            <a:r>
              <a:rPr sz="4000" b="1" i="0">
                <a:solidFill>
                  <a:srgbClr val="1C2E6E"/>
                </a:solidFill>
                <a:latin typeface="Calibri"/>
              </a:rPr>
              <a:t>Problem and research questions</a:t>
            </a:r>
          </a:p>
        </p:txBody>
      </p:sp>
      <p:sp>
        <p:nvSpPr>
          <p:cNvPr id="4" name="TextBox 3"/>
          <p:cNvSpPr txBox="1"/>
          <p:nvPr/>
        </p:nvSpPr>
        <p:spPr>
          <a:xfrm>
            <a:off x="2423160" y="2834640"/>
            <a:ext cx="8686800" cy="548640"/>
          </a:xfrm>
          <a:prstGeom prst="rect">
            <a:avLst/>
          </a:prstGeom>
          <a:noFill/>
        </p:spPr>
        <p:txBody>
          <a:bodyPr wrap="square" lIns="0" tIns="0" rIns="0" bIns="0" anchor="t">
            <a:spAutoFit/>
          </a:bodyPr>
          <a:lstStyle/>
          <a:p>
            <a:pPr algn="l">
              <a:spcAft>
                <a:spcPts val="600"/>
              </a:spcAft>
            </a:pPr>
            <a:r>
              <a:rPr sz="2000" b="0" i="0">
                <a:solidFill>
                  <a:srgbClr val="5B6475"/>
                </a:solidFill>
                <a:latin typeface="Calibri"/>
              </a:rPr>
              <a:t>Why forum posts, and what I set out to answer</a:t>
            </a:r>
          </a:p>
        </p:txBody>
      </p:sp>
      <p:sp>
        <p:nvSpPr>
          <p:cNvPr id="5" name="TextBox 4"/>
          <p:cNvSpPr txBox="1"/>
          <p:nvPr/>
        </p:nvSpPr>
        <p:spPr>
          <a:xfrm>
            <a:off x="2423160" y="3520440"/>
            <a:ext cx="8686800" cy="365760"/>
          </a:xfrm>
          <a:prstGeom prst="rect">
            <a:avLst/>
          </a:prstGeom>
          <a:noFill/>
        </p:spPr>
        <p:txBody>
          <a:bodyPr wrap="square" lIns="0" tIns="0" rIns="0" bIns="0" anchor="t">
            <a:spAutoFit/>
          </a:bodyPr>
          <a:lstStyle/>
          <a:p>
            <a:pPr algn="l">
              <a:spcAft>
                <a:spcPts val="600"/>
              </a:spcAft>
            </a:pPr>
            <a:r>
              <a:rPr sz="1600" b="1" i="0" dirty="0">
                <a:solidFill>
                  <a:srgbClr val="D29B08"/>
                </a:solidFill>
                <a:latin typeface="Calibri"/>
              </a:rPr>
              <a:t>About 2 minutes</a:t>
            </a:r>
          </a:p>
        </p:txBody>
      </p:sp>
      <p:sp>
        <p:nvSpPr>
          <p:cNvPr id="6" name="TextBox 5"/>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12000" y="475199"/>
            <a:ext cx="6840000" cy="828000"/>
          </a:xfrm>
          <a:prstGeom prst="rect">
            <a:avLst/>
          </a:prstGeom>
          <a:noFill/>
        </p:spPr>
        <p:txBody>
          <a:bodyPr wrap="square" lIns="0" tIns="0" rIns="0" bIns="0" anchor="ctr">
            <a:spAutoFit/>
          </a:bodyPr>
          <a:lstStyle/>
          <a:p>
            <a:pPr algn="l">
              <a:lnSpc>
                <a:spcPct val="95000"/>
              </a:lnSpc>
              <a:spcAft>
                <a:spcPts val="0"/>
              </a:spcAft>
            </a:pPr>
            <a:r>
              <a:rPr sz="2400" b="1" i="0">
                <a:solidFill>
                  <a:srgbClr val="1C2E6E"/>
                </a:solidFill>
                <a:latin typeface="Calibri"/>
              </a:rPr>
              <a:t>Forums surface pain points before surveys do</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4</a:t>
            </a:r>
          </a:p>
        </p:txBody>
      </p:sp>
      <p:sp>
        <p:nvSpPr>
          <p:cNvPr id="4" name="TextBox 3"/>
          <p:cNvSpPr txBox="1"/>
          <p:nvPr/>
        </p:nvSpPr>
        <p:spPr>
          <a:xfrm>
            <a:off x="548640" y="1737360"/>
            <a:ext cx="4937760" cy="4206240"/>
          </a:xfrm>
          <a:prstGeom prst="rect">
            <a:avLst/>
          </a:prstGeom>
          <a:noFill/>
        </p:spPr>
        <p:txBody>
          <a:bodyPr wrap="square" lIns="0" tIns="0" rIns="0" bIns="0" anchor="t">
            <a:spAutoFit/>
          </a:bodyPr>
          <a:lstStyle/>
          <a:p>
            <a:pPr marL="256032" indent="-256032" algn="l">
              <a:spcAft>
                <a:spcPts val="1400"/>
              </a:spcAft>
              <a:buClr>
                <a:srgbClr val="D29B08"/>
              </a:buClr>
              <a:buFont typeface="Arial"/>
              <a:buChar char="•"/>
            </a:pPr>
            <a:r>
              <a:rPr sz="1700" b="0" i="0" dirty="0">
                <a:solidFill>
                  <a:srgbClr val="1E293B"/>
                </a:solidFill>
                <a:latin typeface="Calibri"/>
              </a:rPr>
              <a:t>Customers discuss plans, coverage, roaming and porting in public, unprompted</a:t>
            </a:r>
          </a:p>
          <a:p>
            <a:pPr marL="256032" indent="-256032" algn="l">
              <a:spcAft>
                <a:spcPts val="1400"/>
              </a:spcAft>
              <a:buClr>
                <a:srgbClr val="D29B08"/>
              </a:buClr>
              <a:buFont typeface="Arial"/>
              <a:buChar char="•"/>
            </a:pPr>
            <a:r>
              <a:rPr sz="1700" b="0" i="0" dirty="0">
                <a:solidFill>
                  <a:srgbClr val="1E293B"/>
                </a:solidFill>
                <a:latin typeface="Calibri"/>
              </a:rPr>
              <a:t>The text is hard: Singlish, sarcasm, quoted replies, several brands in one post</a:t>
            </a:r>
          </a:p>
          <a:p>
            <a:pPr marL="256032" indent="-256032" algn="l">
              <a:spcAft>
                <a:spcPts val="1400"/>
              </a:spcAft>
              <a:buClr>
                <a:srgbClr val="D29B08"/>
              </a:buClr>
              <a:buFont typeface="Arial"/>
              <a:buChar char="•"/>
            </a:pPr>
            <a:r>
              <a:rPr sz="1700" b="0" i="0" dirty="0">
                <a:solidFill>
                  <a:srgbClr val="1E293B"/>
                </a:solidFill>
                <a:latin typeface="Calibri"/>
              </a:rPr>
              <a:t>Brand names collide with ordinary words: “Eight”, “M1”, “Giga”</a:t>
            </a:r>
          </a:p>
          <a:p>
            <a:pPr marL="256032" indent="-256032" algn="l">
              <a:spcAft>
                <a:spcPts val="1400"/>
              </a:spcAft>
              <a:buClr>
                <a:srgbClr val="D29B08"/>
              </a:buClr>
              <a:buFont typeface="Arial"/>
              <a:buChar char="•"/>
            </a:pPr>
            <a:r>
              <a:rPr sz="1700" b="0" i="0" dirty="0">
                <a:solidFill>
                  <a:srgbClr val="1E293B"/>
                </a:solidFill>
                <a:latin typeface="Calibri"/>
              </a:rPr>
              <a:t>Goal: an early-warning screen that routes issues to owners, not a CSAT or NPS score</a:t>
            </a:r>
          </a:p>
        </p:txBody>
      </p:sp>
      <p:sp>
        <p:nvSpPr>
          <p:cNvPr id="5" name="Rounded Rectangle 4"/>
          <p:cNvSpPr/>
          <p:nvPr/>
        </p:nvSpPr>
        <p:spPr>
          <a:xfrm>
            <a:off x="5943600" y="1737360"/>
            <a:ext cx="5696712" cy="932688"/>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172200" y="1737360"/>
            <a:ext cx="822960" cy="932688"/>
          </a:xfrm>
          <a:prstGeom prst="rect">
            <a:avLst/>
          </a:prstGeom>
          <a:noFill/>
        </p:spPr>
        <p:txBody>
          <a:bodyPr wrap="square" lIns="0" tIns="0" rIns="0" bIns="0" anchor="ctr">
            <a:spAutoFit/>
          </a:bodyPr>
          <a:lstStyle/>
          <a:p>
            <a:pPr algn="l">
              <a:spcAft>
                <a:spcPts val="600"/>
              </a:spcAft>
            </a:pPr>
            <a:r>
              <a:rPr sz="2000" b="1" i="0">
                <a:solidFill>
                  <a:srgbClr val="D29B08"/>
                </a:solidFill>
                <a:latin typeface="Calibri"/>
              </a:rPr>
              <a:t>RQ1</a:t>
            </a:r>
          </a:p>
        </p:txBody>
      </p:sp>
      <p:sp>
        <p:nvSpPr>
          <p:cNvPr id="7" name="TextBox 6"/>
          <p:cNvSpPr txBox="1"/>
          <p:nvPr/>
        </p:nvSpPr>
        <p:spPr>
          <a:xfrm>
            <a:off x="6995160" y="1737360"/>
            <a:ext cx="4480560" cy="932688"/>
          </a:xfrm>
          <a:prstGeom prst="rect">
            <a:avLst/>
          </a:prstGeom>
          <a:noFill/>
        </p:spPr>
        <p:txBody>
          <a:bodyPr wrap="square" lIns="0" tIns="0" rIns="0" bIns="0" anchor="ctr">
            <a:spAutoFit/>
          </a:bodyPr>
          <a:lstStyle/>
          <a:p>
            <a:pPr algn="l">
              <a:spcAft>
                <a:spcPts val="600"/>
              </a:spcAft>
            </a:pPr>
            <a:r>
              <a:rPr sz="1600" b="0" i="0" dirty="0">
                <a:solidFill>
                  <a:srgbClr val="1E293B"/>
                </a:solidFill>
                <a:latin typeface="Calibri"/>
              </a:rPr>
              <a:t>Which sentiment and issue themes appear most often?</a:t>
            </a:r>
          </a:p>
        </p:txBody>
      </p:sp>
      <p:sp>
        <p:nvSpPr>
          <p:cNvPr id="8" name="Rounded Rectangle 7"/>
          <p:cNvSpPr/>
          <p:nvPr/>
        </p:nvSpPr>
        <p:spPr>
          <a:xfrm>
            <a:off x="5943600" y="2834640"/>
            <a:ext cx="5696712" cy="932688"/>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172200" y="2834640"/>
            <a:ext cx="822960" cy="932688"/>
          </a:xfrm>
          <a:prstGeom prst="rect">
            <a:avLst/>
          </a:prstGeom>
          <a:noFill/>
        </p:spPr>
        <p:txBody>
          <a:bodyPr wrap="square" lIns="0" tIns="0" rIns="0" bIns="0" anchor="ctr">
            <a:spAutoFit/>
          </a:bodyPr>
          <a:lstStyle/>
          <a:p>
            <a:pPr algn="l">
              <a:spcAft>
                <a:spcPts val="600"/>
              </a:spcAft>
            </a:pPr>
            <a:r>
              <a:rPr sz="2000" b="1" i="0">
                <a:solidFill>
                  <a:srgbClr val="D29B08"/>
                </a:solidFill>
                <a:latin typeface="Calibri"/>
              </a:rPr>
              <a:t>RQ2</a:t>
            </a:r>
          </a:p>
        </p:txBody>
      </p:sp>
      <p:sp>
        <p:nvSpPr>
          <p:cNvPr id="10" name="TextBox 9"/>
          <p:cNvSpPr txBox="1"/>
          <p:nvPr/>
        </p:nvSpPr>
        <p:spPr>
          <a:xfrm>
            <a:off x="6995160" y="2834640"/>
            <a:ext cx="4480560" cy="932688"/>
          </a:xfrm>
          <a:prstGeom prst="rect">
            <a:avLst/>
          </a:prstGeom>
          <a:noFill/>
        </p:spPr>
        <p:txBody>
          <a:bodyPr wrap="square" lIns="0" tIns="0" rIns="0" bIns="0" anchor="ctr">
            <a:spAutoFit/>
          </a:bodyPr>
          <a:lstStyle/>
          <a:p>
            <a:pPr algn="l">
              <a:spcAft>
                <a:spcPts val="600"/>
              </a:spcAft>
            </a:pPr>
            <a:r>
              <a:rPr sz="1600" b="0" i="0">
                <a:solidFill>
                  <a:srgbClr val="1E293B"/>
                </a:solidFill>
                <a:latin typeface="Calibri"/>
              </a:rPr>
              <a:t>How do Reddit and HWZ, and the brands, differ?</a:t>
            </a:r>
          </a:p>
        </p:txBody>
      </p:sp>
      <p:sp>
        <p:nvSpPr>
          <p:cNvPr id="11" name="Rounded Rectangle 10"/>
          <p:cNvSpPr/>
          <p:nvPr/>
        </p:nvSpPr>
        <p:spPr>
          <a:xfrm>
            <a:off x="5943600" y="3931920"/>
            <a:ext cx="5696712" cy="932688"/>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72200" y="3931920"/>
            <a:ext cx="822960" cy="932688"/>
          </a:xfrm>
          <a:prstGeom prst="rect">
            <a:avLst/>
          </a:prstGeom>
          <a:noFill/>
        </p:spPr>
        <p:txBody>
          <a:bodyPr wrap="square" lIns="0" tIns="0" rIns="0" bIns="0" anchor="ctr">
            <a:spAutoFit/>
          </a:bodyPr>
          <a:lstStyle/>
          <a:p>
            <a:pPr algn="l">
              <a:spcAft>
                <a:spcPts val="600"/>
              </a:spcAft>
            </a:pPr>
            <a:r>
              <a:rPr sz="2000" b="1" i="0">
                <a:solidFill>
                  <a:srgbClr val="D29B08"/>
                </a:solidFill>
                <a:latin typeface="Calibri"/>
              </a:rPr>
              <a:t>RQ3</a:t>
            </a:r>
          </a:p>
        </p:txBody>
      </p:sp>
      <p:sp>
        <p:nvSpPr>
          <p:cNvPr id="13" name="TextBox 12"/>
          <p:cNvSpPr txBox="1"/>
          <p:nvPr/>
        </p:nvSpPr>
        <p:spPr>
          <a:xfrm>
            <a:off x="6995160" y="3931920"/>
            <a:ext cx="4480560" cy="932688"/>
          </a:xfrm>
          <a:prstGeom prst="rect">
            <a:avLst/>
          </a:prstGeom>
          <a:noFill/>
        </p:spPr>
        <p:txBody>
          <a:bodyPr wrap="square" lIns="0" tIns="0" rIns="0" bIns="0" anchor="ctr">
            <a:spAutoFit/>
          </a:bodyPr>
          <a:lstStyle/>
          <a:p>
            <a:pPr algn="l">
              <a:spcAft>
                <a:spcPts val="600"/>
              </a:spcAft>
            </a:pPr>
            <a:r>
              <a:rPr sz="1600" b="0" i="0" dirty="0">
                <a:solidFill>
                  <a:srgbClr val="1E293B"/>
                </a:solidFill>
                <a:latin typeface="Calibri"/>
              </a:rPr>
              <a:t>What does an LLM add over VADER and keyword rules?</a:t>
            </a:r>
          </a:p>
        </p:txBody>
      </p:sp>
      <p:sp>
        <p:nvSpPr>
          <p:cNvPr id="14" name="Rounded Rectangle 13"/>
          <p:cNvSpPr/>
          <p:nvPr/>
        </p:nvSpPr>
        <p:spPr>
          <a:xfrm>
            <a:off x="5943600" y="5029200"/>
            <a:ext cx="5696712" cy="932688"/>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172200" y="5029200"/>
            <a:ext cx="822960" cy="932688"/>
          </a:xfrm>
          <a:prstGeom prst="rect">
            <a:avLst/>
          </a:prstGeom>
          <a:noFill/>
        </p:spPr>
        <p:txBody>
          <a:bodyPr wrap="square" lIns="0" tIns="0" rIns="0" bIns="0" anchor="ctr">
            <a:spAutoFit/>
          </a:bodyPr>
          <a:lstStyle/>
          <a:p>
            <a:pPr algn="l">
              <a:spcAft>
                <a:spcPts val="600"/>
              </a:spcAft>
            </a:pPr>
            <a:r>
              <a:rPr sz="2000" b="1" i="0">
                <a:solidFill>
                  <a:srgbClr val="D29B08"/>
                </a:solidFill>
                <a:latin typeface="Calibri"/>
              </a:rPr>
              <a:t>RQ4</a:t>
            </a:r>
          </a:p>
        </p:txBody>
      </p:sp>
      <p:sp>
        <p:nvSpPr>
          <p:cNvPr id="16" name="TextBox 15"/>
          <p:cNvSpPr txBox="1"/>
          <p:nvPr/>
        </p:nvSpPr>
        <p:spPr>
          <a:xfrm>
            <a:off x="6995160" y="5029200"/>
            <a:ext cx="4480560" cy="932688"/>
          </a:xfrm>
          <a:prstGeom prst="rect">
            <a:avLst/>
          </a:prstGeom>
          <a:noFill/>
        </p:spPr>
        <p:txBody>
          <a:bodyPr wrap="square" lIns="0" tIns="0" rIns="0" bIns="0" anchor="ctr">
            <a:spAutoFit/>
          </a:bodyPr>
          <a:lstStyle/>
          <a:p>
            <a:pPr algn="l">
              <a:spcAft>
                <a:spcPts val="600"/>
              </a:spcAft>
            </a:pPr>
            <a:r>
              <a:rPr sz="1600" b="0" i="0">
                <a:solidFill>
                  <a:srgbClr val="1E293B"/>
                </a:solidFill>
                <a:latin typeface="Calibri"/>
              </a:rPr>
              <a:t>How can the signals drive operator decisions?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822959" y="2148840"/>
            <a:ext cx="1234440" cy="1234440"/>
          </a:xfrm>
          <a:prstGeom prst="roundRect">
            <a:avLst>
              <a:gd name="adj" fmla="val 12000"/>
            </a:avLst>
          </a:prstGeom>
          <a:solidFill>
            <a:srgbClr val="D29B0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4800" b="1">
                <a:solidFill>
                  <a:srgbClr val="FFFFFF"/>
                </a:solidFill>
                <a:latin typeface="Calibri"/>
              </a:rPr>
              <a:t>B</a:t>
            </a:r>
          </a:p>
        </p:txBody>
      </p:sp>
      <p:sp>
        <p:nvSpPr>
          <p:cNvPr id="3" name="TextBox 2"/>
          <p:cNvSpPr txBox="1"/>
          <p:nvPr/>
        </p:nvSpPr>
        <p:spPr>
          <a:xfrm>
            <a:off x="2423160" y="2011680"/>
            <a:ext cx="8686800" cy="822960"/>
          </a:xfrm>
          <a:prstGeom prst="rect">
            <a:avLst/>
          </a:prstGeom>
          <a:noFill/>
        </p:spPr>
        <p:txBody>
          <a:bodyPr wrap="square" lIns="0" tIns="0" rIns="0" bIns="0" anchor="t">
            <a:spAutoFit/>
          </a:bodyPr>
          <a:lstStyle/>
          <a:p>
            <a:pPr algn="l">
              <a:spcAft>
                <a:spcPts val="600"/>
              </a:spcAft>
            </a:pPr>
            <a:r>
              <a:rPr sz="4000" b="1" i="0">
                <a:solidFill>
                  <a:srgbClr val="1C2E6E"/>
                </a:solidFill>
                <a:latin typeface="Calibri"/>
              </a:rPr>
              <a:t>Data and pipeline</a:t>
            </a:r>
          </a:p>
        </p:txBody>
      </p:sp>
      <p:sp>
        <p:nvSpPr>
          <p:cNvPr id="4" name="TextBox 3"/>
          <p:cNvSpPr txBox="1"/>
          <p:nvPr/>
        </p:nvSpPr>
        <p:spPr>
          <a:xfrm>
            <a:off x="2423160" y="2834640"/>
            <a:ext cx="8686800" cy="548640"/>
          </a:xfrm>
          <a:prstGeom prst="rect">
            <a:avLst/>
          </a:prstGeom>
          <a:noFill/>
        </p:spPr>
        <p:txBody>
          <a:bodyPr wrap="square" lIns="0" tIns="0" rIns="0" bIns="0" anchor="t">
            <a:spAutoFit/>
          </a:bodyPr>
          <a:lstStyle/>
          <a:p>
            <a:pPr algn="l">
              <a:spcAft>
                <a:spcPts val="600"/>
              </a:spcAft>
            </a:pPr>
            <a:r>
              <a:rPr sz="2000" b="0" i="0">
                <a:solidFill>
                  <a:srgbClr val="5B6475"/>
                </a:solidFill>
                <a:latin typeface="Calibri"/>
              </a:rPr>
              <a:t>What I collected and how it flows</a:t>
            </a:r>
          </a:p>
        </p:txBody>
      </p:sp>
      <p:sp>
        <p:nvSpPr>
          <p:cNvPr id="5" name="TextBox 4"/>
          <p:cNvSpPr txBox="1"/>
          <p:nvPr/>
        </p:nvSpPr>
        <p:spPr>
          <a:xfrm>
            <a:off x="2423160" y="3520440"/>
            <a:ext cx="8686800" cy="365760"/>
          </a:xfrm>
          <a:prstGeom prst="rect">
            <a:avLst/>
          </a:prstGeom>
          <a:noFill/>
        </p:spPr>
        <p:txBody>
          <a:bodyPr wrap="square" lIns="0" tIns="0" rIns="0" bIns="0" anchor="t">
            <a:spAutoFit/>
          </a:bodyPr>
          <a:lstStyle/>
          <a:p>
            <a:pPr algn="l">
              <a:spcAft>
                <a:spcPts val="600"/>
              </a:spcAft>
            </a:pPr>
            <a:r>
              <a:rPr sz="1600" b="1" i="0" dirty="0">
                <a:solidFill>
                  <a:srgbClr val="D29B08"/>
                </a:solidFill>
                <a:latin typeface="Calibri"/>
              </a:rPr>
              <a:t>About 4 minutes</a:t>
            </a:r>
          </a:p>
        </p:txBody>
      </p:sp>
      <p:sp>
        <p:nvSpPr>
          <p:cNvPr id="6" name="TextBox 5"/>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12000" y="475199"/>
            <a:ext cx="6840000" cy="828000"/>
          </a:xfrm>
          <a:prstGeom prst="rect">
            <a:avLst/>
          </a:prstGeom>
          <a:noFill/>
        </p:spPr>
        <p:txBody>
          <a:bodyPr wrap="square" lIns="0" tIns="0" rIns="0" bIns="0" anchor="ctr">
            <a:spAutoFit/>
          </a:bodyPr>
          <a:lstStyle/>
          <a:p>
            <a:pPr algn="l">
              <a:lnSpc>
                <a:spcPct val="95000"/>
              </a:lnSpc>
              <a:spcAft>
                <a:spcPts val="0"/>
              </a:spcAft>
            </a:pPr>
            <a:r>
              <a:rPr sz="2400" b="1" i="0" dirty="0">
                <a:solidFill>
                  <a:srgbClr val="1C2E6E"/>
                </a:solidFill>
                <a:latin typeface="Calibri"/>
              </a:rPr>
              <a:t>One reproducible pipeline in six stages</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6</a:t>
            </a:r>
          </a:p>
        </p:txBody>
      </p:sp>
      <p:sp>
        <p:nvSpPr>
          <p:cNvPr id="4" name="Pentagon 3"/>
          <p:cNvSpPr/>
          <p:nvPr/>
        </p:nvSpPr>
        <p:spPr>
          <a:xfrm>
            <a:off x="548640" y="1828800"/>
            <a:ext cx="1787652" cy="1188720"/>
          </a:xfrm>
          <a:prstGeom prst="homePlate">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FFFFFF"/>
                </a:solidFill>
                <a:latin typeface="Calibri"/>
              </a:rPr>
              <a:t>Scrape</a:t>
            </a:r>
          </a:p>
        </p:txBody>
      </p:sp>
      <p:sp>
        <p:nvSpPr>
          <p:cNvPr id="5" name="Chevron 4"/>
          <p:cNvSpPr/>
          <p:nvPr/>
        </p:nvSpPr>
        <p:spPr>
          <a:xfrm>
            <a:off x="2409444" y="1828800"/>
            <a:ext cx="1787652" cy="1188720"/>
          </a:xfrm>
          <a:prstGeom prst="chevron">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FFFFFF"/>
                </a:solidFill>
                <a:latin typeface="Calibri"/>
              </a:rPr>
              <a:t>Clean</a:t>
            </a:r>
          </a:p>
        </p:txBody>
      </p:sp>
      <p:sp>
        <p:nvSpPr>
          <p:cNvPr id="6" name="Chevron 5"/>
          <p:cNvSpPr/>
          <p:nvPr/>
        </p:nvSpPr>
        <p:spPr>
          <a:xfrm>
            <a:off x="4270248" y="1828800"/>
            <a:ext cx="1787652" cy="1188720"/>
          </a:xfrm>
          <a:prstGeom prst="chevron">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FFFFFF"/>
                </a:solidFill>
                <a:latin typeface="Calibri"/>
              </a:rPr>
              <a:t>Label</a:t>
            </a:r>
          </a:p>
        </p:txBody>
      </p:sp>
      <p:sp>
        <p:nvSpPr>
          <p:cNvPr id="7" name="Chevron 6"/>
          <p:cNvSpPr/>
          <p:nvPr/>
        </p:nvSpPr>
        <p:spPr>
          <a:xfrm>
            <a:off x="6131052" y="1828800"/>
            <a:ext cx="1787652" cy="1188720"/>
          </a:xfrm>
          <a:prstGeom prst="chevron">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FFFFFF"/>
                </a:solidFill>
                <a:latin typeface="Calibri"/>
              </a:rPr>
              <a:t>Issues</a:t>
            </a:r>
          </a:p>
        </p:txBody>
      </p:sp>
      <p:sp>
        <p:nvSpPr>
          <p:cNvPr id="8" name="Chevron 7"/>
          <p:cNvSpPr/>
          <p:nvPr/>
        </p:nvSpPr>
        <p:spPr>
          <a:xfrm>
            <a:off x="7991856" y="1828800"/>
            <a:ext cx="1787652" cy="1188720"/>
          </a:xfrm>
          <a:prstGeom prst="chevron">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FFFFFF"/>
                </a:solidFill>
                <a:latin typeface="Calibri"/>
              </a:rPr>
              <a:t>Evaluate</a:t>
            </a:r>
          </a:p>
        </p:txBody>
      </p:sp>
      <p:sp>
        <p:nvSpPr>
          <p:cNvPr id="9" name="Chevron 8"/>
          <p:cNvSpPr/>
          <p:nvPr/>
        </p:nvSpPr>
        <p:spPr>
          <a:xfrm>
            <a:off x="9852660" y="1828800"/>
            <a:ext cx="1787652" cy="1188720"/>
          </a:xfrm>
          <a:prstGeom prst="chevron">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FFFFFF"/>
                </a:solidFill>
                <a:latin typeface="Calibri"/>
              </a:rPr>
              <a:t>Dashboard</a:t>
            </a:r>
          </a:p>
        </p:txBody>
      </p:sp>
      <p:sp>
        <p:nvSpPr>
          <p:cNvPr id="10" name="TextBox 9"/>
          <p:cNvSpPr txBox="1"/>
          <p:nvPr/>
        </p:nvSpPr>
        <p:spPr>
          <a:xfrm>
            <a:off x="594360" y="3246120"/>
            <a:ext cx="1696212" cy="457200"/>
          </a:xfrm>
          <a:prstGeom prst="rect">
            <a:avLst/>
          </a:prstGeom>
          <a:noFill/>
        </p:spPr>
        <p:txBody>
          <a:bodyPr wrap="square" lIns="0" tIns="0" rIns="0" bIns="0" anchor="t">
            <a:spAutoFit/>
          </a:bodyPr>
          <a:lstStyle/>
          <a:p>
            <a:pPr algn="l">
              <a:spcAft>
                <a:spcPts val="600"/>
              </a:spcAft>
            </a:pPr>
            <a:r>
              <a:rPr sz="1200" b="1" i="0">
                <a:solidFill>
                  <a:srgbClr val="1C2E6E"/>
                </a:solidFill>
                <a:latin typeface="Calibri"/>
              </a:rPr>
              <a:t>scrapers/</a:t>
            </a:r>
          </a:p>
        </p:txBody>
      </p:sp>
      <p:sp>
        <p:nvSpPr>
          <p:cNvPr id="11" name="TextBox 10"/>
          <p:cNvSpPr txBox="1"/>
          <p:nvPr/>
        </p:nvSpPr>
        <p:spPr>
          <a:xfrm>
            <a:off x="594360" y="3657600"/>
            <a:ext cx="1696212" cy="430887"/>
          </a:xfrm>
          <a:prstGeom prst="rect">
            <a:avLst/>
          </a:prstGeom>
          <a:noFill/>
        </p:spPr>
        <p:txBody>
          <a:bodyPr wrap="square" lIns="0" tIns="0" rIns="0" bIns="0" anchor="t">
            <a:spAutoFit/>
          </a:bodyPr>
          <a:lstStyle/>
          <a:p>
            <a:pPr algn="l">
              <a:spcAft>
                <a:spcPts val="600"/>
              </a:spcAft>
            </a:pPr>
            <a:r>
              <a:rPr sz="1400" b="0" i="0" dirty="0">
                <a:solidFill>
                  <a:srgbClr val="1E293B"/>
                </a:solidFill>
                <a:latin typeface="Calibri"/>
              </a:rPr>
              <a:t>Reddit JSON API, HWZ threads</a:t>
            </a:r>
          </a:p>
        </p:txBody>
      </p:sp>
      <p:sp>
        <p:nvSpPr>
          <p:cNvPr id="12" name="TextBox 11"/>
          <p:cNvSpPr txBox="1"/>
          <p:nvPr/>
        </p:nvSpPr>
        <p:spPr>
          <a:xfrm>
            <a:off x="2455164" y="3246120"/>
            <a:ext cx="1696212" cy="457200"/>
          </a:xfrm>
          <a:prstGeom prst="rect">
            <a:avLst/>
          </a:prstGeom>
          <a:noFill/>
        </p:spPr>
        <p:txBody>
          <a:bodyPr wrap="square" lIns="0" tIns="0" rIns="0" bIns="0" anchor="t">
            <a:spAutoFit/>
          </a:bodyPr>
          <a:lstStyle/>
          <a:p>
            <a:pPr algn="l">
              <a:spcAft>
                <a:spcPts val="600"/>
              </a:spcAft>
            </a:pPr>
            <a:r>
              <a:rPr sz="1200" b="1" i="0">
                <a:solidFill>
                  <a:srgbClr val="1C2E6E"/>
                </a:solidFill>
                <a:latin typeface="Calibri"/>
              </a:rPr>
              <a:t>preprocess.py</a:t>
            </a:r>
          </a:p>
        </p:txBody>
      </p:sp>
      <p:sp>
        <p:nvSpPr>
          <p:cNvPr id="13" name="TextBox 12"/>
          <p:cNvSpPr txBox="1"/>
          <p:nvPr/>
        </p:nvSpPr>
        <p:spPr>
          <a:xfrm>
            <a:off x="2455164" y="3657600"/>
            <a:ext cx="1696212" cy="1188720"/>
          </a:xfrm>
          <a:prstGeom prst="rect">
            <a:avLst/>
          </a:prstGeom>
          <a:noFill/>
        </p:spPr>
        <p:txBody>
          <a:bodyPr wrap="square" lIns="0" tIns="0" rIns="0" bIns="0" anchor="t">
            <a:spAutoFit/>
          </a:bodyPr>
          <a:lstStyle/>
          <a:p>
            <a:pPr algn="l">
              <a:spcAft>
                <a:spcPts val="600"/>
              </a:spcAft>
            </a:pPr>
            <a:r>
              <a:rPr sz="1400" b="0" i="0" dirty="0">
                <a:solidFill>
                  <a:srgbClr val="1E293B"/>
                </a:solidFill>
                <a:latin typeface="Calibri"/>
              </a:rPr>
              <a:t>One schema, drop empty and short posts</a:t>
            </a:r>
          </a:p>
        </p:txBody>
      </p:sp>
      <p:sp>
        <p:nvSpPr>
          <p:cNvPr id="14" name="TextBox 13"/>
          <p:cNvSpPr txBox="1"/>
          <p:nvPr/>
        </p:nvSpPr>
        <p:spPr>
          <a:xfrm>
            <a:off x="4315968" y="3246120"/>
            <a:ext cx="1696212" cy="457200"/>
          </a:xfrm>
          <a:prstGeom prst="rect">
            <a:avLst/>
          </a:prstGeom>
          <a:noFill/>
        </p:spPr>
        <p:txBody>
          <a:bodyPr wrap="square" lIns="0" tIns="0" rIns="0" bIns="0" anchor="t">
            <a:spAutoFit/>
          </a:bodyPr>
          <a:lstStyle/>
          <a:p>
            <a:pPr algn="l">
              <a:spcAft>
                <a:spcPts val="600"/>
              </a:spcAft>
            </a:pPr>
            <a:r>
              <a:rPr sz="1200" b="1" i="0">
                <a:solidFill>
                  <a:srgbClr val="1C2E6E"/>
                </a:solidFill>
                <a:latin typeface="Calibri"/>
              </a:rPr>
              <a:t>telco_labeler.py</a:t>
            </a:r>
          </a:p>
        </p:txBody>
      </p:sp>
      <p:sp>
        <p:nvSpPr>
          <p:cNvPr id="15" name="TextBox 14"/>
          <p:cNvSpPr txBox="1"/>
          <p:nvPr/>
        </p:nvSpPr>
        <p:spPr>
          <a:xfrm>
            <a:off x="4315968" y="3657600"/>
            <a:ext cx="1696212" cy="1188720"/>
          </a:xfrm>
          <a:prstGeom prst="rect">
            <a:avLst/>
          </a:prstGeom>
          <a:noFill/>
        </p:spPr>
        <p:txBody>
          <a:bodyPr wrap="square" lIns="0" tIns="0" rIns="0" bIns="0" anchor="t">
            <a:spAutoFit/>
          </a:bodyPr>
          <a:lstStyle/>
          <a:p>
            <a:pPr algn="l">
              <a:spcAft>
                <a:spcPts val="600"/>
              </a:spcAft>
            </a:pPr>
            <a:r>
              <a:rPr sz="1400" b="0" i="0" dirty="0">
                <a:solidFill>
                  <a:srgbClr val="1E293B"/>
                </a:solidFill>
                <a:latin typeface="Calibri"/>
              </a:rPr>
              <a:t>Brand regex with context, VADER score</a:t>
            </a:r>
          </a:p>
        </p:txBody>
      </p:sp>
      <p:sp>
        <p:nvSpPr>
          <p:cNvPr id="16" name="TextBox 15"/>
          <p:cNvSpPr txBox="1"/>
          <p:nvPr/>
        </p:nvSpPr>
        <p:spPr>
          <a:xfrm>
            <a:off x="6176772" y="3246120"/>
            <a:ext cx="1696212" cy="457200"/>
          </a:xfrm>
          <a:prstGeom prst="rect">
            <a:avLst/>
          </a:prstGeom>
          <a:noFill/>
        </p:spPr>
        <p:txBody>
          <a:bodyPr wrap="square" lIns="0" tIns="0" rIns="0" bIns="0" anchor="t">
            <a:spAutoFit/>
          </a:bodyPr>
          <a:lstStyle/>
          <a:p>
            <a:pPr algn="l">
              <a:spcAft>
                <a:spcPts val="600"/>
              </a:spcAft>
            </a:pPr>
            <a:r>
              <a:rPr sz="1200" b="1" i="0">
                <a:solidFill>
                  <a:srgbClr val="1C2E6E"/>
                </a:solidFill>
                <a:latin typeface="Calibri"/>
              </a:rPr>
              <a:t>issue_extraction.py</a:t>
            </a:r>
          </a:p>
        </p:txBody>
      </p:sp>
      <p:sp>
        <p:nvSpPr>
          <p:cNvPr id="17" name="TextBox 16"/>
          <p:cNvSpPr txBox="1"/>
          <p:nvPr/>
        </p:nvSpPr>
        <p:spPr>
          <a:xfrm>
            <a:off x="6165197" y="3657600"/>
            <a:ext cx="1696212" cy="861774"/>
          </a:xfrm>
          <a:prstGeom prst="rect">
            <a:avLst/>
          </a:prstGeom>
          <a:noFill/>
        </p:spPr>
        <p:txBody>
          <a:bodyPr wrap="square" lIns="0" tIns="0" rIns="0" bIns="0" anchor="t">
            <a:spAutoFit/>
          </a:bodyPr>
          <a:lstStyle/>
          <a:p>
            <a:pPr>
              <a:spcAft>
                <a:spcPts val="600"/>
              </a:spcAft>
            </a:pPr>
            <a:r>
              <a:rPr sz="1400" b="0" i="0" dirty="0">
                <a:solidFill>
                  <a:srgbClr val="1E293B"/>
                </a:solidFill>
                <a:latin typeface="Calibri"/>
              </a:rPr>
              <a:t>10 keyword </a:t>
            </a:r>
            <a:r>
              <a:rPr lang="en-US" sz="1400" dirty="0"/>
              <a:t>keyword-rule </a:t>
            </a:r>
            <a:r>
              <a:rPr sz="1400" b="0" i="0" dirty="0">
                <a:solidFill>
                  <a:srgbClr val="1E293B"/>
                </a:solidFill>
                <a:latin typeface="Calibri"/>
              </a:rPr>
              <a:t>labels, then GPT-4o on leftovers</a:t>
            </a:r>
            <a:r>
              <a:rPr lang="en-US" sz="1400" b="0" i="0" dirty="0">
                <a:solidFill>
                  <a:srgbClr val="1E293B"/>
                </a:solidFill>
                <a:latin typeface="Calibri"/>
              </a:rPr>
              <a:t> that the rules cannot pick</a:t>
            </a:r>
            <a:endParaRPr sz="1400" b="0" i="0" dirty="0">
              <a:solidFill>
                <a:srgbClr val="1E293B"/>
              </a:solidFill>
              <a:latin typeface="Calibri"/>
            </a:endParaRPr>
          </a:p>
        </p:txBody>
      </p:sp>
      <p:sp>
        <p:nvSpPr>
          <p:cNvPr id="18" name="TextBox 17"/>
          <p:cNvSpPr txBox="1"/>
          <p:nvPr/>
        </p:nvSpPr>
        <p:spPr>
          <a:xfrm>
            <a:off x="8037576" y="3246120"/>
            <a:ext cx="1696212" cy="457200"/>
          </a:xfrm>
          <a:prstGeom prst="rect">
            <a:avLst/>
          </a:prstGeom>
          <a:noFill/>
        </p:spPr>
        <p:txBody>
          <a:bodyPr wrap="square" lIns="0" tIns="0" rIns="0" bIns="0" anchor="t">
            <a:spAutoFit/>
          </a:bodyPr>
          <a:lstStyle/>
          <a:p>
            <a:pPr algn="l">
              <a:spcAft>
                <a:spcPts val="600"/>
              </a:spcAft>
            </a:pPr>
            <a:r>
              <a:rPr sz="1200" b="1" i="0">
                <a:solidFill>
                  <a:srgbClr val="1C2E6E"/>
                </a:solidFill>
                <a:latin typeface="Calibri"/>
              </a:rPr>
              <a:t>llm_evaluation.py</a:t>
            </a:r>
          </a:p>
        </p:txBody>
      </p:sp>
      <p:sp>
        <p:nvSpPr>
          <p:cNvPr id="19" name="TextBox 18"/>
          <p:cNvSpPr txBox="1"/>
          <p:nvPr/>
        </p:nvSpPr>
        <p:spPr>
          <a:xfrm>
            <a:off x="8037576" y="3657600"/>
            <a:ext cx="1696212" cy="1188720"/>
          </a:xfrm>
          <a:prstGeom prst="rect">
            <a:avLst/>
          </a:prstGeom>
          <a:noFill/>
        </p:spPr>
        <p:txBody>
          <a:bodyPr wrap="square" lIns="0" tIns="0" rIns="0" bIns="0" anchor="t">
            <a:spAutoFit/>
          </a:bodyPr>
          <a:lstStyle/>
          <a:p>
            <a:pPr algn="l">
              <a:spcAft>
                <a:spcPts val="600"/>
              </a:spcAft>
            </a:pPr>
            <a:r>
              <a:rPr sz="1400" b="0" i="0">
                <a:solidFill>
                  <a:srgbClr val="1E293B"/>
                </a:solidFill>
                <a:latin typeface="Calibri"/>
              </a:rPr>
              <a:t>VADER, rules, GPT-4o-mini, GPT-4o vs humans</a:t>
            </a:r>
          </a:p>
        </p:txBody>
      </p:sp>
      <p:sp>
        <p:nvSpPr>
          <p:cNvPr id="20" name="TextBox 19"/>
          <p:cNvSpPr txBox="1"/>
          <p:nvPr/>
        </p:nvSpPr>
        <p:spPr>
          <a:xfrm>
            <a:off x="9898380" y="3246120"/>
            <a:ext cx="1696212" cy="457200"/>
          </a:xfrm>
          <a:prstGeom prst="rect">
            <a:avLst/>
          </a:prstGeom>
          <a:noFill/>
        </p:spPr>
        <p:txBody>
          <a:bodyPr wrap="square" lIns="0" tIns="0" rIns="0" bIns="0" anchor="t">
            <a:spAutoFit/>
          </a:bodyPr>
          <a:lstStyle/>
          <a:p>
            <a:pPr algn="l">
              <a:spcAft>
                <a:spcPts val="600"/>
              </a:spcAft>
            </a:pPr>
            <a:r>
              <a:rPr sz="1200" b="1" i="0">
                <a:solidFill>
                  <a:srgbClr val="1C2E6E"/>
                </a:solidFill>
                <a:latin typeface="Calibri"/>
              </a:rPr>
              <a:t>generate_dashboard.py</a:t>
            </a:r>
          </a:p>
        </p:txBody>
      </p:sp>
      <p:sp>
        <p:nvSpPr>
          <p:cNvPr id="21" name="TextBox 20"/>
          <p:cNvSpPr txBox="1"/>
          <p:nvPr/>
        </p:nvSpPr>
        <p:spPr>
          <a:xfrm>
            <a:off x="9898380" y="3657600"/>
            <a:ext cx="1696212" cy="1188720"/>
          </a:xfrm>
          <a:prstGeom prst="rect">
            <a:avLst/>
          </a:prstGeom>
          <a:noFill/>
        </p:spPr>
        <p:txBody>
          <a:bodyPr wrap="square" lIns="0" tIns="0" rIns="0" bIns="0" anchor="t">
            <a:spAutoFit/>
          </a:bodyPr>
          <a:lstStyle/>
          <a:p>
            <a:pPr algn="l">
              <a:spcAft>
                <a:spcPts val="600"/>
              </a:spcAft>
            </a:pPr>
            <a:r>
              <a:rPr sz="1400" b="0" i="0">
                <a:solidFill>
                  <a:srgbClr val="1E293B"/>
                </a:solidFill>
                <a:latin typeface="Calibri"/>
              </a:rPr>
              <a:t>Static Chart.js HTML, no server</a:t>
            </a:r>
          </a:p>
        </p:txBody>
      </p:sp>
      <p:sp>
        <p:nvSpPr>
          <p:cNvPr id="22" name="Rounded Rectangle 21"/>
          <p:cNvSpPr/>
          <p:nvPr/>
        </p:nvSpPr>
        <p:spPr>
          <a:xfrm>
            <a:off x="548640" y="5074920"/>
            <a:ext cx="11091672" cy="86868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40" y="5074920"/>
            <a:ext cx="10634472" cy="868680"/>
          </a:xfrm>
          <a:prstGeom prst="rect">
            <a:avLst/>
          </a:prstGeom>
          <a:noFill/>
        </p:spPr>
        <p:txBody>
          <a:bodyPr wrap="square" lIns="0" tIns="0" rIns="0" bIns="0" anchor="ctr">
            <a:spAutoFit/>
          </a:bodyPr>
          <a:lstStyle/>
          <a:p>
            <a:pPr algn="l">
              <a:spcAft>
                <a:spcPts val="600"/>
              </a:spcAft>
            </a:pPr>
            <a:r>
              <a:rPr sz="1600" b="0" i="0">
                <a:solidFill>
                  <a:srgbClr val="1E293B"/>
                </a:solidFill>
                <a:latin typeface="Calibri"/>
              </a:rPr>
              <a:t>Every stage writes a CSV to data/processed/, so every number in the report traces to a file.</a:t>
            </a:r>
          </a:p>
        </p:txBody>
      </p:sp>
      <p:sp>
        <p:nvSpPr>
          <p:cNvPr id="25" name="TextBox 24">
            <a:extLst>
              <a:ext uri="{FF2B5EF4-FFF2-40B4-BE49-F238E27FC236}">
                <a16:creationId xmlns:a16="http://schemas.microsoft.com/office/drawing/2014/main" id="{C7E10F6C-90F1-DEC5-22B5-205EAC14AFCB}"/>
              </a:ext>
            </a:extLst>
          </p:cNvPr>
          <p:cNvSpPr txBox="1"/>
          <p:nvPr/>
        </p:nvSpPr>
        <p:spPr>
          <a:xfrm>
            <a:off x="4319867" y="4135902"/>
            <a:ext cx="1696212" cy="461665"/>
          </a:xfrm>
          <a:prstGeom prst="rect">
            <a:avLst/>
          </a:prstGeom>
          <a:noFill/>
        </p:spPr>
        <p:txBody>
          <a:bodyPr wrap="square">
            <a:spAutoFit/>
          </a:bodyPr>
          <a:lstStyle/>
          <a:p>
            <a:r>
              <a:rPr lang="en-US" sz="1200" b="1" i="0" dirty="0">
                <a:solidFill>
                  <a:srgbClr val="1C2E6E"/>
                </a:solidFill>
                <a:latin typeface="Calibri"/>
              </a:rPr>
              <a:t>3 Sentiments</a:t>
            </a:r>
          </a:p>
          <a:p>
            <a:r>
              <a:rPr lang="en-US" sz="1200" b="1" dirty="0">
                <a:solidFill>
                  <a:srgbClr val="1C2E6E"/>
                </a:solidFill>
                <a:latin typeface="Calibri"/>
              </a:rPr>
              <a:t>10 Labels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12000" y="538333"/>
            <a:ext cx="6840000" cy="701731"/>
          </a:xfrm>
          <a:prstGeom prst="rect">
            <a:avLst/>
          </a:prstGeom>
          <a:noFill/>
        </p:spPr>
        <p:txBody>
          <a:bodyPr wrap="square" lIns="0" tIns="0" rIns="0" bIns="0" anchor="ctr">
            <a:spAutoFit/>
          </a:bodyPr>
          <a:lstStyle/>
          <a:p>
            <a:pPr algn="l">
              <a:lnSpc>
                <a:spcPct val="95000"/>
              </a:lnSpc>
              <a:spcAft>
                <a:spcPts val="0"/>
              </a:spcAft>
            </a:pPr>
            <a:r>
              <a:rPr lang="en-US" sz="2400" b="1" i="0" dirty="0">
                <a:solidFill>
                  <a:srgbClr val="1C2E6E"/>
                </a:solidFill>
                <a:latin typeface="Calibri"/>
              </a:rPr>
              <a:t>Clean numbers: </a:t>
            </a:r>
            <a:r>
              <a:rPr sz="2400" b="1" i="0" dirty="0">
                <a:solidFill>
                  <a:srgbClr val="1C2E6E"/>
                </a:solidFill>
                <a:latin typeface="Calibri"/>
              </a:rPr>
              <a:t>9,162 unique posts in 349 telco threads</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7</a:t>
            </a:r>
          </a:p>
        </p:txBody>
      </p:sp>
      <p:sp>
        <p:nvSpPr>
          <p:cNvPr id="4" name="Rounded Rectangle 3"/>
          <p:cNvSpPr/>
          <p:nvPr/>
        </p:nvSpPr>
        <p:spPr>
          <a:xfrm>
            <a:off x="548640" y="1828800"/>
            <a:ext cx="2606040" cy="201168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2057400"/>
            <a:ext cx="2194560" cy="579120"/>
          </a:xfrm>
          <a:prstGeom prst="rect">
            <a:avLst/>
          </a:prstGeom>
          <a:noFill/>
        </p:spPr>
        <p:txBody>
          <a:bodyPr wrap="square" lIns="0" tIns="0" rIns="0" bIns="0" anchor="t">
            <a:spAutoFit/>
          </a:bodyPr>
          <a:lstStyle/>
          <a:p>
            <a:pPr algn="l">
              <a:spcAft>
                <a:spcPts val="600"/>
              </a:spcAft>
            </a:pPr>
            <a:r>
              <a:rPr sz="3800" b="1" i="0">
                <a:solidFill>
                  <a:srgbClr val="1C2E6E"/>
                </a:solidFill>
                <a:latin typeface="Calibri"/>
              </a:rPr>
              <a:t>24,690</a:t>
            </a:r>
          </a:p>
        </p:txBody>
      </p:sp>
      <p:sp>
        <p:nvSpPr>
          <p:cNvPr id="6" name="TextBox 5"/>
          <p:cNvSpPr txBox="1"/>
          <p:nvPr/>
        </p:nvSpPr>
        <p:spPr>
          <a:xfrm>
            <a:off x="777240" y="2682240"/>
            <a:ext cx="2194560" cy="822960"/>
          </a:xfrm>
          <a:prstGeom prst="rect">
            <a:avLst/>
          </a:prstGeom>
          <a:noFill/>
        </p:spPr>
        <p:txBody>
          <a:bodyPr wrap="square" lIns="0" tIns="0" rIns="0" bIns="0" anchor="t">
            <a:spAutoFit/>
          </a:bodyPr>
          <a:lstStyle/>
          <a:p>
            <a:pPr algn="l">
              <a:spcAft>
                <a:spcPts val="600"/>
              </a:spcAft>
            </a:pPr>
            <a:r>
              <a:rPr sz="1500" b="0" i="0">
                <a:solidFill>
                  <a:srgbClr val="5B6475"/>
                </a:solidFill>
                <a:latin typeface="Calibri"/>
              </a:rPr>
              <a:t>raw rows scraped</a:t>
            </a:r>
          </a:p>
        </p:txBody>
      </p:sp>
      <p:sp>
        <p:nvSpPr>
          <p:cNvPr id="7" name="Rounded Rectangle 6"/>
          <p:cNvSpPr/>
          <p:nvPr/>
        </p:nvSpPr>
        <p:spPr>
          <a:xfrm>
            <a:off x="3383280" y="1828800"/>
            <a:ext cx="2606040" cy="201168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11880" y="2057400"/>
            <a:ext cx="2194560" cy="579120"/>
          </a:xfrm>
          <a:prstGeom prst="rect">
            <a:avLst/>
          </a:prstGeom>
          <a:noFill/>
        </p:spPr>
        <p:txBody>
          <a:bodyPr wrap="square" lIns="0" tIns="0" rIns="0" bIns="0" anchor="t">
            <a:spAutoFit/>
          </a:bodyPr>
          <a:lstStyle/>
          <a:p>
            <a:pPr algn="l">
              <a:spcAft>
                <a:spcPts val="600"/>
              </a:spcAft>
            </a:pPr>
            <a:r>
              <a:rPr sz="3800" b="1" i="0">
                <a:solidFill>
                  <a:srgbClr val="1C2E6E"/>
                </a:solidFill>
                <a:latin typeface="Calibri"/>
              </a:rPr>
              <a:t>11,643</a:t>
            </a:r>
          </a:p>
        </p:txBody>
      </p:sp>
      <p:sp>
        <p:nvSpPr>
          <p:cNvPr id="9" name="TextBox 8"/>
          <p:cNvSpPr txBox="1"/>
          <p:nvPr/>
        </p:nvSpPr>
        <p:spPr>
          <a:xfrm>
            <a:off x="3611880" y="2682240"/>
            <a:ext cx="2194560" cy="822960"/>
          </a:xfrm>
          <a:prstGeom prst="rect">
            <a:avLst/>
          </a:prstGeom>
          <a:noFill/>
        </p:spPr>
        <p:txBody>
          <a:bodyPr wrap="square" lIns="0" tIns="0" rIns="0" bIns="0" anchor="t">
            <a:spAutoFit/>
          </a:bodyPr>
          <a:lstStyle/>
          <a:p>
            <a:pPr algn="l">
              <a:spcAft>
                <a:spcPts val="600"/>
              </a:spcAft>
            </a:pPr>
            <a:r>
              <a:rPr sz="1500" b="0" i="0">
                <a:solidFill>
                  <a:srgbClr val="5B6475"/>
                </a:solidFill>
                <a:latin typeface="Calibri"/>
              </a:rPr>
              <a:t>unique posts after removing repeat copies</a:t>
            </a:r>
          </a:p>
        </p:txBody>
      </p:sp>
      <p:sp>
        <p:nvSpPr>
          <p:cNvPr id="10" name="Rounded Rectangle 9"/>
          <p:cNvSpPr/>
          <p:nvPr/>
        </p:nvSpPr>
        <p:spPr>
          <a:xfrm>
            <a:off x="6217920" y="1828800"/>
            <a:ext cx="2606040" cy="201168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46520" y="2057400"/>
            <a:ext cx="2194560" cy="579120"/>
          </a:xfrm>
          <a:prstGeom prst="rect">
            <a:avLst/>
          </a:prstGeom>
          <a:noFill/>
        </p:spPr>
        <p:txBody>
          <a:bodyPr wrap="square" lIns="0" tIns="0" rIns="0" bIns="0" anchor="t">
            <a:spAutoFit/>
          </a:bodyPr>
          <a:lstStyle/>
          <a:p>
            <a:pPr algn="l">
              <a:spcAft>
                <a:spcPts val="600"/>
              </a:spcAft>
            </a:pPr>
            <a:r>
              <a:rPr sz="3800" b="1" i="0">
                <a:solidFill>
                  <a:srgbClr val="1C2E6E"/>
                </a:solidFill>
                <a:latin typeface="Calibri"/>
              </a:rPr>
              <a:t>9,162</a:t>
            </a:r>
          </a:p>
        </p:txBody>
      </p:sp>
      <p:sp>
        <p:nvSpPr>
          <p:cNvPr id="12" name="TextBox 11"/>
          <p:cNvSpPr txBox="1"/>
          <p:nvPr/>
        </p:nvSpPr>
        <p:spPr>
          <a:xfrm>
            <a:off x="6446520" y="2682240"/>
            <a:ext cx="2194560" cy="461665"/>
          </a:xfrm>
          <a:prstGeom prst="rect">
            <a:avLst/>
          </a:prstGeom>
          <a:noFill/>
        </p:spPr>
        <p:txBody>
          <a:bodyPr wrap="square" lIns="0" tIns="0" rIns="0" bIns="0" anchor="t">
            <a:spAutoFit/>
          </a:bodyPr>
          <a:lstStyle/>
          <a:p>
            <a:pPr algn="l">
              <a:spcAft>
                <a:spcPts val="600"/>
              </a:spcAft>
            </a:pPr>
            <a:r>
              <a:rPr lang="en-US" sz="1500" b="0" i="0" dirty="0">
                <a:solidFill>
                  <a:srgbClr val="5B6475"/>
                </a:solidFill>
                <a:latin typeface="Calibri"/>
              </a:rPr>
              <a:t>Sufficient </a:t>
            </a:r>
            <a:r>
              <a:rPr sz="1500" b="0" i="0" dirty="0">
                <a:solidFill>
                  <a:srgbClr val="5B6475"/>
                </a:solidFill>
                <a:latin typeface="Calibri"/>
              </a:rPr>
              <a:t>posts in 349 </a:t>
            </a:r>
            <a:r>
              <a:rPr sz="1500" b="1" i="0" dirty="0">
                <a:solidFill>
                  <a:srgbClr val="5B6475"/>
                </a:solidFill>
                <a:latin typeface="Calibri"/>
              </a:rPr>
              <a:t>telco</a:t>
            </a:r>
            <a:r>
              <a:rPr lang="en-US" sz="1500" b="1" i="0" dirty="0">
                <a:solidFill>
                  <a:srgbClr val="5B6475"/>
                </a:solidFill>
                <a:latin typeface="Calibri"/>
              </a:rPr>
              <a:t>-related</a:t>
            </a:r>
            <a:r>
              <a:rPr sz="1500" b="1" i="0" dirty="0">
                <a:solidFill>
                  <a:srgbClr val="5B6475"/>
                </a:solidFill>
                <a:latin typeface="Calibri"/>
              </a:rPr>
              <a:t> </a:t>
            </a:r>
            <a:r>
              <a:rPr sz="1500" b="0" i="0" dirty="0">
                <a:solidFill>
                  <a:srgbClr val="5B6475"/>
                </a:solidFill>
                <a:latin typeface="Calibri"/>
              </a:rPr>
              <a:t>threads</a:t>
            </a:r>
          </a:p>
        </p:txBody>
      </p:sp>
      <p:sp>
        <p:nvSpPr>
          <p:cNvPr id="13" name="Rounded Rectangle 12"/>
          <p:cNvSpPr/>
          <p:nvPr/>
        </p:nvSpPr>
        <p:spPr>
          <a:xfrm>
            <a:off x="9052560" y="1828800"/>
            <a:ext cx="2606040" cy="201168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281160" y="2057400"/>
            <a:ext cx="2194560" cy="579120"/>
          </a:xfrm>
          <a:prstGeom prst="rect">
            <a:avLst/>
          </a:prstGeom>
          <a:noFill/>
        </p:spPr>
        <p:txBody>
          <a:bodyPr wrap="square" lIns="0" tIns="0" rIns="0" bIns="0" anchor="t">
            <a:spAutoFit/>
          </a:bodyPr>
          <a:lstStyle/>
          <a:p>
            <a:pPr algn="l">
              <a:spcAft>
                <a:spcPts val="600"/>
              </a:spcAft>
            </a:pPr>
            <a:r>
              <a:rPr sz="3800" b="1" i="0">
                <a:solidFill>
                  <a:srgbClr val="1C2E6E"/>
                </a:solidFill>
                <a:latin typeface="Calibri"/>
              </a:rPr>
              <a:t>12%</a:t>
            </a:r>
          </a:p>
        </p:txBody>
      </p:sp>
      <p:sp>
        <p:nvSpPr>
          <p:cNvPr id="15" name="TextBox 14"/>
          <p:cNvSpPr txBox="1"/>
          <p:nvPr/>
        </p:nvSpPr>
        <p:spPr>
          <a:xfrm>
            <a:off x="9281160" y="2682240"/>
            <a:ext cx="2194560" cy="538609"/>
          </a:xfrm>
          <a:prstGeom prst="rect">
            <a:avLst/>
          </a:prstGeom>
          <a:noFill/>
        </p:spPr>
        <p:txBody>
          <a:bodyPr wrap="square" lIns="0" tIns="0" rIns="0" bIns="0" anchor="t">
            <a:spAutoFit/>
          </a:bodyPr>
          <a:lstStyle/>
          <a:p>
            <a:pPr algn="l">
              <a:spcAft>
                <a:spcPts val="600"/>
              </a:spcAft>
            </a:pPr>
            <a:r>
              <a:rPr sz="1500" b="0" i="0" dirty="0">
                <a:solidFill>
                  <a:srgbClr val="5B6475"/>
                </a:solidFill>
                <a:latin typeface="Calibri"/>
              </a:rPr>
              <a:t>in outage threads</a:t>
            </a:r>
            <a:endParaRPr lang="en-US" sz="1500" b="0" i="0" dirty="0">
              <a:solidFill>
                <a:srgbClr val="5B6475"/>
              </a:solidFill>
              <a:latin typeface="Calibri"/>
            </a:endParaRPr>
          </a:p>
          <a:p>
            <a:pPr algn="l">
              <a:spcAft>
                <a:spcPts val="600"/>
              </a:spcAft>
            </a:pPr>
            <a:r>
              <a:rPr lang="en-US" sz="1500" dirty="0">
                <a:solidFill>
                  <a:srgbClr val="5B6475"/>
                </a:solidFill>
                <a:latin typeface="Calibri"/>
              </a:rPr>
              <a:t>Singtel Outage in Mar 26</a:t>
            </a:r>
            <a:endParaRPr sz="1500" b="0" i="0" dirty="0">
              <a:solidFill>
                <a:srgbClr val="5B6475"/>
              </a:solidFill>
              <a:latin typeface="Calibri"/>
            </a:endParaRPr>
          </a:p>
        </p:txBody>
      </p:sp>
      <p:sp>
        <p:nvSpPr>
          <p:cNvPr id="16" name="Rounded Rectangle 15"/>
          <p:cNvSpPr/>
          <p:nvPr/>
        </p:nvSpPr>
        <p:spPr>
          <a:xfrm>
            <a:off x="548640" y="4160520"/>
            <a:ext cx="11091672" cy="169164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4343400"/>
            <a:ext cx="10634472" cy="365760"/>
          </a:xfrm>
          <a:prstGeom prst="rect">
            <a:avLst/>
          </a:prstGeom>
          <a:noFill/>
        </p:spPr>
        <p:txBody>
          <a:bodyPr wrap="square" lIns="0" tIns="0" rIns="0" bIns="0" anchor="t">
            <a:spAutoFit/>
          </a:bodyPr>
          <a:lstStyle/>
          <a:p>
            <a:pPr algn="l">
              <a:spcAft>
                <a:spcPts val="600"/>
              </a:spcAft>
            </a:pPr>
            <a:r>
              <a:rPr sz="1800" b="1" i="0">
                <a:solidFill>
                  <a:srgbClr val="1C2E6E"/>
                </a:solidFill>
                <a:latin typeface="Calibri"/>
              </a:rPr>
              <a:t>Why it matters</a:t>
            </a:r>
          </a:p>
        </p:txBody>
      </p:sp>
      <p:sp>
        <p:nvSpPr>
          <p:cNvPr id="18" name="TextBox 17"/>
          <p:cNvSpPr txBox="1"/>
          <p:nvPr/>
        </p:nvSpPr>
        <p:spPr>
          <a:xfrm>
            <a:off x="777240" y="4727448"/>
            <a:ext cx="10634472" cy="960120"/>
          </a:xfrm>
          <a:prstGeom prst="rect">
            <a:avLst/>
          </a:prstGeom>
          <a:noFill/>
        </p:spPr>
        <p:txBody>
          <a:bodyPr wrap="square" lIns="0" tIns="0" rIns="0" bIns="0" anchor="t">
            <a:spAutoFit/>
          </a:bodyPr>
          <a:lstStyle/>
          <a:p>
            <a:pPr algn="l">
              <a:spcAft>
                <a:spcPts val="600"/>
              </a:spcAft>
            </a:pPr>
            <a:r>
              <a:rPr sz="1600" b="0" i="0" dirty="0">
                <a:solidFill>
                  <a:srgbClr val="1E293B"/>
                </a:solidFill>
                <a:latin typeface="Calibri"/>
              </a:rPr>
              <a:t>Raw row counts overstate the data more than twofold. Every share in this deck is per unique post, and checked again with every thread weighted equally.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12000" y="475199"/>
            <a:ext cx="6840000" cy="828000"/>
          </a:xfrm>
          <a:prstGeom prst="rect">
            <a:avLst/>
          </a:prstGeom>
          <a:noFill/>
        </p:spPr>
        <p:txBody>
          <a:bodyPr wrap="square" lIns="0" tIns="0" rIns="0" bIns="0" anchor="ctr">
            <a:spAutoFit/>
          </a:bodyPr>
          <a:lstStyle/>
          <a:p>
            <a:pPr algn="l">
              <a:lnSpc>
                <a:spcPct val="95000"/>
              </a:lnSpc>
              <a:spcAft>
                <a:spcPts val="0"/>
              </a:spcAft>
            </a:pPr>
            <a:r>
              <a:rPr sz="2400" b="1" i="0" dirty="0">
                <a:solidFill>
                  <a:srgbClr val="1C2E6E"/>
                </a:solidFill>
                <a:latin typeface="Calibri"/>
              </a:rPr>
              <a:t>“Eight” is a telco and a number</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8</a:t>
            </a:r>
          </a:p>
        </p:txBody>
      </p:sp>
      <p:sp>
        <p:nvSpPr>
          <p:cNvPr id="4" name="Rounded Rectangle 3"/>
          <p:cNvSpPr/>
          <p:nvPr/>
        </p:nvSpPr>
        <p:spPr>
          <a:xfrm>
            <a:off x="548640" y="1737360"/>
            <a:ext cx="5422392" cy="251460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59" y="1920240"/>
            <a:ext cx="4846320" cy="411480"/>
          </a:xfrm>
          <a:prstGeom prst="rect">
            <a:avLst/>
          </a:prstGeom>
          <a:noFill/>
        </p:spPr>
        <p:txBody>
          <a:bodyPr wrap="square" lIns="0" tIns="0" rIns="0" bIns="0" anchor="t">
            <a:spAutoFit/>
          </a:bodyPr>
          <a:lstStyle/>
          <a:p>
            <a:pPr algn="l">
              <a:spcAft>
                <a:spcPts val="600"/>
              </a:spcAft>
            </a:pPr>
            <a:r>
              <a:rPr sz="1800" b="1" i="0">
                <a:solidFill>
                  <a:srgbClr val="1C2E6E"/>
                </a:solidFill>
                <a:latin typeface="Calibri"/>
              </a:rPr>
              <a:t>Rejected as a brand</a:t>
            </a:r>
          </a:p>
        </p:txBody>
      </p:sp>
      <p:sp>
        <p:nvSpPr>
          <p:cNvPr id="6" name="TextBox 5"/>
          <p:cNvSpPr txBox="1"/>
          <p:nvPr/>
        </p:nvSpPr>
        <p:spPr>
          <a:xfrm>
            <a:off x="822959" y="2468880"/>
            <a:ext cx="4846320" cy="1737360"/>
          </a:xfrm>
          <a:prstGeom prst="rect">
            <a:avLst/>
          </a:prstGeom>
          <a:noFill/>
        </p:spPr>
        <p:txBody>
          <a:bodyPr wrap="square" lIns="0" tIns="0" rIns="0" bIns="0" anchor="t">
            <a:spAutoFit/>
          </a:bodyPr>
          <a:lstStyle/>
          <a:p>
            <a:pPr marL="256032" indent="-256032" algn="l">
              <a:spcAft>
                <a:spcPts val="800"/>
              </a:spcAft>
              <a:buClr>
                <a:srgbClr val="D29B08"/>
              </a:buClr>
              <a:buFont typeface="Arial"/>
              <a:buChar char="•"/>
            </a:pPr>
            <a:r>
              <a:rPr sz="1600" b="0" i="0">
                <a:solidFill>
                  <a:srgbClr val="1E293B"/>
                </a:solidFill>
                <a:latin typeface="Calibri"/>
              </a:rPr>
              <a:t>“took eight buses to get home”</a:t>
            </a:r>
          </a:p>
          <a:p>
            <a:pPr marL="256032" indent="-256032" algn="l">
              <a:spcAft>
                <a:spcPts val="800"/>
              </a:spcAft>
              <a:buClr>
                <a:srgbClr val="D29B08"/>
              </a:buClr>
              <a:buFont typeface="Arial"/>
              <a:buChar char="•"/>
            </a:pPr>
            <a:r>
              <a:rPr sz="1600" b="0" i="0">
                <a:solidFill>
                  <a:srgbClr val="1E293B"/>
                </a:solidFill>
                <a:latin typeface="Calibri"/>
              </a:rPr>
              <a:t>“eight people in my team”</a:t>
            </a:r>
          </a:p>
          <a:p>
            <a:pPr marL="256032" indent="-256032" algn="l">
              <a:spcAft>
                <a:spcPts val="800"/>
              </a:spcAft>
              <a:buClr>
                <a:srgbClr val="D29B08"/>
              </a:buClr>
              <a:buFont typeface="Arial"/>
              <a:buChar char="•"/>
            </a:pPr>
            <a:r>
              <a:rPr sz="1600" b="0" i="0">
                <a:solidFill>
                  <a:srgbClr val="1E293B"/>
                </a:solidFill>
                <a:latin typeface="Calibri"/>
              </a:rPr>
              <a:t>“eight years with the same phone”</a:t>
            </a:r>
          </a:p>
        </p:txBody>
      </p:sp>
      <p:sp>
        <p:nvSpPr>
          <p:cNvPr id="7" name="Rounded Rectangle 6"/>
          <p:cNvSpPr/>
          <p:nvPr/>
        </p:nvSpPr>
        <p:spPr>
          <a:xfrm>
            <a:off x="6217920" y="1737360"/>
            <a:ext cx="5422392" cy="251460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1920240"/>
            <a:ext cx="4846320" cy="411480"/>
          </a:xfrm>
          <a:prstGeom prst="rect">
            <a:avLst/>
          </a:prstGeom>
          <a:noFill/>
        </p:spPr>
        <p:txBody>
          <a:bodyPr wrap="square" lIns="0" tIns="0" rIns="0" bIns="0" anchor="t">
            <a:spAutoFit/>
          </a:bodyPr>
          <a:lstStyle/>
          <a:p>
            <a:pPr algn="l">
              <a:spcAft>
                <a:spcPts val="600"/>
              </a:spcAft>
            </a:pPr>
            <a:r>
              <a:rPr sz="1800" b="1" i="0">
                <a:solidFill>
                  <a:srgbClr val="1C2E6E"/>
                </a:solidFill>
                <a:latin typeface="Calibri"/>
              </a:rPr>
              <a:t>Accepted as Eight Telecom</a:t>
            </a:r>
          </a:p>
        </p:txBody>
      </p:sp>
      <p:sp>
        <p:nvSpPr>
          <p:cNvPr id="9" name="TextBox 8"/>
          <p:cNvSpPr txBox="1"/>
          <p:nvPr/>
        </p:nvSpPr>
        <p:spPr>
          <a:xfrm>
            <a:off x="6492240" y="2468880"/>
            <a:ext cx="4846320" cy="1737360"/>
          </a:xfrm>
          <a:prstGeom prst="rect">
            <a:avLst/>
          </a:prstGeom>
          <a:noFill/>
        </p:spPr>
        <p:txBody>
          <a:bodyPr wrap="square" lIns="0" tIns="0" rIns="0" bIns="0" anchor="t">
            <a:spAutoFit/>
          </a:bodyPr>
          <a:lstStyle/>
          <a:p>
            <a:pPr marL="256032" indent="-256032" algn="l">
              <a:spcAft>
                <a:spcPts val="800"/>
              </a:spcAft>
              <a:buClr>
                <a:srgbClr val="D29B08"/>
              </a:buClr>
              <a:buFont typeface="Arial"/>
              <a:buChar char="•"/>
            </a:pPr>
            <a:r>
              <a:rPr sz="1600" b="0" i="0">
                <a:solidFill>
                  <a:srgbClr val="1E293B"/>
                </a:solidFill>
                <a:latin typeface="Calibri"/>
              </a:rPr>
              <a:t>“Eight Telecom’s new SIM-only plan”</a:t>
            </a:r>
          </a:p>
          <a:p>
            <a:pPr marL="256032" indent="-256032" algn="l">
              <a:spcAft>
                <a:spcPts val="800"/>
              </a:spcAft>
              <a:buClr>
                <a:srgbClr val="D29B08"/>
              </a:buClr>
              <a:buFont typeface="Arial"/>
              <a:buChar char="•"/>
            </a:pPr>
            <a:r>
              <a:rPr sz="1600" b="0" i="0">
                <a:solidFill>
                  <a:srgbClr val="1E293B"/>
                </a:solidFill>
                <a:latin typeface="Calibri"/>
              </a:rPr>
              <a:t>“ported to eight, it runs on StarHub’s network”</a:t>
            </a:r>
          </a:p>
          <a:p>
            <a:pPr marL="256032" indent="-256032" algn="l">
              <a:spcAft>
                <a:spcPts val="800"/>
              </a:spcAft>
              <a:buClr>
                <a:srgbClr val="D29B08"/>
              </a:buClr>
              <a:buFont typeface="Arial"/>
              <a:buChar char="•"/>
            </a:pPr>
            <a:r>
              <a:rPr sz="1600" b="0" i="0">
                <a:solidFill>
                  <a:srgbClr val="1E293B"/>
                </a:solidFill>
                <a:latin typeface="Calibri"/>
              </a:rPr>
              <a:t>“eight.sg promo for 5G”</a:t>
            </a:r>
          </a:p>
        </p:txBody>
      </p:sp>
      <p:sp>
        <p:nvSpPr>
          <p:cNvPr id="10" name="TextBox 9"/>
          <p:cNvSpPr txBox="1"/>
          <p:nvPr/>
        </p:nvSpPr>
        <p:spPr>
          <a:xfrm>
            <a:off x="548640" y="4526280"/>
            <a:ext cx="11091672" cy="1463040"/>
          </a:xfrm>
          <a:prstGeom prst="rect">
            <a:avLst/>
          </a:prstGeom>
          <a:noFill/>
        </p:spPr>
        <p:txBody>
          <a:bodyPr wrap="square" lIns="0" tIns="0" rIns="0" bIns="0" anchor="t">
            <a:spAutoFit/>
          </a:bodyPr>
          <a:lstStyle/>
          <a:p>
            <a:pPr algn="l">
              <a:spcAft>
                <a:spcPts val="600"/>
              </a:spcAft>
            </a:pPr>
            <a:r>
              <a:rPr sz="1600" b="1" i="0">
                <a:solidFill>
                  <a:srgbClr val="1C2E6E"/>
                </a:solidFill>
                <a:latin typeface="Calibri"/>
              </a:rPr>
              <a:t>How it works: </a:t>
            </a:r>
            <a:r>
              <a:rPr sz="1600" b="0" i="0">
                <a:solidFill>
                  <a:srgbClr val="1E293B"/>
                </a:solidFill>
                <a:latin typeface="Calibri"/>
              </a:rPr>
              <a:t>block number phrases first, accept strong patterns (“Eight Telecom”, “eight.sg”), otherwise require a telco word within 60 characters. Failed matches are marked not telco-relevant and get no sentiment or issue label.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12000" y="475199"/>
            <a:ext cx="6840000" cy="828000"/>
          </a:xfrm>
          <a:prstGeom prst="rect">
            <a:avLst/>
          </a:prstGeom>
          <a:noFill/>
        </p:spPr>
        <p:txBody>
          <a:bodyPr wrap="square" lIns="0" tIns="0" rIns="0" bIns="0" anchor="ctr">
            <a:spAutoFit/>
          </a:bodyPr>
          <a:lstStyle/>
          <a:p>
            <a:pPr algn="l">
              <a:lnSpc>
                <a:spcPct val="95000"/>
              </a:lnSpc>
              <a:spcAft>
                <a:spcPts val="0"/>
              </a:spcAft>
            </a:pPr>
            <a:r>
              <a:rPr sz="2400" b="1" i="0">
                <a:solidFill>
                  <a:srgbClr val="1C2E6E"/>
                </a:solidFill>
                <a:latin typeface="Calibri"/>
              </a:rPr>
              <a:t>Ten issue labels, each mapped to an owner</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9</a:t>
            </a:r>
          </a:p>
        </p:txBody>
      </p:sp>
      <p:sp>
        <p:nvSpPr>
          <p:cNvPr id="4" name="Rounded Rectangle 3"/>
          <p:cNvSpPr/>
          <p:nvPr/>
        </p:nvSpPr>
        <p:spPr>
          <a:xfrm>
            <a:off x="548640" y="1737360"/>
            <a:ext cx="2072030" cy="1874519"/>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1874520"/>
            <a:ext cx="1294790" cy="457200"/>
          </a:xfrm>
          <a:prstGeom prst="rect">
            <a:avLst/>
          </a:prstGeom>
          <a:noFill/>
        </p:spPr>
        <p:txBody>
          <a:bodyPr wrap="square" lIns="0" tIns="0" rIns="0" bIns="0" anchor="t">
            <a:spAutoFit/>
          </a:bodyPr>
          <a:lstStyle/>
          <a:p>
            <a:pPr algn="l">
              <a:lnSpc>
                <a:spcPct val="90000"/>
              </a:lnSpc>
              <a:spcAft>
                <a:spcPts val="0"/>
              </a:spcAft>
            </a:pPr>
            <a:r>
              <a:rPr sz="1500" b="1" i="0">
                <a:solidFill>
                  <a:srgbClr val="1C2E6E"/>
                </a:solidFill>
                <a:latin typeface="Calibri"/>
              </a:rPr>
              <a:t>Network Quality</a:t>
            </a:r>
          </a:p>
        </p:txBody>
      </p:sp>
      <p:sp>
        <p:nvSpPr>
          <p:cNvPr id="6" name="TextBox 5"/>
          <p:cNvSpPr txBox="1"/>
          <p:nvPr/>
        </p:nvSpPr>
        <p:spPr>
          <a:xfrm>
            <a:off x="1998878" y="1874520"/>
            <a:ext cx="457200" cy="274320"/>
          </a:xfrm>
          <a:prstGeom prst="rect">
            <a:avLst/>
          </a:prstGeom>
          <a:noFill/>
        </p:spPr>
        <p:txBody>
          <a:bodyPr wrap="square" lIns="0" tIns="0" rIns="0" bIns="0" anchor="t">
            <a:spAutoFit/>
          </a:bodyPr>
          <a:lstStyle/>
          <a:p>
            <a:pPr algn="r">
              <a:spcAft>
                <a:spcPts val="600"/>
              </a:spcAft>
            </a:pPr>
            <a:r>
              <a:rPr sz="1500" b="1" i="0">
                <a:solidFill>
                  <a:srgbClr val="D29B08"/>
                </a:solidFill>
                <a:latin typeface="Calibri"/>
              </a:rPr>
              <a:t>41%</a:t>
            </a:r>
          </a:p>
        </p:txBody>
      </p:sp>
      <p:sp>
        <p:nvSpPr>
          <p:cNvPr id="7" name="TextBox 6"/>
          <p:cNvSpPr txBox="1"/>
          <p:nvPr/>
        </p:nvSpPr>
        <p:spPr>
          <a:xfrm>
            <a:off x="713232" y="2395728"/>
            <a:ext cx="1742846" cy="228600"/>
          </a:xfrm>
          <a:prstGeom prst="rect">
            <a:avLst/>
          </a:prstGeom>
          <a:noFill/>
        </p:spPr>
        <p:txBody>
          <a:bodyPr wrap="square" lIns="0" tIns="0" rIns="0" bIns="0" anchor="t">
            <a:spAutoFit/>
          </a:bodyPr>
          <a:lstStyle/>
          <a:p>
            <a:pPr algn="l">
              <a:spcAft>
                <a:spcPts val="600"/>
              </a:spcAft>
            </a:pPr>
            <a:r>
              <a:rPr sz="1200" b="0" i="0">
                <a:solidFill>
                  <a:srgbClr val="5B6475"/>
                </a:solidFill>
                <a:latin typeface="Calibri"/>
              </a:rPr>
              <a:t>Network team</a:t>
            </a:r>
          </a:p>
        </p:txBody>
      </p:sp>
      <p:sp>
        <p:nvSpPr>
          <p:cNvPr id="8" name="TextBox 7"/>
          <p:cNvSpPr txBox="1"/>
          <p:nvPr/>
        </p:nvSpPr>
        <p:spPr>
          <a:xfrm>
            <a:off x="713232" y="2697480"/>
            <a:ext cx="1742846" cy="822960"/>
          </a:xfrm>
          <a:prstGeom prst="rect">
            <a:avLst/>
          </a:prstGeom>
          <a:noFill/>
        </p:spPr>
        <p:txBody>
          <a:bodyPr wrap="square" lIns="0" tIns="0" rIns="0" bIns="0" anchor="t">
            <a:spAutoFit/>
          </a:bodyPr>
          <a:lstStyle/>
          <a:p>
            <a:pPr algn="l">
              <a:spcAft>
                <a:spcPts val="0"/>
              </a:spcAft>
            </a:pPr>
            <a:r>
              <a:rPr sz="1200" b="0" i="1">
                <a:solidFill>
                  <a:srgbClr val="1E293B"/>
                </a:solidFill>
                <a:latin typeface="Calibri"/>
              </a:rPr>
              <a:t>“Connection go from 5G to zero then back up multiple times a day.”</a:t>
            </a:r>
          </a:p>
        </p:txBody>
      </p:sp>
      <p:sp>
        <p:nvSpPr>
          <p:cNvPr id="9" name="Rounded Rectangle 8"/>
          <p:cNvSpPr/>
          <p:nvPr/>
        </p:nvSpPr>
        <p:spPr>
          <a:xfrm>
            <a:off x="2803550" y="1737360"/>
            <a:ext cx="2072030" cy="1874519"/>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968142" y="1874520"/>
            <a:ext cx="1294790" cy="457200"/>
          </a:xfrm>
          <a:prstGeom prst="rect">
            <a:avLst/>
          </a:prstGeom>
          <a:noFill/>
        </p:spPr>
        <p:txBody>
          <a:bodyPr wrap="square" lIns="0" tIns="0" rIns="0" bIns="0" anchor="t">
            <a:spAutoFit/>
          </a:bodyPr>
          <a:lstStyle/>
          <a:p>
            <a:pPr algn="l">
              <a:lnSpc>
                <a:spcPct val="90000"/>
              </a:lnSpc>
              <a:spcAft>
                <a:spcPts val="0"/>
              </a:spcAft>
            </a:pPr>
            <a:r>
              <a:rPr sz="1500" b="1" i="0">
                <a:solidFill>
                  <a:srgbClr val="1C2E6E"/>
                </a:solidFill>
                <a:latin typeface="Calibri"/>
              </a:rPr>
              <a:t>Pricing &amp; Promotions</a:t>
            </a:r>
          </a:p>
        </p:txBody>
      </p:sp>
      <p:sp>
        <p:nvSpPr>
          <p:cNvPr id="11" name="TextBox 10"/>
          <p:cNvSpPr txBox="1"/>
          <p:nvPr/>
        </p:nvSpPr>
        <p:spPr>
          <a:xfrm>
            <a:off x="4253788" y="1874520"/>
            <a:ext cx="457200" cy="274320"/>
          </a:xfrm>
          <a:prstGeom prst="rect">
            <a:avLst/>
          </a:prstGeom>
          <a:noFill/>
        </p:spPr>
        <p:txBody>
          <a:bodyPr wrap="square" lIns="0" tIns="0" rIns="0" bIns="0" anchor="t">
            <a:spAutoFit/>
          </a:bodyPr>
          <a:lstStyle/>
          <a:p>
            <a:pPr algn="r">
              <a:spcAft>
                <a:spcPts val="600"/>
              </a:spcAft>
            </a:pPr>
            <a:r>
              <a:rPr sz="1500" b="1" i="0">
                <a:solidFill>
                  <a:srgbClr val="D29B08"/>
                </a:solidFill>
                <a:latin typeface="Calibri"/>
              </a:rPr>
              <a:t>8%</a:t>
            </a:r>
          </a:p>
        </p:txBody>
      </p:sp>
      <p:sp>
        <p:nvSpPr>
          <p:cNvPr id="12" name="TextBox 11"/>
          <p:cNvSpPr txBox="1"/>
          <p:nvPr/>
        </p:nvSpPr>
        <p:spPr>
          <a:xfrm>
            <a:off x="2968142" y="2395728"/>
            <a:ext cx="1742846" cy="228600"/>
          </a:xfrm>
          <a:prstGeom prst="rect">
            <a:avLst/>
          </a:prstGeom>
          <a:noFill/>
        </p:spPr>
        <p:txBody>
          <a:bodyPr wrap="square" lIns="0" tIns="0" rIns="0" bIns="0" anchor="t">
            <a:spAutoFit/>
          </a:bodyPr>
          <a:lstStyle/>
          <a:p>
            <a:pPr algn="l">
              <a:spcAft>
                <a:spcPts val="600"/>
              </a:spcAft>
            </a:pPr>
            <a:r>
              <a:rPr sz="1200" b="0" i="0">
                <a:solidFill>
                  <a:srgbClr val="5B6475"/>
                </a:solidFill>
                <a:latin typeface="Calibri"/>
              </a:rPr>
              <a:t>Commercial</a:t>
            </a:r>
          </a:p>
        </p:txBody>
      </p:sp>
      <p:sp>
        <p:nvSpPr>
          <p:cNvPr id="13" name="TextBox 12"/>
          <p:cNvSpPr txBox="1"/>
          <p:nvPr/>
        </p:nvSpPr>
        <p:spPr>
          <a:xfrm>
            <a:off x="2968142" y="2697480"/>
            <a:ext cx="1742846" cy="822960"/>
          </a:xfrm>
          <a:prstGeom prst="rect">
            <a:avLst/>
          </a:prstGeom>
          <a:noFill/>
        </p:spPr>
        <p:txBody>
          <a:bodyPr wrap="square" lIns="0" tIns="0" rIns="0" bIns="0" anchor="t">
            <a:spAutoFit/>
          </a:bodyPr>
          <a:lstStyle/>
          <a:p>
            <a:pPr algn="l">
              <a:spcAft>
                <a:spcPts val="0"/>
              </a:spcAft>
            </a:pPr>
            <a:r>
              <a:rPr sz="1200" b="0" i="1">
                <a:solidFill>
                  <a:srgbClr val="1E293B"/>
                </a:solidFill>
                <a:latin typeface="Calibri"/>
              </a:rPr>
              <a:t>“$60 is yours even if you use $7? I’ll go zero1.”</a:t>
            </a:r>
          </a:p>
        </p:txBody>
      </p:sp>
      <p:sp>
        <p:nvSpPr>
          <p:cNvPr id="14" name="Rounded Rectangle 13"/>
          <p:cNvSpPr/>
          <p:nvPr/>
        </p:nvSpPr>
        <p:spPr>
          <a:xfrm>
            <a:off x="5058460" y="1737360"/>
            <a:ext cx="2072030" cy="1874519"/>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223052" y="1874520"/>
            <a:ext cx="1294790" cy="457200"/>
          </a:xfrm>
          <a:prstGeom prst="rect">
            <a:avLst/>
          </a:prstGeom>
          <a:noFill/>
        </p:spPr>
        <p:txBody>
          <a:bodyPr wrap="square" lIns="0" tIns="0" rIns="0" bIns="0" anchor="t">
            <a:spAutoFit/>
          </a:bodyPr>
          <a:lstStyle/>
          <a:p>
            <a:pPr algn="l">
              <a:lnSpc>
                <a:spcPct val="90000"/>
              </a:lnSpc>
              <a:spcAft>
                <a:spcPts val="0"/>
              </a:spcAft>
            </a:pPr>
            <a:r>
              <a:rPr sz="1500" b="1" i="0">
                <a:solidFill>
                  <a:srgbClr val="1C2E6E"/>
                </a:solidFill>
                <a:latin typeface="Calibri"/>
              </a:rPr>
              <a:t>Mobile Plans</a:t>
            </a:r>
          </a:p>
        </p:txBody>
      </p:sp>
      <p:sp>
        <p:nvSpPr>
          <p:cNvPr id="16" name="TextBox 15"/>
          <p:cNvSpPr txBox="1"/>
          <p:nvPr/>
        </p:nvSpPr>
        <p:spPr>
          <a:xfrm>
            <a:off x="6508699" y="1874520"/>
            <a:ext cx="457200" cy="274320"/>
          </a:xfrm>
          <a:prstGeom prst="rect">
            <a:avLst/>
          </a:prstGeom>
          <a:noFill/>
        </p:spPr>
        <p:txBody>
          <a:bodyPr wrap="square" lIns="0" tIns="0" rIns="0" bIns="0" anchor="t">
            <a:spAutoFit/>
          </a:bodyPr>
          <a:lstStyle/>
          <a:p>
            <a:pPr algn="r">
              <a:spcAft>
                <a:spcPts val="600"/>
              </a:spcAft>
            </a:pPr>
            <a:r>
              <a:rPr sz="1500" b="1" i="0">
                <a:solidFill>
                  <a:srgbClr val="D29B08"/>
                </a:solidFill>
                <a:latin typeface="Calibri"/>
              </a:rPr>
              <a:t>14%</a:t>
            </a:r>
          </a:p>
        </p:txBody>
      </p:sp>
      <p:sp>
        <p:nvSpPr>
          <p:cNvPr id="17" name="TextBox 16"/>
          <p:cNvSpPr txBox="1"/>
          <p:nvPr/>
        </p:nvSpPr>
        <p:spPr>
          <a:xfrm>
            <a:off x="5223052" y="2395728"/>
            <a:ext cx="1742846" cy="228600"/>
          </a:xfrm>
          <a:prstGeom prst="rect">
            <a:avLst/>
          </a:prstGeom>
          <a:noFill/>
        </p:spPr>
        <p:txBody>
          <a:bodyPr wrap="square" lIns="0" tIns="0" rIns="0" bIns="0" anchor="t">
            <a:spAutoFit/>
          </a:bodyPr>
          <a:lstStyle/>
          <a:p>
            <a:pPr algn="l">
              <a:spcAft>
                <a:spcPts val="600"/>
              </a:spcAft>
            </a:pPr>
            <a:r>
              <a:rPr sz="1200" b="0" i="0">
                <a:solidFill>
                  <a:srgbClr val="5B6475"/>
                </a:solidFill>
                <a:latin typeface="Calibri"/>
              </a:rPr>
              <a:t>Product</a:t>
            </a:r>
          </a:p>
        </p:txBody>
      </p:sp>
      <p:sp>
        <p:nvSpPr>
          <p:cNvPr id="18" name="TextBox 17"/>
          <p:cNvSpPr txBox="1"/>
          <p:nvPr/>
        </p:nvSpPr>
        <p:spPr>
          <a:xfrm>
            <a:off x="5223052" y="2697480"/>
            <a:ext cx="1742846" cy="822960"/>
          </a:xfrm>
          <a:prstGeom prst="rect">
            <a:avLst/>
          </a:prstGeom>
          <a:noFill/>
        </p:spPr>
        <p:txBody>
          <a:bodyPr wrap="square" lIns="0" tIns="0" rIns="0" bIns="0" anchor="t">
            <a:spAutoFit/>
          </a:bodyPr>
          <a:lstStyle/>
          <a:p>
            <a:pPr algn="l">
              <a:spcAft>
                <a:spcPts val="0"/>
              </a:spcAft>
            </a:pPr>
            <a:r>
              <a:rPr sz="1200" b="0" i="1">
                <a:solidFill>
                  <a:srgbClr val="1E293B"/>
                </a:solidFill>
                <a:latin typeface="Calibri"/>
              </a:rPr>
              <a:t>“My Star Plan got renewed on Nov 3 and I got only 50GB for local data.”</a:t>
            </a:r>
          </a:p>
        </p:txBody>
      </p:sp>
      <p:sp>
        <p:nvSpPr>
          <p:cNvPr id="19" name="Rounded Rectangle 18"/>
          <p:cNvSpPr/>
          <p:nvPr/>
        </p:nvSpPr>
        <p:spPr>
          <a:xfrm>
            <a:off x="7313371" y="1737360"/>
            <a:ext cx="2072030" cy="1874519"/>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477963" y="1874520"/>
            <a:ext cx="1294790" cy="457200"/>
          </a:xfrm>
          <a:prstGeom prst="rect">
            <a:avLst/>
          </a:prstGeom>
          <a:noFill/>
        </p:spPr>
        <p:txBody>
          <a:bodyPr wrap="square" lIns="0" tIns="0" rIns="0" bIns="0" anchor="t">
            <a:spAutoFit/>
          </a:bodyPr>
          <a:lstStyle/>
          <a:p>
            <a:pPr algn="l">
              <a:lnSpc>
                <a:spcPct val="90000"/>
              </a:lnSpc>
              <a:spcAft>
                <a:spcPts val="0"/>
              </a:spcAft>
            </a:pPr>
            <a:r>
              <a:rPr sz="1500" b="1" i="0">
                <a:solidFill>
                  <a:srgbClr val="1C2E6E"/>
                </a:solidFill>
                <a:latin typeface="Calibri"/>
              </a:rPr>
              <a:t>Roaming</a:t>
            </a:r>
          </a:p>
        </p:txBody>
      </p:sp>
      <p:sp>
        <p:nvSpPr>
          <p:cNvPr id="21" name="TextBox 20"/>
          <p:cNvSpPr txBox="1"/>
          <p:nvPr/>
        </p:nvSpPr>
        <p:spPr>
          <a:xfrm>
            <a:off x="8763609" y="1874520"/>
            <a:ext cx="457200" cy="274320"/>
          </a:xfrm>
          <a:prstGeom prst="rect">
            <a:avLst/>
          </a:prstGeom>
          <a:noFill/>
        </p:spPr>
        <p:txBody>
          <a:bodyPr wrap="square" lIns="0" tIns="0" rIns="0" bIns="0" anchor="t">
            <a:spAutoFit/>
          </a:bodyPr>
          <a:lstStyle/>
          <a:p>
            <a:pPr algn="r">
              <a:spcAft>
                <a:spcPts val="600"/>
              </a:spcAft>
            </a:pPr>
            <a:r>
              <a:rPr sz="1500" b="1" i="0">
                <a:solidFill>
                  <a:srgbClr val="D29B08"/>
                </a:solidFill>
                <a:latin typeface="Calibri"/>
              </a:rPr>
              <a:t>4%</a:t>
            </a:r>
          </a:p>
        </p:txBody>
      </p:sp>
      <p:sp>
        <p:nvSpPr>
          <p:cNvPr id="22" name="TextBox 21"/>
          <p:cNvSpPr txBox="1"/>
          <p:nvPr/>
        </p:nvSpPr>
        <p:spPr>
          <a:xfrm>
            <a:off x="7477963" y="2395728"/>
            <a:ext cx="1742846" cy="228600"/>
          </a:xfrm>
          <a:prstGeom prst="rect">
            <a:avLst/>
          </a:prstGeom>
          <a:noFill/>
        </p:spPr>
        <p:txBody>
          <a:bodyPr wrap="square" lIns="0" tIns="0" rIns="0" bIns="0" anchor="t">
            <a:spAutoFit/>
          </a:bodyPr>
          <a:lstStyle/>
          <a:p>
            <a:pPr algn="l">
              <a:spcAft>
                <a:spcPts val="600"/>
              </a:spcAft>
            </a:pPr>
            <a:r>
              <a:rPr sz="1200" b="0" i="0">
                <a:solidFill>
                  <a:srgbClr val="5B6475"/>
                </a:solidFill>
                <a:latin typeface="Calibri"/>
              </a:rPr>
              <a:t>Roaming product</a:t>
            </a:r>
          </a:p>
        </p:txBody>
      </p:sp>
      <p:sp>
        <p:nvSpPr>
          <p:cNvPr id="23" name="TextBox 22"/>
          <p:cNvSpPr txBox="1"/>
          <p:nvPr/>
        </p:nvSpPr>
        <p:spPr>
          <a:xfrm>
            <a:off x="7477963" y="2697480"/>
            <a:ext cx="1742846" cy="822960"/>
          </a:xfrm>
          <a:prstGeom prst="rect">
            <a:avLst/>
          </a:prstGeom>
          <a:noFill/>
        </p:spPr>
        <p:txBody>
          <a:bodyPr wrap="square" lIns="0" tIns="0" rIns="0" bIns="0" anchor="t">
            <a:spAutoFit/>
          </a:bodyPr>
          <a:lstStyle/>
          <a:p>
            <a:pPr algn="l">
              <a:spcAft>
                <a:spcPts val="0"/>
              </a:spcAft>
            </a:pPr>
            <a:r>
              <a:rPr sz="1200" b="0" i="1">
                <a:solidFill>
                  <a:srgbClr val="1E293B"/>
                </a:solidFill>
                <a:latin typeface="Calibri"/>
              </a:rPr>
              <a:t>“Tried it in KL to Ipoh no problem. Tested in Hokkaido lately, very nice.”</a:t>
            </a:r>
          </a:p>
        </p:txBody>
      </p:sp>
      <p:sp>
        <p:nvSpPr>
          <p:cNvPr id="24" name="Rounded Rectangle 23"/>
          <p:cNvSpPr/>
          <p:nvPr/>
        </p:nvSpPr>
        <p:spPr>
          <a:xfrm>
            <a:off x="9568281" y="1737360"/>
            <a:ext cx="2072030" cy="1874519"/>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732873" y="1874520"/>
            <a:ext cx="1294790" cy="457200"/>
          </a:xfrm>
          <a:prstGeom prst="rect">
            <a:avLst/>
          </a:prstGeom>
          <a:noFill/>
        </p:spPr>
        <p:txBody>
          <a:bodyPr wrap="square" lIns="0" tIns="0" rIns="0" bIns="0" anchor="t">
            <a:spAutoFit/>
          </a:bodyPr>
          <a:lstStyle/>
          <a:p>
            <a:pPr algn="l">
              <a:lnSpc>
                <a:spcPct val="90000"/>
              </a:lnSpc>
              <a:spcAft>
                <a:spcPts val="0"/>
              </a:spcAft>
            </a:pPr>
            <a:r>
              <a:rPr sz="1500" b="1" i="0">
                <a:solidFill>
                  <a:srgbClr val="1C2E6E"/>
                </a:solidFill>
                <a:latin typeface="Calibri"/>
              </a:rPr>
              <a:t>Porting</a:t>
            </a:r>
          </a:p>
        </p:txBody>
      </p:sp>
      <p:sp>
        <p:nvSpPr>
          <p:cNvPr id="26" name="TextBox 25"/>
          <p:cNvSpPr txBox="1"/>
          <p:nvPr/>
        </p:nvSpPr>
        <p:spPr>
          <a:xfrm>
            <a:off x="11018520" y="1874520"/>
            <a:ext cx="457200" cy="274320"/>
          </a:xfrm>
          <a:prstGeom prst="rect">
            <a:avLst/>
          </a:prstGeom>
          <a:noFill/>
        </p:spPr>
        <p:txBody>
          <a:bodyPr wrap="square" lIns="0" tIns="0" rIns="0" bIns="0" anchor="t">
            <a:spAutoFit/>
          </a:bodyPr>
          <a:lstStyle/>
          <a:p>
            <a:pPr algn="r">
              <a:spcAft>
                <a:spcPts val="600"/>
              </a:spcAft>
            </a:pPr>
            <a:r>
              <a:rPr sz="1500" b="1" i="0">
                <a:solidFill>
                  <a:srgbClr val="D29B08"/>
                </a:solidFill>
                <a:latin typeface="Calibri"/>
              </a:rPr>
              <a:t>3%</a:t>
            </a:r>
          </a:p>
        </p:txBody>
      </p:sp>
      <p:sp>
        <p:nvSpPr>
          <p:cNvPr id="27" name="TextBox 26"/>
          <p:cNvSpPr txBox="1"/>
          <p:nvPr/>
        </p:nvSpPr>
        <p:spPr>
          <a:xfrm>
            <a:off x="9732873" y="2395728"/>
            <a:ext cx="1742846" cy="228600"/>
          </a:xfrm>
          <a:prstGeom prst="rect">
            <a:avLst/>
          </a:prstGeom>
          <a:noFill/>
        </p:spPr>
        <p:txBody>
          <a:bodyPr wrap="square" lIns="0" tIns="0" rIns="0" bIns="0" anchor="t">
            <a:spAutoFit/>
          </a:bodyPr>
          <a:lstStyle/>
          <a:p>
            <a:pPr algn="l">
              <a:spcAft>
                <a:spcPts val="600"/>
              </a:spcAft>
            </a:pPr>
            <a:r>
              <a:rPr sz="1200" b="0" i="0">
                <a:solidFill>
                  <a:srgbClr val="5B6475"/>
                </a:solidFill>
                <a:latin typeface="Calibri"/>
              </a:rPr>
              <a:t>MNP operations</a:t>
            </a:r>
          </a:p>
        </p:txBody>
      </p:sp>
      <p:sp>
        <p:nvSpPr>
          <p:cNvPr id="28" name="TextBox 27"/>
          <p:cNvSpPr txBox="1"/>
          <p:nvPr/>
        </p:nvSpPr>
        <p:spPr>
          <a:xfrm>
            <a:off x="9732873" y="2697480"/>
            <a:ext cx="1742846" cy="822960"/>
          </a:xfrm>
          <a:prstGeom prst="rect">
            <a:avLst/>
          </a:prstGeom>
          <a:noFill/>
        </p:spPr>
        <p:txBody>
          <a:bodyPr wrap="square" lIns="0" tIns="0" rIns="0" bIns="0" anchor="t">
            <a:spAutoFit/>
          </a:bodyPr>
          <a:lstStyle/>
          <a:p>
            <a:pPr algn="l">
              <a:spcAft>
                <a:spcPts val="0"/>
              </a:spcAft>
            </a:pPr>
            <a:r>
              <a:rPr sz="1200" b="0" i="1">
                <a:solidFill>
                  <a:srgbClr val="1E293B"/>
                </a:solidFill>
                <a:latin typeface="Calibri"/>
              </a:rPr>
              <a:t>“Probably too many people porting out of m1.”</a:t>
            </a:r>
          </a:p>
        </p:txBody>
      </p:sp>
      <p:sp>
        <p:nvSpPr>
          <p:cNvPr id="29" name="Rounded Rectangle 28"/>
          <p:cNvSpPr/>
          <p:nvPr/>
        </p:nvSpPr>
        <p:spPr>
          <a:xfrm>
            <a:off x="548640" y="3794760"/>
            <a:ext cx="2072030" cy="1874519"/>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13232" y="3931920"/>
            <a:ext cx="1294790" cy="457200"/>
          </a:xfrm>
          <a:prstGeom prst="rect">
            <a:avLst/>
          </a:prstGeom>
          <a:noFill/>
        </p:spPr>
        <p:txBody>
          <a:bodyPr wrap="square" lIns="0" tIns="0" rIns="0" bIns="0" anchor="t">
            <a:spAutoFit/>
          </a:bodyPr>
          <a:lstStyle/>
          <a:p>
            <a:pPr algn="l">
              <a:lnSpc>
                <a:spcPct val="90000"/>
              </a:lnSpc>
              <a:spcAft>
                <a:spcPts val="0"/>
              </a:spcAft>
            </a:pPr>
            <a:r>
              <a:rPr sz="1500" b="1" i="0">
                <a:solidFill>
                  <a:srgbClr val="1C2E6E"/>
                </a:solidFill>
                <a:latin typeface="Calibri"/>
              </a:rPr>
              <a:t>Customer Service</a:t>
            </a:r>
          </a:p>
        </p:txBody>
      </p:sp>
      <p:sp>
        <p:nvSpPr>
          <p:cNvPr id="31" name="TextBox 30"/>
          <p:cNvSpPr txBox="1"/>
          <p:nvPr/>
        </p:nvSpPr>
        <p:spPr>
          <a:xfrm>
            <a:off x="1998878" y="3931920"/>
            <a:ext cx="457200" cy="274320"/>
          </a:xfrm>
          <a:prstGeom prst="rect">
            <a:avLst/>
          </a:prstGeom>
          <a:noFill/>
        </p:spPr>
        <p:txBody>
          <a:bodyPr wrap="square" lIns="0" tIns="0" rIns="0" bIns="0" anchor="t">
            <a:spAutoFit/>
          </a:bodyPr>
          <a:lstStyle/>
          <a:p>
            <a:pPr algn="r">
              <a:spcAft>
                <a:spcPts val="600"/>
              </a:spcAft>
            </a:pPr>
            <a:r>
              <a:rPr sz="1500" b="1" i="0">
                <a:solidFill>
                  <a:srgbClr val="D29B08"/>
                </a:solidFill>
                <a:latin typeface="Calibri"/>
              </a:rPr>
              <a:t>4%</a:t>
            </a:r>
          </a:p>
        </p:txBody>
      </p:sp>
      <p:sp>
        <p:nvSpPr>
          <p:cNvPr id="32" name="TextBox 31"/>
          <p:cNvSpPr txBox="1"/>
          <p:nvPr/>
        </p:nvSpPr>
        <p:spPr>
          <a:xfrm>
            <a:off x="713232" y="4453128"/>
            <a:ext cx="1742846" cy="228600"/>
          </a:xfrm>
          <a:prstGeom prst="rect">
            <a:avLst/>
          </a:prstGeom>
          <a:noFill/>
        </p:spPr>
        <p:txBody>
          <a:bodyPr wrap="square" lIns="0" tIns="0" rIns="0" bIns="0" anchor="t">
            <a:spAutoFit/>
          </a:bodyPr>
          <a:lstStyle/>
          <a:p>
            <a:pPr algn="l">
              <a:spcAft>
                <a:spcPts val="600"/>
              </a:spcAft>
            </a:pPr>
            <a:r>
              <a:rPr sz="1200" b="0" i="0">
                <a:solidFill>
                  <a:srgbClr val="5B6475"/>
                </a:solidFill>
                <a:latin typeface="Calibri"/>
              </a:rPr>
              <a:t>Service operations</a:t>
            </a:r>
          </a:p>
        </p:txBody>
      </p:sp>
      <p:sp>
        <p:nvSpPr>
          <p:cNvPr id="33" name="TextBox 32"/>
          <p:cNvSpPr txBox="1"/>
          <p:nvPr/>
        </p:nvSpPr>
        <p:spPr>
          <a:xfrm>
            <a:off x="713232" y="4754880"/>
            <a:ext cx="1742846" cy="822960"/>
          </a:xfrm>
          <a:prstGeom prst="rect">
            <a:avLst/>
          </a:prstGeom>
          <a:noFill/>
        </p:spPr>
        <p:txBody>
          <a:bodyPr wrap="square" lIns="0" tIns="0" rIns="0" bIns="0" anchor="t">
            <a:spAutoFit/>
          </a:bodyPr>
          <a:lstStyle/>
          <a:p>
            <a:pPr algn="l">
              <a:spcAft>
                <a:spcPts val="0"/>
              </a:spcAft>
            </a:pPr>
            <a:r>
              <a:rPr sz="1200" b="0" i="1">
                <a:solidFill>
                  <a:srgbClr val="1E293B"/>
                </a:solidFill>
                <a:latin typeface="Calibri"/>
              </a:rPr>
              <a:t>“Tried. U know that they say? Backend team will update u”</a:t>
            </a:r>
          </a:p>
        </p:txBody>
      </p:sp>
      <p:sp>
        <p:nvSpPr>
          <p:cNvPr id="34" name="Rounded Rectangle 33"/>
          <p:cNvSpPr/>
          <p:nvPr/>
        </p:nvSpPr>
        <p:spPr>
          <a:xfrm>
            <a:off x="2803550" y="3794760"/>
            <a:ext cx="2072030" cy="1874519"/>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968142" y="3931920"/>
            <a:ext cx="1294790" cy="457200"/>
          </a:xfrm>
          <a:prstGeom prst="rect">
            <a:avLst/>
          </a:prstGeom>
          <a:noFill/>
        </p:spPr>
        <p:txBody>
          <a:bodyPr wrap="square" lIns="0" tIns="0" rIns="0" bIns="0" anchor="t">
            <a:spAutoFit/>
          </a:bodyPr>
          <a:lstStyle/>
          <a:p>
            <a:pPr algn="l">
              <a:lnSpc>
                <a:spcPct val="90000"/>
              </a:lnSpc>
              <a:spcAft>
                <a:spcPts val="0"/>
              </a:spcAft>
            </a:pPr>
            <a:r>
              <a:rPr sz="1500" b="1" i="0">
                <a:solidFill>
                  <a:srgbClr val="1C2E6E"/>
                </a:solidFill>
                <a:latin typeface="Calibri"/>
              </a:rPr>
              <a:t>Billing &amp; Payment</a:t>
            </a:r>
          </a:p>
        </p:txBody>
      </p:sp>
      <p:sp>
        <p:nvSpPr>
          <p:cNvPr id="36" name="TextBox 35"/>
          <p:cNvSpPr txBox="1"/>
          <p:nvPr/>
        </p:nvSpPr>
        <p:spPr>
          <a:xfrm>
            <a:off x="4253788" y="3931920"/>
            <a:ext cx="457200" cy="274320"/>
          </a:xfrm>
          <a:prstGeom prst="rect">
            <a:avLst/>
          </a:prstGeom>
          <a:noFill/>
        </p:spPr>
        <p:txBody>
          <a:bodyPr wrap="square" lIns="0" tIns="0" rIns="0" bIns="0" anchor="t">
            <a:spAutoFit/>
          </a:bodyPr>
          <a:lstStyle/>
          <a:p>
            <a:pPr algn="r">
              <a:spcAft>
                <a:spcPts val="600"/>
              </a:spcAft>
            </a:pPr>
            <a:r>
              <a:rPr sz="1500" b="1" i="0">
                <a:solidFill>
                  <a:srgbClr val="D29B08"/>
                </a:solidFill>
                <a:latin typeface="Calibri"/>
              </a:rPr>
              <a:t>3%</a:t>
            </a:r>
          </a:p>
        </p:txBody>
      </p:sp>
      <p:sp>
        <p:nvSpPr>
          <p:cNvPr id="37" name="TextBox 36"/>
          <p:cNvSpPr txBox="1"/>
          <p:nvPr/>
        </p:nvSpPr>
        <p:spPr>
          <a:xfrm>
            <a:off x="2968142" y="4453128"/>
            <a:ext cx="1742846" cy="228600"/>
          </a:xfrm>
          <a:prstGeom prst="rect">
            <a:avLst/>
          </a:prstGeom>
          <a:noFill/>
        </p:spPr>
        <p:txBody>
          <a:bodyPr wrap="square" lIns="0" tIns="0" rIns="0" bIns="0" anchor="t">
            <a:spAutoFit/>
          </a:bodyPr>
          <a:lstStyle/>
          <a:p>
            <a:pPr algn="l">
              <a:spcAft>
                <a:spcPts val="600"/>
              </a:spcAft>
            </a:pPr>
            <a:r>
              <a:rPr sz="1200" b="0" i="0">
                <a:solidFill>
                  <a:srgbClr val="5B6475"/>
                </a:solidFill>
                <a:latin typeface="Calibri"/>
              </a:rPr>
              <a:t>Billing</a:t>
            </a:r>
          </a:p>
        </p:txBody>
      </p:sp>
      <p:sp>
        <p:nvSpPr>
          <p:cNvPr id="38" name="TextBox 37"/>
          <p:cNvSpPr txBox="1"/>
          <p:nvPr/>
        </p:nvSpPr>
        <p:spPr>
          <a:xfrm>
            <a:off x="2968142" y="4754880"/>
            <a:ext cx="1742846" cy="822960"/>
          </a:xfrm>
          <a:prstGeom prst="rect">
            <a:avLst/>
          </a:prstGeom>
          <a:noFill/>
        </p:spPr>
        <p:txBody>
          <a:bodyPr wrap="square" lIns="0" tIns="0" rIns="0" bIns="0" anchor="t">
            <a:spAutoFit/>
          </a:bodyPr>
          <a:lstStyle/>
          <a:p>
            <a:pPr algn="l">
              <a:spcAft>
                <a:spcPts val="0"/>
              </a:spcAft>
            </a:pPr>
            <a:r>
              <a:rPr sz="1200" b="0" i="1">
                <a:solidFill>
                  <a:srgbClr val="1E293B"/>
                </a:solidFill>
                <a:latin typeface="Calibri"/>
              </a:rPr>
              <a:t>“…you cannot have any outstanding bill in M1 or they will reject the letter.”</a:t>
            </a:r>
          </a:p>
        </p:txBody>
      </p:sp>
      <p:sp>
        <p:nvSpPr>
          <p:cNvPr id="39" name="Rounded Rectangle 38"/>
          <p:cNvSpPr/>
          <p:nvPr/>
        </p:nvSpPr>
        <p:spPr>
          <a:xfrm>
            <a:off x="5058460" y="3794760"/>
            <a:ext cx="2072030" cy="1874519"/>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223052" y="3931920"/>
            <a:ext cx="1294790" cy="457200"/>
          </a:xfrm>
          <a:prstGeom prst="rect">
            <a:avLst/>
          </a:prstGeom>
          <a:noFill/>
        </p:spPr>
        <p:txBody>
          <a:bodyPr wrap="square" lIns="0" tIns="0" rIns="0" bIns="0" anchor="t">
            <a:spAutoFit/>
          </a:bodyPr>
          <a:lstStyle/>
          <a:p>
            <a:pPr algn="l">
              <a:lnSpc>
                <a:spcPct val="90000"/>
              </a:lnSpc>
              <a:spcAft>
                <a:spcPts val="0"/>
              </a:spcAft>
            </a:pPr>
            <a:r>
              <a:rPr sz="1500" b="1" i="0">
                <a:solidFill>
                  <a:srgbClr val="1C2E6E"/>
                </a:solidFill>
                <a:latin typeface="Calibri"/>
              </a:rPr>
              <a:t>App &amp; Account</a:t>
            </a:r>
          </a:p>
        </p:txBody>
      </p:sp>
      <p:sp>
        <p:nvSpPr>
          <p:cNvPr id="41" name="TextBox 40"/>
          <p:cNvSpPr txBox="1"/>
          <p:nvPr/>
        </p:nvSpPr>
        <p:spPr>
          <a:xfrm>
            <a:off x="6508699" y="3931920"/>
            <a:ext cx="457200" cy="274320"/>
          </a:xfrm>
          <a:prstGeom prst="rect">
            <a:avLst/>
          </a:prstGeom>
          <a:noFill/>
        </p:spPr>
        <p:txBody>
          <a:bodyPr wrap="square" lIns="0" tIns="0" rIns="0" bIns="0" anchor="t">
            <a:spAutoFit/>
          </a:bodyPr>
          <a:lstStyle/>
          <a:p>
            <a:pPr algn="r">
              <a:spcAft>
                <a:spcPts val="600"/>
              </a:spcAft>
            </a:pPr>
            <a:r>
              <a:rPr sz="1500" b="1" i="0">
                <a:solidFill>
                  <a:srgbClr val="D29B08"/>
                </a:solidFill>
                <a:latin typeface="Calibri"/>
              </a:rPr>
              <a:t>4%</a:t>
            </a:r>
          </a:p>
        </p:txBody>
      </p:sp>
      <p:sp>
        <p:nvSpPr>
          <p:cNvPr id="42" name="TextBox 41"/>
          <p:cNvSpPr txBox="1"/>
          <p:nvPr/>
        </p:nvSpPr>
        <p:spPr>
          <a:xfrm>
            <a:off x="5223052" y="4453128"/>
            <a:ext cx="1742846" cy="228600"/>
          </a:xfrm>
          <a:prstGeom prst="rect">
            <a:avLst/>
          </a:prstGeom>
          <a:noFill/>
        </p:spPr>
        <p:txBody>
          <a:bodyPr wrap="square" lIns="0" tIns="0" rIns="0" bIns="0" anchor="t">
            <a:spAutoFit/>
          </a:bodyPr>
          <a:lstStyle/>
          <a:p>
            <a:pPr algn="l">
              <a:spcAft>
                <a:spcPts val="600"/>
              </a:spcAft>
            </a:pPr>
            <a:r>
              <a:rPr sz="1200" b="0" i="0">
                <a:solidFill>
                  <a:srgbClr val="5B6475"/>
                </a:solidFill>
                <a:latin typeface="Calibri"/>
              </a:rPr>
              <a:t>Digital CX</a:t>
            </a:r>
          </a:p>
        </p:txBody>
      </p:sp>
      <p:sp>
        <p:nvSpPr>
          <p:cNvPr id="43" name="TextBox 42"/>
          <p:cNvSpPr txBox="1"/>
          <p:nvPr/>
        </p:nvSpPr>
        <p:spPr>
          <a:xfrm>
            <a:off x="5223052" y="4754880"/>
            <a:ext cx="1742846" cy="822960"/>
          </a:xfrm>
          <a:prstGeom prst="rect">
            <a:avLst/>
          </a:prstGeom>
          <a:noFill/>
        </p:spPr>
        <p:txBody>
          <a:bodyPr wrap="square" lIns="0" tIns="0" rIns="0" bIns="0" anchor="t">
            <a:spAutoFit/>
          </a:bodyPr>
          <a:lstStyle/>
          <a:p>
            <a:pPr algn="l">
              <a:spcAft>
                <a:spcPts val="0"/>
              </a:spcAft>
            </a:pPr>
            <a:r>
              <a:rPr sz="1200" b="0" i="1">
                <a:solidFill>
                  <a:srgbClr val="1E293B"/>
                </a:solidFill>
                <a:latin typeface="Calibri"/>
              </a:rPr>
              <a:t>“pretty sure you can only use the ai in the giga app which kinda sucks”</a:t>
            </a:r>
          </a:p>
        </p:txBody>
      </p:sp>
      <p:sp>
        <p:nvSpPr>
          <p:cNvPr id="44" name="Rounded Rectangle 43"/>
          <p:cNvSpPr/>
          <p:nvPr/>
        </p:nvSpPr>
        <p:spPr>
          <a:xfrm>
            <a:off x="7313371" y="3794760"/>
            <a:ext cx="2072030" cy="1874519"/>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477963" y="3931920"/>
            <a:ext cx="1294790" cy="457200"/>
          </a:xfrm>
          <a:prstGeom prst="rect">
            <a:avLst/>
          </a:prstGeom>
          <a:noFill/>
        </p:spPr>
        <p:txBody>
          <a:bodyPr wrap="square" lIns="0" tIns="0" rIns="0" bIns="0" anchor="t">
            <a:spAutoFit/>
          </a:bodyPr>
          <a:lstStyle/>
          <a:p>
            <a:pPr algn="l">
              <a:lnSpc>
                <a:spcPct val="90000"/>
              </a:lnSpc>
              <a:spcAft>
                <a:spcPts val="0"/>
              </a:spcAft>
            </a:pPr>
            <a:r>
              <a:rPr sz="1500" b="1" i="0">
                <a:solidFill>
                  <a:srgbClr val="1C2E6E"/>
                </a:solidFill>
                <a:latin typeface="Calibri"/>
              </a:rPr>
              <a:t>Devices</a:t>
            </a:r>
          </a:p>
        </p:txBody>
      </p:sp>
      <p:sp>
        <p:nvSpPr>
          <p:cNvPr id="46" name="TextBox 45"/>
          <p:cNvSpPr txBox="1"/>
          <p:nvPr/>
        </p:nvSpPr>
        <p:spPr>
          <a:xfrm>
            <a:off x="8763609" y="3931920"/>
            <a:ext cx="457200" cy="274320"/>
          </a:xfrm>
          <a:prstGeom prst="rect">
            <a:avLst/>
          </a:prstGeom>
          <a:noFill/>
        </p:spPr>
        <p:txBody>
          <a:bodyPr wrap="square" lIns="0" tIns="0" rIns="0" bIns="0" anchor="t">
            <a:spAutoFit/>
          </a:bodyPr>
          <a:lstStyle/>
          <a:p>
            <a:pPr algn="r">
              <a:spcAft>
                <a:spcPts val="600"/>
              </a:spcAft>
            </a:pPr>
            <a:r>
              <a:rPr sz="1500" b="1" i="0">
                <a:solidFill>
                  <a:srgbClr val="D29B08"/>
                </a:solidFill>
                <a:latin typeface="Calibri"/>
              </a:rPr>
              <a:t>6%</a:t>
            </a:r>
          </a:p>
        </p:txBody>
      </p:sp>
      <p:sp>
        <p:nvSpPr>
          <p:cNvPr id="47" name="TextBox 46"/>
          <p:cNvSpPr txBox="1"/>
          <p:nvPr/>
        </p:nvSpPr>
        <p:spPr>
          <a:xfrm>
            <a:off x="7477963" y="4453128"/>
            <a:ext cx="1742846" cy="228600"/>
          </a:xfrm>
          <a:prstGeom prst="rect">
            <a:avLst/>
          </a:prstGeom>
          <a:noFill/>
        </p:spPr>
        <p:txBody>
          <a:bodyPr wrap="square" lIns="0" tIns="0" rIns="0" bIns="0" anchor="t">
            <a:spAutoFit/>
          </a:bodyPr>
          <a:lstStyle/>
          <a:p>
            <a:pPr algn="l">
              <a:spcAft>
                <a:spcPts val="600"/>
              </a:spcAft>
            </a:pPr>
            <a:r>
              <a:rPr sz="1200" b="0" i="0">
                <a:solidFill>
                  <a:srgbClr val="5B6475"/>
                </a:solidFill>
                <a:latin typeface="Calibri"/>
              </a:rPr>
              <a:t>Device support</a:t>
            </a:r>
          </a:p>
        </p:txBody>
      </p:sp>
      <p:sp>
        <p:nvSpPr>
          <p:cNvPr id="48" name="TextBox 47"/>
          <p:cNvSpPr txBox="1"/>
          <p:nvPr/>
        </p:nvSpPr>
        <p:spPr>
          <a:xfrm>
            <a:off x="7477963" y="4754880"/>
            <a:ext cx="1742846" cy="822960"/>
          </a:xfrm>
          <a:prstGeom prst="rect">
            <a:avLst/>
          </a:prstGeom>
          <a:noFill/>
        </p:spPr>
        <p:txBody>
          <a:bodyPr wrap="square" lIns="0" tIns="0" rIns="0" bIns="0" anchor="t">
            <a:spAutoFit/>
          </a:bodyPr>
          <a:lstStyle/>
          <a:p>
            <a:pPr algn="l">
              <a:spcAft>
                <a:spcPts val="0"/>
              </a:spcAft>
            </a:pPr>
            <a:r>
              <a:rPr sz="1200" b="0" i="1">
                <a:solidFill>
                  <a:srgbClr val="1E293B"/>
                </a:solidFill>
                <a:latin typeface="Calibri"/>
              </a:rPr>
              <a:t>“Anything but Singtel. Singtel are the only one known to use ONR.”</a:t>
            </a:r>
          </a:p>
        </p:txBody>
      </p:sp>
      <p:sp>
        <p:nvSpPr>
          <p:cNvPr id="49" name="Rounded Rectangle 48"/>
          <p:cNvSpPr/>
          <p:nvPr/>
        </p:nvSpPr>
        <p:spPr>
          <a:xfrm>
            <a:off x="9568281" y="3794760"/>
            <a:ext cx="2072030" cy="1874519"/>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9732873" y="3931920"/>
            <a:ext cx="1294790" cy="457200"/>
          </a:xfrm>
          <a:prstGeom prst="rect">
            <a:avLst/>
          </a:prstGeom>
          <a:noFill/>
        </p:spPr>
        <p:txBody>
          <a:bodyPr wrap="square" lIns="0" tIns="0" rIns="0" bIns="0" anchor="t">
            <a:spAutoFit/>
          </a:bodyPr>
          <a:lstStyle/>
          <a:p>
            <a:pPr algn="l">
              <a:lnSpc>
                <a:spcPct val="90000"/>
              </a:lnSpc>
              <a:spcAft>
                <a:spcPts val="0"/>
              </a:spcAft>
            </a:pPr>
            <a:r>
              <a:rPr sz="1500" b="1" i="0">
                <a:solidFill>
                  <a:srgbClr val="1C2E6E"/>
                </a:solidFill>
                <a:latin typeface="Calibri"/>
              </a:rPr>
              <a:t>General Discussion</a:t>
            </a:r>
          </a:p>
        </p:txBody>
      </p:sp>
      <p:sp>
        <p:nvSpPr>
          <p:cNvPr id="51" name="TextBox 50"/>
          <p:cNvSpPr txBox="1"/>
          <p:nvPr/>
        </p:nvSpPr>
        <p:spPr>
          <a:xfrm>
            <a:off x="11018520" y="3931920"/>
            <a:ext cx="457200" cy="274320"/>
          </a:xfrm>
          <a:prstGeom prst="rect">
            <a:avLst/>
          </a:prstGeom>
          <a:noFill/>
        </p:spPr>
        <p:txBody>
          <a:bodyPr wrap="square" lIns="0" tIns="0" rIns="0" bIns="0" anchor="t">
            <a:spAutoFit/>
          </a:bodyPr>
          <a:lstStyle/>
          <a:p>
            <a:pPr algn="r">
              <a:spcAft>
                <a:spcPts val="600"/>
              </a:spcAft>
            </a:pPr>
            <a:r>
              <a:rPr sz="1500" b="1" i="0">
                <a:solidFill>
                  <a:srgbClr val="D29B08"/>
                </a:solidFill>
                <a:latin typeface="Calibri"/>
              </a:rPr>
              <a:t>15%</a:t>
            </a:r>
          </a:p>
        </p:txBody>
      </p:sp>
      <p:sp>
        <p:nvSpPr>
          <p:cNvPr id="52" name="TextBox 51"/>
          <p:cNvSpPr txBox="1"/>
          <p:nvPr/>
        </p:nvSpPr>
        <p:spPr>
          <a:xfrm>
            <a:off x="9732873" y="4453128"/>
            <a:ext cx="1742846" cy="228600"/>
          </a:xfrm>
          <a:prstGeom prst="rect">
            <a:avLst/>
          </a:prstGeom>
          <a:noFill/>
        </p:spPr>
        <p:txBody>
          <a:bodyPr wrap="square" lIns="0" tIns="0" rIns="0" bIns="0" anchor="t">
            <a:spAutoFit/>
          </a:bodyPr>
          <a:lstStyle/>
          <a:p>
            <a:pPr algn="l">
              <a:spcAft>
                <a:spcPts val="600"/>
              </a:spcAft>
            </a:pPr>
            <a:r>
              <a:rPr sz="1200" b="0" i="0">
                <a:solidFill>
                  <a:srgbClr val="5B6475"/>
                </a:solidFill>
                <a:latin typeface="Calibri"/>
              </a:rPr>
              <a:t>Analyst review</a:t>
            </a:r>
          </a:p>
        </p:txBody>
      </p:sp>
      <p:sp>
        <p:nvSpPr>
          <p:cNvPr id="53" name="TextBox 52"/>
          <p:cNvSpPr txBox="1"/>
          <p:nvPr/>
        </p:nvSpPr>
        <p:spPr>
          <a:xfrm>
            <a:off x="9732873" y="4754880"/>
            <a:ext cx="1742846" cy="822960"/>
          </a:xfrm>
          <a:prstGeom prst="rect">
            <a:avLst/>
          </a:prstGeom>
          <a:noFill/>
        </p:spPr>
        <p:txBody>
          <a:bodyPr wrap="square" lIns="0" tIns="0" rIns="0" bIns="0" anchor="t">
            <a:spAutoFit/>
          </a:bodyPr>
          <a:lstStyle/>
          <a:p>
            <a:pPr algn="l">
              <a:spcAft>
                <a:spcPts val="0"/>
              </a:spcAft>
            </a:pPr>
            <a:r>
              <a:rPr sz="1200" b="0" i="1">
                <a:solidFill>
                  <a:srgbClr val="1E293B"/>
                </a:solidFill>
                <a:latin typeface="Calibri"/>
              </a:rPr>
              <a:t>“…KKR and Singtel will own stakes of 75 per cent and 25 per cent, respectively”</a:t>
            </a:r>
          </a:p>
        </p:txBody>
      </p:sp>
      <p:sp>
        <p:nvSpPr>
          <p:cNvPr id="54" name="TextBox 53"/>
          <p:cNvSpPr txBox="1"/>
          <p:nvPr/>
        </p:nvSpPr>
        <p:spPr>
          <a:xfrm>
            <a:off x="548640" y="5870448"/>
            <a:ext cx="11091672" cy="457200"/>
          </a:xfrm>
          <a:prstGeom prst="rect">
            <a:avLst/>
          </a:prstGeom>
          <a:noFill/>
        </p:spPr>
        <p:txBody>
          <a:bodyPr wrap="square" lIns="0" tIns="0" rIns="0" bIns="0" anchor="t">
            <a:spAutoFit/>
          </a:bodyPr>
          <a:lstStyle/>
          <a:p>
            <a:pPr algn="l">
              <a:spcAft>
                <a:spcPts val="600"/>
              </a:spcAft>
            </a:pPr>
            <a:r>
              <a:rPr sz="1200" b="0" i="0">
                <a:solidFill>
                  <a:srgbClr val="5B6475"/>
                </a:solidFill>
                <a:latin typeface="Calibri"/>
              </a:rPr>
              <a:t>Gold figure = share of the 9,162 posts with this as the main issue. Quotes are real posts from my blind gold sets. Issues are multi-label; sentiment is one label per post.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822959" y="2148840"/>
            <a:ext cx="1234440" cy="1234440"/>
          </a:xfrm>
          <a:prstGeom prst="roundRect">
            <a:avLst>
              <a:gd name="adj" fmla="val 12000"/>
            </a:avLst>
          </a:prstGeom>
          <a:solidFill>
            <a:srgbClr val="D29B0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4800" b="1">
                <a:solidFill>
                  <a:srgbClr val="FFFFFF"/>
                </a:solidFill>
                <a:latin typeface="Calibri"/>
              </a:rPr>
              <a:t>C</a:t>
            </a:r>
          </a:p>
        </p:txBody>
      </p:sp>
      <p:sp>
        <p:nvSpPr>
          <p:cNvPr id="3" name="TextBox 2"/>
          <p:cNvSpPr txBox="1"/>
          <p:nvPr/>
        </p:nvSpPr>
        <p:spPr>
          <a:xfrm>
            <a:off x="2423160" y="2011680"/>
            <a:ext cx="8686800" cy="822960"/>
          </a:xfrm>
          <a:prstGeom prst="rect">
            <a:avLst/>
          </a:prstGeom>
          <a:noFill/>
        </p:spPr>
        <p:txBody>
          <a:bodyPr wrap="square" lIns="0" tIns="0" rIns="0" bIns="0" anchor="t">
            <a:spAutoFit/>
          </a:bodyPr>
          <a:lstStyle/>
          <a:p>
            <a:pPr algn="l">
              <a:spcAft>
                <a:spcPts val="600"/>
              </a:spcAft>
            </a:pPr>
            <a:r>
              <a:rPr sz="4000" b="1" i="0">
                <a:solidFill>
                  <a:srgbClr val="1C2E6E"/>
                </a:solidFill>
                <a:latin typeface="Calibri"/>
              </a:rPr>
              <a:t>Evaluation</a:t>
            </a:r>
          </a:p>
        </p:txBody>
      </p:sp>
      <p:sp>
        <p:nvSpPr>
          <p:cNvPr id="4" name="TextBox 3"/>
          <p:cNvSpPr txBox="1"/>
          <p:nvPr/>
        </p:nvSpPr>
        <p:spPr>
          <a:xfrm>
            <a:off x="2423160" y="2834640"/>
            <a:ext cx="8686800" cy="548640"/>
          </a:xfrm>
          <a:prstGeom prst="rect">
            <a:avLst/>
          </a:prstGeom>
          <a:noFill/>
        </p:spPr>
        <p:txBody>
          <a:bodyPr wrap="square" lIns="0" tIns="0" rIns="0" bIns="0" anchor="t">
            <a:spAutoFit/>
          </a:bodyPr>
          <a:lstStyle/>
          <a:p>
            <a:pPr algn="l">
              <a:spcAft>
                <a:spcPts val="600"/>
              </a:spcAft>
            </a:pPr>
            <a:r>
              <a:rPr sz="2000" b="0" i="0">
                <a:solidFill>
                  <a:srgbClr val="5B6475"/>
                </a:solidFill>
                <a:latin typeface="Calibri"/>
              </a:rPr>
              <a:t>Which method should label what?</a:t>
            </a:r>
          </a:p>
        </p:txBody>
      </p:sp>
      <p:sp>
        <p:nvSpPr>
          <p:cNvPr id="5" name="TextBox 4"/>
          <p:cNvSpPr txBox="1"/>
          <p:nvPr/>
        </p:nvSpPr>
        <p:spPr>
          <a:xfrm>
            <a:off x="2423160" y="3520440"/>
            <a:ext cx="8686800" cy="365760"/>
          </a:xfrm>
          <a:prstGeom prst="rect">
            <a:avLst/>
          </a:prstGeom>
          <a:noFill/>
        </p:spPr>
        <p:txBody>
          <a:bodyPr wrap="square" lIns="0" tIns="0" rIns="0" bIns="0" anchor="t">
            <a:spAutoFit/>
          </a:bodyPr>
          <a:lstStyle/>
          <a:p>
            <a:pPr algn="l">
              <a:spcAft>
                <a:spcPts val="600"/>
              </a:spcAft>
            </a:pPr>
            <a:r>
              <a:rPr sz="1600" b="1" i="0" dirty="0">
                <a:solidFill>
                  <a:srgbClr val="D29B08"/>
                </a:solidFill>
                <a:latin typeface="Calibri"/>
              </a:rPr>
              <a:t>About 7 minutes</a:t>
            </a:r>
          </a:p>
        </p:txBody>
      </p:sp>
      <p:sp>
        <p:nvSpPr>
          <p:cNvPr id="6" name="TextBox 5"/>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11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85495" y="384641"/>
            <a:ext cx="6840000" cy="643253"/>
          </a:xfrm>
          <a:prstGeom prst="rect">
            <a:avLst/>
          </a:prstGeom>
          <a:noFill/>
        </p:spPr>
        <p:txBody>
          <a:bodyPr wrap="square" lIns="0" tIns="0" rIns="0" bIns="0" anchor="ctr">
            <a:spAutoFit/>
          </a:bodyPr>
          <a:lstStyle/>
          <a:p>
            <a:pPr>
              <a:lnSpc>
                <a:spcPct val="95000"/>
              </a:lnSpc>
            </a:pPr>
            <a:r>
              <a:rPr lang="en-US" sz="2400" b="1" i="0" dirty="0">
                <a:solidFill>
                  <a:srgbClr val="1C2E6E"/>
                </a:solidFill>
                <a:latin typeface="Calibri"/>
              </a:rPr>
              <a:t>RQ3 What does an LLM add over VADER and rules?</a:t>
            </a:r>
          </a:p>
          <a:p>
            <a:pPr algn="l">
              <a:lnSpc>
                <a:spcPct val="95000"/>
              </a:lnSpc>
              <a:spcAft>
                <a:spcPts val="0"/>
              </a:spcAft>
            </a:pPr>
            <a:r>
              <a:rPr sz="2000" b="1" i="0" dirty="0">
                <a:solidFill>
                  <a:schemeClr val="tx1">
                    <a:lumMod val="95000"/>
                    <a:lumOff val="5000"/>
                  </a:schemeClr>
                </a:solidFill>
                <a:latin typeface="Calibri"/>
              </a:rPr>
              <a:t>What I label: one sentiment, up to ten issues</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12</a:t>
            </a:r>
          </a:p>
        </p:txBody>
      </p:sp>
      <p:sp>
        <p:nvSpPr>
          <p:cNvPr id="4" name="Rounded Rectangle 3"/>
          <p:cNvSpPr/>
          <p:nvPr/>
        </p:nvSpPr>
        <p:spPr>
          <a:xfrm>
            <a:off x="548640" y="1691640"/>
            <a:ext cx="5120640" cy="41605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828800"/>
            <a:ext cx="4663440" cy="365760"/>
          </a:xfrm>
          <a:prstGeom prst="rect">
            <a:avLst/>
          </a:prstGeom>
          <a:noFill/>
        </p:spPr>
        <p:txBody>
          <a:bodyPr wrap="square" lIns="0" tIns="0" rIns="0" bIns="0" anchor="t">
            <a:spAutoFit/>
          </a:bodyPr>
          <a:lstStyle/>
          <a:p>
            <a:pPr algn="l">
              <a:spcAft>
                <a:spcPts val="600"/>
              </a:spcAft>
            </a:pPr>
            <a:r>
              <a:rPr sz="1700" b="1" i="0">
                <a:solidFill>
                  <a:srgbClr val="1C2E6E"/>
                </a:solidFill>
                <a:latin typeface="Calibri"/>
              </a:rPr>
              <a:t>Sentiment: one label per post</a:t>
            </a:r>
          </a:p>
        </p:txBody>
      </p:sp>
      <p:sp>
        <p:nvSpPr>
          <p:cNvPr id="6" name="Rounded Rectangle 5"/>
          <p:cNvSpPr/>
          <p:nvPr/>
        </p:nvSpPr>
        <p:spPr>
          <a:xfrm>
            <a:off x="777240" y="2377440"/>
            <a:ext cx="1325880" cy="548640"/>
          </a:xfrm>
          <a:prstGeom prst="roundRect">
            <a:avLst>
              <a:gd name="adj" fmla="val 30000"/>
            </a:avLst>
          </a:prstGeom>
          <a:solidFill>
            <a:srgbClr val="D29B0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FFFFFF"/>
                </a:solidFill>
                <a:latin typeface="Calibri"/>
              </a:rPr>
              <a:t>Happy</a:t>
            </a:r>
          </a:p>
        </p:txBody>
      </p:sp>
      <p:sp>
        <p:nvSpPr>
          <p:cNvPr id="7" name="TextBox 6"/>
          <p:cNvSpPr txBox="1"/>
          <p:nvPr/>
        </p:nvSpPr>
        <p:spPr>
          <a:xfrm>
            <a:off x="2286000" y="2331720"/>
            <a:ext cx="3200400" cy="685800"/>
          </a:xfrm>
          <a:prstGeom prst="rect">
            <a:avLst/>
          </a:prstGeom>
          <a:noFill/>
        </p:spPr>
        <p:txBody>
          <a:bodyPr wrap="square" lIns="0" tIns="0" rIns="0" bIns="0" anchor="ctr">
            <a:spAutoFit/>
          </a:bodyPr>
          <a:lstStyle/>
          <a:p>
            <a:pPr algn="l">
              <a:spcAft>
                <a:spcPts val="600"/>
              </a:spcAft>
            </a:pPr>
            <a:r>
              <a:rPr sz="1300" b="0" i="0">
                <a:solidFill>
                  <a:srgbClr val="1E293B"/>
                </a:solidFill>
                <a:latin typeface="Calibri"/>
              </a:rPr>
              <a:t>Approval, satisfaction, a recommendation or successful use</a:t>
            </a:r>
          </a:p>
        </p:txBody>
      </p:sp>
      <p:sp>
        <p:nvSpPr>
          <p:cNvPr id="8" name="Rounded Rectangle 7"/>
          <p:cNvSpPr/>
          <p:nvPr/>
        </p:nvSpPr>
        <p:spPr>
          <a:xfrm>
            <a:off x="777240" y="3246120"/>
            <a:ext cx="1325880" cy="548640"/>
          </a:xfrm>
          <a:prstGeom prst="roundRect">
            <a:avLst>
              <a:gd name="adj" fmla="val 30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FFFFFF"/>
                </a:solidFill>
                <a:latin typeface="Calibri"/>
              </a:rPr>
              <a:t>Not happy</a:t>
            </a:r>
          </a:p>
        </p:txBody>
      </p:sp>
      <p:sp>
        <p:nvSpPr>
          <p:cNvPr id="9" name="TextBox 8"/>
          <p:cNvSpPr txBox="1"/>
          <p:nvPr/>
        </p:nvSpPr>
        <p:spPr>
          <a:xfrm>
            <a:off x="2286000" y="3200400"/>
            <a:ext cx="3200400" cy="685800"/>
          </a:xfrm>
          <a:prstGeom prst="rect">
            <a:avLst/>
          </a:prstGeom>
          <a:noFill/>
        </p:spPr>
        <p:txBody>
          <a:bodyPr wrap="square" lIns="0" tIns="0" rIns="0" bIns="0" anchor="ctr">
            <a:spAutoFit/>
          </a:bodyPr>
          <a:lstStyle/>
          <a:p>
            <a:pPr algn="l">
              <a:spcAft>
                <a:spcPts val="600"/>
              </a:spcAft>
            </a:pPr>
            <a:r>
              <a:rPr sz="1300" b="0" i="0">
                <a:solidFill>
                  <a:srgbClr val="1E293B"/>
                </a:solidFill>
                <a:latin typeface="Calibri"/>
              </a:rPr>
              <a:t>Complaint, warning, switching intent, or a first-hand service failure</a:t>
            </a:r>
          </a:p>
        </p:txBody>
      </p:sp>
      <p:sp>
        <p:nvSpPr>
          <p:cNvPr id="10" name="Rounded Rectangle 9"/>
          <p:cNvSpPr/>
          <p:nvPr/>
        </p:nvSpPr>
        <p:spPr>
          <a:xfrm>
            <a:off x="777240" y="4114800"/>
            <a:ext cx="1325880" cy="548640"/>
          </a:xfrm>
          <a:prstGeom prst="roundRect">
            <a:avLst>
              <a:gd name="adj" fmla="val 30000"/>
            </a:avLst>
          </a:prstGeom>
          <a:solidFill>
            <a:srgbClr val="A3AAB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FFFFFF"/>
                </a:solidFill>
                <a:latin typeface="Calibri"/>
              </a:rPr>
              <a:t>Neutral</a:t>
            </a:r>
          </a:p>
        </p:txBody>
      </p:sp>
      <p:sp>
        <p:nvSpPr>
          <p:cNvPr id="11" name="TextBox 10"/>
          <p:cNvSpPr txBox="1"/>
          <p:nvPr/>
        </p:nvSpPr>
        <p:spPr>
          <a:xfrm>
            <a:off x="2286000" y="4069080"/>
            <a:ext cx="3200400" cy="685800"/>
          </a:xfrm>
          <a:prstGeom prst="rect">
            <a:avLst/>
          </a:prstGeom>
          <a:noFill/>
        </p:spPr>
        <p:txBody>
          <a:bodyPr wrap="square" lIns="0" tIns="0" rIns="0" bIns="0" anchor="ctr">
            <a:spAutoFit/>
          </a:bodyPr>
          <a:lstStyle/>
          <a:p>
            <a:pPr algn="l">
              <a:spcAft>
                <a:spcPts val="600"/>
              </a:spcAft>
            </a:pPr>
            <a:r>
              <a:rPr sz="1300" b="0" i="0">
                <a:solidFill>
                  <a:srgbClr val="1E293B"/>
                </a:solidFill>
                <a:latin typeface="Calibri"/>
              </a:rPr>
              <a:t>A question, a fact, or a mixed view with no clear lean</a:t>
            </a:r>
          </a:p>
        </p:txBody>
      </p:sp>
      <p:sp>
        <p:nvSpPr>
          <p:cNvPr id="12" name="TextBox 11"/>
          <p:cNvSpPr txBox="1"/>
          <p:nvPr/>
        </p:nvSpPr>
        <p:spPr>
          <a:xfrm>
            <a:off x="777240" y="5074920"/>
            <a:ext cx="4663440" cy="369332"/>
          </a:xfrm>
          <a:prstGeom prst="rect">
            <a:avLst/>
          </a:prstGeom>
          <a:noFill/>
        </p:spPr>
        <p:txBody>
          <a:bodyPr wrap="square" lIns="0" tIns="0" rIns="0" bIns="0" anchor="t">
            <a:spAutoFit/>
          </a:bodyPr>
          <a:lstStyle/>
          <a:p>
            <a:pPr algn="l">
              <a:spcAft>
                <a:spcPts val="600"/>
              </a:spcAft>
            </a:pPr>
            <a:r>
              <a:rPr sz="1200" b="0" i="0" dirty="0">
                <a:solidFill>
                  <a:srgbClr val="5B6475"/>
                </a:solidFill>
                <a:latin typeface="Calibri"/>
              </a:rPr>
              <a:t>Judged toward the telco. </a:t>
            </a:r>
            <a:r>
              <a:rPr sz="1200" b="1" i="0" dirty="0">
                <a:solidFill>
                  <a:srgbClr val="5B6475"/>
                </a:solidFill>
                <a:latin typeface="Calibri"/>
              </a:rPr>
              <a:t>Mixed-brand post</a:t>
            </a:r>
            <a:r>
              <a:rPr sz="1200" b="0" i="0" dirty="0">
                <a:solidFill>
                  <a:srgbClr val="5B6475"/>
                </a:solidFill>
                <a:latin typeface="Calibri"/>
              </a:rPr>
              <a:t>: the dominant tone, otherwise neutral.</a:t>
            </a:r>
          </a:p>
        </p:txBody>
      </p:sp>
      <p:sp>
        <p:nvSpPr>
          <p:cNvPr id="13" name="Rounded Rectangle 12"/>
          <p:cNvSpPr/>
          <p:nvPr/>
        </p:nvSpPr>
        <p:spPr>
          <a:xfrm>
            <a:off x="5897880" y="1691640"/>
            <a:ext cx="5742432" cy="41605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26480" y="1828800"/>
            <a:ext cx="5303520" cy="261610"/>
          </a:xfrm>
          <a:prstGeom prst="rect">
            <a:avLst/>
          </a:prstGeom>
          <a:noFill/>
        </p:spPr>
        <p:txBody>
          <a:bodyPr wrap="square" lIns="0" tIns="0" rIns="0" bIns="0" anchor="t">
            <a:spAutoFit/>
          </a:bodyPr>
          <a:lstStyle/>
          <a:p>
            <a:pPr algn="l">
              <a:spcAft>
                <a:spcPts val="600"/>
              </a:spcAft>
            </a:pPr>
            <a:r>
              <a:rPr sz="1700" b="1" i="0" dirty="0">
                <a:solidFill>
                  <a:srgbClr val="1C2E6E"/>
                </a:solidFill>
                <a:latin typeface="Calibri"/>
              </a:rPr>
              <a:t>Issues: </a:t>
            </a:r>
            <a:r>
              <a:rPr lang="en-US" sz="1700" b="1" i="0" dirty="0">
                <a:solidFill>
                  <a:srgbClr val="1C2E6E"/>
                </a:solidFill>
                <a:latin typeface="Calibri"/>
              </a:rPr>
              <a:t>multi-labels - </a:t>
            </a:r>
            <a:r>
              <a:rPr sz="1700" b="1" i="0" dirty="0">
                <a:solidFill>
                  <a:srgbClr val="1C2E6E"/>
                </a:solidFill>
                <a:latin typeface="Calibri"/>
              </a:rPr>
              <a:t>up to ten labels per post</a:t>
            </a:r>
          </a:p>
        </p:txBody>
      </p:sp>
      <p:sp>
        <p:nvSpPr>
          <p:cNvPr id="15" name="TextBox 14"/>
          <p:cNvSpPr txBox="1"/>
          <p:nvPr/>
        </p:nvSpPr>
        <p:spPr>
          <a:xfrm>
            <a:off x="6126480" y="2377440"/>
            <a:ext cx="2697480" cy="2651760"/>
          </a:xfrm>
          <a:prstGeom prst="rect">
            <a:avLst/>
          </a:prstGeom>
          <a:noFill/>
        </p:spPr>
        <p:txBody>
          <a:bodyPr wrap="square" lIns="0" tIns="0" rIns="0" bIns="0" anchor="t">
            <a:spAutoFit/>
          </a:bodyPr>
          <a:lstStyle/>
          <a:p>
            <a:pPr marL="256032" indent="-256032" algn="l">
              <a:spcAft>
                <a:spcPts val="900"/>
              </a:spcAft>
              <a:buClr>
                <a:srgbClr val="D29B08"/>
              </a:buClr>
              <a:buFont typeface="Arial"/>
              <a:buChar char="•"/>
            </a:pPr>
            <a:r>
              <a:rPr sz="1400" b="0" i="0">
                <a:solidFill>
                  <a:srgbClr val="1E293B"/>
                </a:solidFill>
                <a:latin typeface="Calibri"/>
              </a:rPr>
              <a:t>Network Quality</a:t>
            </a:r>
          </a:p>
          <a:p>
            <a:pPr marL="256032" indent="-256032" algn="l">
              <a:spcAft>
                <a:spcPts val="900"/>
              </a:spcAft>
              <a:buClr>
                <a:srgbClr val="D29B08"/>
              </a:buClr>
              <a:buFont typeface="Arial"/>
              <a:buChar char="•"/>
            </a:pPr>
            <a:r>
              <a:rPr sz="1400" b="0" i="0">
                <a:solidFill>
                  <a:srgbClr val="1E293B"/>
                </a:solidFill>
                <a:latin typeface="Calibri"/>
              </a:rPr>
              <a:t>Pricing &amp; Promotions</a:t>
            </a:r>
          </a:p>
          <a:p>
            <a:pPr marL="256032" indent="-256032" algn="l">
              <a:spcAft>
                <a:spcPts val="900"/>
              </a:spcAft>
              <a:buClr>
                <a:srgbClr val="D29B08"/>
              </a:buClr>
              <a:buFont typeface="Arial"/>
              <a:buChar char="•"/>
            </a:pPr>
            <a:r>
              <a:rPr sz="1400" b="0" i="0">
                <a:solidFill>
                  <a:srgbClr val="1E293B"/>
                </a:solidFill>
                <a:latin typeface="Calibri"/>
              </a:rPr>
              <a:t>Mobile Plans</a:t>
            </a:r>
          </a:p>
          <a:p>
            <a:pPr marL="256032" indent="-256032" algn="l">
              <a:spcAft>
                <a:spcPts val="900"/>
              </a:spcAft>
              <a:buClr>
                <a:srgbClr val="D29B08"/>
              </a:buClr>
              <a:buFont typeface="Arial"/>
              <a:buChar char="•"/>
            </a:pPr>
            <a:r>
              <a:rPr sz="1400" b="0" i="0">
                <a:solidFill>
                  <a:srgbClr val="1E293B"/>
                </a:solidFill>
                <a:latin typeface="Calibri"/>
              </a:rPr>
              <a:t>Roaming</a:t>
            </a:r>
          </a:p>
          <a:p>
            <a:pPr marL="256032" indent="-256032" algn="l">
              <a:spcAft>
                <a:spcPts val="900"/>
              </a:spcAft>
              <a:buClr>
                <a:srgbClr val="D29B08"/>
              </a:buClr>
              <a:buFont typeface="Arial"/>
              <a:buChar char="•"/>
            </a:pPr>
            <a:r>
              <a:rPr sz="1400" b="0" i="0">
                <a:solidFill>
                  <a:srgbClr val="1E293B"/>
                </a:solidFill>
                <a:latin typeface="Calibri"/>
              </a:rPr>
              <a:t>Porting</a:t>
            </a:r>
          </a:p>
        </p:txBody>
      </p:sp>
      <p:sp>
        <p:nvSpPr>
          <p:cNvPr id="16" name="TextBox 15"/>
          <p:cNvSpPr txBox="1"/>
          <p:nvPr/>
        </p:nvSpPr>
        <p:spPr>
          <a:xfrm>
            <a:off x="8915400" y="2377440"/>
            <a:ext cx="2697480" cy="2651760"/>
          </a:xfrm>
          <a:prstGeom prst="rect">
            <a:avLst/>
          </a:prstGeom>
          <a:noFill/>
        </p:spPr>
        <p:txBody>
          <a:bodyPr wrap="square" lIns="0" tIns="0" rIns="0" bIns="0" anchor="t">
            <a:spAutoFit/>
          </a:bodyPr>
          <a:lstStyle/>
          <a:p>
            <a:pPr marL="256032" indent="-256032" algn="l">
              <a:spcAft>
                <a:spcPts val="900"/>
              </a:spcAft>
              <a:buClr>
                <a:srgbClr val="D29B08"/>
              </a:buClr>
              <a:buFont typeface="Arial"/>
              <a:buChar char="•"/>
            </a:pPr>
            <a:r>
              <a:rPr sz="1400" b="0" i="0">
                <a:solidFill>
                  <a:srgbClr val="1E293B"/>
                </a:solidFill>
                <a:latin typeface="Calibri"/>
              </a:rPr>
              <a:t>Customer Service</a:t>
            </a:r>
          </a:p>
          <a:p>
            <a:pPr marL="256032" indent="-256032" algn="l">
              <a:spcAft>
                <a:spcPts val="900"/>
              </a:spcAft>
              <a:buClr>
                <a:srgbClr val="D29B08"/>
              </a:buClr>
              <a:buFont typeface="Arial"/>
              <a:buChar char="•"/>
            </a:pPr>
            <a:r>
              <a:rPr sz="1400" b="0" i="0">
                <a:solidFill>
                  <a:srgbClr val="1E293B"/>
                </a:solidFill>
                <a:latin typeface="Calibri"/>
              </a:rPr>
              <a:t>Billing &amp; Payment</a:t>
            </a:r>
          </a:p>
          <a:p>
            <a:pPr marL="256032" indent="-256032" algn="l">
              <a:spcAft>
                <a:spcPts val="900"/>
              </a:spcAft>
              <a:buClr>
                <a:srgbClr val="D29B08"/>
              </a:buClr>
              <a:buFont typeface="Arial"/>
              <a:buChar char="•"/>
            </a:pPr>
            <a:r>
              <a:rPr sz="1400" b="0" i="0">
                <a:solidFill>
                  <a:srgbClr val="1E293B"/>
                </a:solidFill>
                <a:latin typeface="Calibri"/>
              </a:rPr>
              <a:t>App &amp; Account</a:t>
            </a:r>
          </a:p>
          <a:p>
            <a:pPr marL="256032" indent="-256032" algn="l">
              <a:spcAft>
                <a:spcPts val="900"/>
              </a:spcAft>
              <a:buClr>
                <a:srgbClr val="D29B08"/>
              </a:buClr>
              <a:buFont typeface="Arial"/>
              <a:buChar char="•"/>
            </a:pPr>
            <a:r>
              <a:rPr sz="1400" b="0" i="0">
                <a:solidFill>
                  <a:srgbClr val="1E293B"/>
                </a:solidFill>
                <a:latin typeface="Calibri"/>
              </a:rPr>
              <a:t>Devices</a:t>
            </a:r>
          </a:p>
          <a:p>
            <a:pPr marL="256032" indent="-256032" algn="l">
              <a:spcAft>
                <a:spcPts val="900"/>
              </a:spcAft>
              <a:buClr>
                <a:srgbClr val="D29B08"/>
              </a:buClr>
              <a:buFont typeface="Arial"/>
              <a:buChar char="•"/>
            </a:pPr>
            <a:r>
              <a:rPr sz="1400" b="0" i="0">
                <a:solidFill>
                  <a:srgbClr val="1E293B"/>
                </a:solidFill>
                <a:latin typeface="Calibri"/>
              </a:rPr>
              <a:t>General Discussion</a:t>
            </a:r>
          </a:p>
        </p:txBody>
      </p:sp>
      <p:sp>
        <p:nvSpPr>
          <p:cNvPr id="17" name="TextBox 16"/>
          <p:cNvSpPr txBox="1"/>
          <p:nvPr/>
        </p:nvSpPr>
        <p:spPr>
          <a:xfrm>
            <a:off x="6126480" y="5074920"/>
            <a:ext cx="5303520" cy="640080"/>
          </a:xfrm>
          <a:prstGeom prst="rect">
            <a:avLst/>
          </a:prstGeom>
          <a:noFill/>
        </p:spPr>
        <p:txBody>
          <a:bodyPr wrap="square" lIns="0" tIns="0" rIns="0" bIns="0" anchor="t">
            <a:spAutoFit/>
          </a:bodyPr>
          <a:lstStyle/>
          <a:p>
            <a:pPr algn="l">
              <a:spcAft>
                <a:spcPts val="600"/>
              </a:spcAft>
            </a:pPr>
            <a:r>
              <a:rPr sz="1200" b="0" i="0" dirty="0">
                <a:solidFill>
                  <a:srgbClr val="5B6475"/>
                </a:solidFill>
                <a:latin typeface="Calibri"/>
              </a:rPr>
              <a:t>A post can carry several. General Discussion only when nothing specific fits. Each label maps to an owning team.</a:t>
            </a:r>
          </a:p>
        </p:txBody>
      </p:sp>
      <p:sp>
        <p:nvSpPr>
          <p:cNvPr id="18" name="TextBox 17"/>
          <p:cNvSpPr txBox="1"/>
          <p:nvPr/>
        </p:nvSpPr>
        <p:spPr>
          <a:xfrm>
            <a:off x="548640" y="5943600"/>
            <a:ext cx="11091672" cy="365760"/>
          </a:xfrm>
          <a:prstGeom prst="rect">
            <a:avLst/>
          </a:prstGeom>
          <a:noFill/>
        </p:spPr>
        <p:txBody>
          <a:bodyPr wrap="square" lIns="0" tIns="0" rIns="0" bIns="0" anchor="t">
            <a:spAutoFit/>
          </a:bodyPr>
          <a:lstStyle/>
          <a:p>
            <a:pPr algn="l">
              <a:spcAft>
                <a:spcPts val="600"/>
              </a:spcAft>
            </a:pPr>
            <a:r>
              <a:rPr sz="1400" b="0" i="0">
                <a:solidFill>
                  <a:srgbClr val="1E293B"/>
                </a:solidFill>
                <a:latin typeface="Calibri"/>
              </a:rPr>
              <a:t>I labelled both, blind, on the gold sets. The next slide shows how the models were checked against them.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12000" y="713766"/>
            <a:ext cx="6840000" cy="350865"/>
          </a:xfrm>
          <a:prstGeom prst="rect">
            <a:avLst/>
          </a:prstGeom>
          <a:noFill/>
        </p:spPr>
        <p:txBody>
          <a:bodyPr wrap="square" lIns="0" tIns="0" rIns="0" bIns="0" anchor="ctr">
            <a:spAutoFit/>
          </a:bodyPr>
          <a:lstStyle/>
          <a:p>
            <a:pPr algn="l">
              <a:lnSpc>
                <a:spcPct val="95000"/>
              </a:lnSpc>
              <a:spcAft>
                <a:spcPts val="0"/>
              </a:spcAft>
            </a:pPr>
            <a:r>
              <a:rPr lang="en-US" sz="2400" b="1" i="0" dirty="0">
                <a:solidFill>
                  <a:srgbClr val="1C2E6E"/>
                </a:solidFill>
                <a:latin typeface="Calibri"/>
              </a:rPr>
              <a:t>Executive Summary</a:t>
            </a:r>
            <a:r>
              <a:rPr sz="2400" b="1" i="0" dirty="0">
                <a:solidFill>
                  <a:srgbClr val="1C2E6E"/>
                </a:solidFill>
                <a:latin typeface="Calibri"/>
              </a:rPr>
              <a:t>: the evaluation, end to end</a:t>
            </a:r>
          </a:p>
        </p:txBody>
      </p:sp>
      <p:sp>
        <p:nvSpPr>
          <p:cNvPr id="3" name="TextBox 2"/>
          <p:cNvSpPr txBox="1"/>
          <p:nvPr/>
        </p:nvSpPr>
        <p:spPr>
          <a:xfrm>
            <a:off x="548640" y="1645920"/>
            <a:ext cx="5440680" cy="320040"/>
          </a:xfrm>
          <a:prstGeom prst="rect">
            <a:avLst/>
          </a:prstGeom>
          <a:noFill/>
        </p:spPr>
        <p:txBody>
          <a:bodyPr wrap="square" lIns="0" tIns="0" rIns="0" bIns="0" anchor="t">
            <a:spAutoFit/>
          </a:bodyPr>
          <a:lstStyle/>
          <a:p>
            <a:pPr algn="l">
              <a:spcAft>
                <a:spcPts val="600"/>
              </a:spcAft>
            </a:pPr>
            <a:r>
              <a:rPr sz="1500" b="1" i="0">
                <a:solidFill>
                  <a:srgbClr val="1C2E6E"/>
                </a:solidFill>
                <a:latin typeface="Calibri"/>
              </a:rPr>
              <a:t>1  Gold sets I labelled blind</a:t>
            </a:r>
          </a:p>
        </p:txBody>
      </p:sp>
      <p:graphicFrame>
        <p:nvGraphicFramePr>
          <p:cNvPr id="4" name="Table 3"/>
          <p:cNvGraphicFramePr>
            <a:graphicFrameLocks noGrp="1"/>
          </p:cNvGraphicFramePr>
          <p:nvPr/>
        </p:nvGraphicFramePr>
        <p:xfrm>
          <a:off x="548640" y="2011680"/>
          <a:ext cx="5440680" cy="1463040"/>
        </p:xfrm>
        <a:graphic>
          <a:graphicData uri="http://schemas.openxmlformats.org/drawingml/2006/table">
            <a:tbl>
              <a:tblPr firstRow="1" bandRow="1">
                <a:tableStyleId>{5C22544A-7EE6-4342-B048-85BDC9FD1C3A}</a:tableStyleId>
              </a:tblPr>
              <a:tblGrid>
                <a:gridCol w="132588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365760">
                <a:tc>
                  <a:txBody>
                    <a:bodyPr/>
                    <a:lstStyle/>
                    <a:p>
                      <a:pPr algn="l"/>
                      <a:r>
                        <a:rPr sz="1200" b="1">
                          <a:solidFill>
                            <a:srgbClr val="FFFFFF"/>
                          </a:solidFill>
                          <a:latin typeface="Calibri"/>
                        </a:rPr>
                        <a:t>Set</a:t>
                      </a:r>
                    </a:p>
                  </a:txBody>
                  <a:tcPr marT="36576" marB="36576" anchor="ctr">
                    <a:solidFill>
                      <a:srgbClr val="1C2E6E"/>
                    </a:solidFill>
                  </a:tcPr>
                </a:tc>
                <a:tc>
                  <a:txBody>
                    <a:bodyPr/>
                    <a:lstStyle/>
                    <a:p>
                      <a:pPr algn="l"/>
                      <a:r>
                        <a:rPr sz="1200" b="1">
                          <a:solidFill>
                            <a:srgbClr val="FFFFFF"/>
                          </a:solidFill>
                          <a:latin typeface="Calibri"/>
                        </a:rPr>
                        <a:t>Posts</a:t>
                      </a:r>
                    </a:p>
                  </a:txBody>
                  <a:tcPr marT="36576" marB="36576" anchor="ctr">
                    <a:solidFill>
                      <a:srgbClr val="1C2E6E"/>
                    </a:solidFill>
                  </a:tcPr>
                </a:tc>
                <a:tc>
                  <a:txBody>
                    <a:bodyPr/>
                    <a:lstStyle/>
                    <a:p>
                      <a:pPr algn="l"/>
                      <a:r>
                        <a:rPr sz="1200" b="1">
                          <a:solidFill>
                            <a:srgbClr val="FFFFFF"/>
                          </a:solidFill>
                          <a:latin typeface="Calibri"/>
                        </a:rPr>
                        <a:t>Used for</a:t>
                      </a:r>
                    </a:p>
                  </a:txBody>
                  <a:tcPr marT="36576" marB="36576" anchor="ctr">
                    <a:solidFill>
                      <a:srgbClr val="1C2E6E"/>
                    </a:solidFill>
                  </a:tcPr>
                </a:tc>
                <a:extLst>
                  <a:ext uri="{0D108BD9-81ED-4DB2-BD59-A6C34878D82A}">
                    <a16:rowId xmlns:a16="http://schemas.microsoft.com/office/drawing/2014/main" val="10000"/>
                  </a:ext>
                </a:extLst>
              </a:tr>
              <a:tr h="365760">
                <a:tc>
                  <a:txBody>
                    <a:bodyPr/>
                    <a:lstStyle/>
                    <a:p>
                      <a:pPr algn="l"/>
                      <a:r>
                        <a:rPr sz="1200" b="0">
                          <a:solidFill>
                            <a:srgbClr val="1E293B"/>
                          </a:solidFill>
                          <a:latin typeface="Calibri"/>
                        </a:rPr>
                        <a:t>Representative</a:t>
                      </a:r>
                    </a:p>
                  </a:txBody>
                  <a:tcPr marT="36576" marB="36576" anchor="ctr">
                    <a:solidFill>
                      <a:srgbClr val="FFFFFF"/>
                    </a:solidFill>
                  </a:tcPr>
                </a:tc>
                <a:tc>
                  <a:txBody>
                    <a:bodyPr/>
                    <a:lstStyle/>
                    <a:p>
                      <a:pPr algn="l"/>
                      <a:r>
                        <a:rPr sz="1200" b="0" dirty="0">
                          <a:solidFill>
                            <a:srgbClr val="1E293B"/>
                          </a:solidFill>
                          <a:latin typeface="Calibri"/>
                        </a:rPr>
                        <a:t>400 sampled (392 relevant)</a:t>
                      </a:r>
                    </a:p>
                  </a:txBody>
                  <a:tcPr marT="36576" marB="36576" anchor="ctr">
                    <a:solidFill>
                      <a:srgbClr val="FFFFFF"/>
                    </a:solidFill>
                  </a:tcPr>
                </a:tc>
                <a:tc>
                  <a:txBody>
                    <a:bodyPr/>
                    <a:lstStyle/>
                    <a:p>
                      <a:pPr algn="l"/>
                      <a:r>
                        <a:rPr sz="1200" b="0">
                          <a:solidFill>
                            <a:srgbClr val="1E293B"/>
                          </a:solidFill>
                          <a:latin typeface="Calibri"/>
                        </a:rPr>
                        <a:t>Headline scores</a:t>
                      </a:r>
                    </a:p>
                  </a:txBody>
                  <a:tcPr marT="36576" marB="36576" anchor="ctr">
                    <a:solidFill>
                      <a:srgbClr val="FFFFFF"/>
                    </a:solidFill>
                  </a:tcPr>
                </a:tc>
                <a:extLst>
                  <a:ext uri="{0D108BD9-81ED-4DB2-BD59-A6C34878D82A}">
                    <a16:rowId xmlns:a16="http://schemas.microsoft.com/office/drawing/2014/main" val="10001"/>
                  </a:ext>
                </a:extLst>
              </a:tr>
              <a:tr h="365760">
                <a:tc>
                  <a:txBody>
                    <a:bodyPr/>
                    <a:lstStyle/>
                    <a:p>
                      <a:pPr algn="l"/>
                      <a:r>
                        <a:rPr sz="1200" b="0" dirty="0">
                          <a:solidFill>
                            <a:srgbClr val="1E293B"/>
                          </a:solidFill>
                          <a:latin typeface="Calibri"/>
                        </a:rPr>
                        <a:t>Challenge</a:t>
                      </a:r>
                    </a:p>
                  </a:txBody>
                  <a:tcPr marT="36576" marB="36576" anchor="ctr">
                    <a:solidFill>
                      <a:srgbClr val="F2F4F9"/>
                    </a:solidFill>
                  </a:tcPr>
                </a:tc>
                <a:tc>
                  <a:txBody>
                    <a:bodyPr/>
                    <a:lstStyle/>
                    <a:p>
                      <a:pPr algn="l"/>
                      <a:r>
                        <a:rPr sz="1200" b="0">
                          <a:solidFill>
                            <a:srgbClr val="1E293B"/>
                          </a:solidFill>
                          <a:latin typeface="Calibri"/>
                        </a:rPr>
                        <a:t>100 hard posts</a:t>
                      </a:r>
                    </a:p>
                  </a:txBody>
                  <a:tcPr marT="36576" marB="36576" anchor="ctr">
                    <a:solidFill>
                      <a:srgbClr val="F2F4F9"/>
                    </a:solidFill>
                  </a:tcPr>
                </a:tc>
                <a:tc>
                  <a:txBody>
                    <a:bodyPr/>
                    <a:lstStyle/>
                    <a:p>
                      <a:pPr algn="l"/>
                      <a:r>
                        <a:rPr sz="1200" b="0">
                          <a:solidFill>
                            <a:srgbClr val="1E293B"/>
                          </a:solidFill>
                          <a:latin typeface="Calibri"/>
                        </a:rPr>
                        <a:t>Held-out test</a:t>
                      </a:r>
                    </a:p>
                  </a:txBody>
                  <a:tcPr marT="36576" marB="36576" anchor="ctr">
                    <a:solidFill>
                      <a:srgbClr val="F2F4F9"/>
                    </a:solidFill>
                  </a:tcPr>
                </a:tc>
                <a:extLst>
                  <a:ext uri="{0D108BD9-81ED-4DB2-BD59-A6C34878D82A}">
                    <a16:rowId xmlns:a16="http://schemas.microsoft.com/office/drawing/2014/main" val="10002"/>
                  </a:ext>
                </a:extLst>
              </a:tr>
              <a:tr h="365760">
                <a:tc>
                  <a:txBody>
                    <a:bodyPr/>
                    <a:lstStyle/>
                    <a:p>
                      <a:pPr algn="l"/>
                      <a:r>
                        <a:rPr sz="1200" b="0">
                          <a:solidFill>
                            <a:srgbClr val="1E293B"/>
                          </a:solidFill>
                          <a:latin typeface="Calibri"/>
                        </a:rPr>
                        <a:t>Overlap</a:t>
                      </a:r>
                    </a:p>
                  </a:txBody>
                  <a:tcPr marT="36576" marB="36576" anchor="ctr">
                    <a:solidFill>
                      <a:srgbClr val="FFFFFF"/>
                    </a:solidFill>
                  </a:tcPr>
                </a:tc>
                <a:tc>
                  <a:txBody>
                    <a:bodyPr/>
                    <a:lstStyle/>
                    <a:p>
                      <a:pPr algn="l"/>
                      <a:r>
                        <a:rPr sz="1200" b="0">
                          <a:solidFill>
                            <a:srgbClr val="1E293B"/>
                          </a:solidFill>
                          <a:latin typeface="Calibri"/>
                        </a:rPr>
                        <a:t>100 relabelled by annotator B</a:t>
                      </a:r>
                    </a:p>
                  </a:txBody>
                  <a:tcPr marT="36576" marB="36576" anchor="ctr">
                    <a:solidFill>
                      <a:srgbClr val="FFFFFF"/>
                    </a:solidFill>
                  </a:tcPr>
                </a:tc>
                <a:tc>
                  <a:txBody>
                    <a:bodyPr/>
                    <a:lstStyle/>
                    <a:p>
                      <a:pPr algn="l"/>
                      <a:r>
                        <a:rPr sz="1200" b="0" dirty="0">
                          <a:solidFill>
                            <a:srgbClr val="1E293B"/>
                          </a:solidFill>
                          <a:latin typeface="Calibri"/>
                        </a:rPr>
                        <a:t>Human agreement (</a:t>
                      </a:r>
                      <a:r>
                        <a:rPr sz="1200" b="0" dirty="0" err="1">
                          <a:solidFill>
                            <a:srgbClr val="1E293B"/>
                          </a:solidFill>
                          <a:latin typeface="Calibri"/>
                        </a:rPr>
                        <a:t>κ</a:t>
                      </a:r>
                      <a:r>
                        <a:rPr sz="1200" b="0" dirty="0">
                          <a:solidFill>
                            <a:srgbClr val="1E293B"/>
                          </a:solidFill>
                          <a:latin typeface="Calibri"/>
                        </a:rPr>
                        <a:t>)</a:t>
                      </a:r>
                    </a:p>
                  </a:txBody>
                  <a:tcPr marT="36576" marB="36576" anchor="ctr">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548640" y="3611880"/>
            <a:ext cx="5440680" cy="320040"/>
          </a:xfrm>
          <a:prstGeom prst="rect">
            <a:avLst/>
          </a:prstGeom>
          <a:noFill/>
        </p:spPr>
        <p:txBody>
          <a:bodyPr wrap="square" lIns="0" tIns="0" rIns="0" bIns="0" anchor="t">
            <a:spAutoFit/>
          </a:bodyPr>
          <a:lstStyle/>
          <a:p>
            <a:pPr algn="l">
              <a:spcAft>
                <a:spcPts val="600"/>
              </a:spcAft>
            </a:pPr>
            <a:r>
              <a:rPr sz="1500" b="1" i="0">
                <a:solidFill>
                  <a:srgbClr val="1C2E6E"/>
                </a:solidFill>
                <a:latin typeface="Calibri"/>
              </a:rPr>
              <a:t>2  Compared</a:t>
            </a:r>
          </a:p>
        </p:txBody>
      </p:sp>
      <p:sp>
        <p:nvSpPr>
          <p:cNvPr id="6" name="TextBox 5"/>
          <p:cNvSpPr txBox="1"/>
          <p:nvPr/>
        </p:nvSpPr>
        <p:spPr>
          <a:xfrm>
            <a:off x="548640" y="3931920"/>
            <a:ext cx="5440680" cy="640080"/>
          </a:xfrm>
          <a:prstGeom prst="rect">
            <a:avLst/>
          </a:prstGeom>
          <a:noFill/>
        </p:spPr>
        <p:txBody>
          <a:bodyPr wrap="square" lIns="0" tIns="0" rIns="0" bIns="0" anchor="t">
            <a:spAutoFit/>
          </a:bodyPr>
          <a:lstStyle/>
          <a:p>
            <a:pPr marL="256032" indent="-256032" algn="l">
              <a:spcAft>
                <a:spcPts val="200"/>
              </a:spcAft>
              <a:buClr>
                <a:srgbClr val="D29B08"/>
              </a:buClr>
              <a:buFont typeface="Arial"/>
              <a:buChar char="•"/>
            </a:pPr>
            <a:r>
              <a:rPr sz="1200" b="0" i="0">
                <a:solidFill>
                  <a:srgbClr val="1E293B"/>
                </a:solidFill>
                <a:latin typeface="Calibri"/>
              </a:rPr>
              <a:t>Sentiment: VADER, GPT-4o-mini, GPT-4o</a:t>
            </a:r>
          </a:p>
          <a:p>
            <a:pPr marL="256032" indent="-256032" algn="l">
              <a:spcAft>
                <a:spcPts val="200"/>
              </a:spcAft>
              <a:buClr>
                <a:srgbClr val="D29B08"/>
              </a:buClr>
              <a:buFont typeface="Arial"/>
              <a:buChar char="•"/>
            </a:pPr>
            <a:r>
              <a:rPr sz="1200" b="0" i="0">
                <a:solidFill>
                  <a:srgbClr val="1E293B"/>
                </a:solidFill>
                <a:latin typeface="Calibri"/>
              </a:rPr>
              <a:t>Issues: keyword rules, both LLMs on every post, the hybrid</a:t>
            </a:r>
          </a:p>
        </p:txBody>
      </p:sp>
      <p:sp>
        <p:nvSpPr>
          <p:cNvPr id="7" name="TextBox 6"/>
          <p:cNvSpPr txBox="1"/>
          <p:nvPr/>
        </p:nvSpPr>
        <p:spPr>
          <a:xfrm>
            <a:off x="548640" y="4572000"/>
            <a:ext cx="5440680" cy="320040"/>
          </a:xfrm>
          <a:prstGeom prst="rect">
            <a:avLst/>
          </a:prstGeom>
          <a:noFill/>
        </p:spPr>
        <p:txBody>
          <a:bodyPr wrap="square" lIns="0" tIns="0" rIns="0" bIns="0" anchor="t">
            <a:spAutoFit/>
          </a:bodyPr>
          <a:lstStyle/>
          <a:p>
            <a:pPr algn="l">
              <a:spcAft>
                <a:spcPts val="600"/>
              </a:spcAft>
            </a:pPr>
            <a:r>
              <a:rPr sz="1500" b="1" i="0">
                <a:solidFill>
                  <a:srgbClr val="1C2E6E"/>
                </a:solidFill>
                <a:latin typeface="Calibri"/>
              </a:rPr>
              <a:t>3  Scored</a:t>
            </a:r>
          </a:p>
        </p:txBody>
      </p:sp>
      <p:sp>
        <p:nvSpPr>
          <p:cNvPr id="8" name="TextBox 7"/>
          <p:cNvSpPr txBox="1"/>
          <p:nvPr/>
        </p:nvSpPr>
        <p:spPr>
          <a:xfrm>
            <a:off x="548640" y="4892040"/>
            <a:ext cx="5440680" cy="640080"/>
          </a:xfrm>
          <a:prstGeom prst="rect">
            <a:avLst/>
          </a:prstGeom>
          <a:noFill/>
        </p:spPr>
        <p:txBody>
          <a:bodyPr wrap="square" lIns="0" tIns="0" rIns="0" bIns="0" anchor="t">
            <a:spAutoFit/>
          </a:bodyPr>
          <a:lstStyle/>
          <a:p>
            <a:pPr marL="256032" indent="-256032" algn="l">
              <a:spcAft>
                <a:spcPts val="200"/>
              </a:spcAft>
              <a:buClr>
                <a:srgbClr val="D29B08"/>
              </a:buClr>
              <a:buFont typeface="Arial"/>
              <a:buChar char="•"/>
            </a:pPr>
            <a:r>
              <a:rPr sz="1200" b="0" i="0">
                <a:solidFill>
                  <a:srgbClr val="1E293B"/>
                </a:solidFill>
                <a:latin typeface="Calibri"/>
              </a:rPr>
              <a:t>Macro F1, per-class recall, confusion matrices</a:t>
            </a:r>
          </a:p>
          <a:p>
            <a:pPr marL="256032" indent="-256032" algn="l">
              <a:spcAft>
                <a:spcPts val="200"/>
              </a:spcAft>
              <a:buClr>
                <a:srgbClr val="D29B08"/>
              </a:buClr>
              <a:buFont typeface="Arial"/>
              <a:buChar char="•"/>
            </a:pPr>
            <a:r>
              <a:rPr sz="1200" b="0" i="0">
                <a:solidFill>
                  <a:srgbClr val="1E293B"/>
                </a:solidFill>
                <a:latin typeface="Calibri"/>
              </a:rPr>
              <a:t>Paired bootstrap 95% CIs (excludes 0 = real gap); κ; a rerun</a:t>
            </a:r>
          </a:p>
        </p:txBody>
      </p:sp>
      <p:sp>
        <p:nvSpPr>
          <p:cNvPr id="9" name="TextBox 8"/>
          <p:cNvSpPr txBox="1"/>
          <p:nvPr/>
        </p:nvSpPr>
        <p:spPr>
          <a:xfrm>
            <a:off x="6263640" y="1645920"/>
            <a:ext cx="5376672" cy="320040"/>
          </a:xfrm>
          <a:prstGeom prst="rect">
            <a:avLst/>
          </a:prstGeom>
          <a:noFill/>
        </p:spPr>
        <p:txBody>
          <a:bodyPr wrap="square" lIns="0" tIns="0" rIns="0" bIns="0" anchor="t">
            <a:spAutoFit/>
          </a:bodyPr>
          <a:lstStyle/>
          <a:p>
            <a:pPr algn="l">
              <a:spcAft>
                <a:spcPts val="600"/>
              </a:spcAft>
            </a:pPr>
            <a:r>
              <a:rPr sz="1500" b="1" i="0">
                <a:solidFill>
                  <a:srgbClr val="1C2E6E"/>
                </a:solidFill>
                <a:latin typeface="Calibri"/>
              </a:rPr>
              <a:t>4  Results (macro F1)</a:t>
            </a:r>
          </a:p>
        </p:txBody>
      </p:sp>
      <p:graphicFrame>
        <p:nvGraphicFramePr>
          <p:cNvPr id="10" name="Table 9"/>
          <p:cNvGraphicFramePr>
            <a:graphicFrameLocks noGrp="1"/>
          </p:cNvGraphicFramePr>
          <p:nvPr>
            <p:extLst>
              <p:ext uri="{D42A27DB-BD31-4B8C-83A1-F6EECF244321}">
                <p14:modId xmlns:p14="http://schemas.microsoft.com/office/powerpoint/2010/main" val="476265025"/>
              </p:ext>
            </p:extLst>
          </p:nvPr>
        </p:nvGraphicFramePr>
        <p:xfrm>
          <a:off x="6263640" y="2011680"/>
          <a:ext cx="5376672" cy="1975104"/>
        </p:xfrm>
        <a:graphic>
          <a:graphicData uri="http://schemas.openxmlformats.org/drawingml/2006/table">
            <a:tbl>
              <a:tblPr firstRow="1" bandRow="1">
                <a:tableStyleId>{5C22544A-7EE6-4342-B048-85BDC9FD1C3A}</a:tableStyleId>
              </a:tblPr>
              <a:tblGrid>
                <a:gridCol w="26517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261872">
                  <a:extLst>
                    <a:ext uri="{9D8B030D-6E8A-4147-A177-3AD203B41FA5}">
                      <a16:colId xmlns:a16="http://schemas.microsoft.com/office/drawing/2014/main" val="20002"/>
                    </a:ext>
                  </a:extLst>
                </a:gridCol>
              </a:tblGrid>
              <a:tr h="329184">
                <a:tc>
                  <a:txBody>
                    <a:bodyPr/>
                    <a:lstStyle/>
                    <a:p>
                      <a:pPr algn="l"/>
                      <a:r>
                        <a:rPr sz="1200" b="1">
                          <a:solidFill>
                            <a:srgbClr val="FFFFFF"/>
                          </a:solidFill>
                          <a:latin typeface="Calibri"/>
                        </a:rPr>
                        <a:t>Method</a:t>
                      </a:r>
                    </a:p>
                  </a:txBody>
                  <a:tcPr marT="36576" marB="36576" anchor="ctr">
                    <a:solidFill>
                      <a:srgbClr val="1C2E6E"/>
                    </a:solidFill>
                  </a:tcPr>
                </a:tc>
                <a:tc>
                  <a:txBody>
                    <a:bodyPr/>
                    <a:lstStyle/>
                    <a:p>
                      <a:pPr algn="l"/>
                      <a:r>
                        <a:rPr sz="1200" b="1">
                          <a:solidFill>
                            <a:srgbClr val="FFFFFF"/>
                          </a:solidFill>
                          <a:latin typeface="Calibri"/>
                        </a:rPr>
                        <a:t>Representative</a:t>
                      </a:r>
                    </a:p>
                  </a:txBody>
                  <a:tcPr marT="36576" marB="36576" anchor="ctr">
                    <a:solidFill>
                      <a:srgbClr val="1C2E6E"/>
                    </a:solidFill>
                  </a:tcPr>
                </a:tc>
                <a:tc>
                  <a:txBody>
                    <a:bodyPr/>
                    <a:lstStyle/>
                    <a:p>
                      <a:pPr algn="l"/>
                      <a:r>
                        <a:rPr sz="1200" b="1">
                          <a:solidFill>
                            <a:srgbClr val="FFFFFF"/>
                          </a:solidFill>
                          <a:latin typeface="Calibri"/>
                        </a:rPr>
                        <a:t>Challenge</a:t>
                      </a:r>
                    </a:p>
                  </a:txBody>
                  <a:tcPr marT="36576" marB="36576" anchor="ctr">
                    <a:solidFill>
                      <a:srgbClr val="1C2E6E"/>
                    </a:solidFill>
                  </a:tcPr>
                </a:tc>
                <a:extLst>
                  <a:ext uri="{0D108BD9-81ED-4DB2-BD59-A6C34878D82A}">
                    <a16:rowId xmlns:a16="http://schemas.microsoft.com/office/drawing/2014/main" val="10000"/>
                  </a:ext>
                </a:extLst>
              </a:tr>
              <a:tr h="329184">
                <a:tc>
                  <a:txBody>
                    <a:bodyPr/>
                    <a:lstStyle/>
                    <a:p>
                      <a:pPr algn="l"/>
                      <a:r>
                        <a:rPr sz="1200" b="1" dirty="0">
                          <a:solidFill>
                            <a:srgbClr val="1E293B"/>
                          </a:solidFill>
                          <a:latin typeface="Calibri"/>
                        </a:rPr>
                        <a:t>Sentiment: GPT-4o-mini</a:t>
                      </a:r>
                    </a:p>
                  </a:txBody>
                  <a:tcPr marT="36576" marB="36576" anchor="ctr">
                    <a:solidFill>
                      <a:schemeClr val="accent6">
                        <a:lumMod val="20000"/>
                        <a:lumOff val="80000"/>
                      </a:schemeClr>
                    </a:solidFill>
                  </a:tcPr>
                </a:tc>
                <a:tc>
                  <a:txBody>
                    <a:bodyPr/>
                    <a:lstStyle/>
                    <a:p>
                      <a:pPr algn="l"/>
                      <a:r>
                        <a:rPr sz="1200" b="0" dirty="0">
                          <a:solidFill>
                            <a:srgbClr val="1E293B"/>
                          </a:solidFill>
                          <a:latin typeface="Calibri"/>
                        </a:rPr>
                        <a:t>0.641</a:t>
                      </a:r>
                    </a:p>
                  </a:txBody>
                  <a:tcPr marT="36576" marB="36576" anchor="ctr">
                    <a:solidFill>
                      <a:schemeClr val="accent6">
                        <a:lumMod val="20000"/>
                        <a:lumOff val="80000"/>
                      </a:schemeClr>
                    </a:solidFill>
                  </a:tcPr>
                </a:tc>
                <a:tc>
                  <a:txBody>
                    <a:bodyPr/>
                    <a:lstStyle/>
                    <a:p>
                      <a:pPr algn="l"/>
                      <a:r>
                        <a:rPr sz="1200" b="0" dirty="0">
                          <a:solidFill>
                            <a:srgbClr val="1E293B"/>
                          </a:solidFill>
                          <a:latin typeface="Calibri"/>
                        </a:rPr>
                        <a:t>0.773</a:t>
                      </a:r>
                    </a:p>
                  </a:txBody>
                  <a:tcPr marT="36576" marB="36576" anchor="ctr">
                    <a:solidFill>
                      <a:schemeClr val="accent6">
                        <a:lumMod val="20000"/>
                        <a:lumOff val="80000"/>
                      </a:schemeClr>
                    </a:solidFill>
                  </a:tcPr>
                </a:tc>
                <a:extLst>
                  <a:ext uri="{0D108BD9-81ED-4DB2-BD59-A6C34878D82A}">
                    <a16:rowId xmlns:a16="http://schemas.microsoft.com/office/drawing/2014/main" val="10001"/>
                  </a:ext>
                </a:extLst>
              </a:tr>
              <a:tr h="329184">
                <a:tc>
                  <a:txBody>
                    <a:bodyPr/>
                    <a:lstStyle/>
                    <a:p>
                      <a:pPr algn="l"/>
                      <a:r>
                        <a:rPr sz="1200" b="0" dirty="0">
                          <a:solidFill>
                            <a:srgbClr val="1E293B"/>
                          </a:solidFill>
                          <a:latin typeface="Calibri"/>
                        </a:rPr>
                        <a:t>Sentiment: VADER</a:t>
                      </a:r>
                    </a:p>
                  </a:txBody>
                  <a:tcPr marT="36576" marB="36576" anchor="ctr">
                    <a:solidFill>
                      <a:srgbClr val="F2F4F9"/>
                    </a:solidFill>
                  </a:tcPr>
                </a:tc>
                <a:tc>
                  <a:txBody>
                    <a:bodyPr/>
                    <a:lstStyle/>
                    <a:p>
                      <a:pPr algn="l"/>
                      <a:r>
                        <a:rPr sz="1200" b="0" dirty="0">
                          <a:solidFill>
                            <a:srgbClr val="1E293B"/>
                          </a:solidFill>
                          <a:latin typeface="Calibri"/>
                        </a:rPr>
                        <a:t>0.380</a:t>
                      </a:r>
                    </a:p>
                  </a:txBody>
                  <a:tcPr marT="36576" marB="36576" anchor="ctr">
                    <a:solidFill>
                      <a:srgbClr val="F2F4F9"/>
                    </a:solidFill>
                  </a:tcPr>
                </a:tc>
                <a:tc>
                  <a:txBody>
                    <a:bodyPr/>
                    <a:lstStyle/>
                    <a:p>
                      <a:pPr algn="l"/>
                      <a:r>
                        <a:rPr sz="1200" b="0">
                          <a:solidFill>
                            <a:srgbClr val="1E293B"/>
                          </a:solidFill>
                          <a:latin typeface="Calibri"/>
                        </a:rPr>
                        <a:t>0.491</a:t>
                      </a:r>
                    </a:p>
                  </a:txBody>
                  <a:tcPr marT="36576" marB="36576" anchor="ctr">
                    <a:solidFill>
                      <a:srgbClr val="F2F4F9"/>
                    </a:solidFill>
                  </a:tcPr>
                </a:tc>
                <a:extLst>
                  <a:ext uri="{0D108BD9-81ED-4DB2-BD59-A6C34878D82A}">
                    <a16:rowId xmlns:a16="http://schemas.microsoft.com/office/drawing/2014/main" val="10002"/>
                  </a:ext>
                </a:extLst>
              </a:tr>
              <a:tr h="329184">
                <a:tc>
                  <a:txBody>
                    <a:bodyPr/>
                    <a:lstStyle/>
                    <a:p>
                      <a:pPr algn="l"/>
                      <a:r>
                        <a:rPr sz="1200" b="1">
                          <a:solidFill>
                            <a:srgbClr val="1E293B"/>
                          </a:solidFill>
                          <a:latin typeface="Calibri"/>
                        </a:rPr>
                        <a:t>Issues: hybrid</a:t>
                      </a:r>
                    </a:p>
                  </a:txBody>
                  <a:tcPr marT="36576" marB="36576" anchor="ctr">
                    <a:solidFill>
                      <a:schemeClr val="accent6">
                        <a:lumMod val="20000"/>
                        <a:lumOff val="80000"/>
                      </a:schemeClr>
                    </a:solidFill>
                  </a:tcPr>
                </a:tc>
                <a:tc>
                  <a:txBody>
                    <a:bodyPr/>
                    <a:lstStyle/>
                    <a:p>
                      <a:pPr algn="l"/>
                      <a:r>
                        <a:rPr sz="1200" b="0" dirty="0">
                          <a:solidFill>
                            <a:srgbClr val="1E293B"/>
                          </a:solidFill>
                          <a:latin typeface="Calibri"/>
                        </a:rPr>
                        <a:t>0.639</a:t>
                      </a:r>
                    </a:p>
                  </a:txBody>
                  <a:tcPr marT="36576" marB="36576" anchor="ctr">
                    <a:solidFill>
                      <a:schemeClr val="accent6">
                        <a:lumMod val="20000"/>
                        <a:lumOff val="80000"/>
                      </a:schemeClr>
                    </a:solidFill>
                  </a:tcPr>
                </a:tc>
                <a:tc>
                  <a:txBody>
                    <a:bodyPr/>
                    <a:lstStyle/>
                    <a:p>
                      <a:pPr algn="l"/>
                      <a:r>
                        <a:rPr sz="1200" b="0" dirty="0">
                          <a:solidFill>
                            <a:srgbClr val="1E293B"/>
                          </a:solidFill>
                          <a:latin typeface="Calibri"/>
                        </a:rPr>
                        <a:t>0.509</a:t>
                      </a:r>
                    </a:p>
                  </a:txBody>
                  <a:tcPr marT="36576" marB="36576" anchor="ctr">
                    <a:solidFill>
                      <a:schemeClr val="accent6">
                        <a:lumMod val="20000"/>
                        <a:lumOff val="80000"/>
                      </a:schemeClr>
                    </a:solidFill>
                  </a:tcPr>
                </a:tc>
                <a:extLst>
                  <a:ext uri="{0D108BD9-81ED-4DB2-BD59-A6C34878D82A}">
                    <a16:rowId xmlns:a16="http://schemas.microsoft.com/office/drawing/2014/main" val="10003"/>
                  </a:ext>
                </a:extLst>
              </a:tr>
              <a:tr h="329184">
                <a:tc>
                  <a:txBody>
                    <a:bodyPr/>
                    <a:lstStyle/>
                    <a:p>
                      <a:pPr algn="l"/>
                      <a:r>
                        <a:rPr sz="1200" b="0">
                          <a:solidFill>
                            <a:srgbClr val="1E293B"/>
                          </a:solidFill>
                          <a:latin typeface="Calibri"/>
                        </a:rPr>
                        <a:t>Issues: rules</a:t>
                      </a:r>
                    </a:p>
                  </a:txBody>
                  <a:tcPr marT="36576" marB="36576" anchor="ctr">
                    <a:solidFill>
                      <a:srgbClr val="F2F4F9"/>
                    </a:solidFill>
                  </a:tcPr>
                </a:tc>
                <a:tc>
                  <a:txBody>
                    <a:bodyPr/>
                    <a:lstStyle/>
                    <a:p>
                      <a:pPr algn="l"/>
                      <a:r>
                        <a:rPr sz="1200" b="0">
                          <a:solidFill>
                            <a:srgbClr val="1E293B"/>
                          </a:solidFill>
                          <a:latin typeface="Calibri"/>
                        </a:rPr>
                        <a:t>0.590</a:t>
                      </a:r>
                    </a:p>
                  </a:txBody>
                  <a:tcPr marT="36576" marB="36576" anchor="ctr">
                    <a:solidFill>
                      <a:srgbClr val="F2F4F9"/>
                    </a:solidFill>
                  </a:tcPr>
                </a:tc>
                <a:tc>
                  <a:txBody>
                    <a:bodyPr/>
                    <a:lstStyle/>
                    <a:p>
                      <a:pPr algn="l"/>
                      <a:r>
                        <a:rPr sz="1200" b="0">
                          <a:solidFill>
                            <a:srgbClr val="1E293B"/>
                          </a:solidFill>
                          <a:latin typeface="Calibri"/>
                        </a:rPr>
                        <a:t>0.499</a:t>
                      </a:r>
                    </a:p>
                  </a:txBody>
                  <a:tcPr marT="36576" marB="36576" anchor="ctr">
                    <a:solidFill>
                      <a:srgbClr val="F2F4F9"/>
                    </a:solidFill>
                  </a:tcPr>
                </a:tc>
                <a:extLst>
                  <a:ext uri="{0D108BD9-81ED-4DB2-BD59-A6C34878D82A}">
                    <a16:rowId xmlns:a16="http://schemas.microsoft.com/office/drawing/2014/main" val="10004"/>
                  </a:ext>
                </a:extLst>
              </a:tr>
              <a:tr h="329184">
                <a:tc>
                  <a:txBody>
                    <a:bodyPr/>
                    <a:lstStyle/>
                    <a:p>
                      <a:pPr algn="l"/>
                      <a:r>
                        <a:rPr sz="1200" b="0">
                          <a:solidFill>
                            <a:srgbClr val="1E293B"/>
                          </a:solidFill>
                          <a:latin typeface="Calibri"/>
                        </a:rPr>
                        <a:t>Issues: GPT-4o every post</a:t>
                      </a:r>
                    </a:p>
                  </a:txBody>
                  <a:tcPr marT="36576" marB="36576" anchor="ctr">
                    <a:solidFill>
                      <a:srgbClr val="FFFFFF"/>
                    </a:solidFill>
                  </a:tcPr>
                </a:tc>
                <a:tc>
                  <a:txBody>
                    <a:bodyPr/>
                    <a:lstStyle/>
                    <a:p>
                      <a:pPr algn="l"/>
                      <a:r>
                        <a:rPr sz="1200" b="0">
                          <a:solidFill>
                            <a:srgbClr val="1E293B"/>
                          </a:solidFill>
                          <a:latin typeface="Calibri"/>
                        </a:rPr>
                        <a:t>0.585</a:t>
                      </a:r>
                    </a:p>
                  </a:txBody>
                  <a:tcPr marT="36576" marB="36576" anchor="ctr">
                    <a:solidFill>
                      <a:srgbClr val="FFFFFF"/>
                    </a:solidFill>
                  </a:tcPr>
                </a:tc>
                <a:tc>
                  <a:txBody>
                    <a:bodyPr/>
                    <a:lstStyle/>
                    <a:p>
                      <a:pPr algn="l"/>
                      <a:r>
                        <a:rPr sz="1200" b="0" dirty="0">
                          <a:solidFill>
                            <a:srgbClr val="1E293B"/>
                          </a:solidFill>
                          <a:latin typeface="Calibri"/>
                        </a:rPr>
                        <a:t>0.596</a:t>
                      </a:r>
                    </a:p>
                  </a:txBody>
                  <a:tcPr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11" name="TextBox 10"/>
          <p:cNvSpPr txBox="1"/>
          <p:nvPr/>
        </p:nvSpPr>
        <p:spPr>
          <a:xfrm>
            <a:off x="6263640" y="4114800"/>
            <a:ext cx="5376672" cy="1000274"/>
          </a:xfrm>
          <a:prstGeom prst="rect">
            <a:avLst/>
          </a:prstGeom>
          <a:noFill/>
        </p:spPr>
        <p:txBody>
          <a:bodyPr wrap="square" lIns="0" tIns="0" rIns="0" bIns="0" anchor="t">
            <a:spAutoFit/>
          </a:bodyPr>
          <a:lstStyle/>
          <a:p>
            <a:pPr marL="256032" indent="-256032" algn="l">
              <a:spcAft>
                <a:spcPts val="300"/>
              </a:spcAft>
              <a:buClr>
                <a:srgbClr val="D29B08"/>
              </a:buClr>
              <a:buFont typeface="Arial"/>
              <a:buChar char="•"/>
            </a:pPr>
            <a:r>
              <a:rPr sz="1200" b="1" i="0" dirty="0">
                <a:solidFill>
                  <a:srgbClr val="1E293B"/>
                </a:solidFill>
                <a:latin typeface="Calibri"/>
              </a:rPr>
              <a:t>Sentiment</a:t>
            </a:r>
            <a:r>
              <a:rPr sz="1200" b="0" i="0" dirty="0">
                <a:solidFill>
                  <a:srgbClr val="1E293B"/>
                </a:solidFill>
                <a:latin typeface="Calibri"/>
              </a:rPr>
              <a:t>: mini wins on both sets; GPT-4o ties it at ~17× the </a:t>
            </a:r>
            <a:r>
              <a:rPr sz="1200" b="1" i="0" dirty="0">
                <a:solidFill>
                  <a:srgbClr val="1E293B"/>
                </a:solidFill>
                <a:latin typeface="Calibri"/>
              </a:rPr>
              <a:t>cost</a:t>
            </a:r>
            <a:r>
              <a:rPr sz="1200" b="0" i="0" dirty="0">
                <a:solidFill>
                  <a:srgbClr val="1E293B"/>
                </a:solidFill>
                <a:latin typeface="Calibri"/>
              </a:rPr>
              <a:t>; a rerun matched 292 of 295.</a:t>
            </a:r>
          </a:p>
          <a:p>
            <a:pPr marL="256032" indent="-256032" algn="l">
              <a:spcAft>
                <a:spcPts val="300"/>
              </a:spcAft>
              <a:buClr>
                <a:srgbClr val="D29B08"/>
              </a:buClr>
              <a:buFont typeface="Arial"/>
              <a:buChar char="•"/>
            </a:pPr>
            <a:r>
              <a:rPr sz="1200" b="1" i="0" dirty="0">
                <a:solidFill>
                  <a:srgbClr val="1E293B"/>
                </a:solidFill>
                <a:latin typeface="Calibri"/>
              </a:rPr>
              <a:t>Issues</a:t>
            </a:r>
            <a:r>
              <a:rPr sz="1200" b="0" i="0" dirty="0">
                <a:solidFill>
                  <a:srgbClr val="1E293B"/>
                </a:solidFill>
                <a:latin typeface="Calibri"/>
              </a:rPr>
              <a:t>: the hybrid's 0.639 is </a:t>
            </a:r>
            <a:r>
              <a:rPr sz="1200" b="1" i="0" dirty="0">
                <a:solidFill>
                  <a:srgbClr val="1E293B"/>
                </a:solidFill>
                <a:latin typeface="Calibri"/>
              </a:rPr>
              <a:t>optimistic</a:t>
            </a:r>
            <a:r>
              <a:rPr sz="1200" b="0" i="0" dirty="0">
                <a:solidFill>
                  <a:srgbClr val="1E293B"/>
                </a:solidFill>
                <a:latin typeface="Calibri"/>
              </a:rPr>
              <a:t>; on held-out hard posts its lead over rules disappears.</a:t>
            </a:r>
          </a:p>
          <a:p>
            <a:pPr marL="256032" indent="-256032" algn="l">
              <a:spcAft>
                <a:spcPts val="300"/>
              </a:spcAft>
              <a:buClr>
                <a:srgbClr val="D29B08"/>
              </a:buClr>
              <a:buFont typeface="Arial"/>
              <a:buChar char="•"/>
            </a:pPr>
            <a:r>
              <a:rPr sz="1200" b="1" i="0" dirty="0">
                <a:solidFill>
                  <a:srgbClr val="1E293B"/>
                </a:solidFill>
                <a:latin typeface="Calibri"/>
              </a:rPr>
              <a:t>Humans agree </a:t>
            </a:r>
            <a:r>
              <a:rPr sz="1200" b="0" i="0" dirty="0">
                <a:solidFill>
                  <a:srgbClr val="1E293B"/>
                </a:solidFill>
                <a:latin typeface="Calibri"/>
              </a:rPr>
              <a:t>at </a:t>
            </a:r>
            <a:r>
              <a:rPr sz="1200" b="0" i="0" dirty="0" err="1">
                <a:solidFill>
                  <a:srgbClr val="1E293B"/>
                </a:solidFill>
                <a:latin typeface="Calibri"/>
              </a:rPr>
              <a:t>κ</a:t>
            </a:r>
            <a:r>
              <a:rPr sz="1200" b="0" i="0" dirty="0">
                <a:solidFill>
                  <a:srgbClr val="1E293B"/>
                </a:solidFill>
                <a:latin typeface="Calibri"/>
              </a:rPr>
              <a:t> 0.39 (typical) and 0.59 (hard), so no model can score near 1.0.</a:t>
            </a:r>
          </a:p>
        </p:txBody>
      </p:sp>
      <p:sp>
        <p:nvSpPr>
          <p:cNvPr id="12" name="Rounded Rectangle 11"/>
          <p:cNvSpPr/>
          <p:nvPr/>
        </p:nvSpPr>
        <p:spPr>
          <a:xfrm>
            <a:off x="548640" y="5623560"/>
            <a:ext cx="11091672" cy="566928"/>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5623560"/>
            <a:ext cx="10634472" cy="566928"/>
          </a:xfrm>
          <a:prstGeom prst="rect">
            <a:avLst/>
          </a:prstGeom>
          <a:noFill/>
        </p:spPr>
        <p:txBody>
          <a:bodyPr wrap="square" lIns="0" tIns="0" rIns="0" bIns="0" anchor="ctr">
            <a:spAutoFit/>
          </a:bodyPr>
          <a:lstStyle/>
          <a:p>
            <a:pPr algn="l">
              <a:spcAft>
                <a:spcPts val="600"/>
              </a:spcAft>
            </a:pPr>
            <a:r>
              <a:rPr sz="1300" b="1" i="0">
                <a:solidFill>
                  <a:srgbClr val="1C2E6E"/>
                </a:solidFill>
                <a:latin typeface="Calibri"/>
              </a:rPr>
              <a:t>5  Decision: </a:t>
            </a:r>
            <a:r>
              <a:rPr sz="1300" b="0" i="0">
                <a:solidFill>
                  <a:srgbClr val="1E293B"/>
                </a:solidFill>
                <a:latin typeface="Calibri"/>
              </a:rPr>
              <a:t>GPT-4o-mini labels sentiment for all 9,162 posts; the hybrid labels issues. Issue shares are a ranking, not exact percentages.</a:t>
            </a:r>
          </a:p>
        </p:txBody>
      </p:sp>
      <p:sp>
        <p:nvSpPr>
          <p:cNvPr id="14" name="TextBox 13"/>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40</a:t>
            </a:r>
          </a:p>
        </p:txBody>
      </p:sp>
    </p:spTree>
    <p:extLst>
      <p:ext uri="{BB962C8B-B14F-4D97-AF65-F5344CB8AC3E}">
        <p14:creationId xmlns:p14="http://schemas.microsoft.com/office/powerpoint/2010/main" val="28707555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13</a:t>
            </a:r>
          </a:p>
        </p:txBody>
      </p:sp>
      <p:sp>
        <p:nvSpPr>
          <p:cNvPr id="2" name="TextBox 1"/>
          <p:cNvSpPr txBox="1"/>
          <p:nvPr/>
        </p:nvSpPr>
        <p:spPr>
          <a:xfrm>
            <a:off x="5085495" y="384641"/>
            <a:ext cx="6840000" cy="643253"/>
          </a:xfrm>
          <a:prstGeom prst="rect">
            <a:avLst/>
          </a:prstGeom>
          <a:noFill/>
        </p:spPr>
        <p:txBody>
          <a:bodyPr wrap="square" lIns="0" tIns="0" rIns="0" bIns="0" anchor="ctr">
            <a:spAutoFit/>
          </a:bodyPr>
          <a:lstStyle/>
          <a:p>
            <a:pPr>
              <a:lnSpc>
                <a:spcPct val="95000"/>
              </a:lnSpc>
            </a:pPr>
            <a:r>
              <a:rPr lang="en-US" sz="2400" b="1" i="0" dirty="0">
                <a:solidFill>
                  <a:srgbClr val="1C2E6E"/>
                </a:solidFill>
                <a:latin typeface="Calibri"/>
              </a:rPr>
              <a:t>RQ3 What does an LLM add over VADER and rules?</a:t>
            </a:r>
          </a:p>
          <a:p>
            <a:pPr algn="l">
              <a:lnSpc>
                <a:spcPct val="95000"/>
              </a:lnSpc>
              <a:spcAft>
                <a:spcPts val="0"/>
              </a:spcAft>
            </a:pPr>
            <a:r>
              <a:rPr sz="2000" b="1" i="0" dirty="0">
                <a:solidFill>
                  <a:schemeClr val="tx1">
                    <a:lumMod val="95000"/>
                    <a:lumOff val="5000"/>
                  </a:schemeClr>
                </a:solidFill>
                <a:latin typeface="Calibri"/>
              </a:rPr>
              <a:t>How the evaluation works</a:t>
            </a:r>
          </a:p>
        </p:txBody>
      </p:sp>
      <p:sp>
        <p:nvSpPr>
          <p:cNvPr id="13" name="Rounded Rectangle 12"/>
          <p:cNvSpPr/>
          <p:nvPr/>
        </p:nvSpPr>
        <p:spPr>
          <a:xfrm>
            <a:off x="548640" y="1645920"/>
            <a:ext cx="3575304" cy="7315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1645920"/>
            <a:ext cx="914400" cy="731520"/>
          </a:xfrm>
          <a:prstGeom prst="rect">
            <a:avLst/>
          </a:prstGeom>
          <a:noFill/>
        </p:spPr>
        <p:txBody>
          <a:bodyPr wrap="square" lIns="0" tIns="0" rIns="0" bIns="0" anchor="ctr">
            <a:spAutoFit/>
          </a:bodyPr>
          <a:lstStyle/>
          <a:p>
            <a:pPr algn="l">
              <a:spcAft>
                <a:spcPts val="600"/>
              </a:spcAft>
            </a:pPr>
            <a:r>
              <a:rPr sz="2400" b="1" i="0">
                <a:solidFill>
                  <a:srgbClr val="1C2E6E"/>
                </a:solidFill>
                <a:latin typeface="Calibri"/>
              </a:rPr>
              <a:t>392</a:t>
            </a:r>
          </a:p>
        </p:txBody>
      </p:sp>
      <p:sp>
        <p:nvSpPr>
          <p:cNvPr id="15" name="TextBox 14"/>
          <p:cNvSpPr txBox="1"/>
          <p:nvPr/>
        </p:nvSpPr>
        <p:spPr>
          <a:xfrm>
            <a:off x="1600200" y="1645920"/>
            <a:ext cx="2432304" cy="731520"/>
          </a:xfrm>
          <a:prstGeom prst="rect">
            <a:avLst/>
          </a:prstGeom>
          <a:noFill/>
        </p:spPr>
        <p:txBody>
          <a:bodyPr wrap="square" lIns="0" tIns="0" rIns="0" bIns="0" anchor="ctr">
            <a:spAutoFit/>
          </a:bodyPr>
          <a:lstStyle/>
          <a:p>
            <a:pPr algn="l">
              <a:spcAft>
                <a:spcPts val="600"/>
              </a:spcAft>
            </a:pPr>
            <a:r>
              <a:rPr sz="1300" b="0" i="0">
                <a:solidFill>
                  <a:srgbClr val="1E293B"/>
                </a:solidFill>
                <a:latin typeface="Calibri"/>
              </a:rPr>
              <a:t>representative posts: headline scores</a:t>
            </a:r>
          </a:p>
        </p:txBody>
      </p:sp>
      <p:sp>
        <p:nvSpPr>
          <p:cNvPr id="16" name="Rounded Rectangle 15"/>
          <p:cNvSpPr/>
          <p:nvPr/>
        </p:nvSpPr>
        <p:spPr>
          <a:xfrm>
            <a:off x="4306824" y="1645920"/>
            <a:ext cx="3575304" cy="7315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443984" y="1645920"/>
            <a:ext cx="914400" cy="731520"/>
          </a:xfrm>
          <a:prstGeom prst="rect">
            <a:avLst/>
          </a:prstGeom>
          <a:noFill/>
        </p:spPr>
        <p:txBody>
          <a:bodyPr wrap="square" lIns="0" tIns="0" rIns="0" bIns="0" anchor="ctr">
            <a:spAutoFit/>
          </a:bodyPr>
          <a:lstStyle/>
          <a:p>
            <a:pPr algn="l">
              <a:spcAft>
                <a:spcPts val="600"/>
              </a:spcAft>
            </a:pPr>
            <a:r>
              <a:rPr sz="2400" b="1" i="0">
                <a:solidFill>
                  <a:srgbClr val="1C2E6E"/>
                </a:solidFill>
                <a:latin typeface="Calibri"/>
              </a:rPr>
              <a:t>100</a:t>
            </a:r>
          </a:p>
        </p:txBody>
      </p:sp>
      <p:sp>
        <p:nvSpPr>
          <p:cNvPr id="18" name="TextBox 17"/>
          <p:cNvSpPr txBox="1"/>
          <p:nvPr/>
        </p:nvSpPr>
        <p:spPr>
          <a:xfrm>
            <a:off x="5358383" y="1645920"/>
            <a:ext cx="2432304" cy="731520"/>
          </a:xfrm>
          <a:prstGeom prst="rect">
            <a:avLst/>
          </a:prstGeom>
          <a:noFill/>
        </p:spPr>
        <p:txBody>
          <a:bodyPr wrap="square" lIns="0" tIns="0" rIns="0" bIns="0" anchor="ctr">
            <a:spAutoFit/>
          </a:bodyPr>
          <a:lstStyle/>
          <a:p>
            <a:pPr algn="l">
              <a:spcAft>
                <a:spcPts val="600"/>
              </a:spcAft>
            </a:pPr>
            <a:r>
              <a:rPr sz="1300" b="0" i="0">
                <a:solidFill>
                  <a:srgbClr val="1E293B"/>
                </a:solidFill>
                <a:latin typeface="Calibri"/>
              </a:rPr>
              <a:t>challenge posts: hard cases, held out</a:t>
            </a:r>
          </a:p>
        </p:txBody>
      </p:sp>
      <p:sp>
        <p:nvSpPr>
          <p:cNvPr id="19" name="Rounded Rectangle 18"/>
          <p:cNvSpPr/>
          <p:nvPr/>
        </p:nvSpPr>
        <p:spPr>
          <a:xfrm>
            <a:off x="8065008" y="1645920"/>
            <a:ext cx="3575304" cy="7315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02168" y="1645920"/>
            <a:ext cx="914400" cy="731520"/>
          </a:xfrm>
          <a:prstGeom prst="rect">
            <a:avLst/>
          </a:prstGeom>
          <a:noFill/>
        </p:spPr>
        <p:txBody>
          <a:bodyPr wrap="square" lIns="0" tIns="0" rIns="0" bIns="0" anchor="ctr">
            <a:spAutoFit/>
          </a:bodyPr>
          <a:lstStyle/>
          <a:p>
            <a:pPr algn="l">
              <a:spcAft>
                <a:spcPts val="600"/>
              </a:spcAft>
            </a:pPr>
            <a:r>
              <a:rPr sz="2400" b="1" i="0">
                <a:solidFill>
                  <a:srgbClr val="1C2E6E"/>
                </a:solidFill>
                <a:latin typeface="Calibri"/>
              </a:rPr>
              <a:t>100</a:t>
            </a:r>
          </a:p>
        </p:txBody>
      </p:sp>
      <p:sp>
        <p:nvSpPr>
          <p:cNvPr id="21" name="TextBox 20"/>
          <p:cNvSpPr txBox="1"/>
          <p:nvPr/>
        </p:nvSpPr>
        <p:spPr>
          <a:xfrm>
            <a:off x="9116568" y="1645920"/>
            <a:ext cx="2432304" cy="731520"/>
          </a:xfrm>
          <a:prstGeom prst="rect">
            <a:avLst/>
          </a:prstGeom>
          <a:noFill/>
        </p:spPr>
        <p:txBody>
          <a:bodyPr wrap="square" lIns="0" tIns="0" rIns="0" bIns="0" anchor="ctr">
            <a:spAutoFit/>
          </a:bodyPr>
          <a:lstStyle/>
          <a:p>
            <a:pPr algn="l">
              <a:spcAft>
                <a:spcPts val="600"/>
              </a:spcAft>
            </a:pPr>
            <a:r>
              <a:rPr sz="1300" b="0" i="0">
                <a:solidFill>
                  <a:srgbClr val="1E293B"/>
                </a:solidFill>
                <a:latin typeface="Calibri"/>
              </a:rPr>
              <a:t>overlap posts: a second annotator, for κ</a:t>
            </a:r>
          </a:p>
        </p:txBody>
      </p:sp>
      <p:sp>
        <p:nvSpPr>
          <p:cNvPr id="22" name="TextBox 21"/>
          <p:cNvSpPr txBox="1"/>
          <p:nvPr/>
        </p:nvSpPr>
        <p:spPr>
          <a:xfrm>
            <a:off x="548640" y="2542032"/>
            <a:ext cx="5120640" cy="274320"/>
          </a:xfrm>
          <a:prstGeom prst="rect">
            <a:avLst/>
          </a:prstGeom>
          <a:noFill/>
        </p:spPr>
        <p:txBody>
          <a:bodyPr wrap="square" lIns="0" tIns="0" rIns="0" bIns="0" anchor="t">
            <a:spAutoFit/>
          </a:bodyPr>
          <a:lstStyle/>
          <a:p>
            <a:pPr algn="l">
              <a:spcAft>
                <a:spcPts val="600"/>
              </a:spcAft>
            </a:pPr>
            <a:r>
              <a:rPr sz="1200" b="1" i="0">
                <a:solidFill>
                  <a:srgbClr val="5B6475"/>
                </a:solidFill>
                <a:latin typeface="Calibri"/>
              </a:rPr>
              <a:t>Shown to me: thread and post only, no model labels</a:t>
            </a:r>
          </a:p>
        </p:txBody>
      </p:sp>
      <p:sp>
        <p:nvSpPr>
          <p:cNvPr id="23" name="TextBox 22"/>
          <p:cNvSpPr txBox="1"/>
          <p:nvPr/>
        </p:nvSpPr>
        <p:spPr>
          <a:xfrm>
            <a:off x="5669279" y="2542032"/>
            <a:ext cx="5971032" cy="274320"/>
          </a:xfrm>
          <a:prstGeom prst="rect">
            <a:avLst/>
          </a:prstGeom>
          <a:noFill/>
        </p:spPr>
        <p:txBody>
          <a:bodyPr wrap="square" lIns="0" tIns="0" rIns="0" bIns="0" anchor="t">
            <a:spAutoFit/>
          </a:bodyPr>
          <a:lstStyle/>
          <a:p>
            <a:pPr algn="l">
              <a:spcAft>
                <a:spcPts val="600"/>
              </a:spcAft>
            </a:pPr>
            <a:r>
              <a:rPr sz="1200" b="1" i="0">
                <a:solidFill>
                  <a:srgbClr val="D29B08"/>
                </a:solidFill>
                <a:latin typeface="Calibri"/>
              </a:rPr>
              <a:t>What I filled in for every post (challenge sheet, 2 of 100)</a:t>
            </a:r>
          </a:p>
        </p:txBody>
      </p:sp>
      <p:graphicFrame>
        <p:nvGraphicFramePr>
          <p:cNvPr id="24" name="Table 23"/>
          <p:cNvGraphicFramePr>
            <a:graphicFrameLocks noGrp="1"/>
          </p:cNvGraphicFramePr>
          <p:nvPr>
            <p:extLst>
              <p:ext uri="{D42A27DB-BD31-4B8C-83A1-F6EECF244321}">
                <p14:modId xmlns:p14="http://schemas.microsoft.com/office/powerpoint/2010/main" val="1567632337"/>
              </p:ext>
            </p:extLst>
          </p:nvPr>
        </p:nvGraphicFramePr>
        <p:xfrm>
          <a:off x="548640" y="2834640"/>
          <a:ext cx="11091672" cy="1499616"/>
        </p:xfrm>
        <a:graphic>
          <a:graphicData uri="http://schemas.openxmlformats.org/drawingml/2006/table">
            <a:tbl>
              <a:tblPr firstRow="1" bandRow="1">
                <a:tableStyleId>{5C22544A-7EE6-4342-B048-85BDC9FD1C3A}</a:tableStyleId>
              </a:tblPr>
              <a:tblGrid>
                <a:gridCol w="82296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2788920">
                  <a:extLst>
                    <a:ext uri="{9D8B030D-6E8A-4147-A177-3AD203B41FA5}">
                      <a16:colId xmlns:a16="http://schemas.microsoft.com/office/drawing/2014/main" val="20002"/>
                    </a:ext>
                  </a:extLst>
                </a:gridCol>
                <a:gridCol w="594360">
                  <a:extLst>
                    <a:ext uri="{9D8B030D-6E8A-4147-A177-3AD203B41FA5}">
                      <a16:colId xmlns:a16="http://schemas.microsoft.com/office/drawing/2014/main" val="20003"/>
                    </a:ext>
                  </a:extLst>
                </a:gridCol>
                <a:gridCol w="96012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1417320">
                  <a:extLst>
                    <a:ext uri="{9D8B030D-6E8A-4147-A177-3AD203B41FA5}">
                      <a16:colId xmlns:a16="http://schemas.microsoft.com/office/drawing/2014/main" val="20006"/>
                    </a:ext>
                  </a:extLst>
                </a:gridCol>
                <a:gridCol w="868680">
                  <a:extLst>
                    <a:ext uri="{9D8B030D-6E8A-4147-A177-3AD203B41FA5}">
                      <a16:colId xmlns:a16="http://schemas.microsoft.com/office/drawing/2014/main" val="20007"/>
                    </a:ext>
                  </a:extLst>
                </a:gridCol>
                <a:gridCol w="1216152">
                  <a:extLst>
                    <a:ext uri="{9D8B030D-6E8A-4147-A177-3AD203B41FA5}">
                      <a16:colId xmlns:a16="http://schemas.microsoft.com/office/drawing/2014/main" val="20008"/>
                    </a:ext>
                  </a:extLst>
                </a:gridCol>
              </a:tblGrid>
              <a:tr h="347472">
                <a:tc>
                  <a:txBody>
                    <a:bodyPr/>
                    <a:lstStyle/>
                    <a:p>
                      <a:pPr algn="l"/>
                      <a:r>
                        <a:rPr sz="1100" b="1">
                          <a:solidFill>
                            <a:srgbClr val="FFFFFF"/>
                          </a:solidFill>
                          <a:latin typeface="Calibri"/>
                        </a:rPr>
                        <a:t>ID</a:t>
                      </a:r>
                    </a:p>
                  </a:txBody>
                  <a:tcPr marT="36576" marB="36576" anchor="ctr">
                    <a:solidFill>
                      <a:srgbClr val="1C2E6E"/>
                    </a:solidFill>
                  </a:tcPr>
                </a:tc>
                <a:tc>
                  <a:txBody>
                    <a:bodyPr/>
                    <a:lstStyle/>
                    <a:p>
                      <a:pPr algn="l"/>
                      <a:r>
                        <a:rPr sz="1100" b="1">
                          <a:solidFill>
                            <a:srgbClr val="FFFFFF"/>
                          </a:solidFill>
                          <a:latin typeface="Calibri"/>
                        </a:rPr>
                        <a:t>Thread</a:t>
                      </a:r>
                    </a:p>
                  </a:txBody>
                  <a:tcPr marT="36576" marB="36576" anchor="ctr">
                    <a:solidFill>
                      <a:srgbClr val="1C2E6E"/>
                    </a:solidFill>
                  </a:tcPr>
                </a:tc>
                <a:tc>
                  <a:txBody>
                    <a:bodyPr/>
                    <a:lstStyle/>
                    <a:p>
                      <a:pPr algn="l"/>
                      <a:r>
                        <a:rPr sz="1100" b="1">
                          <a:solidFill>
                            <a:srgbClr val="FFFFFF"/>
                          </a:solidFill>
                          <a:latin typeface="Calibri"/>
                        </a:rPr>
                        <a:t>Post</a:t>
                      </a:r>
                    </a:p>
                  </a:txBody>
                  <a:tcPr marT="36576" marB="36576" anchor="ctr">
                    <a:solidFill>
                      <a:srgbClr val="1C2E6E"/>
                    </a:solidFill>
                  </a:tcPr>
                </a:tc>
                <a:tc>
                  <a:txBody>
                    <a:bodyPr/>
                    <a:lstStyle/>
                    <a:p>
                      <a:pPr algn="l"/>
                      <a:r>
                        <a:rPr sz="1100" b="1">
                          <a:solidFill>
                            <a:srgbClr val="FFFFFF"/>
                          </a:solidFill>
                          <a:latin typeface="Calibri"/>
                        </a:rPr>
                        <a:t>Telco?</a:t>
                      </a:r>
                    </a:p>
                  </a:txBody>
                  <a:tcPr marT="36576" marB="36576" anchor="ctr">
                    <a:solidFill>
                      <a:srgbClr val="1C2E6E"/>
                    </a:solidFill>
                  </a:tcPr>
                </a:tc>
                <a:tc>
                  <a:txBody>
                    <a:bodyPr/>
                    <a:lstStyle/>
                    <a:p>
                      <a:pPr algn="l"/>
                      <a:r>
                        <a:rPr sz="1100" b="1">
                          <a:solidFill>
                            <a:srgbClr val="FFFFFF"/>
                          </a:solidFill>
                          <a:latin typeface="Calibri"/>
                        </a:rPr>
                        <a:t>Brands</a:t>
                      </a:r>
                    </a:p>
                  </a:txBody>
                  <a:tcPr marT="36576" marB="36576" anchor="ctr">
                    <a:solidFill>
                      <a:srgbClr val="1C2E6E"/>
                    </a:solidFill>
                  </a:tcPr>
                </a:tc>
                <a:tc>
                  <a:txBody>
                    <a:bodyPr/>
                    <a:lstStyle/>
                    <a:p>
                      <a:pPr algn="l"/>
                      <a:r>
                        <a:rPr sz="1100" b="1">
                          <a:solidFill>
                            <a:srgbClr val="FFFFFF"/>
                          </a:solidFill>
                          <a:latin typeface="Calibri"/>
                        </a:rPr>
                        <a:t>Sentiment</a:t>
                      </a:r>
                    </a:p>
                  </a:txBody>
                  <a:tcPr marT="36576" marB="36576" anchor="ctr">
                    <a:solidFill>
                      <a:srgbClr val="1C2E6E"/>
                    </a:solidFill>
                  </a:tcPr>
                </a:tc>
                <a:tc>
                  <a:txBody>
                    <a:bodyPr/>
                    <a:lstStyle/>
                    <a:p>
                      <a:pPr algn="l"/>
                      <a:r>
                        <a:rPr sz="1100" b="1">
                          <a:solidFill>
                            <a:srgbClr val="FFFFFF"/>
                          </a:solidFill>
                          <a:latin typeface="Calibri"/>
                        </a:rPr>
                        <a:t>Issues</a:t>
                      </a:r>
                    </a:p>
                  </a:txBody>
                  <a:tcPr marT="36576" marB="36576" anchor="ctr">
                    <a:solidFill>
                      <a:srgbClr val="1C2E6E"/>
                    </a:solidFill>
                  </a:tcPr>
                </a:tc>
                <a:tc>
                  <a:txBody>
                    <a:bodyPr/>
                    <a:lstStyle/>
                    <a:p>
                      <a:pPr algn="l"/>
                      <a:r>
                        <a:rPr sz="1100" b="1">
                          <a:solidFill>
                            <a:srgbClr val="FFFFFF"/>
                          </a:solidFill>
                          <a:latin typeface="Calibri"/>
                        </a:rPr>
                        <a:t>Confidence</a:t>
                      </a:r>
                    </a:p>
                  </a:txBody>
                  <a:tcPr marT="36576" marB="36576" anchor="ctr">
                    <a:solidFill>
                      <a:srgbClr val="1C2E6E"/>
                    </a:solidFill>
                  </a:tcPr>
                </a:tc>
                <a:tc>
                  <a:txBody>
                    <a:bodyPr/>
                    <a:lstStyle/>
                    <a:p>
                      <a:pPr algn="l"/>
                      <a:r>
                        <a:rPr sz="1100" b="1">
                          <a:solidFill>
                            <a:srgbClr val="FFFFFF"/>
                          </a:solidFill>
                          <a:latin typeface="Calibri"/>
                        </a:rPr>
                        <a:t>Note</a:t>
                      </a:r>
                    </a:p>
                  </a:txBody>
                  <a:tcPr marT="36576" marB="36576" anchor="ctr">
                    <a:solidFill>
                      <a:srgbClr val="1C2E6E"/>
                    </a:solidFill>
                  </a:tcPr>
                </a:tc>
                <a:extLst>
                  <a:ext uri="{0D108BD9-81ED-4DB2-BD59-A6C34878D82A}">
                    <a16:rowId xmlns:a16="http://schemas.microsoft.com/office/drawing/2014/main" val="10000"/>
                  </a:ext>
                </a:extLst>
              </a:tr>
              <a:tr h="347472">
                <a:tc>
                  <a:txBody>
                    <a:bodyPr/>
                    <a:lstStyle/>
                    <a:p>
                      <a:pPr algn="l"/>
                      <a:r>
                        <a:rPr sz="1100" b="0">
                          <a:solidFill>
                            <a:srgbClr val="1E293B"/>
                          </a:solidFill>
                          <a:latin typeface="Calibri"/>
                        </a:rPr>
                        <a:t>CHL-0054</a:t>
                      </a:r>
                    </a:p>
                  </a:txBody>
                  <a:tcPr marT="36576" marB="36576" anchor="ctr">
                    <a:solidFill>
                      <a:srgbClr val="FFFFFF"/>
                    </a:solidFill>
                  </a:tcPr>
                </a:tc>
                <a:tc>
                  <a:txBody>
                    <a:bodyPr/>
                    <a:lstStyle/>
                    <a:p>
                      <a:pPr algn="l"/>
                      <a:r>
                        <a:rPr sz="1100" b="0">
                          <a:solidFill>
                            <a:srgbClr val="1E293B"/>
                          </a:solidFill>
                          <a:latin typeface="Calibri"/>
                        </a:rPr>
                        <a:t>Need recommendation: Best eSim-Only Plan</a:t>
                      </a:r>
                    </a:p>
                  </a:txBody>
                  <a:tcPr marT="36576" marB="36576" anchor="ctr">
                    <a:solidFill>
                      <a:srgbClr val="FFFFFF"/>
                    </a:solidFill>
                  </a:tcPr>
                </a:tc>
                <a:tc>
                  <a:txBody>
                    <a:bodyPr/>
                    <a:lstStyle/>
                    <a:p>
                      <a:pPr algn="l"/>
                      <a:r>
                        <a:rPr sz="1100" b="0">
                          <a:solidFill>
                            <a:srgbClr val="1E293B"/>
                          </a:solidFill>
                          <a:latin typeface="Calibri"/>
                        </a:rPr>
                        <a:t>On Eight 14.80 plan. Roaming tested in china &amp; japan both ok.. sg where my Simba sucks, eight is still getting full bar</a:t>
                      </a:r>
                    </a:p>
                  </a:txBody>
                  <a:tcPr marT="36576" marB="36576" anchor="ctr">
                    <a:solidFill>
                      <a:srgbClr val="FFFFFF"/>
                    </a:solidFill>
                  </a:tcPr>
                </a:tc>
                <a:tc>
                  <a:txBody>
                    <a:bodyPr/>
                    <a:lstStyle/>
                    <a:p>
                      <a:pPr algn="l"/>
                      <a:r>
                        <a:rPr sz="1100" b="0">
                          <a:solidFill>
                            <a:srgbClr val="1E293B"/>
                          </a:solidFill>
                          <a:latin typeface="Calibri"/>
                        </a:rPr>
                        <a:t>yes</a:t>
                      </a:r>
                    </a:p>
                  </a:txBody>
                  <a:tcPr marT="36576" marB="36576" anchor="ctr">
                    <a:solidFill>
                      <a:srgbClr val="FFFFFF"/>
                    </a:solidFill>
                  </a:tcPr>
                </a:tc>
                <a:tc>
                  <a:txBody>
                    <a:bodyPr/>
                    <a:lstStyle/>
                    <a:p>
                      <a:pPr algn="l"/>
                      <a:r>
                        <a:rPr sz="1100" b="0">
                          <a:solidFill>
                            <a:srgbClr val="1E293B"/>
                          </a:solidFill>
                          <a:latin typeface="Calibri"/>
                        </a:rPr>
                        <a:t>Eight, SIMBA</a:t>
                      </a:r>
                    </a:p>
                  </a:txBody>
                  <a:tcPr marT="36576" marB="36576" anchor="ctr">
                    <a:solidFill>
                      <a:srgbClr val="FFFFFF"/>
                    </a:solidFill>
                  </a:tcPr>
                </a:tc>
                <a:tc>
                  <a:txBody>
                    <a:bodyPr/>
                    <a:lstStyle/>
                    <a:p>
                      <a:pPr algn="l"/>
                      <a:r>
                        <a:rPr sz="1100" b="0">
                          <a:solidFill>
                            <a:srgbClr val="1E293B"/>
                          </a:solidFill>
                          <a:latin typeface="Calibri"/>
                        </a:rPr>
                        <a:t>happy</a:t>
                      </a:r>
                    </a:p>
                  </a:txBody>
                  <a:tcPr marT="36576" marB="36576" anchor="ctr">
                    <a:solidFill>
                      <a:srgbClr val="FFFFFF"/>
                    </a:solidFill>
                  </a:tcPr>
                </a:tc>
                <a:tc>
                  <a:txBody>
                    <a:bodyPr/>
                    <a:lstStyle/>
                    <a:p>
                      <a:pPr algn="l"/>
                      <a:r>
                        <a:rPr sz="1100" b="0">
                          <a:solidFill>
                            <a:srgbClr val="1E293B"/>
                          </a:solidFill>
                          <a:latin typeface="Calibri"/>
                        </a:rPr>
                        <a:t>Roaming, Network Quality, Mobile Plans</a:t>
                      </a:r>
                    </a:p>
                  </a:txBody>
                  <a:tcPr marT="36576" marB="36576" anchor="ctr">
                    <a:solidFill>
                      <a:srgbClr val="FFFFFF"/>
                    </a:solidFill>
                  </a:tcPr>
                </a:tc>
                <a:tc>
                  <a:txBody>
                    <a:bodyPr/>
                    <a:lstStyle/>
                    <a:p>
                      <a:pPr algn="l"/>
                      <a:r>
                        <a:rPr sz="1100" b="0">
                          <a:solidFill>
                            <a:srgbClr val="1E293B"/>
                          </a:solidFill>
                          <a:latin typeface="Calibri"/>
                        </a:rPr>
                        <a:t>high</a:t>
                      </a:r>
                    </a:p>
                  </a:txBody>
                  <a:tcPr marT="36576" marB="36576" anchor="ctr">
                    <a:solidFill>
                      <a:srgbClr val="FFFFFF"/>
                    </a:solidFill>
                  </a:tcPr>
                </a:tc>
                <a:tc>
                  <a:txBody>
                    <a:bodyPr/>
                    <a:lstStyle/>
                    <a:p>
                      <a:pPr algn="l"/>
                      <a:r>
                        <a:rPr sz="1100" b="0">
                          <a:solidFill>
                            <a:srgbClr val="1E293B"/>
                          </a:solidFill>
                          <a:latin typeface="Calibri"/>
                        </a:rPr>
                        <a:t>Two brands, one dominant tone</a:t>
                      </a:r>
                    </a:p>
                  </a:txBody>
                  <a:tcPr marT="36576" marB="36576" anchor="ctr">
                    <a:solidFill>
                      <a:srgbClr val="FFFFFF"/>
                    </a:solidFill>
                  </a:tcPr>
                </a:tc>
                <a:extLst>
                  <a:ext uri="{0D108BD9-81ED-4DB2-BD59-A6C34878D82A}">
                    <a16:rowId xmlns:a16="http://schemas.microsoft.com/office/drawing/2014/main" val="10001"/>
                  </a:ext>
                </a:extLst>
              </a:tr>
              <a:tr h="347472">
                <a:tc>
                  <a:txBody>
                    <a:bodyPr/>
                    <a:lstStyle/>
                    <a:p>
                      <a:pPr algn="l"/>
                      <a:r>
                        <a:rPr sz="1100" b="0">
                          <a:solidFill>
                            <a:srgbClr val="1E293B"/>
                          </a:solidFill>
                          <a:latin typeface="Calibri"/>
                        </a:rPr>
                        <a:t>CHL-0074</a:t>
                      </a:r>
                    </a:p>
                  </a:txBody>
                  <a:tcPr marT="36576" marB="36576" anchor="ctr">
                    <a:solidFill>
                      <a:srgbClr val="F2F4F9"/>
                    </a:solidFill>
                  </a:tcPr>
                </a:tc>
                <a:tc>
                  <a:txBody>
                    <a:bodyPr/>
                    <a:lstStyle/>
                    <a:p>
                      <a:pPr algn="l"/>
                      <a:r>
                        <a:rPr sz="1100" b="0">
                          <a:solidFill>
                            <a:srgbClr val="1E293B"/>
                          </a:solidFill>
                          <a:latin typeface="Calibri"/>
                        </a:rPr>
                        <a:t>SingTel / GOMO network issues anyone</a:t>
                      </a:r>
                    </a:p>
                  </a:txBody>
                  <a:tcPr marT="36576" marB="36576" anchor="ctr">
                    <a:solidFill>
                      <a:srgbClr val="F2F4F9"/>
                    </a:solidFill>
                  </a:tcPr>
                </a:tc>
                <a:tc>
                  <a:txBody>
                    <a:bodyPr/>
                    <a:lstStyle/>
                    <a:p>
                      <a:pPr algn="l"/>
                      <a:r>
                        <a:rPr sz="1100" b="0">
                          <a:solidFill>
                            <a:srgbClr val="1E293B"/>
                          </a:solidFill>
                          <a:latin typeface="Calibri"/>
                        </a:rPr>
                        <a:t>5g wonky for me since yesterday. Am at office rn near Buona Vista</a:t>
                      </a:r>
                    </a:p>
                  </a:txBody>
                  <a:tcPr marT="36576" marB="36576" anchor="ctr">
                    <a:solidFill>
                      <a:srgbClr val="F2F4F9"/>
                    </a:solidFill>
                  </a:tcPr>
                </a:tc>
                <a:tc>
                  <a:txBody>
                    <a:bodyPr/>
                    <a:lstStyle/>
                    <a:p>
                      <a:pPr algn="l"/>
                      <a:r>
                        <a:rPr sz="1100" b="0">
                          <a:solidFill>
                            <a:srgbClr val="1E293B"/>
                          </a:solidFill>
                          <a:latin typeface="Calibri"/>
                        </a:rPr>
                        <a:t>yes</a:t>
                      </a:r>
                    </a:p>
                  </a:txBody>
                  <a:tcPr marT="36576" marB="36576" anchor="ctr">
                    <a:solidFill>
                      <a:srgbClr val="F2F4F9"/>
                    </a:solidFill>
                  </a:tcPr>
                </a:tc>
                <a:tc>
                  <a:txBody>
                    <a:bodyPr/>
                    <a:lstStyle/>
                    <a:p>
                      <a:pPr algn="l"/>
                      <a:r>
                        <a:rPr sz="1100" b="0">
                          <a:solidFill>
                            <a:srgbClr val="1E293B"/>
                          </a:solidFill>
                          <a:latin typeface="Calibri"/>
                        </a:rPr>
                        <a:t>GOMO, Singtel</a:t>
                      </a:r>
                    </a:p>
                  </a:txBody>
                  <a:tcPr marT="36576" marB="36576" anchor="ctr">
                    <a:solidFill>
                      <a:srgbClr val="F2F4F9"/>
                    </a:solidFill>
                  </a:tcPr>
                </a:tc>
                <a:tc>
                  <a:txBody>
                    <a:bodyPr/>
                    <a:lstStyle/>
                    <a:p>
                      <a:pPr algn="l"/>
                      <a:r>
                        <a:rPr sz="1100" b="0">
                          <a:solidFill>
                            <a:srgbClr val="1E293B"/>
                          </a:solidFill>
                          <a:latin typeface="Calibri"/>
                        </a:rPr>
                        <a:t>not happy</a:t>
                      </a:r>
                    </a:p>
                  </a:txBody>
                  <a:tcPr marT="36576" marB="36576" anchor="ctr">
                    <a:solidFill>
                      <a:srgbClr val="F2F4F9"/>
                    </a:solidFill>
                  </a:tcPr>
                </a:tc>
                <a:tc>
                  <a:txBody>
                    <a:bodyPr/>
                    <a:lstStyle/>
                    <a:p>
                      <a:pPr algn="l"/>
                      <a:r>
                        <a:rPr sz="1100" b="0">
                          <a:solidFill>
                            <a:srgbClr val="1E293B"/>
                          </a:solidFill>
                          <a:latin typeface="Calibri"/>
                        </a:rPr>
                        <a:t>Network Quality</a:t>
                      </a:r>
                    </a:p>
                  </a:txBody>
                  <a:tcPr marT="36576" marB="36576" anchor="ctr">
                    <a:solidFill>
                      <a:srgbClr val="F2F4F9"/>
                    </a:solidFill>
                  </a:tcPr>
                </a:tc>
                <a:tc>
                  <a:txBody>
                    <a:bodyPr/>
                    <a:lstStyle/>
                    <a:p>
                      <a:pPr algn="l"/>
                      <a:r>
                        <a:rPr lang="en-US" sz="1100" b="0" dirty="0">
                          <a:solidFill>
                            <a:srgbClr val="1E293B"/>
                          </a:solidFill>
                          <a:latin typeface="Calibri"/>
                        </a:rPr>
                        <a:t>high</a:t>
                      </a:r>
                      <a:endParaRPr sz="1100" b="0" dirty="0">
                        <a:solidFill>
                          <a:srgbClr val="1E293B"/>
                        </a:solidFill>
                        <a:latin typeface="Calibri"/>
                      </a:endParaRPr>
                    </a:p>
                  </a:txBody>
                  <a:tcPr marT="36576" marB="36576" anchor="ctr">
                    <a:solidFill>
                      <a:srgbClr val="F2F4F9"/>
                    </a:solidFill>
                  </a:tcPr>
                </a:tc>
                <a:tc>
                  <a:txBody>
                    <a:bodyPr/>
                    <a:lstStyle/>
                    <a:p>
                      <a:pPr algn="l"/>
                      <a:r>
                        <a:rPr sz="1100" b="0" dirty="0">
                          <a:solidFill>
                            <a:srgbClr val="1E293B"/>
                          </a:solidFill>
                          <a:latin typeface="Calibri"/>
                        </a:rPr>
                        <a:t>Failure report; brand from the thread title</a:t>
                      </a:r>
                    </a:p>
                  </a:txBody>
                  <a:tcPr marT="36576" marB="36576" anchor="ctr">
                    <a:solidFill>
                      <a:srgbClr val="F2F4F9"/>
                    </a:solidFill>
                  </a:tcPr>
                </a:tc>
                <a:extLst>
                  <a:ext uri="{0D108BD9-81ED-4DB2-BD59-A6C34878D82A}">
                    <a16:rowId xmlns:a16="http://schemas.microsoft.com/office/drawing/2014/main" val="10002"/>
                  </a:ext>
                </a:extLst>
              </a:tr>
            </a:tbl>
          </a:graphicData>
        </a:graphic>
      </p:graphicFrame>
      <p:sp>
        <p:nvSpPr>
          <p:cNvPr id="25" name="TextBox 24"/>
          <p:cNvSpPr txBox="1"/>
          <p:nvPr/>
        </p:nvSpPr>
        <p:spPr>
          <a:xfrm>
            <a:off x="548640" y="4709160"/>
            <a:ext cx="11091672" cy="548640"/>
          </a:xfrm>
          <a:prstGeom prst="rect">
            <a:avLst/>
          </a:prstGeom>
          <a:noFill/>
        </p:spPr>
        <p:txBody>
          <a:bodyPr wrap="square" lIns="0" tIns="0" rIns="0" bIns="0" anchor="t">
            <a:spAutoFit/>
          </a:bodyPr>
          <a:lstStyle/>
          <a:p>
            <a:pPr algn="l">
              <a:spcAft>
                <a:spcPts val="600"/>
              </a:spcAft>
            </a:pPr>
            <a:r>
              <a:rPr sz="1300" b="1" i="0" dirty="0">
                <a:solidFill>
                  <a:srgbClr val="1C2E6E"/>
                </a:solidFill>
                <a:latin typeface="Calibri"/>
              </a:rPr>
              <a:t>Then: </a:t>
            </a:r>
            <a:r>
              <a:rPr sz="1300" b="0" i="0" dirty="0">
                <a:solidFill>
                  <a:srgbClr val="1E293B"/>
                </a:solidFill>
                <a:latin typeface="Calibri"/>
              </a:rPr>
              <a:t>VADER, keyword rules, GPT-4o-mini and GPT-4o label the same posts and are scored against mine (macro F1, paired bootstrap 95% CIs). The sets never share a post.</a:t>
            </a:r>
          </a:p>
        </p:txBody>
      </p:sp>
      <p:sp>
        <p:nvSpPr>
          <p:cNvPr id="26" name="Rounded Rectangle 25"/>
          <p:cNvSpPr/>
          <p:nvPr/>
        </p:nvSpPr>
        <p:spPr>
          <a:xfrm>
            <a:off x="548640" y="5486400"/>
            <a:ext cx="11091672" cy="64008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77240" y="5486400"/>
            <a:ext cx="10634472" cy="640080"/>
          </a:xfrm>
          <a:prstGeom prst="rect">
            <a:avLst/>
          </a:prstGeom>
          <a:noFill/>
        </p:spPr>
        <p:txBody>
          <a:bodyPr wrap="square" lIns="0" tIns="0" rIns="0" bIns="0" anchor="ctr">
            <a:spAutoFit/>
          </a:bodyPr>
          <a:lstStyle/>
          <a:p>
            <a:pPr algn="l">
              <a:spcAft>
                <a:spcPts val="600"/>
              </a:spcAft>
            </a:pPr>
            <a:r>
              <a:rPr sz="1500" b="1" i="0">
                <a:solidFill>
                  <a:srgbClr val="1C2E6E"/>
                </a:solidFill>
                <a:latin typeface="Calibri"/>
              </a:rPr>
              <a:t>Result: </a:t>
            </a:r>
            <a:r>
              <a:rPr sz="1500" b="0" i="0">
                <a:solidFill>
                  <a:srgbClr val="1E293B"/>
                </a:solidFill>
                <a:latin typeface="Calibri"/>
              </a:rPr>
              <a:t>GPT-4o-mini labels sentiment (0.641 vs VADER 0.380). The hybrid labels issues (0.639, but 0.509 on held-out posts).</a:t>
            </a:r>
          </a:p>
        </p:txBody>
      </p:sp>
    </p:spTree>
    <p:extLst>
      <p:ext uri="{BB962C8B-B14F-4D97-AF65-F5344CB8AC3E}">
        <p14:creationId xmlns:p14="http://schemas.microsoft.com/office/powerpoint/2010/main" val="2786138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98748" y="413100"/>
            <a:ext cx="6840000" cy="643253"/>
          </a:xfrm>
          <a:prstGeom prst="rect">
            <a:avLst/>
          </a:prstGeom>
          <a:noFill/>
        </p:spPr>
        <p:txBody>
          <a:bodyPr wrap="square" lIns="0" tIns="0" rIns="0" bIns="0" anchor="ctr">
            <a:spAutoFit/>
          </a:bodyPr>
          <a:lstStyle/>
          <a:p>
            <a:pPr>
              <a:lnSpc>
                <a:spcPct val="95000"/>
              </a:lnSpc>
            </a:pPr>
            <a:r>
              <a:rPr lang="en-US" sz="2400" b="1" dirty="0">
                <a:solidFill>
                  <a:srgbClr val="1C2E6E"/>
                </a:solidFill>
                <a:latin typeface="Calibri"/>
              </a:rPr>
              <a:t>RQ3 What does an LLM add over VADER and rules?</a:t>
            </a:r>
            <a:endParaRPr lang="en-US" sz="2400" b="1" i="0" dirty="0">
              <a:solidFill>
                <a:srgbClr val="1C2E6E"/>
              </a:solidFill>
              <a:latin typeface="Calibri"/>
            </a:endParaRPr>
          </a:p>
          <a:p>
            <a:pPr algn="l">
              <a:lnSpc>
                <a:spcPct val="95000"/>
              </a:lnSpc>
              <a:spcAft>
                <a:spcPts val="0"/>
              </a:spcAft>
            </a:pPr>
            <a:r>
              <a:rPr sz="2000" b="1" i="0" dirty="0">
                <a:solidFill>
                  <a:schemeClr val="tx1">
                    <a:lumMod val="95000"/>
                    <a:lumOff val="5000"/>
                  </a:schemeClr>
                </a:solidFill>
                <a:latin typeface="Calibri"/>
              </a:rPr>
              <a:t>GPT-4o-mini labels sentiment far better than VADER</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13</a:t>
            </a:r>
          </a:p>
        </p:txBody>
      </p:sp>
      <p:graphicFrame>
        <p:nvGraphicFramePr>
          <p:cNvPr id="4" name="Chart 3"/>
          <p:cNvGraphicFramePr>
            <a:graphicFrameLocks noGrp="1"/>
          </p:cNvGraphicFramePr>
          <p:nvPr/>
        </p:nvGraphicFramePr>
        <p:xfrm>
          <a:off x="548640" y="1645920"/>
          <a:ext cx="6035040" cy="43891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p:cNvSpPr txBox="1"/>
          <p:nvPr/>
        </p:nvSpPr>
        <p:spPr>
          <a:xfrm>
            <a:off x="548640" y="6053328"/>
            <a:ext cx="6035040" cy="184666"/>
          </a:xfrm>
          <a:prstGeom prst="rect">
            <a:avLst/>
          </a:prstGeom>
          <a:noFill/>
        </p:spPr>
        <p:txBody>
          <a:bodyPr wrap="square" lIns="0" tIns="0" rIns="0" bIns="0" anchor="t">
            <a:spAutoFit/>
          </a:bodyPr>
          <a:lstStyle/>
          <a:p>
            <a:pPr algn="l">
              <a:spcAft>
                <a:spcPts val="600"/>
              </a:spcAft>
            </a:pPr>
            <a:r>
              <a:rPr sz="1200" b="1" i="0" dirty="0">
                <a:solidFill>
                  <a:srgbClr val="5B6475"/>
                </a:solidFill>
                <a:latin typeface="Calibri"/>
              </a:rPr>
              <a:t>Sentiment macro F1, representative set (n = 392; GPT-4o 388)</a:t>
            </a:r>
          </a:p>
        </p:txBody>
      </p:sp>
      <p:sp>
        <p:nvSpPr>
          <p:cNvPr id="6" name="TextBox 5"/>
          <p:cNvSpPr txBox="1"/>
          <p:nvPr/>
        </p:nvSpPr>
        <p:spPr>
          <a:xfrm>
            <a:off x="7040880" y="1737360"/>
            <a:ext cx="4572000" cy="548640"/>
          </a:xfrm>
          <a:prstGeom prst="rect">
            <a:avLst/>
          </a:prstGeom>
          <a:noFill/>
        </p:spPr>
        <p:txBody>
          <a:bodyPr wrap="square" lIns="0" tIns="0" rIns="0" bIns="0" anchor="t">
            <a:spAutoFit/>
          </a:bodyPr>
          <a:lstStyle/>
          <a:p>
            <a:pPr algn="l">
              <a:spcAft>
                <a:spcPts val="600"/>
              </a:spcAft>
            </a:pPr>
            <a:r>
              <a:rPr sz="3600" b="1" i="0" dirty="0">
                <a:solidFill>
                  <a:srgbClr val="1C2E6E"/>
                </a:solidFill>
                <a:latin typeface="Calibri"/>
              </a:rPr>
              <a:t>74 of 186</a:t>
            </a:r>
          </a:p>
        </p:txBody>
      </p:sp>
      <p:sp>
        <p:nvSpPr>
          <p:cNvPr id="7" name="TextBox 6"/>
          <p:cNvSpPr txBox="1"/>
          <p:nvPr/>
        </p:nvSpPr>
        <p:spPr>
          <a:xfrm>
            <a:off x="7040880" y="2331720"/>
            <a:ext cx="4572000" cy="822960"/>
          </a:xfrm>
          <a:prstGeom prst="rect">
            <a:avLst/>
          </a:prstGeom>
          <a:noFill/>
        </p:spPr>
        <p:txBody>
          <a:bodyPr wrap="square" lIns="0" tIns="0" rIns="0" bIns="0" anchor="t">
            <a:spAutoFit/>
          </a:bodyPr>
          <a:lstStyle/>
          <a:p>
            <a:pPr algn="l">
              <a:spcAft>
                <a:spcPts val="600"/>
              </a:spcAft>
            </a:pPr>
            <a:r>
              <a:rPr sz="1500" b="0" i="0" dirty="0">
                <a:solidFill>
                  <a:srgbClr val="5B6475"/>
                </a:solidFill>
                <a:latin typeface="Calibri"/>
              </a:rPr>
              <a:t>posts I labelled not happy that VADER called happy</a:t>
            </a:r>
          </a:p>
        </p:txBody>
      </p:sp>
      <p:sp>
        <p:nvSpPr>
          <p:cNvPr id="8" name="TextBox 7"/>
          <p:cNvSpPr txBox="1"/>
          <p:nvPr/>
        </p:nvSpPr>
        <p:spPr>
          <a:xfrm>
            <a:off x="7040880" y="3429000"/>
            <a:ext cx="4572000" cy="1538883"/>
          </a:xfrm>
          <a:prstGeom prst="rect">
            <a:avLst/>
          </a:prstGeom>
          <a:noFill/>
        </p:spPr>
        <p:txBody>
          <a:bodyPr wrap="square" lIns="0" tIns="0" rIns="0" bIns="0" anchor="t">
            <a:spAutoFit/>
          </a:bodyPr>
          <a:lstStyle/>
          <a:p>
            <a:pPr marL="256032" indent="-256032" algn="l">
              <a:spcAft>
                <a:spcPts val="1200"/>
              </a:spcAft>
              <a:buClr>
                <a:srgbClr val="D29B08"/>
              </a:buClr>
              <a:buFont typeface="Arial"/>
              <a:buChar char="•"/>
            </a:pPr>
            <a:r>
              <a:rPr sz="1600" b="1" i="0" dirty="0">
                <a:solidFill>
                  <a:srgbClr val="1C2E6E"/>
                </a:solidFill>
                <a:latin typeface="Calibri"/>
              </a:rPr>
              <a:t>+0.26 macro F1 for mini over VADER (95% CI +0.20 to +0.32)</a:t>
            </a:r>
          </a:p>
          <a:p>
            <a:pPr marL="256032" indent="-256032" algn="l">
              <a:spcAft>
                <a:spcPts val="1200"/>
              </a:spcAft>
              <a:buClr>
                <a:srgbClr val="D29B08"/>
              </a:buClr>
              <a:buFont typeface="Arial"/>
              <a:buChar char="•"/>
            </a:pPr>
            <a:r>
              <a:rPr sz="1600" b="1" i="0" dirty="0">
                <a:solidFill>
                  <a:srgbClr val="1C2E6E"/>
                </a:solidFill>
                <a:latin typeface="Calibri"/>
              </a:rPr>
              <a:t>Tie between mini and GPT-4o (95% CI −0.02 to +0.08)</a:t>
            </a:r>
          </a:p>
          <a:p>
            <a:pPr marL="256032" indent="-256032" algn="l">
              <a:spcAft>
                <a:spcPts val="1200"/>
              </a:spcAft>
              <a:buClr>
                <a:srgbClr val="D29B08"/>
              </a:buClr>
              <a:buFont typeface="Arial"/>
              <a:buChar char="•"/>
            </a:pPr>
            <a:r>
              <a:rPr sz="1600" b="1" i="0" dirty="0">
                <a:solidFill>
                  <a:srgbClr val="1C2E6E"/>
                </a:solidFill>
                <a:latin typeface="Calibri"/>
              </a:rPr>
              <a:t>~17× </a:t>
            </a:r>
            <a:r>
              <a:rPr sz="1600" b="0" i="0" dirty="0">
                <a:solidFill>
                  <a:srgbClr val="1E293B"/>
                </a:solidFill>
                <a:latin typeface="Calibri"/>
              </a:rPr>
              <a:t>GPT-4o’s </a:t>
            </a:r>
            <a:r>
              <a:rPr sz="1600" b="1" i="0" dirty="0">
                <a:solidFill>
                  <a:srgbClr val="1E293B"/>
                </a:solidFill>
                <a:latin typeface="Calibri"/>
              </a:rPr>
              <a:t>cost</a:t>
            </a:r>
            <a:r>
              <a:rPr sz="1600" b="0" i="0" dirty="0">
                <a:solidFill>
                  <a:srgbClr val="1E293B"/>
                </a:solidFill>
                <a:latin typeface="Calibri"/>
              </a:rPr>
              <a:t> over mini for the same run</a:t>
            </a:r>
          </a:p>
        </p:txBody>
      </p:sp>
      <p:sp>
        <p:nvSpPr>
          <p:cNvPr id="10" name="TextBox 9">
            <a:extLst>
              <a:ext uri="{FF2B5EF4-FFF2-40B4-BE49-F238E27FC236}">
                <a16:creationId xmlns:a16="http://schemas.microsoft.com/office/drawing/2014/main" id="{0C1E2391-CB01-6120-CD99-300CD1CFD731}"/>
              </a:ext>
            </a:extLst>
          </p:cNvPr>
          <p:cNvSpPr txBox="1"/>
          <p:nvPr/>
        </p:nvSpPr>
        <p:spPr>
          <a:xfrm>
            <a:off x="6942495" y="1368028"/>
            <a:ext cx="4572000" cy="369332"/>
          </a:xfrm>
          <a:prstGeom prst="rect">
            <a:avLst/>
          </a:prstGeom>
          <a:noFill/>
        </p:spPr>
        <p:txBody>
          <a:bodyPr wrap="square">
            <a:spAutoFit/>
          </a:bodyPr>
          <a:lstStyle/>
          <a:p>
            <a:pPr algn="l">
              <a:spcAft>
                <a:spcPts val="600"/>
              </a:spcAft>
            </a:pPr>
            <a:r>
              <a:rPr lang="en-US" b="1" i="0" dirty="0">
                <a:solidFill>
                  <a:srgbClr val="1C2E6E"/>
                </a:solidFill>
                <a:latin typeface="Calibri"/>
              </a:rPr>
              <a:t>Sentiment: Happy, Not Happy, Neutral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12000" y="247219"/>
            <a:ext cx="6840000" cy="877163"/>
          </a:xfrm>
          <a:prstGeom prst="rect">
            <a:avLst/>
          </a:prstGeom>
          <a:noFill/>
        </p:spPr>
        <p:txBody>
          <a:bodyPr wrap="square" lIns="0" tIns="0" rIns="0" bIns="0" anchor="ctr">
            <a:spAutoFit/>
          </a:bodyPr>
          <a:lstStyle/>
          <a:p>
            <a:pPr>
              <a:lnSpc>
                <a:spcPct val="95000"/>
              </a:lnSpc>
            </a:pPr>
            <a:r>
              <a:rPr lang="en-US" sz="2400" b="1" dirty="0">
                <a:solidFill>
                  <a:srgbClr val="1C2E6E"/>
                </a:solidFill>
                <a:latin typeface="Calibri"/>
              </a:rPr>
              <a:t>RQ3 What does an LLM add over VADER and rules?</a:t>
            </a:r>
            <a:endParaRPr lang="en-US" sz="2400" b="1" i="0" dirty="0">
              <a:solidFill>
                <a:srgbClr val="1C2E6E"/>
              </a:solidFill>
              <a:latin typeface="Calibri"/>
            </a:endParaRPr>
          </a:p>
          <a:p>
            <a:pPr>
              <a:lnSpc>
                <a:spcPct val="95000"/>
              </a:lnSpc>
            </a:pPr>
            <a:r>
              <a:rPr lang="en-US" b="1" i="0" dirty="0">
                <a:solidFill>
                  <a:schemeClr val="tx1">
                    <a:lumMod val="95000"/>
                    <a:lumOff val="5000"/>
                  </a:schemeClr>
                </a:solidFill>
                <a:latin typeface="Calibri"/>
              </a:rPr>
              <a:t>388 </a:t>
            </a:r>
            <a:r>
              <a:rPr lang="en-US" b="1" i="0" dirty="0">
                <a:solidFill>
                  <a:srgbClr val="FF0000"/>
                </a:solidFill>
                <a:latin typeface="Calibri"/>
              </a:rPr>
              <a:t>representative</a:t>
            </a:r>
            <a:r>
              <a:rPr lang="en-US" b="1" i="0" dirty="0">
                <a:solidFill>
                  <a:schemeClr val="tx1">
                    <a:lumMod val="95000"/>
                    <a:lumOff val="5000"/>
                  </a:schemeClr>
                </a:solidFill>
                <a:latin typeface="Calibri"/>
              </a:rPr>
              <a:t> posts: </a:t>
            </a:r>
            <a:r>
              <a:rPr lang="en-US" b="1" dirty="0">
                <a:solidFill>
                  <a:schemeClr val="tx1">
                    <a:lumMod val="95000"/>
                    <a:lumOff val="5000"/>
                  </a:schemeClr>
                </a:solidFill>
                <a:latin typeface="Calibri"/>
              </a:rPr>
              <a:t>f</a:t>
            </a:r>
            <a:r>
              <a:rPr b="1" i="0" dirty="0">
                <a:solidFill>
                  <a:schemeClr val="tx1">
                    <a:lumMod val="95000"/>
                    <a:lumOff val="5000"/>
                  </a:schemeClr>
                </a:solidFill>
                <a:latin typeface="Calibri"/>
              </a:rPr>
              <a:t>or issues, rules first and GPT-4o only on the leftovers</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14</a:t>
            </a:r>
          </a:p>
        </p:txBody>
      </p:sp>
      <p:graphicFrame>
        <p:nvGraphicFramePr>
          <p:cNvPr id="4" name="Chart 3"/>
          <p:cNvGraphicFramePr>
            <a:graphicFrameLocks noGrp="1"/>
          </p:cNvGraphicFramePr>
          <p:nvPr/>
        </p:nvGraphicFramePr>
        <p:xfrm>
          <a:off x="548640" y="1645920"/>
          <a:ext cx="6400800" cy="4389120"/>
        </p:xfrm>
        <a:graphic>
          <a:graphicData uri="http://schemas.openxmlformats.org/drawingml/2006/chart">
            <c:chart xmlns:c="http://schemas.openxmlformats.org/drawingml/2006/chart" xmlns:r="http://schemas.openxmlformats.org/officeDocument/2006/relationships" r:id="rId4"/>
          </a:graphicData>
        </a:graphic>
      </p:graphicFrame>
      <p:sp>
        <p:nvSpPr>
          <p:cNvPr id="5" name="TextBox 4"/>
          <p:cNvSpPr txBox="1"/>
          <p:nvPr/>
        </p:nvSpPr>
        <p:spPr>
          <a:xfrm>
            <a:off x="548640" y="6053328"/>
            <a:ext cx="6400800" cy="184666"/>
          </a:xfrm>
          <a:prstGeom prst="rect">
            <a:avLst/>
          </a:prstGeom>
          <a:noFill/>
        </p:spPr>
        <p:txBody>
          <a:bodyPr wrap="square" lIns="0" tIns="0" rIns="0" bIns="0" anchor="t">
            <a:spAutoFit/>
          </a:bodyPr>
          <a:lstStyle/>
          <a:p>
            <a:pPr algn="l">
              <a:spcAft>
                <a:spcPts val="600"/>
              </a:spcAft>
            </a:pPr>
            <a:r>
              <a:rPr sz="1200" b="1" i="0" dirty="0">
                <a:solidFill>
                  <a:srgbClr val="5B6475"/>
                </a:solidFill>
                <a:latin typeface="Calibri"/>
              </a:rPr>
              <a:t>Issue macro F1, multi-label, representative set (n = 388)</a:t>
            </a:r>
          </a:p>
        </p:txBody>
      </p:sp>
      <p:sp>
        <p:nvSpPr>
          <p:cNvPr id="6" name="Oval 5"/>
          <p:cNvSpPr/>
          <p:nvPr/>
        </p:nvSpPr>
        <p:spPr>
          <a:xfrm>
            <a:off x="7315200" y="1737360"/>
            <a:ext cx="548640" cy="548640"/>
          </a:xfrm>
          <a:prstGeom prst="ellipse">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FFFFFF"/>
                </a:solidFill>
                <a:latin typeface="Calibri"/>
              </a:rPr>
              <a:t>1</a:t>
            </a:r>
          </a:p>
        </p:txBody>
      </p:sp>
      <p:sp>
        <p:nvSpPr>
          <p:cNvPr id="7" name="TextBox 6"/>
          <p:cNvSpPr txBox="1"/>
          <p:nvPr/>
        </p:nvSpPr>
        <p:spPr>
          <a:xfrm>
            <a:off x="8046720" y="1737360"/>
            <a:ext cx="3566160" cy="548640"/>
          </a:xfrm>
          <a:prstGeom prst="rect">
            <a:avLst/>
          </a:prstGeom>
          <a:noFill/>
        </p:spPr>
        <p:txBody>
          <a:bodyPr wrap="square" lIns="0" tIns="0" rIns="0" bIns="0" anchor="ctr">
            <a:spAutoFit/>
          </a:bodyPr>
          <a:lstStyle/>
          <a:p>
            <a:pPr algn="l">
              <a:spcAft>
                <a:spcPts val="600"/>
              </a:spcAft>
            </a:pPr>
            <a:r>
              <a:rPr sz="1600" b="0" i="0">
                <a:solidFill>
                  <a:srgbClr val="1E293B"/>
                </a:solidFill>
                <a:latin typeface="Calibri"/>
              </a:rPr>
              <a:t>Rules label every post</a:t>
            </a:r>
          </a:p>
        </p:txBody>
      </p:sp>
      <p:sp>
        <p:nvSpPr>
          <p:cNvPr id="8" name="Oval 7"/>
          <p:cNvSpPr/>
          <p:nvPr/>
        </p:nvSpPr>
        <p:spPr>
          <a:xfrm>
            <a:off x="7315200" y="2606040"/>
            <a:ext cx="548640" cy="548640"/>
          </a:xfrm>
          <a:prstGeom prst="ellipse">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FFFFFF"/>
                </a:solidFill>
                <a:latin typeface="Calibri"/>
              </a:rPr>
              <a:t>2</a:t>
            </a:r>
          </a:p>
        </p:txBody>
      </p:sp>
      <p:sp>
        <p:nvSpPr>
          <p:cNvPr id="9" name="TextBox 8"/>
          <p:cNvSpPr txBox="1"/>
          <p:nvPr/>
        </p:nvSpPr>
        <p:spPr>
          <a:xfrm>
            <a:off x="8046720" y="2757249"/>
            <a:ext cx="3566160" cy="246221"/>
          </a:xfrm>
          <a:prstGeom prst="rect">
            <a:avLst/>
          </a:prstGeom>
          <a:noFill/>
        </p:spPr>
        <p:txBody>
          <a:bodyPr wrap="square" lIns="0" tIns="0" rIns="0" bIns="0" anchor="ctr">
            <a:spAutoFit/>
          </a:bodyPr>
          <a:lstStyle/>
          <a:p>
            <a:pPr algn="l">
              <a:spcAft>
                <a:spcPts val="600"/>
              </a:spcAft>
            </a:pPr>
            <a:r>
              <a:rPr sz="1600" b="0" i="0" dirty="0">
                <a:solidFill>
                  <a:srgbClr val="1E293B"/>
                </a:solidFill>
                <a:latin typeface="Calibri"/>
              </a:rPr>
              <a:t>129 of 388 left as General Discussion</a:t>
            </a:r>
          </a:p>
        </p:txBody>
      </p:sp>
      <p:sp>
        <p:nvSpPr>
          <p:cNvPr id="10" name="Oval 9"/>
          <p:cNvSpPr/>
          <p:nvPr/>
        </p:nvSpPr>
        <p:spPr>
          <a:xfrm>
            <a:off x="7315200" y="3474720"/>
            <a:ext cx="548640" cy="548640"/>
          </a:xfrm>
          <a:prstGeom prst="ellipse">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a:solidFill>
                  <a:srgbClr val="FFFFFF"/>
                </a:solidFill>
                <a:latin typeface="Calibri"/>
              </a:rPr>
              <a:t>3</a:t>
            </a:r>
          </a:p>
        </p:txBody>
      </p:sp>
      <p:sp>
        <p:nvSpPr>
          <p:cNvPr id="11" name="TextBox 10"/>
          <p:cNvSpPr txBox="1"/>
          <p:nvPr/>
        </p:nvSpPr>
        <p:spPr>
          <a:xfrm>
            <a:off x="8046720" y="3625929"/>
            <a:ext cx="3566160" cy="246221"/>
          </a:xfrm>
          <a:prstGeom prst="rect">
            <a:avLst/>
          </a:prstGeom>
          <a:noFill/>
        </p:spPr>
        <p:txBody>
          <a:bodyPr wrap="square" lIns="0" tIns="0" rIns="0" bIns="0" anchor="ctr">
            <a:spAutoFit/>
          </a:bodyPr>
          <a:lstStyle/>
          <a:p>
            <a:pPr algn="l">
              <a:spcAft>
                <a:spcPts val="600"/>
              </a:spcAft>
            </a:pPr>
            <a:r>
              <a:rPr sz="1600" b="0" i="0" dirty="0">
                <a:solidFill>
                  <a:srgbClr val="1E293B"/>
                </a:solidFill>
                <a:latin typeface="Calibri"/>
              </a:rPr>
              <a:t>GPT-4o relabels those 129, reassign 92</a:t>
            </a:r>
          </a:p>
        </p:txBody>
      </p:sp>
      <p:sp>
        <p:nvSpPr>
          <p:cNvPr id="12" name="Rounded Rectangle 11"/>
          <p:cNvSpPr/>
          <p:nvPr/>
        </p:nvSpPr>
        <p:spPr>
          <a:xfrm>
            <a:off x="7315200" y="4389120"/>
            <a:ext cx="4325112" cy="160020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43800" y="4572000"/>
            <a:ext cx="3867912" cy="365760"/>
          </a:xfrm>
          <a:prstGeom prst="rect">
            <a:avLst/>
          </a:prstGeom>
          <a:noFill/>
        </p:spPr>
        <p:txBody>
          <a:bodyPr wrap="square" lIns="0" tIns="0" rIns="0" bIns="0" anchor="t">
            <a:spAutoFit/>
          </a:bodyPr>
          <a:lstStyle/>
          <a:p>
            <a:pPr algn="l">
              <a:spcAft>
                <a:spcPts val="600"/>
              </a:spcAft>
            </a:pPr>
            <a:r>
              <a:rPr sz="1600" b="1" i="0">
                <a:solidFill>
                  <a:srgbClr val="1C2E6E"/>
                </a:solidFill>
                <a:latin typeface="Calibri"/>
              </a:rPr>
              <a:t>Gain over rules: +0.049</a:t>
            </a:r>
          </a:p>
        </p:txBody>
      </p:sp>
      <p:sp>
        <p:nvSpPr>
          <p:cNvPr id="14" name="TextBox 13"/>
          <p:cNvSpPr txBox="1"/>
          <p:nvPr/>
        </p:nvSpPr>
        <p:spPr>
          <a:xfrm>
            <a:off x="7543800" y="4956048"/>
            <a:ext cx="3867912" cy="1015663"/>
          </a:xfrm>
          <a:prstGeom prst="rect">
            <a:avLst/>
          </a:prstGeom>
          <a:noFill/>
        </p:spPr>
        <p:txBody>
          <a:bodyPr wrap="square" lIns="0" tIns="0" rIns="0" bIns="0" anchor="t">
            <a:spAutoFit/>
          </a:bodyPr>
          <a:lstStyle/>
          <a:p>
            <a:pPr algn="l">
              <a:spcAft>
                <a:spcPts val="600"/>
              </a:spcAft>
            </a:pPr>
            <a:r>
              <a:rPr sz="1400" b="0" i="0" dirty="0">
                <a:solidFill>
                  <a:srgbClr val="1E293B"/>
                </a:solidFill>
                <a:latin typeface="Calibri"/>
              </a:rPr>
              <a:t>95% CI +0.024 to +0.074. Chosen on this set, so it needs a held-out test.</a:t>
            </a:r>
            <a:endParaRPr lang="en-US" sz="1400" b="0" i="0" dirty="0">
              <a:solidFill>
                <a:srgbClr val="1E293B"/>
              </a:solidFill>
              <a:latin typeface="Calibri"/>
            </a:endParaRPr>
          </a:p>
          <a:p>
            <a:pPr algn="l">
              <a:spcAft>
                <a:spcPts val="600"/>
              </a:spcAft>
            </a:pPr>
            <a:endParaRPr lang="en-US" sz="1400" dirty="0">
              <a:solidFill>
                <a:srgbClr val="1E293B"/>
              </a:solidFill>
              <a:latin typeface="Calibri"/>
            </a:endParaRPr>
          </a:p>
          <a:p>
            <a:pPr algn="l">
              <a:spcAft>
                <a:spcPts val="600"/>
              </a:spcAft>
            </a:pPr>
            <a:endParaRPr sz="1400" b="0" i="0" dirty="0">
              <a:solidFill>
                <a:srgbClr val="1E293B"/>
              </a:solidFill>
              <a:latin typeface="Calibri"/>
            </a:endParaRPr>
          </a:p>
        </p:txBody>
      </p:sp>
    </p:spTree>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25252" y="287684"/>
            <a:ext cx="6840000" cy="877163"/>
          </a:xfrm>
          <a:prstGeom prst="rect">
            <a:avLst/>
          </a:prstGeom>
          <a:noFill/>
        </p:spPr>
        <p:txBody>
          <a:bodyPr wrap="square" lIns="0" tIns="0" rIns="0" bIns="0" anchor="ctr">
            <a:spAutoFit/>
          </a:bodyPr>
          <a:lstStyle/>
          <a:p>
            <a:pPr>
              <a:lnSpc>
                <a:spcPct val="95000"/>
              </a:lnSpc>
            </a:pPr>
            <a:r>
              <a:rPr lang="en-US" sz="2400" b="1" dirty="0">
                <a:solidFill>
                  <a:srgbClr val="1C2E6E"/>
                </a:solidFill>
                <a:latin typeface="Calibri"/>
              </a:rPr>
              <a:t>RQ3 What does an LLM add over VADER and rules?</a:t>
            </a:r>
          </a:p>
          <a:p>
            <a:pPr algn="l">
              <a:lnSpc>
                <a:spcPct val="95000"/>
              </a:lnSpc>
              <a:spcAft>
                <a:spcPts val="0"/>
              </a:spcAft>
            </a:pPr>
            <a:r>
              <a:rPr lang="en-US" b="1" dirty="0"/>
              <a:t>100 </a:t>
            </a:r>
            <a:r>
              <a:rPr lang="en-US" b="1" dirty="0">
                <a:solidFill>
                  <a:srgbClr val="FF0000"/>
                </a:solidFill>
              </a:rPr>
              <a:t>challenge</a:t>
            </a:r>
            <a:r>
              <a:rPr lang="en-US" b="1" dirty="0"/>
              <a:t> post: The hybrid wins on familiar posts, not on new ones</a:t>
            </a:r>
            <a:endParaRPr b="1" i="0" dirty="0">
              <a:solidFill>
                <a:srgbClr val="1C2E6E"/>
              </a:solidFill>
              <a:latin typeface="Calibri"/>
            </a:endParaRP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15</a:t>
            </a:r>
          </a:p>
        </p:txBody>
      </p:sp>
      <p:graphicFrame>
        <p:nvGraphicFramePr>
          <p:cNvPr id="4" name="Chart 3"/>
          <p:cNvGraphicFramePr>
            <a:graphicFrameLocks noGrp="1"/>
          </p:cNvGraphicFramePr>
          <p:nvPr>
            <p:extLst>
              <p:ext uri="{D42A27DB-BD31-4B8C-83A1-F6EECF244321}">
                <p14:modId xmlns:p14="http://schemas.microsoft.com/office/powerpoint/2010/main" val="610189143"/>
              </p:ext>
            </p:extLst>
          </p:nvPr>
        </p:nvGraphicFramePr>
        <p:xfrm>
          <a:off x="548640" y="1600200"/>
          <a:ext cx="5547360" cy="4480560"/>
        </p:xfrm>
        <a:graphic>
          <a:graphicData uri="http://schemas.openxmlformats.org/drawingml/2006/chart">
            <c:chart xmlns:c="http://schemas.openxmlformats.org/drawingml/2006/chart" xmlns:r="http://schemas.openxmlformats.org/officeDocument/2006/relationships" r:id="rId4"/>
          </a:graphicData>
        </a:graphic>
      </p:graphicFrame>
      <p:sp>
        <p:nvSpPr>
          <p:cNvPr id="5" name="TextBox 4"/>
          <p:cNvSpPr txBox="1"/>
          <p:nvPr/>
        </p:nvSpPr>
        <p:spPr>
          <a:xfrm>
            <a:off x="548640" y="6053328"/>
            <a:ext cx="6766560" cy="320040"/>
          </a:xfrm>
          <a:prstGeom prst="rect">
            <a:avLst/>
          </a:prstGeom>
          <a:noFill/>
        </p:spPr>
        <p:txBody>
          <a:bodyPr wrap="square" lIns="0" tIns="0" rIns="0" bIns="0" anchor="t">
            <a:spAutoFit/>
          </a:bodyPr>
          <a:lstStyle/>
          <a:p>
            <a:pPr algn="l">
              <a:spcAft>
                <a:spcPts val="600"/>
              </a:spcAft>
            </a:pPr>
            <a:r>
              <a:rPr sz="1200" b="0" i="0">
                <a:solidFill>
                  <a:srgbClr val="5B6475"/>
                </a:solidFill>
                <a:latin typeface="Calibri"/>
              </a:rPr>
              <a:t>Issue macro F1 against human labels</a:t>
            </a:r>
          </a:p>
        </p:txBody>
      </p:sp>
      <p:graphicFrame>
        <p:nvGraphicFramePr>
          <p:cNvPr id="6" name="Table 5"/>
          <p:cNvGraphicFramePr>
            <a:graphicFrameLocks noGrp="1"/>
          </p:cNvGraphicFramePr>
          <p:nvPr>
            <p:extLst>
              <p:ext uri="{D42A27DB-BD31-4B8C-83A1-F6EECF244321}">
                <p14:modId xmlns:p14="http://schemas.microsoft.com/office/powerpoint/2010/main" val="2790724598"/>
              </p:ext>
            </p:extLst>
          </p:nvPr>
        </p:nvGraphicFramePr>
        <p:xfrm>
          <a:off x="6096000" y="1860082"/>
          <a:ext cx="5869251" cy="2242686"/>
        </p:xfrm>
        <a:graphic>
          <a:graphicData uri="http://schemas.openxmlformats.org/drawingml/2006/table">
            <a:tbl>
              <a:tblPr firstRow="1" bandRow="1">
                <a:tableStyleId>{5C22544A-7EE6-4342-B048-85BDC9FD1C3A}</a:tableStyleId>
              </a:tblPr>
              <a:tblGrid>
                <a:gridCol w="1195137">
                  <a:extLst>
                    <a:ext uri="{9D8B030D-6E8A-4147-A177-3AD203B41FA5}">
                      <a16:colId xmlns:a16="http://schemas.microsoft.com/office/drawing/2014/main" val="20000"/>
                    </a:ext>
                  </a:extLst>
                </a:gridCol>
                <a:gridCol w="1744579">
                  <a:extLst>
                    <a:ext uri="{9D8B030D-6E8A-4147-A177-3AD203B41FA5}">
                      <a16:colId xmlns:a16="http://schemas.microsoft.com/office/drawing/2014/main" val="20001"/>
                    </a:ext>
                  </a:extLst>
                </a:gridCol>
                <a:gridCol w="941041">
                  <a:extLst>
                    <a:ext uri="{9D8B030D-6E8A-4147-A177-3AD203B41FA5}">
                      <a16:colId xmlns:a16="http://schemas.microsoft.com/office/drawing/2014/main" val="3580793636"/>
                    </a:ext>
                  </a:extLst>
                </a:gridCol>
                <a:gridCol w="1988494">
                  <a:extLst>
                    <a:ext uri="{9D8B030D-6E8A-4147-A177-3AD203B41FA5}">
                      <a16:colId xmlns:a16="http://schemas.microsoft.com/office/drawing/2014/main" val="1284023758"/>
                    </a:ext>
                  </a:extLst>
                </a:gridCol>
              </a:tblGrid>
              <a:tr h="462175">
                <a:tc>
                  <a:txBody>
                    <a:bodyPr/>
                    <a:lstStyle/>
                    <a:p>
                      <a:pPr algn="l"/>
                      <a:r>
                        <a:rPr sz="1400" b="1" dirty="0">
                          <a:solidFill>
                            <a:srgbClr val="FFFFFF"/>
                          </a:solidFill>
                          <a:latin typeface="Calibri"/>
                        </a:rPr>
                        <a:t>Challenge set</a:t>
                      </a:r>
                    </a:p>
                  </a:txBody>
                  <a:tcPr marT="36576" marB="36576" anchor="ctr">
                    <a:solidFill>
                      <a:srgbClr val="1C2E6E"/>
                    </a:solidFill>
                  </a:tcPr>
                </a:tc>
                <a:tc>
                  <a:txBody>
                    <a:bodyPr/>
                    <a:lstStyle/>
                    <a:p>
                      <a:pPr lvl="0" algn="l">
                        <a:buNone/>
                      </a:pPr>
                      <a:r>
                        <a:rPr lang="en-US" sz="1200" b="1" dirty="0">
                          <a:solidFill>
                            <a:srgbClr val="FFFFFF"/>
                          </a:solidFill>
                          <a:latin typeface="Calibri"/>
                        </a:rPr>
                        <a:t>95% CI Actual difference</a:t>
                      </a:r>
                    </a:p>
                  </a:txBody>
                  <a:tcPr marL="19050" marR="19050" marT="19050" marB="19050" anchor="ctr">
                    <a:solidFill>
                      <a:srgbClr val="1C2E6E"/>
                    </a:solidFill>
                  </a:tcPr>
                </a:tc>
                <a:tc>
                  <a:txBody>
                    <a:bodyPr/>
                    <a:lstStyle/>
                    <a:p>
                      <a:pPr lvl="0" algn="l">
                        <a:buNone/>
                      </a:pPr>
                      <a:r>
                        <a:rPr lang="en-US" sz="1400" b="1">
                          <a:solidFill>
                            <a:srgbClr val="FFFFFF"/>
                          </a:solidFill>
                          <a:latin typeface="Calibri"/>
                        </a:rPr>
                        <a:t>Range</a:t>
                      </a:r>
                    </a:p>
                  </a:txBody>
                  <a:tcPr marL="19050" marR="19050" marT="19050" marB="19050" anchor="ctr">
                    <a:solidFill>
                      <a:srgbClr val="1C2E6E"/>
                    </a:solidFill>
                  </a:tcPr>
                </a:tc>
                <a:tc>
                  <a:txBody>
                    <a:bodyPr/>
                    <a:lstStyle/>
                    <a:p>
                      <a:pPr lvl="0" algn="l">
                        <a:buNone/>
                      </a:pPr>
                      <a:r>
                        <a:rPr lang="en-US" sz="1400" b="1" dirty="0">
                          <a:solidFill>
                            <a:srgbClr val="FFFFFF"/>
                          </a:solidFill>
                          <a:latin typeface="Calibri"/>
                        </a:rPr>
                        <a:t>Meaning</a:t>
                      </a:r>
                    </a:p>
                  </a:txBody>
                  <a:tcPr marL="19050" marR="19050" marT="19050" marB="19050" anchor="ctr">
                    <a:solidFill>
                      <a:srgbClr val="1C2E6E"/>
                    </a:solidFill>
                  </a:tcPr>
                </a:tc>
                <a:extLst>
                  <a:ext uri="{0D108BD9-81ED-4DB2-BD59-A6C34878D82A}">
                    <a16:rowId xmlns:a16="http://schemas.microsoft.com/office/drawing/2014/main" val="10000"/>
                  </a:ext>
                </a:extLst>
              </a:tr>
              <a:tr h="795547">
                <a:tc>
                  <a:txBody>
                    <a:bodyPr/>
                    <a:lstStyle/>
                    <a:p>
                      <a:pPr lvl="0" algn="l">
                        <a:buNone/>
                      </a:pPr>
                      <a:r>
                        <a:rPr lang="en-US" sz="1000" b="0" i="0" dirty="0">
                          <a:solidFill>
                            <a:schemeClr val="tx1">
                              <a:lumMod val="95000"/>
                              <a:lumOff val="5000"/>
                            </a:schemeClr>
                          </a:solidFill>
                          <a:effectLst/>
                          <a:latin typeface="+mj-lt"/>
                        </a:rPr>
                        <a:t>Hybrid − rules</a:t>
                      </a:r>
                    </a:p>
                  </a:txBody>
                  <a:tcPr marL="19050" marR="19050" marT="19050" marB="19050" anchor="ctr">
                    <a:solidFill>
                      <a:srgbClr val="FFFFFF"/>
                    </a:solidFill>
                  </a:tcPr>
                </a:tc>
                <a:tc>
                  <a:txBody>
                    <a:bodyPr/>
                    <a:lstStyle/>
                    <a:p>
                      <a:pPr lvl="0" algn="l">
                        <a:buNone/>
                      </a:pPr>
                      <a:r>
                        <a:rPr lang="en-US" sz="1000" b="0" i="0" dirty="0">
                          <a:solidFill>
                            <a:schemeClr val="tx1">
                              <a:lumMod val="95000"/>
                              <a:lumOff val="5000"/>
                            </a:schemeClr>
                          </a:solidFill>
                          <a:effectLst/>
                          <a:latin typeface="+mj-lt"/>
                        </a:rPr>
                        <a:t>0.509 − 0.499 = +0.010</a:t>
                      </a:r>
                    </a:p>
                  </a:txBody>
                  <a:tcPr marL="19050" marR="19050" marT="19050" marB="19050" anchor="ctr">
                    <a:solidFill>
                      <a:srgbClr val="FFFFFF"/>
                    </a:solidFill>
                  </a:tcPr>
                </a:tc>
                <a:tc>
                  <a:txBody>
                    <a:bodyPr/>
                    <a:lstStyle/>
                    <a:p>
                      <a:pPr lvl="0" algn="l">
                        <a:buNone/>
                      </a:pPr>
                      <a:r>
                        <a:rPr lang="en-US" sz="1000" b="0" i="0" dirty="0">
                          <a:solidFill>
                            <a:schemeClr val="tx1">
                              <a:lumMod val="95000"/>
                              <a:lumOff val="5000"/>
                            </a:schemeClr>
                          </a:solidFill>
                          <a:effectLst/>
                          <a:latin typeface="+mj-lt"/>
                        </a:rPr>
                        <a:t>−0.04 to +0.07</a:t>
                      </a:r>
                    </a:p>
                  </a:txBody>
                  <a:tcPr marL="19050" marR="19050" marT="19050" marB="19050" anchor="ctr">
                    <a:solidFill>
                      <a:srgbClr val="FFFFFF"/>
                    </a:solidFill>
                  </a:tcPr>
                </a:tc>
                <a:tc>
                  <a:txBody>
                    <a:bodyPr/>
                    <a:lstStyle/>
                    <a:p>
                      <a:pPr lvl="0" algn="l">
                        <a:buNone/>
                      </a:pPr>
                      <a:r>
                        <a:rPr lang="en-US" sz="1000" b="1" i="0" dirty="0">
                          <a:solidFill>
                            <a:schemeClr val="tx1">
                              <a:lumMod val="95000"/>
                              <a:lumOff val="5000"/>
                            </a:schemeClr>
                          </a:solidFill>
                          <a:effectLst/>
                          <a:latin typeface="+mj-lt"/>
                        </a:rPr>
                        <a:t>Crosses 0</a:t>
                      </a:r>
                      <a:r>
                        <a:rPr lang="en-US" sz="1000" b="0" i="0" dirty="0">
                          <a:solidFill>
                            <a:schemeClr val="tx1">
                              <a:lumMod val="95000"/>
                              <a:lumOff val="5000"/>
                            </a:schemeClr>
                          </a:solidFill>
                          <a:effectLst/>
                          <a:latin typeface="+mj-lt"/>
                        </a:rPr>
                        <a:t>, so a tie: the hybrid's advantage disappears on held-out posts</a:t>
                      </a:r>
                    </a:p>
                  </a:txBody>
                  <a:tcPr marL="19050" marR="19050" marT="19050" marB="19050" anchor="ctr">
                    <a:solidFill>
                      <a:srgbClr val="FFFFFF"/>
                    </a:solidFill>
                  </a:tcPr>
                </a:tc>
                <a:extLst>
                  <a:ext uri="{0D108BD9-81ED-4DB2-BD59-A6C34878D82A}">
                    <a16:rowId xmlns:a16="http://schemas.microsoft.com/office/drawing/2014/main" val="10001"/>
                  </a:ext>
                </a:extLst>
              </a:tr>
              <a:tr h="492482">
                <a:tc>
                  <a:txBody>
                    <a:bodyPr/>
                    <a:lstStyle/>
                    <a:p>
                      <a:pPr lvl="0" algn="l">
                        <a:buNone/>
                      </a:pPr>
                      <a:r>
                        <a:rPr lang="en-US" sz="1000" b="0" i="0">
                          <a:solidFill>
                            <a:schemeClr val="tx1">
                              <a:lumMod val="95000"/>
                              <a:lumOff val="5000"/>
                            </a:schemeClr>
                          </a:solidFill>
                          <a:effectLst/>
                          <a:latin typeface="+mj-lt"/>
                        </a:rPr>
                        <a:t>GPT-4o − rules</a:t>
                      </a:r>
                    </a:p>
                  </a:txBody>
                  <a:tcPr marL="19050" marR="19050" marT="19050" marB="19050" anchor="ctr">
                    <a:solidFill>
                      <a:srgbClr val="FBF3DF"/>
                    </a:solidFill>
                  </a:tcPr>
                </a:tc>
                <a:tc>
                  <a:txBody>
                    <a:bodyPr/>
                    <a:lstStyle/>
                    <a:p>
                      <a:pPr lvl="0" algn="l">
                        <a:buNone/>
                      </a:pPr>
                      <a:r>
                        <a:rPr lang="en-US" sz="1000" b="0" i="0" dirty="0">
                          <a:solidFill>
                            <a:schemeClr val="tx1">
                              <a:lumMod val="95000"/>
                              <a:lumOff val="5000"/>
                            </a:schemeClr>
                          </a:solidFill>
                          <a:effectLst/>
                          <a:latin typeface="+mj-lt"/>
                        </a:rPr>
                        <a:t>0.596 − 0.499 = +0.097</a:t>
                      </a:r>
                    </a:p>
                  </a:txBody>
                  <a:tcPr marL="19050" marR="19050" marT="19050" marB="19050" anchor="ctr">
                    <a:solidFill>
                      <a:srgbClr val="FBF3DF"/>
                    </a:solidFill>
                  </a:tcPr>
                </a:tc>
                <a:tc>
                  <a:txBody>
                    <a:bodyPr/>
                    <a:lstStyle/>
                    <a:p>
                      <a:pPr lvl="0" algn="l">
                        <a:buNone/>
                      </a:pPr>
                      <a:r>
                        <a:rPr lang="en-US" sz="1000" b="0" i="0" dirty="0">
                          <a:solidFill>
                            <a:schemeClr val="tx1">
                              <a:lumMod val="95000"/>
                              <a:lumOff val="5000"/>
                            </a:schemeClr>
                          </a:solidFill>
                          <a:effectLst/>
                          <a:latin typeface="+mj-lt"/>
                        </a:rPr>
                        <a:t>+0.01 to +0.18</a:t>
                      </a:r>
                    </a:p>
                  </a:txBody>
                  <a:tcPr marL="19050" marR="19050" marT="19050" marB="19050" anchor="ctr">
                    <a:solidFill>
                      <a:srgbClr val="FBF3DF"/>
                    </a:solidFill>
                  </a:tcPr>
                </a:tc>
                <a:tc>
                  <a:txBody>
                    <a:bodyPr/>
                    <a:lstStyle/>
                    <a:p>
                      <a:pPr lvl="0" algn="l">
                        <a:buNone/>
                      </a:pPr>
                      <a:r>
                        <a:rPr lang="en-US" sz="1000" b="1" i="0" dirty="0">
                          <a:solidFill>
                            <a:schemeClr val="tx1">
                              <a:lumMod val="95000"/>
                              <a:lumOff val="5000"/>
                            </a:schemeClr>
                          </a:solidFill>
                          <a:effectLst/>
                          <a:latin typeface="+mj-lt"/>
                        </a:rPr>
                        <a:t>Above 0</a:t>
                      </a:r>
                      <a:r>
                        <a:rPr lang="en-US" sz="1000" b="0" i="0" dirty="0">
                          <a:solidFill>
                            <a:schemeClr val="tx1">
                              <a:lumMod val="95000"/>
                              <a:lumOff val="5000"/>
                            </a:schemeClr>
                          </a:solidFill>
                          <a:effectLst/>
                          <a:latin typeface="+mj-lt"/>
                        </a:rPr>
                        <a:t>: GPT-4o on every post really beats rules</a:t>
                      </a:r>
                    </a:p>
                  </a:txBody>
                  <a:tcPr marL="19050" marR="19050" marT="19050" marB="19050" anchor="ctr">
                    <a:solidFill>
                      <a:srgbClr val="FBF3DF"/>
                    </a:solidFill>
                  </a:tcPr>
                </a:tc>
                <a:extLst>
                  <a:ext uri="{0D108BD9-81ED-4DB2-BD59-A6C34878D82A}">
                    <a16:rowId xmlns:a16="http://schemas.microsoft.com/office/drawing/2014/main" val="10002"/>
                  </a:ext>
                </a:extLst>
              </a:tr>
              <a:tr h="492482">
                <a:tc>
                  <a:txBody>
                    <a:bodyPr/>
                    <a:lstStyle/>
                    <a:p>
                      <a:pPr lvl="0" algn="l">
                        <a:buNone/>
                      </a:pPr>
                      <a:r>
                        <a:rPr lang="en-US" sz="1000" b="0" i="0">
                          <a:solidFill>
                            <a:schemeClr val="tx1">
                              <a:lumMod val="95000"/>
                              <a:lumOff val="5000"/>
                            </a:schemeClr>
                          </a:solidFill>
                          <a:effectLst/>
                          <a:latin typeface="+mj-lt"/>
                        </a:rPr>
                        <a:t>GPT-4o − hybrid</a:t>
                      </a:r>
                    </a:p>
                  </a:txBody>
                  <a:tcPr marL="19050" marR="19050" marT="19050" marB="19050" anchor="ctr">
                    <a:solidFill>
                      <a:srgbClr val="FBF3DF"/>
                    </a:solidFill>
                  </a:tcPr>
                </a:tc>
                <a:tc>
                  <a:txBody>
                    <a:bodyPr/>
                    <a:lstStyle/>
                    <a:p>
                      <a:pPr lvl="0" algn="l">
                        <a:buNone/>
                      </a:pPr>
                      <a:r>
                        <a:rPr lang="en-US" sz="1000" b="0" i="0" dirty="0">
                          <a:solidFill>
                            <a:schemeClr val="tx1">
                              <a:lumMod val="95000"/>
                              <a:lumOff val="5000"/>
                            </a:schemeClr>
                          </a:solidFill>
                          <a:effectLst/>
                          <a:latin typeface="+mj-lt"/>
                        </a:rPr>
                        <a:t>0.596 − 0.509 = +0.087</a:t>
                      </a:r>
                    </a:p>
                  </a:txBody>
                  <a:tcPr marL="19050" marR="19050" marT="19050" marB="19050" anchor="ctr">
                    <a:solidFill>
                      <a:srgbClr val="FBF3DF"/>
                    </a:solidFill>
                  </a:tcPr>
                </a:tc>
                <a:tc>
                  <a:txBody>
                    <a:bodyPr/>
                    <a:lstStyle/>
                    <a:p>
                      <a:pPr lvl="0" algn="l">
                        <a:buNone/>
                      </a:pPr>
                      <a:r>
                        <a:rPr lang="en-US" sz="1000" b="0" i="0" dirty="0">
                          <a:solidFill>
                            <a:schemeClr val="tx1">
                              <a:lumMod val="95000"/>
                              <a:lumOff val="5000"/>
                            </a:schemeClr>
                          </a:solidFill>
                          <a:effectLst/>
                          <a:latin typeface="+mj-lt"/>
                        </a:rPr>
                        <a:t>+0.02 to +0.15</a:t>
                      </a:r>
                    </a:p>
                  </a:txBody>
                  <a:tcPr marL="19050" marR="19050" marT="19050" marB="19050" anchor="ctr">
                    <a:solidFill>
                      <a:srgbClr val="FBF3DF"/>
                    </a:solidFill>
                  </a:tcPr>
                </a:tc>
                <a:tc>
                  <a:txBody>
                    <a:bodyPr/>
                    <a:lstStyle/>
                    <a:p>
                      <a:pPr lvl="0" algn="l">
                        <a:buNone/>
                      </a:pPr>
                      <a:r>
                        <a:rPr lang="en-US" sz="1000" b="1" i="0" dirty="0">
                          <a:solidFill>
                            <a:schemeClr val="tx1">
                              <a:lumMod val="95000"/>
                              <a:lumOff val="5000"/>
                            </a:schemeClr>
                          </a:solidFill>
                          <a:effectLst/>
                          <a:latin typeface="+mj-lt"/>
                        </a:rPr>
                        <a:t>Above 0</a:t>
                      </a:r>
                      <a:r>
                        <a:rPr lang="en-US" sz="1000" b="0" i="0" dirty="0">
                          <a:solidFill>
                            <a:schemeClr val="tx1">
                              <a:lumMod val="95000"/>
                              <a:lumOff val="5000"/>
                            </a:schemeClr>
                          </a:solidFill>
                          <a:effectLst/>
                          <a:latin typeface="+mj-lt"/>
                        </a:rPr>
                        <a:t>: GPT-4o on every post really beats the hybrid</a:t>
                      </a:r>
                    </a:p>
                  </a:txBody>
                  <a:tcPr marL="19050" marR="19050" marT="19050" marB="19050" anchor="ctr">
                    <a:solidFill>
                      <a:srgbClr val="FBF3DF"/>
                    </a:solidFill>
                  </a:tcPr>
                </a:tc>
                <a:extLst>
                  <a:ext uri="{0D108BD9-81ED-4DB2-BD59-A6C34878D82A}">
                    <a16:rowId xmlns:a16="http://schemas.microsoft.com/office/drawing/2014/main" val="10003"/>
                  </a:ext>
                </a:extLst>
              </a:tr>
            </a:tbl>
          </a:graphicData>
        </a:graphic>
      </p:graphicFrame>
      <p:sp>
        <p:nvSpPr>
          <p:cNvPr id="7" name="Rounded Rectangle 6"/>
          <p:cNvSpPr/>
          <p:nvPr/>
        </p:nvSpPr>
        <p:spPr>
          <a:xfrm>
            <a:off x="7721708" y="5793076"/>
            <a:ext cx="4050791" cy="77724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21708" y="5459672"/>
            <a:ext cx="3593591" cy="365760"/>
          </a:xfrm>
          <a:prstGeom prst="rect">
            <a:avLst/>
          </a:prstGeom>
          <a:noFill/>
        </p:spPr>
        <p:txBody>
          <a:bodyPr wrap="square" lIns="0" tIns="0" rIns="0" bIns="0" anchor="t">
            <a:spAutoFit/>
          </a:bodyPr>
          <a:lstStyle/>
          <a:p>
            <a:pPr algn="l">
              <a:spcAft>
                <a:spcPts val="600"/>
              </a:spcAft>
            </a:pPr>
            <a:r>
              <a:rPr sz="1600" b="1" i="0" dirty="0">
                <a:solidFill>
                  <a:srgbClr val="1C2E6E"/>
                </a:solidFill>
                <a:latin typeface="Calibri"/>
              </a:rPr>
              <a:t>What I conclude</a:t>
            </a:r>
          </a:p>
        </p:txBody>
      </p:sp>
      <p:sp>
        <p:nvSpPr>
          <p:cNvPr id="9" name="TextBox 8"/>
          <p:cNvSpPr txBox="1"/>
          <p:nvPr/>
        </p:nvSpPr>
        <p:spPr>
          <a:xfrm>
            <a:off x="7950307" y="5890182"/>
            <a:ext cx="3593591" cy="646331"/>
          </a:xfrm>
          <a:prstGeom prst="rect">
            <a:avLst/>
          </a:prstGeom>
          <a:noFill/>
        </p:spPr>
        <p:txBody>
          <a:bodyPr wrap="square" lIns="0" tIns="0" rIns="0" bIns="0" anchor="t">
            <a:spAutoFit/>
          </a:bodyPr>
          <a:lstStyle/>
          <a:p>
            <a:pPr algn="l">
              <a:spcAft>
                <a:spcPts val="600"/>
              </a:spcAft>
            </a:pPr>
            <a:r>
              <a:rPr lang="en-US" sz="1400" b="1" i="0" dirty="0">
                <a:solidFill>
                  <a:srgbClr val="1E293B"/>
                </a:solidFill>
                <a:latin typeface="Calibri"/>
              </a:rPr>
              <a:t>Keep the hybrid for typical posts, but report 0.639 as optimistic</a:t>
            </a:r>
            <a:r>
              <a:rPr sz="1400" b="1" i="0" dirty="0">
                <a:solidFill>
                  <a:srgbClr val="1E293B"/>
                </a:solidFill>
                <a:latin typeface="Calibri"/>
              </a:rPr>
              <a:t>. </a:t>
            </a:r>
            <a:r>
              <a:rPr sz="1400" b="0" i="0" dirty="0">
                <a:solidFill>
                  <a:srgbClr val="1E293B"/>
                </a:solidFill>
                <a:latin typeface="Calibri"/>
              </a:rPr>
              <a:t>On hard posts, GPT-4o on every post is worth its cost.</a:t>
            </a:r>
          </a:p>
        </p:txBody>
      </p:sp>
      <p:sp>
        <p:nvSpPr>
          <p:cNvPr id="11" name="TextBox 10">
            <a:extLst>
              <a:ext uri="{FF2B5EF4-FFF2-40B4-BE49-F238E27FC236}">
                <a16:creationId xmlns:a16="http://schemas.microsoft.com/office/drawing/2014/main" id="{6C6C03F7-E191-411E-A222-4943C8E19C12}"/>
              </a:ext>
            </a:extLst>
          </p:cNvPr>
          <p:cNvSpPr txBox="1"/>
          <p:nvPr/>
        </p:nvSpPr>
        <p:spPr>
          <a:xfrm>
            <a:off x="5980621" y="4116924"/>
            <a:ext cx="6100010" cy="830997"/>
          </a:xfrm>
          <a:prstGeom prst="rect">
            <a:avLst/>
          </a:prstGeom>
          <a:noFill/>
        </p:spPr>
        <p:txBody>
          <a:bodyPr wrap="square">
            <a:spAutoFit/>
          </a:bodyPr>
          <a:lstStyle/>
          <a:p>
            <a:pPr indent="0" algn="l">
              <a:buNone/>
            </a:pPr>
            <a:r>
              <a:rPr lang="en-US" sz="1600" b="0" i="0" dirty="0">
                <a:solidFill>
                  <a:schemeClr val="tx1"/>
                </a:solidFill>
                <a:effectLst/>
                <a:latin typeface="+mn-lt"/>
              </a:rPr>
              <a:t>To read it:</a:t>
            </a:r>
          </a:p>
          <a:p>
            <a:pPr marL="342900" lvl="0" indent="-342900" algn="l">
              <a:buFont typeface="Arial" panose="020B0604020202020204" pitchFamily="34" charset="0"/>
              <a:buChar char="•"/>
            </a:pPr>
            <a:r>
              <a:rPr lang="en-US" sz="1600" b="1" i="0" dirty="0">
                <a:solidFill>
                  <a:schemeClr val="tx1"/>
                </a:solidFill>
                <a:effectLst/>
                <a:latin typeface="+mn-lt"/>
              </a:rPr>
              <a:t>Range includes 0:</a:t>
            </a:r>
            <a:r>
              <a:rPr lang="en-US" sz="1600" b="0" i="0" dirty="0">
                <a:solidFill>
                  <a:schemeClr val="tx1"/>
                </a:solidFill>
                <a:effectLst/>
                <a:latin typeface="+mn-lt"/>
              </a:rPr>
              <a:t> no real difference; it could be luck.</a:t>
            </a:r>
          </a:p>
          <a:p>
            <a:pPr marL="342900" lvl="0" indent="-342900" algn="l">
              <a:buFont typeface="Arial" panose="020B0604020202020204" pitchFamily="34" charset="0"/>
              <a:buChar char="•"/>
            </a:pPr>
            <a:r>
              <a:rPr lang="en-US" sz="1600" b="1" i="0" dirty="0">
                <a:solidFill>
                  <a:schemeClr val="tx1"/>
                </a:solidFill>
                <a:effectLst/>
                <a:latin typeface="+mn-lt"/>
              </a:rPr>
              <a:t>Range entirely above 0:</a:t>
            </a:r>
            <a:r>
              <a:rPr lang="en-US" sz="1600" b="0" i="0" dirty="0">
                <a:solidFill>
                  <a:schemeClr val="tx1"/>
                </a:solidFill>
                <a:effectLst/>
                <a:latin typeface="+mn-lt"/>
              </a:rPr>
              <a:t> the first method is genuinely better.</a:t>
            </a:r>
            <a:endParaRPr lang="en-US" sz="900" b="0" i="0" dirty="0">
              <a:solidFill>
                <a:srgbClr val="BFBFBF"/>
              </a:solidFill>
              <a:effectLst/>
              <a:latin typeface="-apple-system"/>
            </a:endParaRPr>
          </a:p>
        </p:txBody>
      </p:sp>
    </p:spTree>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51756" y="331487"/>
            <a:ext cx="6840000" cy="643253"/>
          </a:xfrm>
          <a:prstGeom prst="rect">
            <a:avLst/>
          </a:prstGeom>
          <a:noFill/>
        </p:spPr>
        <p:txBody>
          <a:bodyPr wrap="square" lIns="0" tIns="0" rIns="0" bIns="0" anchor="ctr">
            <a:spAutoFit/>
          </a:bodyPr>
          <a:lstStyle/>
          <a:p>
            <a:pPr>
              <a:lnSpc>
                <a:spcPct val="95000"/>
              </a:lnSpc>
            </a:pPr>
            <a:r>
              <a:rPr lang="en-US" sz="2400" b="1" dirty="0">
                <a:solidFill>
                  <a:srgbClr val="1C2E6E"/>
                </a:solidFill>
                <a:latin typeface="Calibri"/>
              </a:rPr>
              <a:t>RQ3 What does an LLM add over VADER and rules?</a:t>
            </a:r>
          </a:p>
          <a:p>
            <a:pPr algn="l">
              <a:lnSpc>
                <a:spcPct val="95000"/>
              </a:lnSpc>
              <a:spcAft>
                <a:spcPts val="0"/>
              </a:spcAft>
            </a:pPr>
            <a:r>
              <a:rPr lang="en-US" sz="2000" b="1" i="0" dirty="0">
                <a:solidFill>
                  <a:srgbClr val="1C2E6E"/>
                </a:solidFill>
                <a:latin typeface="Calibri"/>
              </a:rPr>
              <a:t>Why hybrids? </a:t>
            </a:r>
            <a:r>
              <a:rPr sz="2000" b="1" i="0" dirty="0">
                <a:solidFill>
                  <a:srgbClr val="1C2E6E"/>
                </a:solidFill>
                <a:latin typeface="Calibri"/>
              </a:rPr>
              <a:t>LLMs miss the equipment jargon that rules catch</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17</a:t>
            </a:r>
          </a:p>
        </p:txBody>
      </p:sp>
      <p:graphicFrame>
        <p:nvGraphicFramePr>
          <p:cNvPr id="4" name="Chart 3"/>
          <p:cNvGraphicFramePr>
            <a:graphicFrameLocks noGrp="1"/>
          </p:cNvGraphicFramePr>
          <p:nvPr/>
        </p:nvGraphicFramePr>
        <p:xfrm>
          <a:off x="548640" y="1645920"/>
          <a:ext cx="603504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p:cNvSpPr txBox="1"/>
          <p:nvPr/>
        </p:nvSpPr>
        <p:spPr>
          <a:xfrm>
            <a:off x="548640" y="1496088"/>
            <a:ext cx="6035040" cy="184666"/>
          </a:xfrm>
          <a:prstGeom prst="rect">
            <a:avLst/>
          </a:prstGeom>
          <a:noFill/>
        </p:spPr>
        <p:txBody>
          <a:bodyPr wrap="square" lIns="0" tIns="0" rIns="0" bIns="0" anchor="t">
            <a:spAutoFit/>
          </a:bodyPr>
          <a:lstStyle/>
          <a:p>
            <a:pPr algn="l">
              <a:spcAft>
                <a:spcPts val="600"/>
              </a:spcAft>
            </a:pPr>
            <a:r>
              <a:rPr sz="1200" b="1" i="0" dirty="0">
                <a:solidFill>
                  <a:srgbClr val="5B6475"/>
                </a:solidFill>
                <a:latin typeface="Calibri"/>
              </a:rPr>
              <a:t>Devices</a:t>
            </a:r>
            <a:r>
              <a:rPr sz="1200" b="0" i="0" dirty="0">
                <a:solidFill>
                  <a:srgbClr val="5B6475"/>
                </a:solidFill>
                <a:latin typeface="Calibri"/>
              </a:rPr>
              <a:t> recall, representative set (52 device posts)</a:t>
            </a:r>
          </a:p>
        </p:txBody>
      </p:sp>
      <p:sp>
        <p:nvSpPr>
          <p:cNvPr id="6" name="TextBox 5"/>
          <p:cNvSpPr txBox="1"/>
          <p:nvPr/>
        </p:nvSpPr>
        <p:spPr>
          <a:xfrm>
            <a:off x="548640" y="5120640"/>
            <a:ext cx="6035040" cy="914400"/>
          </a:xfrm>
          <a:prstGeom prst="rect">
            <a:avLst/>
          </a:prstGeom>
          <a:noFill/>
        </p:spPr>
        <p:txBody>
          <a:bodyPr wrap="square" lIns="0" tIns="0" rIns="0" bIns="0" anchor="t">
            <a:spAutoFit/>
          </a:bodyPr>
          <a:lstStyle/>
          <a:p>
            <a:pPr algn="l">
              <a:spcAft>
                <a:spcPts val="600"/>
              </a:spcAft>
            </a:pPr>
            <a:r>
              <a:rPr sz="1500" b="0" i="0" dirty="0">
                <a:solidFill>
                  <a:srgbClr val="1E293B"/>
                </a:solidFill>
                <a:latin typeface="Calibri"/>
              </a:rPr>
              <a:t>All-row LLMs return one or two topics when a post has several. On the challenge set rules still recall 75% of device posts vs GPT-4o’s 33%.</a:t>
            </a:r>
          </a:p>
        </p:txBody>
      </p:sp>
      <p:sp>
        <p:nvSpPr>
          <p:cNvPr id="7" name="Rounded Rectangle 6"/>
          <p:cNvSpPr/>
          <p:nvPr/>
        </p:nvSpPr>
        <p:spPr>
          <a:xfrm>
            <a:off x="6949440" y="1737360"/>
            <a:ext cx="4690872" cy="420624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223760" y="1965960"/>
            <a:ext cx="4206240" cy="822960"/>
          </a:xfrm>
          <a:prstGeom prst="rect">
            <a:avLst/>
          </a:prstGeom>
          <a:noFill/>
        </p:spPr>
        <p:txBody>
          <a:bodyPr wrap="square" lIns="0" tIns="0" rIns="0" bIns="0" anchor="t">
            <a:spAutoFit/>
          </a:bodyPr>
          <a:lstStyle/>
          <a:p>
            <a:pPr algn="l">
              <a:spcAft>
                <a:spcPts val="600"/>
              </a:spcAft>
            </a:pPr>
            <a:r>
              <a:rPr sz="2400" b="1" i="1" dirty="0">
                <a:solidFill>
                  <a:srgbClr val="1C2E6E"/>
                </a:solidFill>
                <a:latin typeface="Calibri"/>
              </a:rPr>
              <a:t>“Starhub, no ONR, no CGNAT”</a:t>
            </a:r>
          </a:p>
        </p:txBody>
      </p:sp>
      <p:graphicFrame>
        <p:nvGraphicFramePr>
          <p:cNvPr id="9" name="Table 8"/>
          <p:cNvGraphicFramePr>
            <a:graphicFrameLocks noGrp="1"/>
          </p:cNvGraphicFramePr>
          <p:nvPr/>
        </p:nvGraphicFramePr>
        <p:xfrm>
          <a:off x="7223760" y="2926080"/>
          <a:ext cx="4160520" cy="1682496"/>
        </p:xfrm>
        <a:graphic>
          <a:graphicData uri="http://schemas.openxmlformats.org/drawingml/2006/table">
            <a:tbl>
              <a:tblPr firstRow="1" bandRow="1">
                <a:tableStyleId>{5C22544A-7EE6-4342-B048-85BDC9FD1C3A}</a:tableStyleId>
              </a:tblPr>
              <a:tblGrid>
                <a:gridCol w="214884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tblGrid>
              <a:tr h="420624">
                <a:tc>
                  <a:txBody>
                    <a:bodyPr/>
                    <a:lstStyle/>
                    <a:p>
                      <a:pPr algn="l"/>
                      <a:r>
                        <a:rPr sz="1400" b="1">
                          <a:solidFill>
                            <a:srgbClr val="FFFFFF"/>
                          </a:solidFill>
                          <a:latin typeface="Calibri"/>
                        </a:rPr>
                        <a:t>Labeller</a:t>
                      </a:r>
                    </a:p>
                  </a:txBody>
                  <a:tcPr marT="36576" marB="36576" anchor="ctr">
                    <a:solidFill>
                      <a:srgbClr val="1C2E6E"/>
                    </a:solidFill>
                  </a:tcPr>
                </a:tc>
                <a:tc>
                  <a:txBody>
                    <a:bodyPr/>
                    <a:lstStyle/>
                    <a:p>
                      <a:pPr algn="l"/>
                      <a:r>
                        <a:rPr sz="1400" b="1">
                          <a:solidFill>
                            <a:srgbClr val="FFFFFF"/>
                          </a:solidFill>
                          <a:latin typeface="Calibri"/>
                        </a:rPr>
                        <a:t>Issue label</a:t>
                      </a:r>
                    </a:p>
                  </a:txBody>
                  <a:tcPr marT="36576" marB="36576" anchor="ctr">
                    <a:solidFill>
                      <a:srgbClr val="1C2E6E"/>
                    </a:solidFill>
                  </a:tcPr>
                </a:tc>
                <a:extLst>
                  <a:ext uri="{0D108BD9-81ED-4DB2-BD59-A6C34878D82A}">
                    <a16:rowId xmlns:a16="http://schemas.microsoft.com/office/drawing/2014/main" val="10000"/>
                  </a:ext>
                </a:extLst>
              </a:tr>
              <a:tr h="420624">
                <a:tc>
                  <a:txBody>
                    <a:bodyPr/>
                    <a:lstStyle/>
                    <a:p>
                      <a:pPr algn="l"/>
                      <a:r>
                        <a:rPr sz="1400" b="0">
                          <a:solidFill>
                            <a:srgbClr val="1E293B"/>
                          </a:solidFill>
                          <a:latin typeface="Calibri"/>
                        </a:rPr>
                        <a:t>Human</a:t>
                      </a:r>
                    </a:p>
                  </a:txBody>
                  <a:tcPr marT="36576" marB="36576" anchor="ctr">
                    <a:solidFill>
                      <a:srgbClr val="FFFFFF"/>
                    </a:solidFill>
                  </a:tcPr>
                </a:tc>
                <a:tc>
                  <a:txBody>
                    <a:bodyPr/>
                    <a:lstStyle/>
                    <a:p>
                      <a:pPr algn="l"/>
                      <a:r>
                        <a:rPr sz="1400" b="0">
                          <a:solidFill>
                            <a:srgbClr val="1E293B"/>
                          </a:solidFill>
                          <a:latin typeface="Calibri"/>
                        </a:rPr>
                        <a:t>Devices</a:t>
                      </a:r>
                    </a:p>
                  </a:txBody>
                  <a:tcPr marT="36576" marB="36576" anchor="ctr">
                    <a:solidFill>
                      <a:srgbClr val="FFFFFF"/>
                    </a:solidFill>
                  </a:tcPr>
                </a:tc>
                <a:extLst>
                  <a:ext uri="{0D108BD9-81ED-4DB2-BD59-A6C34878D82A}">
                    <a16:rowId xmlns:a16="http://schemas.microsoft.com/office/drawing/2014/main" val="10001"/>
                  </a:ext>
                </a:extLst>
              </a:tr>
              <a:tr h="420624">
                <a:tc>
                  <a:txBody>
                    <a:bodyPr/>
                    <a:lstStyle/>
                    <a:p>
                      <a:pPr algn="l"/>
                      <a:r>
                        <a:rPr sz="1400" b="0">
                          <a:solidFill>
                            <a:srgbClr val="1E293B"/>
                          </a:solidFill>
                          <a:latin typeface="Calibri"/>
                        </a:rPr>
                        <a:t>Keyword rules</a:t>
                      </a:r>
                    </a:p>
                  </a:txBody>
                  <a:tcPr marT="36576" marB="36576" anchor="ctr">
                    <a:solidFill>
                      <a:srgbClr val="F2F4F9"/>
                    </a:solidFill>
                  </a:tcPr>
                </a:tc>
                <a:tc>
                  <a:txBody>
                    <a:bodyPr/>
                    <a:lstStyle/>
                    <a:p>
                      <a:pPr algn="l"/>
                      <a:r>
                        <a:rPr sz="1400" b="0">
                          <a:solidFill>
                            <a:srgbClr val="1E293B"/>
                          </a:solidFill>
                          <a:latin typeface="Calibri"/>
                        </a:rPr>
                        <a:t>Devices</a:t>
                      </a:r>
                    </a:p>
                  </a:txBody>
                  <a:tcPr marT="36576" marB="36576" anchor="ctr">
                    <a:solidFill>
                      <a:srgbClr val="F2F4F9"/>
                    </a:solidFill>
                  </a:tcPr>
                </a:tc>
                <a:extLst>
                  <a:ext uri="{0D108BD9-81ED-4DB2-BD59-A6C34878D82A}">
                    <a16:rowId xmlns:a16="http://schemas.microsoft.com/office/drawing/2014/main" val="10002"/>
                  </a:ext>
                </a:extLst>
              </a:tr>
              <a:tr h="420624">
                <a:tc>
                  <a:txBody>
                    <a:bodyPr/>
                    <a:lstStyle/>
                    <a:p>
                      <a:pPr algn="l"/>
                      <a:r>
                        <a:rPr sz="1400" b="1">
                          <a:solidFill>
                            <a:srgbClr val="1E293B"/>
                          </a:solidFill>
                          <a:latin typeface="Calibri"/>
                        </a:rPr>
                        <a:t>GPT-4o-mini</a:t>
                      </a:r>
                    </a:p>
                  </a:txBody>
                  <a:tcPr marT="36576" marB="36576" anchor="ctr">
                    <a:solidFill>
                      <a:srgbClr val="FBF3DF"/>
                    </a:solidFill>
                  </a:tcPr>
                </a:tc>
                <a:tc>
                  <a:txBody>
                    <a:bodyPr/>
                    <a:lstStyle/>
                    <a:p>
                      <a:pPr algn="l"/>
                      <a:r>
                        <a:rPr sz="1400" b="0">
                          <a:solidFill>
                            <a:srgbClr val="1E293B"/>
                          </a:solidFill>
                          <a:latin typeface="Calibri"/>
                        </a:rPr>
                        <a:t>General Discussion</a:t>
                      </a:r>
                    </a:p>
                  </a:txBody>
                  <a:tcPr marT="36576" marB="36576" anchor="ctr">
                    <a:solidFill>
                      <a:srgbClr val="FBF3DF"/>
                    </a:solidFill>
                  </a:tcPr>
                </a:tc>
                <a:extLst>
                  <a:ext uri="{0D108BD9-81ED-4DB2-BD59-A6C34878D82A}">
                    <a16:rowId xmlns:a16="http://schemas.microsoft.com/office/drawing/2014/main" val="10003"/>
                  </a:ext>
                </a:extLst>
              </a:tr>
            </a:tbl>
          </a:graphicData>
        </a:graphic>
      </p:graphicFrame>
      <p:sp>
        <p:nvSpPr>
          <p:cNvPr id="10" name="TextBox 9"/>
          <p:cNvSpPr txBox="1"/>
          <p:nvPr/>
        </p:nvSpPr>
        <p:spPr>
          <a:xfrm>
            <a:off x="7223760" y="4800600"/>
            <a:ext cx="4206240" cy="600164"/>
          </a:xfrm>
          <a:prstGeom prst="rect">
            <a:avLst/>
          </a:prstGeom>
          <a:noFill/>
        </p:spPr>
        <p:txBody>
          <a:bodyPr wrap="square" lIns="0" tIns="0" rIns="0" bIns="0" anchor="t">
            <a:spAutoFit/>
          </a:bodyPr>
          <a:lstStyle/>
          <a:p>
            <a:pPr algn="l">
              <a:spcAft>
                <a:spcPts val="600"/>
              </a:spcAft>
            </a:pPr>
            <a:r>
              <a:rPr sz="1300" b="0" i="0" dirty="0">
                <a:solidFill>
                  <a:srgbClr val="5B6475"/>
                </a:solidFill>
                <a:latin typeface="Calibri"/>
              </a:rPr>
              <a:t>ONR = optical network router; CGNAT = carrier-grade </a:t>
            </a:r>
            <a:r>
              <a:rPr lang="en-US" sz="1300" b="0" i="0" dirty="0">
                <a:solidFill>
                  <a:srgbClr val="5B6475"/>
                </a:solidFill>
                <a:latin typeface="Calibri"/>
              </a:rPr>
              <a:t>Network Address Translation </a:t>
            </a:r>
            <a:r>
              <a:rPr sz="1300" b="0" i="0" dirty="0">
                <a:solidFill>
                  <a:srgbClr val="5B6475"/>
                </a:solidFill>
                <a:latin typeface="Calibri"/>
              </a:rPr>
              <a:t>. Mini also flipped this post’s sentiment to happy.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25252" y="395294"/>
            <a:ext cx="6840000" cy="643253"/>
          </a:xfrm>
          <a:prstGeom prst="rect">
            <a:avLst/>
          </a:prstGeom>
          <a:noFill/>
        </p:spPr>
        <p:txBody>
          <a:bodyPr wrap="square" lIns="0" tIns="0" rIns="0" bIns="0" anchor="ctr">
            <a:spAutoFit/>
          </a:bodyPr>
          <a:lstStyle/>
          <a:p>
            <a:pPr>
              <a:lnSpc>
                <a:spcPct val="95000"/>
              </a:lnSpc>
            </a:pPr>
            <a:r>
              <a:rPr lang="en-US" sz="2400" b="1" dirty="0">
                <a:solidFill>
                  <a:srgbClr val="1C2E6E"/>
                </a:solidFill>
                <a:latin typeface="Calibri"/>
              </a:rPr>
              <a:t>RQ3 What does an LLM add over VADER and rules?</a:t>
            </a:r>
          </a:p>
          <a:p>
            <a:pPr algn="l">
              <a:lnSpc>
                <a:spcPct val="95000"/>
              </a:lnSpc>
              <a:spcAft>
                <a:spcPts val="0"/>
              </a:spcAft>
            </a:pPr>
            <a:r>
              <a:rPr sz="2000" b="1" i="0" dirty="0">
                <a:solidFill>
                  <a:schemeClr val="tx1">
                    <a:lumMod val="95000"/>
                    <a:lumOff val="5000"/>
                  </a:schemeClr>
                </a:solidFill>
                <a:latin typeface="Calibri"/>
              </a:rPr>
              <a:t>Four posts that show where VADER break</a:t>
            </a:r>
            <a:r>
              <a:rPr lang="en-US" sz="2000" b="1" i="0" dirty="0">
                <a:solidFill>
                  <a:schemeClr val="tx1">
                    <a:lumMod val="95000"/>
                    <a:lumOff val="5000"/>
                  </a:schemeClr>
                </a:solidFill>
                <a:latin typeface="Calibri"/>
              </a:rPr>
              <a:t>s</a:t>
            </a:r>
            <a:endParaRPr sz="2000" b="1" i="0" dirty="0">
              <a:solidFill>
                <a:schemeClr val="tx1">
                  <a:lumMod val="95000"/>
                  <a:lumOff val="5000"/>
                </a:schemeClr>
              </a:solidFill>
              <a:latin typeface="Calibri"/>
            </a:endParaRP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18</a:t>
            </a:r>
          </a:p>
        </p:txBody>
      </p:sp>
      <p:graphicFrame>
        <p:nvGraphicFramePr>
          <p:cNvPr id="4" name="Table 3"/>
          <p:cNvGraphicFramePr>
            <a:graphicFrameLocks noGrp="1"/>
          </p:cNvGraphicFramePr>
          <p:nvPr>
            <p:extLst>
              <p:ext uri="{D42A27DB-BD31-4B8C-83A1-F6EECF244321}">
                <p14:modId xmlns:p14="http://schemas.microsoft.com/office/powerpoint/2010/main" val="1877729095"/>
              </p:ext>
            </p:extLst>
          </p:nvPr>
        </p:nvGraphicFramePr>
        <p:xfrm>
          <a:off x="548640" y="1737360"/>
          <a:ext cx="11091672" cy="3657600"/>
        </p:xfrm>
        <a:graphic>
          <a:graphicData uri="http://schemas.openxmlformats.org/drawingml/2006/table">
            <a:tbl>
              <a:tblPr firstRow="1" bandRow="1">
                <a:tableStyleId>{5C22544A-7EE6-4342-B048-85BDC9FD1C3A}</a:tableStyleId>
              </a:tblPr>
              <a:tblGrid>
                <a:gridCol w="1234440">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gridCol w="1627632">
                  <a:extLst>
                    <a:ext uri="{9D8B030D-6E8A-4147-A177-3AD203B41FA5}">
                      <a16:colId xmlns:a16="http://schemas.microsoft.com/office/drawing/2014/main" val="20004"/>
                    </a:ext>
                  </a:extLst>
                </a:gridCol>
              </a:tblGrid>
              <a:tr h="731520">
                <a:tc>
                  <a:txBody>
                    <a:bodyPr/>
                    <a:lstStyle/>
                    <a:p>
                      <a:pPr algn="l"/>
                      <a:r>
                        <a:rPr sz="1700" b="1">
                          <a:solidFill>
                            <a:srgbClr val="FFFFFF"/>
                          </a:solidFill>
                          <a:latin typeface="Calibri"/>
                        </a:rPr>
                        <a:t>Post</a:t>
                      </a:r>
                    </a:p>
                  </a:txBody>
                  <a:tcPr marT="36576" marB="36576" anchor="ctr">
                    <a:solidFill>
                      <a:srgbClr val="1C2E6E"/>
                    </a:solidFill>
                  </a:tcPr>
                </a:tc>
                <a:tc>
                  <a:txBody>
                    <a:bodyPr/>
                    <a:lstStyle/>
                    <a:p>
                      <a:pPr algn="l"/>
                      <a:r>
                        <a:rPr sz="1700" b="1">
                          <a:solidFill>
                            <a:srgbClr val="FFFFFF"/>
                          </a:solidFill>
                          <a:latin typeface="Calibri"/>
                        </a:rPr>
                        <a:t>What it says (paraphrased)</a:t>
                      </a:r>
                    </a:p>
                  </a:txBody>
                  <a:tcPr marT="36576" marB="36576" anchor="ctr">
                    <a:solidFill>
                      <a:srgbClr val="1C2E6E"/>
                    </a:solidFill>
                  </a:tcPr>
                </a:tc>
                <a:tc>
                  <a:txBody>
                    <a:bodyPr/>
                    <a:lstStyle/>
                    <a:p>
                      <a:pPr algn="l"/>
                      <a:r>
                        <a:rPr sz="1700" b="1">
                          <a:solidFill>
                            <a:srgbClr val="FFFFFF"/>
                          </a:solidFill>
                          <a:latin typeface="Calibri"/>
                        </a:rPr>
                        <a:t>Human</a:t>
                      </a:r>
                    </a:p>
                  </a:txBody>
                  <a:tcPr marT="36576" marB="36576" anchor="ctr">
                    <a:solidFill>
                      <a:srgbClr val="1C2E6E"/>
                    </a:solidFill>
                  </a:tcPr>
                </a:tc>
                <a:tc>
                  <a:txBody>
                    <a:bodyPr/>
                    <a:lstStyle/>
                    <a:p>
                      <a:pPr algn="l"/>
                      <a:r>
                        <a:rPr sz="1700" b="1">
                          <a:solidFill>
                            <a:srgbClr val="FFFFFF"/>
                          </a:solidFill>
                          <a:latin typeface="Calibri"/>
                        </a:rPr>
                        <a:t>VADER</a:t>
                      </a:r>
                    </a:p>
                  </a:txBody>
                  <a:tcPr marT="36576" marB="36576" anchor="ctr">
                    <a:solidFill>
                      <a:srgbClr val="1C2E6E"/>
                    </a:solidFill>
                  </a:tcPr>
                </a:tc>
                <a:tc>
                  <a:txBody>
                    <a:bodyPr/>
                    <a:lstStyle/>
                    <a:p>
                      <a:pPr algn="l"/>
                      <a:r>
                        <a:rPr sz="1700" b="1">
                          <a:solidFill>
                            <a:srgbClr val="FFFFFF"/>
                          </a:solidFill>
                          <a:latin typeface="Calibri"/>
                        </a:rPr>
                        <a:t>GPT-4o-mini</a:t>
                      </a:r>
                    </a:p>
                  </a:txBody>
                  <a:tcPr marT="36576" marB="36576" anchor="ctr">
                    <a:solidFill>
                      <a:srgbClr val="1C2E6E"/>
                    </a:solidFill>
                  </a:tcPr>
                </a:tc>
                <a:extLst>
                  <a:ext uri="{0D108BD9-81ED-4DB2-BD59-A6C34878D82A}">
                    <a16:rowId xmlns:a16="http://schemas.microsoft.com/office/drawing/2014/main" val="10000"/>
                  </a:ext>
                </a:extLst>
              </a:tr>
              <a:tr h="731520">
                <a:tc>
                  <a:txBody>
                    <a:bodyPr/>
                    <a:lstStyle/>
                    <a:p>
                      <a:pPr algn="l"/>
                      <a:r>
                        <a:rPr sz="1700" b="0">
                          <a:solidFill>
                            <a:srgbClr val="1E293B"/>
                          </a:solidFill>
                          <a:latin typeface="Calibri"/>
                        </a:rPr>
                        <a:t>REP-0003</a:t>
                      </a:r>
                    </a:p>
                  </a:txBody>
                  <a:tcPr marT="36576" marB="36576" anchor="ctr">
                    <a:solidFill>
                      <a:srgbClr val="FFFFFF"/>
                    </a:solidFill>
                  </a:tcPr>
                </a:tc>
                <a:tc>
                  <a:txBody>
                    <a:bodyPr/>
                    <a:lstStyle/>
                    <a:p>
                      <a:pPr algn="l"/>
                      <a:r>
                        <a:rPr sz="1700" b="0">
                          <a:solidFill>
                            <a:srgbClr val="1E293B"/>
                          </a:solidFill>
                          <a:latin typeface="Calibri"/>
                        </a:rPr>
                        <a:t>“SingTel eSIM still down”</a:t>
                      </a:r>
                    </a:p>
                  </a:txBody>
                  <a:tcPr marT="36576" marB="36576" anchor="ctr">
                    <a:solidFill>
                      <a:srgbClr val="FFFFFF"/>
                    </a:solidFill>
                  </a:tcPr>
                </a:tc>
                <a:tc>
                  <a:txBody>
                    <a:bodyPr/>
                    <a:lstStyle/>
                    <a:p>
                      <a:pPr algn="l"/>
                      <a:r>
                        <a:rPr sz="1700" b="0">
                          <a:solidFill>
                            <a:srgbClr val="1E293B"/>
                          </a:solidFill>
                          <a:latin typeface="Calibri"/>
                        </a:rPr>
                        <a:t>not happy</a:t>
                      </a:r>
                    </a:p>
                  </a:txBody>
                  <a:tcPr marT="36576" marB="36576" anchor="ctr">
                    <a:solidFill>
                      <a:srgbClr val="FFFFFF"/>
                    </a:solidFill>
                  </a:tcPr>
                </a:tc>
                <a:tc>
                  <a:txBody>
                    <a:bodyPr/>
                    <a:lstStyle/>
                    <a:p>
                      <a:pPr algn="l"/>
                      <a:r>
                        <a:rPr sz="1700" b="0">
                          <a:solidFill>
                            <a:srgbClr val="1E293B"/>
                          </a:solidFill>
                          <a:latin typeface="Calibri"/>
                        </a:rPr>
                        <a:t>neutral</a:t>
                      </a:r>
                    </a:p>
                  </a:txBody>
                  <a:tcPr marT="36576" marB="36576" anchor="ctr">
                    <a:solidFill>
                      <a:srgbClr val="FFFFFF"/>
                    </a:solidFill>
                  </a:tcPr>
                </a:tc>
                <a:tc>
                  <a:txBody>
                    <a:bodyPr/>
                    <a:lstStyle/>
                    <a:p>
                      <a:pPr algn="l"/>
                      <a:r>
                        <a:rPr sz="1700" b="0">
                          <a:solidFill>
                            <a:srgbClr val="1E293B"/>
                          </a:solidFill>
                          <a:latin typeface="Calibri"/>
                        </a:rPr>
                        <a:t>not happy</a:t>
                      </a:r>
                    </a:p>
                  </a:txBody>
                  <a:tcPr marT="36576" marB="36576" anchor="ctr">
                    <a:solidFill>
                      <a:srgbClr val="FFFFFF"/>
                    </a:solidFill>
                  </a:tcPr>
                </a:tc>
                <a:extLst>
                  <a:ext uri="{0D108BD9-81ED-4DB2-BD59-A6C34878D82A}">
                    <a16:rowId xmlns:a16="http://schemas.microsoft.com/office/drawing/2014/main" val="10001"/>
                  </a:ext>
                </a:extLst>
              </a:tr>
              <a:tr h="731520">
                <a:tc>
                  <a:txBody>
                    <a:bodyPr/>
                    <a:lstStyle/>
                    <a:p>
                      <a:pPr algn="l"/>
                      <a:r>
                        <a:rPr sz="1700" b="0">
                          <a:solidFill>
                            <a:srgbClr val="1E293B"/>
                          </a:solidFill>
                          <a:latin typeface="Calibri"/>
                        </a:rPr>
                        <a:t>REP-0014</a:t>
                      </a:r>
                    </a:p>
                  </a:txBody>
                  <a:tcPr marT="36576" marB="36576" anchor="ctr">
                    <a:solidFill>
                      <a:srgbClr val="F2F4F9"/>
                    </a:solidFill>
                  </a:tcPr>
                </a:tc>
                <a:tc>
                  <a:txBody>
                    <a:bodyPr/>
                    <a:lstStyle/>
                    <a:p>
                      <a:pPr algn="l"/>
                      <a:r>
                        <a:rPr sz="1700" b="0" dirty="0">
                          <a:solidFill>
                            <a:srgbClr val="1E293B"/>
                          </a:solidFill>
                          <a:latin typeface="Calibri"/>
                        </a:rPr>
                        <a:t>Left after 5G drops; new carrier “better… just $12”</a:t>
                      </a:r>
                    </a:p>
                  </a:txBody>
                  <a:tcPr marT="36576" marB="36576" anchor="ctr">
                    <a:solidFill>
                      <a:srgbClr val="F2F4F9"/>
                    </a:solidFill>
                  </a:tcPr>
                </a:tc>
                <a:tc>
                  <a:txBody>
                    <a:bodyPr/>
                    <a:lstStyle/>
                    <a:p>
                      <a:pPr algn="l"/>
                      <a:r>
                        <a:rPr sz="1700" b="0">
                          <a:solidFill>
                            <a:srgbClr val="1E293B"/>
                          </a:solidFill>
                          <a:latin typeface="Calibri"/>
                        </a:rPr>
                        <a:t>not happy</a:t>
                      </a:r>
                    </a:p>
                  </a:txBody>
                  <a:tcPr marT="36576" marB="36576" anchor="ctr">
                    <a:solidFill>
                      <a:srgbClr val="F2F4F9"/>
                    </a:solidFill>
                  </a:tcPr>
                </a:tc>
                <a:tc>
                  <a:txBody>
                    <a:bodyPr/>
                    <a:lstStyle/>
                    <a:p>
                      <a:pPr algn="l"/>
                      <a:r>
                        <a:rPr sz="1700" b="0">
                          <a:solidFill>
                            <a:srgbClr val="1E293B"/>
                          </a:solidFill>
                          <a:latin typeface="Calibri"/>
                        </a:rPr>
                        <a:t>happy</a:t>
                      </a:r>
                    </a:p>
                  </a:txBody>
                  <a:tcPr marT="36576" marB="36576" anchor="ctr">
                    <a:solidFill>
                      <a:srgbClr val="F2F4F9"/>
                    </a:solidFill>
                  </a:tcPr>
                </a:tc>
                <a:tc>
                  <a:txBody>
                    <a:bodyPr/>
                    <a:lstStyle/>
                    <a:p>
                      <a:pPr algn="l"/>
                      <a:r>
                        <a:rPr sz="1700" b="0">
                          <a:solidFill>
                            <a:srgbClr val="1E293B"/>
                          </a:solidFill>
                          <a:latin typeface="Calibri"/>
                        </a:rPr>
                        <a:t>not happy</a:t>
                      </a:r>
                    </a:p>
                  </a:txBody>
                  <a:tcPr marT="36576" marB="36576" anchor="ctr">
                    <a:solidFill>
                      <a:srgbClr val="F2F4F9"/>
                    </a:solidFill>
                  </a:tcPr>
                </a:tc>
                <a:extLst>
                  <a:ext uri="{0D108BD9-81ED-4DB2-BD59-A6C34878D82A}">
                    <a16:rowId xmlns:a16="http://schemas.microsoft.com/office/drawing/2014/main" val="10002"/>
                  </a:ext>
                </a:extLst>
              </a:tr>
              <a:tr h="731520">
                <a:tc>
                  <a:txBody>
                    <a:bodyPr/>
                    <a:lstStyle/>
                    <a:p>
                      <a:pPr algn="l"/>
                      <a:r>
                        <a:rPr sz="1700" b="0">
                          <a:solidFill>
                            <a:srgbClr val="1E293B"/>
                          </a:solidFill>
                          <a:latin typeface="Calibri"/>
                        </a:rPr>
                        <a:t>CHL-0005</a:t>
                      </a:r>
                    </a:p>
                  </a:txBody>
                  <a:tcPr marT="36576" marB="36576" anchor="ctr">
                    <a:solidFill>
                      <a:srgbClr val="FFFFFF"/>
                    </a:solidFill>
                  </a:tcPr>
                </a:tc>
                <a:tc>
                  <a:txBody>
                    <a:bodyPr/>
                    <a:lstStyle/>
                    <a:p>
                      <a:pPr algn="l"/>
                      <a:r>
                        <a:rPr sz="1700" b="0">
                          <a:solidFill>
                            <a:srgbClr val="1E293B"/>
                          </a:solidFill>
                          <a:latin typeface="Calibri"/>
                        </a:rPr>
                        <a:t>“Smoooooooth as baby butttttt”</a:t>
                      </a:r>
                    </a:p>
                  </a:txBody>
                  <a:tcPr marT="36576" marB="36576" anchor="ctr">
                    <a:solidFill>
                      <a:srgbClr val="FFFFFF"/>
                    </a:solidFill>
                  </a:tcPr>
                </a:tc>
                <a:tc>
                  <a:txBody>
                    <a:bodyPr/>
                    <a:lstStyle/>
                    <a:p>
                      <a:pPr algn="l"/>
                      <a:r>
                        <a:rPr sz="1700" b="0">
                          <a:solidFill>
                            <a:srgbClr val="1E293B"/>
                          </a:solidFill>
                          <a:latin typeface="Calibri"/>
                        </a:rPr>
                        <a:t>happy</a:t>
                      </a:r>
                    </a:p>
                  </a:txBody>
                  <a:tcPr marT="36576" marB="36576" anchor="ctr">
                    <a:solidFill>
                      <a:srgbClr val="FFFFFF"/>
                    </a:solidFill>
                  </a:tcPr>
                </a:tc>
                <a:tc>
                  <a:txBody>
                    <a:bodyPr/>
                    <a:lstStyle/>
                    <a:p>
                      <a:pPr algn="l"/>
                      <a:r>
                        <a:rPr sz="1700" b="0">
                          <a:solidFill>
                            <a:srgbClr val="1E293B"/>
                          </a:solidFill>
                          <a:latin typeface="Calibri"/>
                        </a:rPr>
                        <a:t>neutral</a:t>
                      </a:r>
                    </a:p>
                  </a:txBody>
                  <a:tcPr marT="36576" marB="36576" anchor="ctr">
                    <a:solidFill>
                      <a:srgbClr val="FFFFFF"/>
                    </a:solidFill>
                  </a:tcPr>
                </a:tc>
                <a:tc>
                  <a:txBody>
                    <a:bodyPr/>
                    <a:lstStyle/>
                    <a:p>
                      <a:pPr algn="l"/>
                      <a:r>
                        <a:rPr sz="1700" b="0">
                          <a:solidFill>
                            <a:srgbClr val="1E293B"/>
                          </a:solidFill>
                          <a:latin typeface="Calibri"/>
                        </a:rPr>
                        <a:t>happy</a:t>
                      </a:r>
                    </a:p>
                  </a:txBody>
                  <a:tcPr marT="36576" marB="36576" anchor="ctr">
                    <a:solidFill>
                      <a:srgbClr val="FFFFFF"/>
                    </a:solidFill>
                  </a:tcPr>
                </a:tc>
                <a:extLst>
                  <a:ext uri="{0D108BD9-81ED-4DB2-BD59-A6C34878D82A}">
                    <a16:rowId xmlns:a16="http://schemas.microsoft.com/office/drawing/2014/main" val="10003"/>
                  </a:ext>
                </a:extLst>
              </a:tr>
              <a:tr h="731520">
                <a:tc>
                  <a:txBody>
                    <a:bodyPr/>
                    <a:lstStyle/>
                    <a:p>
                      <a:pPr algn="l"/>
                      <a:r>
                        <a:rPr sz="1700" b="0">
                          <a:solidFill>
                            <a:srgbClr val="1E293B"/>
                          </a:solidFill>
                          <a:latin typeface="Calibri"/>
                        </a:rPr>
                        <a:t>CHL-0029</a:t>
                      </a:r>
                    </a:p>
                  </a:txBody>
                  <a:tcPr marT="36576" marB="36576" anchor="ctr">
                    <a:solidFill>
                      <a:srgbClr val="F2F4F9"/>
                    </a:solidFill>
                  </a:tcPr>
                </a:tc>
                <a:tc>
                  <a:txBody>
                    <a:bodyPr/>
                    <a:lstStyle/>
                    <a:p>
                      <a:pPr algn="l"/>
                      <a:r>
                        <a:rPr sz="1700" b="0">
                          <a:solidFill>
                            <a:srgbClr val="1E293B"/>
                          </a:solidFill>
                          <a:latin typeface="Calibri"/>
                        </a:rPr>
                        <a:t>Nationwide outage, ready to port out</a:t>
                      </a:r>
                    </a:p>
                  </a:txBody>
                  <a:tcPr marT="36576" marB="36576" anchor="ctr">
                    <a:solidFill>
                      <a:srgbClr val="F2F4F9"/>
                    </a:solidFill>
                  </a:tcPr>
                </a:tc>
                <a:tc>
                  <a:txBody>
                    <a:bodyPr/>
                    <a:lstStyle/>
                    <a:p>
                      <a:pPr algn="l"/>
                      <a:r>
                        <a:rPr sz="1700" b="0">
                          <a:solidFill>
                            <a:srgbClr val="1E293B"/>
                          </a:solidFill>
                          <a:latin typeface="Calibri"/>
                        </a:rPr>
                        <a:t>not happy</a:t>
                      </a:r>
                    </a:p>
                  </a:txBody>
                  <a:tcPr marT="36576" marB="36576" anchor="ctr">
                    <a:solidFill>
                      <a:srgbClr val="F2F4F9"/>
                    </a:solidFill>
                  </a:tcPr>
                </a:tc>
                <a:tc>
                  <a:txBody>
                    <a:bodyPr/>
                    <a:lstStyle/>
                    <a:p>
                      <a:pPr algn="l"/>
                      <a:r>
                        <a:rPr sz="1700" b="0">
                          <a:solidFill>
                            <a:srgbClr val="1E293B"/>
                          </a:solidFill>
                          <a:latin typeface="Calibri"/>
                        </a:rPr>
                        <a:t>happy</a:t>
                      </a:r>
                    </a:p>
                  </a:txBody>
                  <a:tcPr marT="36576" marB="36576" anchor="ctr">
                    <a:solidFill>
                      <a:srgbClr val="F2F4F9"/>
                    </a:solidFill>
                  </a:tcPr>
                </a:tc>
                <a:tc>
                  <a:txBody>
                    <a:bodyPr/>
                    <a:lstStyle/>
                    <a:p>
                      <a:pPr algn="l"/>
                      <a:r>
                        <a:rPr sz="1700" b="0" dirty="0">
                          <a:solidFill>
                            <a:srgbClr val="1E293B"/>
                          </a:solidFill>
                          <a:latin typeface="Calibri"/>
                        </a:rPr>
                        <a:t>not happy</a:t>
                      </a:r>
                    </a:p>
                  </a:txBody>
                  <a:tcPr marT="36576" marB="36576" anchor="ctr">
                    <a:solidFill>
                      <a:srgbClr val="F2F4F9"/>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548640" y="5613400"/>
            <a:ext cx="11091672" cy="736600"/>
          </a:xfrm>
          <a:prstGeom prst="rect">
            <a:avLst/>
          </a:prstGeom>
          <a:noFill/>
        </p:spPr>
        <p:txBody>
          <a:bodyPr wrap="square" lIns="0" tIns="0" rIns="0" bIns="0" anchor="t">
            <a:spAutoFit/>
          </a:bodyPr>
          <a:lstStyle/>
          <a:p>
            <a:pPr algn="l">
              <a:spcAft>
                <a:spcPts val="600"/>
              </a:spcAft>
            </a:pPr>
            <a:r>
              <a:rPr sz="1600" b="0" i="0">
                <a:solidFill>
                  <a:srgbClr val="1E293B"/>
                </a:solidFill>
                <a:latin typeface="Calibri"/>
              </a:rPr>
              <a:t>Short status updates, price words and stretched slang fool a lexicon. Switching intent is a complaint, not praise.</a:t>
            </a:r>
          </a:p>
          <a:p>
            <a:pPr algn="l">
              <a:spcAft>
                <a:spcPts val="600"/>
              </a:spcAft>
            </a:pPr>
            <a:r>
              <a:rPr lang="en-US" sz="1600" b="1" i="0" dirty="0">
                <a:solidFill>
                  <a:srgbClr val="1E293B"/>
                </a:solidFill>
                <a:latin typeface="Calibri"/>
              </a:rPr>
              <a:t>REP-0014: </a:t>
            </a:r>
            <a:r>
              <a:rPr lang="en-US" sz="1600" b="0" i="0" dirty="0">
                <a:solidFill>
                  <a:srgbClr val="1E293B"/>
                </a:solidFill>
                <a:latin typeface="Calibri"/>
              </a:rPr>
              <a:t>the label scores the carrier the author left. The praise is for the new one; per-brand labels (slide 30) would record both.</a:t>
            </a:r>
          </a:p>
        </p:txBody>
      </p:sp>
    </p:spTree>
    <p:extLst>
      <p:ext uri="{BB962C8B-B14F-4D97-AF65-F5344CB8AC3E}">
        <p14:creationId xmlns:p14="http://schemas.microsoft.com/office/powerpoint/2010/main" val="25123125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12000" y="546943"/>
            <a:ext cx="6840000" cy="350865"/>
          </a:xfrm>
          <a:prstGeom prst="rect">
            <a:avLst/>
          </a:prstGeom>
          <a:noFill/>
        </p:spPr>
        <p:txBody>
          <a:bodyPr wrap="square" lIns="0" tIns="0" rIns="0" bIns="0" anchor="ctr">
            <a:spAutoFit/>
          </a:bodyPr>
          <a:lstStyle/>
          <a:p>
            <a:pPr algn="l">
              <a:lnSpc>
                <a:spcPct val="95000"/>
              </a:lnSpc>
              <a:spcAft>
                <a:spcPts val="0"/>
              </a:spcAft>
            </a:pPr>
            <a:r>
              <a:rPr sz="2400" b="1" i="0" dirty="0">
                <a:solidFill>
                  <a:srgbClr val="1C2E6E"/>
                </a:solidFill>
                <a:latin typeface="Calibri"/>
              </a:rPr>
              <a:t>All the LLM work cost about $6.5</a:t>
            </a:r>
            <a:r>
              <a:rPr lang="en-US" sz="2400" b="1" i="0" dirty="0">
                <a:solidFill>
                  <a:srgbClr val="1C2E6E"/>
                </a:solidFill>
                <a:latin typeface="Calibri"/>
              </a:rPr>
              <a:t>5</a:t>
            </a:r>
            <a:endParaRPr sz="2400" b="1" i="0" dirty="0">
              <a:solidFill>
                <a:srgbClr val="1C2E6E"/>
              </a:solidFill>
              <a:latin typeface="Calibri"/>
            </a:endParaRP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19</a:t>
            </a:r>
          </a:p>
        </p:txBody>
      </p:sp>
      <p:sp>
        <p:nvSpPr>
          <p:cNvPr id="4" name="TextBox 3"/>
          <p:cNvSpPr txBox="1"/>
          <p:nvPr/>
        </p:nvSpPr>
        <p:spPr>
          <a:xfrm>
            <a:off x="548640" y="1737360"/>
            <a:ext cx="3291840" cy="762000"/>
          </a:xfrm>
          <a:prstGeom prst="rect">
            <a:avLst/>
          </a:prstGeom>
          <a:noFill/>
        </p:spPr>
        <p:txBody>
          <a:bodyPr wrap="square" lIns="0" tIns="0" rIns="0" bIns="0" anchor="t">
            <a:spAutoFit/>
          </a:bodyPr>
          <a:lstStyle/>
          <a:p>
            <a:pPr algn="l">
              <a:spcAft>
                <a:spcPts val="600"/>
              </a:spcAft>
            </a:pPr>
            <a:r>
              <a:rPr sz="5000" b="1" i="0" dirty="0">
                <a:solidFill>
                  <a:srgbClr val="1C2E6E"/>
                </a:solidFill>
                <a:latin typeface="Calibri"/>
              </a:rPr>
              <a:t>$0.28</a:t>
            </a:r>
          </a:p>
        </p:txBody>
      </p:sp>
      <p:sp>
        <p:nvSpPr>
          <p:cNvPr id="5" name="TextBox 4"/>
          <p:cNvSpPr txBox="1"/>
          <p:nvPr/>
        </p:nvSpPr>
        <p:spPr>
          <a:xfrm>
            <a:off x="548640" y="2545080"/>
            <a:ext cx="3291840" cy="230832"/>
          </a:xfrm>
          <a:prstGeom prst="rect">
            <a:avLst/>
          </a:prstGeom>
          <a:noFill/>
        </p:spPr>
        <p:txBody>
          <a:bodyPr wrap="square" lIns="0" tIns="0" rIns="0" bIns="0" anchor="t">
            <a:spAutoFit/>
          </a:bodyPr>
          <a:lstStyle/>
          <a:p>
            <a:pPr algn="l">
              <a:spcAft>
                <a:spcPts val="600"/>
              </a:spcAft>
            </a:pPr>
            <a:r>
              <a:rPr sz="1500" b="1" i="0" dirty="0">
                <a:solidFill>
                  <a:srgbClr val="5B6475"/>
                </a:solidFill>
                <a:latin typeface="Calibri"/>
              </a:rPr>
              <a:t>GPT-4o-mini </a:t>
            </a:r>
            <a:r>
              <a:rPr sz="1500" b="0" i="0" dirty="0">
                <a:solidFill>
                  <a:srgbClr val="5B6475"/>
                </a:solidFill>
                <a:latin typeface="Calibri"/>
              </a:rPr>
              <a:t>sentiment on all 9,162 posts</a:t>
            </a:r>
          </a:p>
        </p:txBody>
      </p:sp>
      <p:graphicFrame>
        <p:nvGraphicFramePr>
          <p:cNvPr id="6" name="Table 5"/>
          <p:cNvGraphicFramePr>
            <a:graphicFrameLocks noGrp="1"/>
          </p:cNvGraphicFramePr>
          <p:nvPr>
            <p:extLst>
              <p:ext uri="{D42A27DB-BD31-4B8C-83A1-F6EECF244321}">
                <p14:modId xmlns:p14="http://schemas.microsoft.com/office/powerpoint/2010/main" val="1434301393"/>
              </p:ext>
            </p:extLst>
          </p:nvPr>
        </p:nvGraphicFramePr>
        <p:xfrm>
          <a:off x="4206240" y="1691640"/>
          <a:ext cx="7434072" cy="4023360"/>
        </p:xfrm>
        <a:graphic>
          <a:graphicData uri="http://schemas.openxmlformats.org/drawingml/2006/table">
            <a:tbl>
              <a:tblPr firstRow="1" bandRow="1">
                <a:tableStyleId>{5C22544A-7EE6-4342-B048-85BDC9FD1C3A}</a:tableStyleId>
              </a:tblPr>
              <a:tblGrid>
                <a:gridCol w="26517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399032">
                  <a:extLst>
                    <a:ext uri="{9D8B030D-6E8A-4147-A177-3AD203B41FA5}">
                      <a16:colId xmlns:a16="http://schemas.microsoft.com/office/drawing/2014/main" val="20004"/>
                    </a:ext>
                  </a:extLst>
                </a:gridCol>
              </a:tblGrid>
              <a:tr h="402336">
                <a:tc>
                  <a:txBody>
                    <a:bodyPr/>
                    <a:lstStyle/>
                    <a:p>
                      <a:pPr algn="l"/>
                      <a:r>
                        <a:rPr sz="1300" b="1">
                          <a:solidFill>
                            <a:srgbClr val="FFFFFF"/>
                          </a:solidFill>
                          <a:latin typeface="Calibri"/>
                        </a:rPr>
                        <a:t>Job</a:t>
                      </a:r>
                    </a:p>
                  </a:txBody>
                  <a:tcPr marT="36576" marB="36576" anchor="ctr">
                    <a:solidFill>
                      <a:srgbClr val="1C2E6E"/>
                    </a:solidFill>
                  </a:tcPr>
                </a:tc>
                <a:tc>
                  <a:txBody>
                    <a:bodyPr/>
                    <a:lstStyle/>
                    <a:p>
                      <a:pPr algn="l"/>
                      <a:r>
                        <a:rPr sz="1300" b="1">
                          <a:solidFill>
                            <a:srgbClr val="FFFFFF"/>
                          </a:solidFill>
                          <a:latin typeface="Calibri"/>
                        </a:rPr>
                        <a:t>Model</a:t>
                      </a:r>
                    </a:p>
                  </a:txBody>
                  <a:tcPr marT="36576" marB="36576" anchor="ctr">
                    <a:solidFill>
                      <a:srgbClr val="1C2E6E"/>
                    </a:solidFill>
                  </a:tcPr>
                </a:tc>
                <a:tc>
                  <a:txBody>
                    <a:bodyPr/>
                    <a:lstStyle/>
                    <a:p>
                      <a:pPr algn="l"/>
                      <a:r>
                        <a:rPr sz="1300" b="1">
                          <a:solidFill>
                            <a:srgbClr val="FFFFFF"/>
                          </a:solidFill>
                          <a:latin typeface="Calibri"/>
                        </a:rPr>
                        <a:t>Posts</a:t>
                      </a:r>
                    </a:p>
                  </a:txBody>
                  <a:tcPr marT="36576" marB="36576" anchor="ctr">
                    <a:solidFill>
                      <a:srgbClr val="1C2E6E"/>
                    </a:solidFill>
                  </a:tcPr>
                </a:tc>
                <a:tc>
                  <a:txBody>
                    <a:bodyPr/>
                    <a:lstStyle/>
                    <a:p>
                      <a:pPr algn="l"/>
                      <a:r>
                        <a:rPr sz="1300" b="1">
                          <a:solidFill>
                            <a:srgbClr val="FFFFFF"/>
                          </a:solidFill>
                          <a:latin typeface="Calibri"/>
                        </a:rPr>
                        <a:t>Seconds</a:t>
                      </a:r>
                    </a:p>
                  </a:txBody>
                  <a:tcPr marT="36576" marB="36576" anchor="ctr">
                    <a:solidFill>
                      <a:srgbClr val="1C2E6E"/>
                    </a:solidFill>
                  </a:tcPr>
                </a:tc>
                <a:tc>
                  <a:txBody>
                    <a:bodyPr/>
                    <a:lstStyle/>
                    <a:p>
                      <a:pPr algn="l"/>
                      <a:r>
                        <a:rPr sz="1300" b="1">
                          <a:solidFill>
                            <a:srgbClr val="FFFFFF"/>
                          </a:solidFill>
                          <a:latin typeface="Calibri"/>
                        </a:rPr>
                        <a:t>Est. USD</a:t>
                      </a:r>
                    </a:p>
                  </a:txBody>
                  <a:tcPr marT="36576" marB="36576" anchor="ctr">
                    <a:solidFill>
                      <a:srgbClr val="1C2E6E"/>
                    </a:solidFill>
                  </a:tcPr>
                </a:tc>
                <a:extLst>
                  <a:ext uri="{0D108BD9-81ED-4DB2-BD59-A6C34878D82A}">
                    <a16:rowId xmlns:a16="http://schemas.microsoft.com/office/drawing/2014/main" val="10000"/>
                  </a:ext>
                </a:extLst>
              </a:tr>
              <a:tr h="402336">
                <a:tc>
                  <a:txBody>
                    <a:bodyPr/>
                    <a:lstStyle/>
                    <a:p>
                      <a:pPr algn="l"/>
                      <a:r>
                        <a:rPr sz="1300" b="0">
                          <a:solidFill>
                            <a:srgbClr val="1E293B"/>
                          </a:solidFill>
                          <a:latin typeface="Calibri"/>
                        </a:rPr>
                        <a:t>Representative eval</a:t>
                      </a:r>
                    </a:p>
                  </a:txBody>
                  <a:tcPr marT="36576" marB="36576" anchor="ctr">
                    <a:solidFill>
                      <a:srgbClr val="FFFFFF"/>
                    </a:solidFill>
                  </a:tcPr>
                </a:tc>
                <a:tc>
                  <a:txBody>
                    <a:bodyPr/>
                    <a:lstStyle/>
                    <a:p>
                      <a:pPr algn="l"/>
                      <a:r>
                        <a:rPr sz="1300" b="0">
                          <a:solidFill>
                            <a:srgbClr val="1E293B"/>
                          </a:solidFill>
                          <a:latin typeface="Calibri"/>
                        </a:rPr>
                        <a:t>GPT-4o-mini</a:t>
                      </a:r>
                    </a:p>
                  </a:txBody>
                  <a:tcPr marT="36576" marB="36576" anchor="ctr">
                    <a:solidFill>
                      <a:srgbClr val="FFFFFF"/>
                    </a:solidFill>
                  </a:tcPr>
                </a:tc>
                <a:tc>
                  <a:txBody>
                    <a:bodyPr/>
                    <a:lstStyle/>
                    <a:p>
                      <a:pPr algn="l"/>
                      <a:r>
                        <a:rPr lang="en-US" sz="1300" b="0" dirty="0">
                          <a:solidFill>
                            <a:srgbClr val="1E293B"/>
                          </a:solidFill>
                          <a:latin typeface="Calibri"/>
                        </a:rPr>
                        <a:t>388</a:t>
                      </a:r>
                      <a:endParaRPr sz="1300" b="0" dirty="0">
                        <a:solidFill>
                          <a:srgbClr val="1E293B"/>
                        </a:solidFill>
                        <a:latin typeface="Calibri"/>
                      </a:endParaRPr>
                    </a:p>
                  </a:txBody>
                  <a:tcPr marT="36576" marB="36576" anchor="ctr">
                    <a:solidFill>
                      <a:srgbClr val="FFFFFF"/>
                    </a:solidFill>
                  </a:tcPr>
                </a:tc>
                <a:tc>
                  <a:txBody>
                    <a:bodyPr/>
                    <a:lstStyle/>
                    <a:p>
                      <a:pPr algn="l"/>
                      <a:r>
                        <a:rPr sz="1300" b="0">
                          <a:solidFill>
                            <a:srgbClr val="1E293B"/>
                          </a:solidFill>
                          <a:latin typeface="Calibri"/>
                        </a:rPr>
                        <a:t>74</a:t>
                      </a:r>
                    </a:p>
                  </a:txBody>
                  <a:tcPr marT="36576" marB="36576" anchor="ctr">
                    <a:solidFill>
                      <a:srgbClr val="FFFFFF"/>
                    </a:solidFill>
                  </a:tcPr>
                </a:tc>
                <a:tc>
                  <a:txBody>
                    <a:bodyPr/>
                    <a:lstStyle/>
                    <a:p>
                      <a:pPr algn="l"/>
                      <a:r>
                        <a:rPr sz="1300" b="0">
                          <a:solidFill>
                            <a:srgbClr val="1E293B"/>
                          </a:solidFill>
                          <a:latin typeface="Calibri"/>
                        </a:rPr>
                        <a:t>0.0087</a:t>
                      </a:r>
                    </a:p>
                  </a:txBody>
                  <a:tcPr marT="36576" marB="36576" anchor="ctr">
                    <a:solidFill>
                      <a:srgbClr val="FFFFFF"/>
                    </a:solidFill>
                  </a:tcPr>
                </a:tc>
                <a:extLst>
                  <a:ext uri="{0D108BD9-81ED-4DB2-BD59-A6C34878D82A}">
                    <a16:rowId xmlns:a16="http://schemas.microsoft.com/office/drawing/2014/main" val="10001"/>
                  </a:ext>
                </a:extLst>
              </a:tr>
              <a:tr h="402336">
                <a:tc>
                  <a:txBody>
                    <a:bodyPr/>
                    <a:lstStyle/>
                    <a:p>
                      <a:pPr algn="l"/>
                      <a:r>
                        <a:rPr sz="1300" b="0">
                          <a:solidFill>
                            <a:srgbClr val="1E293B"/>
                          </a:solidFill>
                          <a:latin typeface="Calibri"/>
                        </a:rPr>
                        <a:t>Representative eval</a:t>
                      </a:r>
                    </a:p>
                  </a:txBody>
                  <a:tcPr marT="36576" marB="36576" anchor="ctr">
                    <a:solidFill>
                      <a:srgbClr val="F2F4F9"/>
                    </a:solidFill>
                  </a:tcPr>
                </a:tc>
                <a:tc>
                  <a:txBody>
                    <a:bodyPr/>
                    <a:lstStyle/>
                    <a:p>
                      <a:pPr algn="l"/>
                      <a:r>
                        <a:rPr sz="1300" b="0">
                          <a:solidFill>
                            <a:srgbClr val="1E293B"/>
                          </a:solidFill>
                          <a:latin typeface="Calibri"/>
                        </a:rPr>
                        <a:t>GPT-4o</a:t>
                      </a:r>
                    </a:p>
                  </a:txBody>
                  <a:tcPr marT="36576" marB="36576" anchor="ctr">
                    <a:solidFill>
                      <a:srgbClr val="F2F4F9"/>
                    </a:solidFill>
                  </a:tcPr>
                </a:tc>
                <a:tc>
                  <a:txBody>
                    <a:bodyPr/>
                    <a:lstStyle/>
                    <a:p>
                      <a:pPr algn="l"/>
                      <a:r>
                        <a:rPr sz="1300" b="0">
                          <a:solidFill>
                            <a:srgbClr val="1E293B"/>
                          </a:solidFill>
                          <a:latin typeface="Calibri"/>
                        </a:rPr>
                        <a:t>388</a:t>
                      </a:r>
                    </a:p>
                  </a:txBody>
                  <a:tcPr marT="36576" marB="36576" anchor="ctr">
                    <a:solidFill>
                      <a:srgbClr val="F2F4F9"/>
                    </a:solidFill>
                  </a:tcPr>
                </a:tc>
                <a:tc>
                  <a:txBody>
                    <a:bodyPr/>
                    <a:lstStyle/>
                    <a:p>
                      <a:pPr algn="l"/>
                      <a:r>
                        <a:rPr sz="1300" b="0">
                          <a:solidFill>
                            <a:srgbClr val="1E293B"/>
                          </a:solidFill>
                          <a:latin typeface="Calibri"/>
                        </a:rPr>
                        <a:t>99</a:t>
                      </a:r>
                    </a:p>
                  </a:txBody>
                  <a:tcPr marT="36576" marB="36576" anchor="ctr">
                    <a:solidFill>
                      <a:srgbClr val="F2F4F9"/>
                    </a:solidFill>
                  </a:tcPr>
                </a:tc>
                <a:tc>
                  <a:txBody>
                    <a:bodyPr/>
                    <a:lstStyle/>
                    <a:p>
                      <a:pPr algn="l"/>
                      <a:r>
                        <a:rPr sz="1300" b="0" dirty="0">
                          <a:solidFill>
                            <a:srgbClr val="1E293B"/>
                          </a:solidFill>
                          <a:latin typeface="Calibri"/>
                        </a:rPr>
                        <a:t>0.191</a:t>
                      </a:r>
                    </a:p>
                  </a:txBody>
                  <a:tcPr marT="36576" marB="36576" anchor="ctr">
                    <a:solidFill>
                      <a:srgbClr val="F2F4F9"/>
                    </a:solidFill>
                  </a:tcPr>
                </a:tc>
                <a:extLst>
                  <a:ext uri="{0D108BD9-81ED-4DB2-BD59-A6C34878D82A}">
                    <a16:rowId xmlns:a16="http://schemas.microsoft.com/office/drawing/2014/main" val="10002"/>
                  </a:ext>
                </a:extLst>
              </a:tr>
              <a:tr h="402336">
                <a:tc>
                  <a:txBody>
                    <a:bodyPr/>
                    <a:lstStyle/>
                    <a:p>
                      <a:pPr algn="l"/>
                      <a:r>
                        <a:rPr sz="1300" b="0">
                          <a:solidFill>
                            <a:srgbClr val="1E293B"/>
                          </a:solidFill>
                          <a:latin typeface="Calibri"/>
                        </a:rPr>
                        <a:t>Challenge eval</a:t>
                      </a:r>
                    </a:p>
                  </a:txBody>
                  <a:tcPr marT="36576" marB="36576" anchor="ctr">
                    <a:solidFill>
                      <a:srgbClr val="FFFFFF"/>
                    </a:solidFill>
                  </a:tcPr>
                </a:tc>
                <a:tc>
                  <a:txBody>
                    <a:bodyPr/>
                    <a:lstStyle/>
                    <a:p>
                      <a:pPr algn="l"/>
                      <a:r>
                        <a:rPr sz="1300" b="0">
                          <a:solidFill>
                            <a:srgbClr val="1E293B"/>
                          </a:solidFill>
                          <a:latin typeface="Calibri"/>
                        </a:rPr>
                        <a:t>GPT-4o-mini</a:t>
                      </a:r>
                    </a:p>
                  </a:txBody>
                  <a:tcPr marT="36576" marB="36576" anchor="ctr">
                    <a:solidFill>
                      <a:srgbClr val="FFFFFF"/>
                    </a:solidFill>
                  </a:tcPr>
                </a:tc>
                <a:tc>
                  <a:txBody>
                    <a:bodyPr/>
                    <a:lstStyle/>
                    <a:p>
                      <a:pPr algn="l"/>
                      <a:r>
                        <a:rPr sz="1300" b="0">
                          <a:solidFill>
                            <a:srgbClr val="1E293B"/>
                          </a:solidFill>
                          <a:latin typeface="Calibri"/>
                        </a:rPr>
                        <a:t>100</a:t>
                      </a:r>
                    </a:p>
                  </a:txBody>
                  <a:tcPr marT="36576" marB="36576" anchor="ctr">
                    <a:solidFill>
                      <a:srgbClr val="FFFFFF"/>
                    </a:solidFill>
                  </a:tcPr>
                </a:tc>
                <a:tc>
                  <a:txBody>
                    <a:bodyPr/>
                    <a:lstStyle/>
                    <a:p>
                      <a:pPr algn="l"/>
                      <a:r>
                        <a:rPr sz="1300" b="0">
                          <a:solidFill>
                            <a:srgbClr val="1E293B"/>
                          </a:solidFill>
                          <a:latin typeface="Calibri"/>
                        </a:rPr>
                        <a:t>28</a:t>
                      </a:r>
                    </a:p>
                  </a:txBody>
                  <a:tcPr marT="36576" marB="36576" anchor="ctr">
                    <a:solidFill>
                      <a:srgbClr val="FFFFFF"/>
                    </a:solidFill>
                  </a:tcPr>
                </a:tc>
                <a:tc>
                  <a:txBody>
                    <a:bodyPr/>
                    <a:lstStyle/>
                    <a:p>
                      <a:pPr algn="l"/>
                      <a:r>
                        <a:rPr sz="1300" b="0">
                          <a:solidFill>
                            <a:srgbClr val="1E293B"/>
                          </a:solidFill>
                          <a:latin typeface="Calibri"/>
                        </a:rPr>
                        <a:t>0.0030</a:t>
                      </a:r>
                    </a:p>
                  </a:txBody>
                  <a:tcPr marT="36576" marB="36576" anchor="ctr">
                    <a:solidFill>
                      <a:srgbClr val="FFFFFF"/>
                    </a:solidFill>
                  </a:tcPr>
                </a:tc>
                <a:extLst>
                  <a:ext uri="{0D108BD9-81ED-4DB2-BD59-A6C34878D82A}">
                    <a16:rowId xmlns:a16="http://schemas.microsoft.com/office/drawing/2014/main" val="10003"/>
                  </a:ext>
                </a:extLst>
              </a:tr>
              <a:tr h="402336">
                <a:tc>
                  <a:txBody>
                    <a:bodyPr/>
                    <a:lstStyle/>
                    <a:p>
                      <a:pPr algn="l"/>
                      <a:r>
                        <a:rPr sz="1300" b="0" dirty="0">
                          <a:solidFill>
                            <a:srgbClr val="1E293B"/>
                          </a:solidFill>
                          <a:latin typeface="Calibri"/>
                        </a:rPr>
                        <a:t>Challenge eval</a:t>
                      </a:r>
                    </a:p>
                  </a:txBody>
                  <a:tcPr marT="36576" marB="36576" anchor="ctr">
                    <a:solidFill>
                      <a:srgbClr val="F2F4F9"/>
                    </a:solidFill>
                  </a:tcPr>
                </a:tc>
                <a:tc>
                  <a:txBody>
                    <a:bodyPr/>
                    <a:lstStyle/>
                    <a:p>
                      <a:pPr algn="l"/>
                      <a:r>
                        <a:rPr sz="1300" b="0">
                          <a:solidFill>
                            <a:srgbClr val="1E293B"/>
                          </a:solidFill>
                          <a:latin typeface="Calibri"/>
                        </a:rPr>
                        <a:t>GPT-4o</a:t>
                      </a:r>
                    </a:p>
                  </a:txBody>
                  <a:tcPr marT="36576" marB="36576" anchor="ctr">
                    <a:solidFill>
                      <a:srgbClr val="F2F4F9"/>
                    </a:solidFill>
                  </a:tcPr>
                </a:tc>
                <a:tc>
                  <a:txBody>
                    <a:bodyPr/>
                    <a:lstStyle/>
                    <a:p>
                      <a:pPr algn="l"/>
                      <a:r>
                        <a:rPr sz="1300" b="0">
                          <a:solidFill>
                            <a:srgbClr val="1E293B"/>
                          </a:solidFill>
                          <a:latin typeface="Calibri"/>
                        </a:rPr>
                        <a:t>100</a:t>
                      </a:r>
                    </a:p>
                  </a:txBody>
                  <a:tcPr marT="36576" marB="36576" anchor="ctr">
                    <a:solidFill>
                      <a:srgbClr val="F2F4F9"/>
                    </a:solidFill>
                  </a:tcPr>
                </a:tc>
                <a:tc>
                  <a:txBody>
                    <a:bodyPr/>
                    <a:lstStyle/>
                    <a:p>
                      <a:pPr algn="l"/>
                      <a:r>
                        <a:rPr sz="1300" b="0" dirty="0">
                          <a:solidFill>
                            <a:srgbClr val="1E293B"/>
                          </a:solidFill>
                          <a:latin typeface="Calibri"/>
                        </a:rPr>
                        <a:t>20</a:t>
                      </a:r>
                    </a:p>
                  </a:txBody>
                  <a:tcPr marT="36576" marB="36576" anchor="ctr">
                    <a:solidFill>
                      <a:srgbClr val="F2F4F9"/>
                    </a:solidFill>
                  </a:tcPr>
                </a:tc>
                <a:tc>
                  <a:txBody>
                    <a:bodyPr/>
                    <a:lstStyle/>
                    <a:p>
                      <a:pPr algn="l"/>
                      <a:r>
                        <a:rPr sz="1300" b="0" dirty="0">
                          <a:solidFill>
                            <a:srgbClr val="1E293B"/>
                          </a:solidFill>
                          <a:latin typeface="Calibri"/>
                        </a:rPr>
                        <a:t>0.050</a:t>
                      </a:r>
                    </a:p>
                  </a:txBody>
                  <a:tcPr marT="36576" marB="36576" anchor="ctr">
                    <a:solidFill>
                      <a:srgbClr val="F2F4F9"/>
                    </a:solidFill>
                  </a:tcPr>
                </a:tc>
                <a:extLst>
                  <a:ext uri="{0D108BD9-81ED-4DB2-BD59-A6C34878D82A}">
                    <a16:rowId xmlns:a16="http://schemas.microsoft.com/office/drawing/2014/main" val="10004"/>
                  </a:ext>
                </a:extLst>
              </a:tr>
              <a:tr h="402336">
                <a:tc>
                  <a:txBody>
                    <a:bodyPr/>
                    <a:lstStyle/>
                    <a:p>
                      <a:pPr algn="l"/>
                      <a:r>
                        <a:rPr sz="1300" b="1" dirty="0">
                          <a:solidFill>
                            <a:srgbClr val="1E293B"/>
                          </a:solidFill>
                          <a:latin typeface="Calibri"/>
                        </a:rPr>
                        <a:t>Unresolved issue rows</a:t>
                      </a:r>
                    </a:p>
                  </a:txBody>
                  <a:tcPr marT="36576" marB="36576" anchor="ctr">
                    <a:solidFill>
                      <a:srgbClr val="FBF3DF"/>
                    </a:solidFill>
                  </a:tcPr>
                </a:tc>
                <a:tc>
                  <a:txBody>
                    <a:bodyPr/>
                    <a:lstStyle/>
                    <a:p>
                      <a:pPr algn="l"/>
                      <a:r>
                        <a:rPr sz="1300" b="0" dirty="0">
                          <a:solidFill>
                            <a:srgbClr val="1E293B"/>
                          </a:solidFill>
                          <a:latin typeface="Calibri"/>
                        </a:rPr>
                        <a:t>GPT-4o</a:t>
                      </a:r>
                    </a:p>
                  </a:txBody>
                  <a:tcPr marT="36576" marB="36576" anchor="ctr">
                    <a:solidFill>
                      <a:srgbClr val="FBF3DF"/>
                    </a:solidFill>
                  </a:tcPr>
                </a:tc>
                <a:tc>
                  <a:txBody>
                    <a:bodyPr/>
                    <a:lstStyle/>
                    <a:p>
                      <a:pPr algn="l"/>
                      <a:r>
                        <a:rPr sz="1300" b="0">
                          <a:solidFill>
                            <a:srgbClr val="1E293B"/>
                          </a:solidFill>
                          <a:latin typeface="Calibri"/>
                        </a:rPr>
                        <a:t>12,497</a:t>
                      </a:r>
                    </a:p>
                  </a:txBody>
                  <a:tcPr marT="36576" marB="36576" anchor="ctr">
                    <a:solidFill>
                      <a:srgbClr val="FBF3DF"/>
                    </a:solidFill>
                  </a:tcPr>
                </a:tc>
                <a:tc>
                  <a:txBody>
                    <a:bodyPr/>
                    <a:lstStyle/>
                    <a:p>
                      <a:pPr algn="l"/>
                      <a:r>
                        <a:rPr sz="1300" b="0">
                          <a:solidFill>
                            <a:srgbClr val="1E293B"/>
                          </a:solidFill>
                          <a:latin typeface="Calibri"/>
                        </a:rPr>
                        <a:t>2,445</a:t>
                      </a:r>
                    </a:p>
                  </a:txBody>
                  <a:tcPr marT="36576" marB="36576" anchor="ctr">
                    <a:solidFill>
                      <a:srgbClr val="FBF3DF"/>
                    </a:solidFill>
                  </a:tcPr>
                </a:tc>
                <a:tc>
                  <a:txBody>
                    <a:bodyPr/>
                    <a:lstStyle/>
                    <a:p>
                      <a:pPr algn="l"/>
                      <a:r>
                        <a:rPr sz="1300" b="0" dirty="0">
                          <a:solidFill>
                            <a:srgbClr val="1E293B"/>
                          </a:solidFill>
                          <a:latin typeface="Calibri"/>
                        </a:rPr>
                        <a:t>4.80</a:t>
                      </a:r>
                    </a:p>
                  </a:txBody>
                  <a:tcPr marT="36576" marB="36576" anchor="ctr">
                    <a:solidFill>
                      <a:srgbClr val="FBF3DF"/>
                    </a:solidFill>
                  </a:tcPr>
                </a:tc>
                <a:extLst>
                  <a:ext uri="{0D108BD9-81ED-4DB2-BD59-A6C34878D82A}">
                    <a16:rowId xmlns:a16="http://schemas.microsoft.com/office/drawing/2014/main" val="10005"/>
                  </a:ext>
                </a:extLst>
              </a:tr>
              <a:tr h="402336">
                <a:tc>
                  <a:txBody>
                    <a:bodyPr/>
                    <a:lstStyle/>
                    <a:p>
                      <a:pPr algn="l"/>
                      <a:r>
                        <a:rPr sz="1300" b="1" dirty="0">
                          <a:solidFill>
                            <a:srgbClr val="1E293B"/>
                          </a:solidFill>
                          <a:latin typeface="Calibri"/>
                        </a:rPr>
                        <a:t>All-post sentiment</a:t>
                      </a:r>
                    </a:p>
                  </a:txBody>
                  <a:tcPr marT="36576" marB="36576" anchor="ctr">
                    <a:solidFill>
                      <a:srgbClr val="FBF3DF"/>
                    </a:solidFill>
                  </a:tcPr>
                </a:tc>
                <a:tc>
                  <a:txBody>
                    <a:bodyPr/>
                    <a:lstStyle/>
                    <a:p>
                      <a:pPr algn="l"/>
                      <a:r>
                        <a:rPr sz="1300" b="0">
                          <a:solidFill>
                            <a:srgbClr val="1E293B"/>
                          </a:solidFill>
                          <a:latin typeface="Calibri"/>
                        </a:rPr>
                        <a:t>GPT-4o-mini</a:t>
                      </a:r>
                    </a:p>
                  </a:txBody>
                  <a:tcPr marT="36576" marB="36576" anchor="ctr">
                    <a:solidFill>
                      <a:srgbClr val="FBF3DF"/>
                    </a:solidFill>
                  </a:tcPr>
                </a:tc>
                <a:tc>
                  <a:txBody>
                    <a:bodyPr/>
                    <a:lstStyle/>
                    <a:p>
                      <a:pPr algn="l"/>
                      <a:r>
                        <a:rPr sz="1300" b="0">
                          <a:solidFill>
                            <a:srgbClr val="1E293B"/>
                          </a:solidFill>
                          <a:latin typeface="Calibri"/>
                        </a:rPr>
                        <a:t>9,162</a:t>
                      </a:r>
                    </a:p>
                  </a:txBody>
                  <a:tcPr marT="36576" marB="36576" anchor="ctr">
                    <a:solidFill>
                      <a:srgbClr val="FBF3DF"/>
                    </a:solidFill>
                  </a:tcPr>
                </a:tc>
                <a:tc>
                  <a:txBody>
                    <a:bodyPr/>
                    <a:lstStyle/>
                    <a:p>
                      <a:pPr algn="l"/>
                      <a:r>
                        <a:rPr sz="1300" b="0">
                          <a:solidFill>
                            <a:srgbClr val="1E293B"/>
                          </a:solidFill>
                          <a:latin typeface="Calibri"/>
                        </a:rPr>
                        <a:t>—</a:t>
                      </a:r>
                    </a:p>
                  </a:txBody>
                  <a:tcPr marT="36576" marB="36576" anchor="ctr">
                    <a:solidFill>
                      <a:srgbClr val="FBF3DF"/>
                    </a:solidFill>
                  </a:tcPr>
                </a:tc>
                <a:tc>
                  <a:txBody>
                    <a:bodyPr/>
                    <a:lstStyle/>
                    <a:p>
                      <a:pPr algn="l"/>
                      <a:r>
                        <a:rPr sz="1300" b="0" dirty="0">
                          <a:solidFill>
                            <a:srgbClr val="1E293B"/>
                          </a:solidFill>
                          <a:latin typeface="Calibri"/>
                        </a:rPr>
                        <a:t>0.28</a:t>
                      </a:r>
                    </a:p>
                  </a:txBody>
                  <a:tcPr marT="36576" marB="36576" anchor="ctr">
                    <a:solidFill>
                      <a:srgbClr val="FBF3DF"/>
                    </a:solidFill>
                  </a:tcPr>
                </a:tc>
                <a:extLst>
                  <a:ext uri="{0D108BD9-81ED-4DB2-BD59-A6C34878D82A}">
                    <a16:rowId xmlns:a16="http://schemas.microsoft.com/office/drawing/2014/main" val="10006"/>
                  </a:ext>
                </a:extLst>
              </a:tr>
              <a:tr h="402336">
                <a:tc>
                  <a:txBody>
                    <a:bodyPr/>
                    <a:lstStyle/>
                    <a:p>
                      <a:pPr algn="l">
                        <a:buNone/>
                      </a:pPr>
                      <a:r>
                        <a:rPr lang="en-US" sz="1300" b="1" dirty="0">
                          <a:solidFill>
                            <a:srgbClr val="1E293B"/>
                          </a:solidFill>
                          <a:latin typeface="Calibri"/>
                        </a:rPr>
                        <a:t>  Finished jobs</a:t>
                      </a:r>
                    </a:p>
                  </a:txBody>
                  <a:tcPr marL="19050" marR="19050" marT="19050" marB="19050" anchor="ctr">
                    <a:solidFill>
                      <a:schemeClr val="tx2">
                        <a:lumMod val="10000"/>
                        <a:lumOff val="90000"/>
                      </a:schemeClr>
                    </a:solidFill>
                  </a:tcPr>
                </a:tc>
                <a:tc>
                  <a:txBody>
                    <a:bodyPr/>
                    <a:lstStyle/>
                    <a:p>
                      <a:pPr algn="l">
                        <a:buNone/>
                      </a:pPr>
                      <a:endParaRPr lang="en-US" sz="1300" b="1" dirty="0">
                        <a:solidFill>
                          <a:srgbClr val="1E293B"/>
                        </a:solidFill>
                        <a:latin typeface="Calibri"/>
                      </a:endParaRPr>
                    </a:p>
                  </a:txBody>
                  <a:tcPr marL="19050" marR="19050" marT="19050" marB="19050" anchor="ctr">
                    <a:solidFill>
                      <a:schemeClr val="tx2">
                        <a:lumMod val="10000"/>
                        <a:lumOff val="90000"/>
                      </a:schemeClr>
                    </a:solidFill>
                  </a:tcPr>
                </a:tc>
                <a:tc>
                  <a:txBody>
                    <a:bodyPr/>
                    <a:lstStyle/>
                    <a:p>
                      <a:pPr algn="l"/>
                      <a:endParaRPr sz="1300" b="1" dirty="0">
                        <a:solidFill>
                          <a:srgbClr val="1E293B"/>
                        </a:solidFill>
                        <a:latin typeface="Calibri"/>
                      </a:endParaRPr>
                    </a:p>
                  </a:txBody>
                  <a:tcPr marT="36576" marB="36576" anchor="ctr">
                    <a:solidFill>
                      <a:schemeClr val="tx2">
                        <a:lumMod val="10000"/>
                        <a:lumOff val="90000"/>
                      </a:schemeClr>
                    </a:solidFill>
                  </a:tcPr>
                </a:tc>
                <a:tc>
                  <a:txBody>
                    <a:bodyPr/>
                    <a:lstStyle/>
                    <a:p>
                      <a:pPr algn="l"/>
                      <a:endParaRPr sz="1300" b="1" dirty="0">
                        <a:solidFill>
                          <a:srgbClr val="1E293B"/>
                        </a:solidFill>
                        <a:latin typeface="Calibri"/>
                      </a:endParaRPr>
                    </a:p>
                  </a:txBody>
                  <a:tcPr marT="36576" marB="36576" anchor="ctr">
                    <a:solidFill>
                      <a:schemeClr val="tx2">
                        <a:lumMod val="10000"/>
                        <a:lumOff val="90000"/>
                      </a:schemeClr>
                    </a:solidFill>
                  </a:tcPr>
                </a:tc>
                <a:tc>
                  <a:txBody>
                    <a:bodyPr/>
                    <a:lstStyle/>
                    <a:p>
                      <a:pPr algn="l">
                        <a:buNone/>
                      </a:pPr>
                      <a:r>
                        <a:rPr lang="en-US" sz="1300" b="1" dirty="0">
                          <a:solidFill>
                            <a:srgbClr val="1E293B"/>
                          </a:solidFill>
                          <a:latin typeface="Calibri"/>
                        </a:rPr>
                        <a:t>≈ $5.35</a:t>
                      </a:r>
                    </a:p>
                  </a:txBody>
                  <a:tcPr marL="19050" marR="19050" marT="19050" marB="19050" anchor="ctr">
                    <a:solidFill>
                      <a:schemeClr val="tx2">
                        <a:lumMod val="10000"/>
                        <a:lumOff val="90000"/>
                      </a:schemeClr>
                    </a:solidFill>
                  </a:tcPr>
                </a:tc>
                <a:extLst>
                  <a:ext uri="{0D108BD9-81ED-4DB2-BD59-A6C34878D82A}">
                    <a16:rowId xmlns:a16="http://schemas.microsoft.com/office/drawing/2014/main" val="2175109135"/>
                  </a:ext>
                </a:extLst>
              </a:tr>
              <a:tr h="402336">
                <a:tc gridSpan="4">
                  <a:txBody>
                    <a:bodyPr/>
                    <a:lstStyle/>
                    <a:p>
                      <a:pPr algn="l">
                        <a:buNone/>
                      </a:pPr>
                      <a:r>
                        <a:rPr lang="en-US" sz="1300" b="0" dirty="0">
                          <a:solidFill>
                            <a:srgbClr val="1E293B"/>
                          </a:solidFill>
                          <a:latin typeface="Calibri"/>
                        </a:rPr>
                        <a:t>  Not in the table: discarded first pass that sent Reddit posts without thread titles</a:t>
                      </a:r>
                    </a:p>
                  </a:txBody>
                  <a:tcPr marL="19050" marR="19050" marT="19050" marB="19050" anchor="ctr">
                    <a:noFill/>
                  </a:tcPr>
                </a:tc>
                <a:tc hMerge="1">
                  <a:txBody>
                    <a:bodyPr/>
                    <a:lstStyle/>
                    <a:p>
                      <a:pPr algn="l">
                        <a:buNone/>
                      </a:pPr>
                      <a:endParaRPr lang="en-US" sz="1300" b="1" dirty="0">
                        <a:solidFill>
                          <a:srgbClr val="1E293B"/>
                        </a:solidFill>
                        <a:latin typeface="Calibri"/>
                      </a:endParaRPr>
                    </a:p>
                  </a:txBody>
                  <a:tcPr marL="19050" marR="19050" marT="19050" marB="19050" anchor="ctr">
                    <a:solidFill>
                      <a:srgbClr val="FBF3DF"/>
                    </a:solidFill>
                  </a:tcPr>
                </a:tc>
                <a:tc hMerge="1">
                  <a:txBody>
                    <a:bodyPr/>
                    <a:lstStyle/>
                    <a:p>
                      <a:pPr algn="l"/>
                      <a:endParaRPr sz="1300" b="1" dirty="0">
                        <a:solidFill>
                          <a:srgbClr val="1E293B"/>
                        </a:solidFill>
                        <a:latin typeface="Calibri"/>
                      </a:endParaRPr>
                    </a:p>
                  </a:txBody>
                  <a:tcPr marT="36576" marB="36576" anchor="ctr">
                    <a:solidFill>
                      <a:srgbClr val="FBF3DF"/>
                    </a:solidFill>
                  </a:tcPr>
                </a:tc>
                <a:tc hMerge="1">
                  <a:txBody>
                    <a:bodyPr/>
                    <a:lstStyle/>
                    <a:p>
                      <a:pPr algn="l"/>
                      <a:endParaRPr sz="1300" b="1" dirty="0">
                        <a:solidFill>
                          <a:srgbClr val="1E293B"/>
                        </a:solidFill>
                        <a:latin typeface="Calibri"/>
                      </a:endParaRPr>
                    </a:p>
                  </a:txBody>
                  <a:tcPr marT="36576" marB="36576" anchor="ctr">
                    <a:solidFill>
                      <a:srgbClr val="FBF3DF"/>
                    </a:solidFill>
                  </a:tcPr>
                </a:tc>
                <a:tc>
                  <a:txBody>
                    <a:bodyPr/>
                    <a:lstStyle/>
                    <a:p>
                      <a:pPr algn="l">
                        <a:buNone/>
                      </a:pPr>
                      <a:r>
                        <a:rPr lang="en-US" sz="1300" b="1" dirty="0">
                          <a:solidFill>
                            <a:srgbClr val="1E293B"/>
                          </a:solidFill>
                          <a:latin typeface="Calibri"/>
                        </a:rPr>
                        <a:t>1.15</a:t>
                      </a:r>
                    </a:p>
                  </a:txBody>
                  <a:tcPr marL="19050" marR="19050" marT="19050" marB="19050" anchor="ctr">
                    <a:noFill/>
                  </a:tcPr>
                </a:tc>
                <a:extLst>
                  <a:ext uri="{0D108BD9-81ED-4DB2-BD59-A6C34878D82A}">
                    <a16:rowId xmlns:a16="http://schemas.microsoft.com/office/drawing/2014/main" val="1362964514"/>
                  </a:ext>
                </a:extLst>
              </a:tr>
              <a:tr h="402336">
                <a:tc>
                  <a:txBody>
                    <a:bodyPr/>
                    <a:lstStyle/>
                    <a:p>
                      <a:pPr algn="l">
                        <a:buNone/>
                      </a:pPr>
                      <a:r>
                        <a:rPr lang="en-US" sz="1300" b="1" dirty="0">
                          <a:solidFill>
                            <a:srgbClr val="1E293B"/>
                          </a:solidFill>
                          <a:latin typeface="Calibri"/>
                        </a:rPr>
                        <a:t>  Total</a:t>
                      </a:r>
                    </a:p>
                  </a:txBody>
                  <a:tcPr marL="19050" marR="19050" marT="19050" marB="19050" anchor="ctr">
                    <a:solidFill>
                      <a:schemeClr val="tx2">
                        <a:lumMod val="10000"/>
                        <a:lumOff val="90000"/>
                      </a:schemeClr>
                    </a:solidFill>
                  </a:tcPr>
                </a:tc>
                <a:tc>
                  <a:txBody>
                    <a:bodyPr/>
                    <a:lstStyle/>
                    <a:p>
                      <a:pPr algn="l">
                        <a:buNone/>
                      </a:pPr>
                      <a:endParaRPr lang="en-US" sz="1300" b="1" dirty="0">
                        <a:solidFill>
                          <a:srgbClr val="1E293B"/>
                        </a:solidFill>
                        <a:latin typeface="Calibri"/>
                      </a:endParaRPr>
                    </a:p>
                  </a:txBody>
                  <a:tcPr marL="19050" marR="19050" marT="19050" marB="19050" anchor="ctr">
                    <a:solidFill>
                      <a:schemeClr val="tx2">
                        <a:lumMod val="10000"/>
                        <a:lumOff val="90000"/>
                      </a:schemeClr>
                    </a:solidFill>
                  </a:tcPr>
                </a:tc>
                <a:tc>
                  <a:txBody>
                    <a:bodyPr/>
                    <a:lstStyle/>
                    <a:p>
                      <a:pPr algn="l"/>
                      <a:endParaRPr sz="1300" b="1" dirty="0">
                        <a:solidFill>
                          <a:srgbClr val="1E293B"/>
                        </a:solidFill>
                        <a:latin typeface="Calibri"/>
                      </a:endParaRPr>
                    </a:p>
                  </a:txBody>
                  <a:tcPr marT="36576" marB="36576" anchor="ctr">
                    <a:solidFill>
                      <a:schemeClr val="tx2">
                        <a:lumMod val="10000"/>
                        <a:lumOff val="90000"/>
                      </a:schemeClr>
                    </a:solidFill>
                  </a:tcPr>
                </a:tc>
                <a:tc>
                  <a:txBody>
                    <a:bodyPr/>
                    <a:lstStyle/>
                    <a:p>
                      <a:pPr algn="l"/>
                      <a:r>
                        <a:rPr lang="en-US" sz="1300" b="1" dirty="0">
                          <a:solidFill>
                            <a:srgbClr val="1E293B"/>
                          </a:solidFill>
                          <a:latin typeface="Calibri"/>
                        </a:rPr>
                        <a:t> </a:t>
                      </a:r>
                      <a:endParaRPr sz="1300" b="1" dirty="0">
                        <a:solidFill>
                          <a:srgbClr val="1E293B"/>
                        </a:solidFill>
                        <a:latin typeface="Calibri"/>
                      </a:endParaRPr>
                    </a:p>
                  </a:txBody>
                  <a:tcPr marT="36576" marB="36576" anchor="ctr">
                    <a:solidFill>
                      <a:schemeClr val="tx2">
                        <a:lumMod val="10000"/>
                        <a:lumOff val="90000"/>
                      </a:schemeClr>
                    </a:solidFill>
                  </a:tcPr>
                </a:tc>
                <a:tc>
                  <a:txBody>
                    <a:bodyPr/>
                    <a:lstStyle/>
                    <a:p>
                      <a:pPr algn="l">
                        <a:buNone/>
                      </a:pPr>
                      <a:r>
                        <a:rPr lang="en-US" sz="1300" b="1" dirty="0">
                          <a:solidFill>
                            <a:srgbClr val="1E293B"/>
                          </a:solidFill>
                          <a:latin typeface="Calibri"/>
                        </a:rPr>
                        <a:t>≈ $6.55</a:t>
                      </a:r>
                    </a:p>
                  </a:txBody>
                  <a:tcPr marL="19050" marR="19050" marT="19050" marB="19050" anchor="ctr">
                    <a:solidFill>
                      <a:schemeClr val="tx2">
                        <a:lumMod val="10000"/>
                        <a:lumOff val="90000"/>
                      </a:schemeClr>
                    </a:solidFill>
                  </a:tcPr>
                </a:tc>
                <a:extLst>
                  <a:ext uri="{0D108BD9-81ED-4DB2-BD59-A6C34878D82A}">
                    <a16:rowId xmlns:a16="http://schemas.microsoft.com/office/drawing/2014/main" val="3714867580"/>
                  </a:ext>
                </a:extLst>
              </a:tr>
            </a:tbl>
          </a:graphicData>
        </a:graphic>
      </p:graphicFrame>
      <p:sp>
        <p:nvSpPr>
          <p:cNvPr id="7" name="TextBox 6"/>
          <p:cNvSpPr txBox="1"/>
          <p:nvPr/>
        </p:nvSpPr>
        <p:spPr>
          <a:xfrm>
            <a:off x="4206240" y="6126480"/>
            <a:ext cx="7434072" cy="731520"/>
          </a:xfrm>
          <a:prstGeom prst="rect">
            <a:avLst/>
          </a:prstGeom>
          <a:noFill/>
        </p:spPr>
        <p:txBody>
          <a:bodyPr wrap="square" lIns="0" tIns="0" rIns="0" bIns="0" anchor="t">
            <a:spAutoFit/>
          </a:bodyPr>
          <a:lstStyle/>
          <a:p>
            <a:pPr algn="l">
              <a:spcAft>
                <a:spcPts val="600"/>
              </a:spcAft>
            </a:pPr>
            <a:r>
              <a:rPr sz="1500" b="0" i="0">
                <a:solidFill>
                  <a:srgbClr val="1E293B"/>
                </a:solidFill>
                <a:latin typeface="Calibri"/>
              </a:rPr>
              <a:t>Per post: GPT-4o ≈ $0.0005, GPT-4o-mini ≈ $0.00003. VADER and rules: free, under 0.3 s.</a:t>
            </a:r>
          </a:p>
        </p:txBody>
      </p:sp>
      <p:sp>
        <p:nvSpPr>
          <p:cNvPr id="8" name="TextBox 7">
            <a:extLst>
              <a:ext uri="{FF2B5EF4-FFF2-40B4-BE49-F238E27FC236}">
                <a16:creationId xmlns:a16="http://schemas.microsoft.com/office/drawing/2014/main" id="{A18F848E-0CED-338A-7CB3-965123C2562B}"/>
              </a:ext>
            </a:extLst>
          </p:cNvPr>
          <p:cNvSpPr txBox="1"/>
          <p:nvPr/>
        </p:nvSpPr>
        <p:spPr>
          <a:xfrm>
            <a:off x="548640" y="2933392"/>
            <a:ext cx="3291840" cy="762000"/>
          </a:xfrm>
          <a:prstGeom prst="rect">
            <a:avLst/>
          </a:prstGeom>
          <a:noFill/>
        </p:spPr>
        <p:txBody>
          <a:bodyPr wrap="square" lIns="0" tIns="0" rIns="0" bIns="0" anchor="t">
            <a:spAutoFit/>
          </a:bodyPr>
          <a:lstStyle/>
          <a:p>
            <a:pPr algn="l">
              <a:spcAft>
                <a:spcPts val="600"/>
              </a:spcAft>
            </a:pPr>
            <a:r>
              <a:rPr sz="5000" b="1" i="0" dirty="0">
                <a:solidFill>
                  <a:srgbClr val="1C2E6E"/>
                </a:solidFill>
                <a:latin typeface="Calibri"/>
              </a:rPr>
              <a:t>$</a:t>
            </a:r>
            <a:r>
              <a:rPr lang="en-US" sz="5000" b="1" i="0" dirty="0">
                <a:solidFill>
                  <a:srgbClr val="1C2E6E"/>
                </a:solidFill>
                <a:latin typeface="Calibri"/>
              </a:rPr>
              <a:t>4.80</a:t>
            </a:r>
            <a:endParaRPr sz="5000" b="1" i="0" dirty="0">
              <a:solidFill>
                <a:srgbClr val="1C2E6E"/>
              </a:solidFill>
              <a:latin typeface="Calibri"/>
            </a:endParaRPr>
          </a:p>
        </p:txBody>
      </p:sp>
      <p:sp>
        <p:nvSpPr>
          <p:cNvPr id="9" name="TextBox 8">
            <a:extLst>
              <a:ext uri="{FF2B5EF4-FFF2-40B4-BE49-F238E27FC236}">
                <a16:creationId xmlns:a16="http://schemas.microsoft.com/office/drawing/2014/main" id="{AFAD9DA4-DB80-F2F4-F35E-9E39D5C074B9}"/>
              </a:ext>
            </a:extLst>
          </p:cNvPr>
          <p:cNvSpPr txBox="1"/>
          <p:nvPr/>
        </p:nvSpPr>
        <p:spPr>
          <a:xfrm>
            <a:off x="548640" y="3695392"/>
            <a:ext cx="3291840" cy="230832"/>
          </a:xfrm>
          <a:prstGeom prst="rect">
            <a:avLst/>
          </a:prstGeom>
          <a:noFill/>
        </p:spPr>
        <p:txBody>
          <a:bodyPr wrap="square" lIns="0" tIns="0" rIns="0" bIns="0" anchor="t">
            <a:spAutoFit/>
          </a:bodyPr>
          <a:lstStyle/>
          <a:p>
            <a:pPr algn="l">
              <a:spcAft>
                <a:spcPts val="600"/>
              </a:spcAft>
            </a:pPr>
            <a:r>
              <a:rPr sz="1500" b="1" i="0" dirty="0">
                <a:solidFill>
                  <a:srgbClr val="5B6475"/>
                </a:solidFill>
                <a:latin typeface="Calibri"/>
              </a:rPr>
              <a:t>GPT-4o</a:t>
            </a:r>
            <a:r>
              <a:rPr lang="en-US" sz="1500" b="1" i="0" dirty="0">
                <a:solidFill>
                  <a:srgbClr val="5B6475"/>
                </a:solidFill>
                <a:latin typeface="Calibri"/>
              </a:rPr>
              <a:t> </a:t>
            </a:r>
            <a:r>
              <a:rPr sz="1500" b="0" i="0" dirty="0">
                <a:solidFill>
                  <a:srgbClr val="5B6475"/>
                </a:solidFill>
                <a:latin typeface="Calibri"/>
              </a:rPr>
              <a:t>on </a:t>
            </a:r>
            <a:r>
              <a:rPr lang="en-US" sz="1500" b="0" i="0" dirty="0">
                <a:solidFill>
                  <a:srgbClr val="5B6475"/>
                </a:solidFill>
                <a:latin typeface="Calibri"/>
              </a:rPr>
              <a:t>unresolved issue rows</a:t>
            </a:r>
            <a:endParaRPr sz="1500" b="0" i="0" dirty="0">
              <a:solidFill>
                <a:srgbClr val="5B6475"/>
              </a:solidFill>
              <a:latin typeface="Calibri"/>
            </a:endParaRPr>
          </a:p>
        </p:txBody>
      </p:sp>
    </p:spTree>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822959" y="2148840"/>
            <a:ext cx="1234440" cy="1234440"/>
          </a:xfrm>
          <a:prstGeom prst="roundRect">
            <a:avLst>
              <a:gd name="adj" fmla="val 12000"/>
            </a:avLst>
          </a:prstGeom>
          <a:solidFill>
            <a:srgbClr val="D29B0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4800" b="1">
                <a:solidFill>
                  <a:srgbClr val="FFFFFF"/>
                </a:solidFill>
                <a:latin typeface="Calibri"/>
              </a:rPr>
              <a:t>D</a:t>
            </a:r>
          </a:p>
        </p:txBody>
      </p:sp>
      <p:sp>
        <p:nvSpPr>
          <p:cNvPr id="3" name="TextBox 2"/>
          <p:cNvSpPr txBox="1"/>
          <p:nvPr/>
        </p:nvSpPr>
        <p:spPr>
          <a:xfrm>
            <a:off x="2423160" y="2011680"/>
            <a:ext cx="8686800" cy="822960"/>
          </a:xfrm>
          <a:prstGeom prst="rect">
            <a:avLst/>
          </a:prstGeom>
          <a:noFill/>
        </p:spPr>
        <p:txBody>
          <a:bodyPr wrap="square" lIns="0" tIns="0" rIns="0" bIns="0" anchor="t">
            <a:spAutoFit/>
          </a:bodyPr>
          <a:lstStyle/>
          <a:p>
            <a:pPr algn="l">
              <a:spcAft>
                <a:spcPts val="600"/>
              </a:spcAft>
            </a:pPr>
            <a:r>
              <a:rPr sz="4000" b="1" i="0">
                <a:solidFill>
                  <a:srgbClr val="1C2E6E"/>
                </a:solidFill>
                <a:latin typeface="Calibri"/>
              </a:rPr>
              <a:t>Findings</a:t>
            </a:r>
          </a:p>
        </p:txBody>
      </p:sp>
      <p:sp>
        <p:nvSpPr>
          <p:cNvPr id="4" name="TextBox 3"/>
          <p:cNvSpPr txBox="1"/>
          <p:nvPr/>
        </p:nvSpPr>
        <p:spPr>
          <a:xfrm>
            <a:off x="2423160" y="2834640"/>
            <a:ext cx="8686800" cy="548640"/>
          </a:xfrm>
          <a:prstGeom prst="rect">
            <a:avLst/>
          </a:prstGeom>
          <a:noFill/>
        </p:spPr>
        <p:txBody>
          <a:bodyPr wrap="square" lIns="0" tIns="0" rIns="0" bIns="0" anchor="t">
            <a:spAutoFit/>
          </a:bodyPr>
          <a:lstStyle/>
          <a:p>
            <a:pPr algn="l">
              <a:spcAft>
                <a:spcPts val="600"/>
              </a:spcAft>
            </a:pPr>
            <a:r>
              <a:rPr sz="2000" b="0" i="0">
                <a:solidFill>
                  <a:srgbClr val="5B6475"/>
                </a:solidFill>
                <a:latin typeface="Calibri"/>
              </a:rPr>
              <a:t>What the labelled data says</a:t>
            </a:r>
          </a:p>
        </p:txBody>
      </p:sp>
      <p:sp>
        <p:nvSpPr>
          <p:cNvPr id="5" name="TextBox 4"/>
          <p:cNvSpPr txBox="1"/>
          <p:nvPr/>
        </p:nvSpPr>
        <p:spPr>
          <a:xfrm>
            <a:off x="2423160" y="3520440"/>
            <a:ext cx="8686800" cy="365760"/>
          </a:xfrm>
          <a:prstGeom prst="rect">
            <a:avLst/>
          </a:prstGeom>
          <a:noFill/>
        </p:spPr>
        <p:txBody>
          <a:bodyPr wrap="square" lIns="0" tIns="0" rIns="0" bIns="0" anchor="t">
            <a:spAutoFit/>
          </a:bodyPr>
          <a:lstStyle/>
          <a:p>
            <a:pPr algn="l">
              <a:spcAft>
                <a:spcPts val="600"/>
              </a:spcAft>
            </a:pPr>
            <a:r>
              <a:rPr sz="1600" b="1" i="0" dirty="0">
                <a:solidFill>
                  <a:srgbClr val="D29B08"/>
                </a:solidFill>
                <a:latin typeface="Calibri"/>
              </a:rPr>
              <a:t>About 5 minutes</a:t>
            </a:r>
          </a:p>
        </p:txBody>
      </p:sp>
      <p:sp>
        <p:nvSpPr>
          <p:cNvPr id="6" name="TextBox 5"/>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12000" y="582191"/>
            <a:ext cx="6840000" cy="614014"/>
          </a:xfrm>
          <a:prstGeom prst="rect">
            <a:avLst/>
          </a:prstGeom>
          <a:noFill/>
        </p:spPr>
        <p:txBody>
          <a:bodyPr wrap="square" lIns="0" tIns="0" rIns="0" bIns="0" anchor="ctr">
            <a:spAutoFit/>
          </a:bodyPr>
          <a:lstStyle/>
          <a:p>
            <a:pPr>
              <a:lnSpc>
                <a:spcPct val="95000"/>
              </a:lnSpc>
            </a:pPr>
            <a:r>
              <a:rPr lang="en-US" sz="2400" b="1" i="0" dirty="0">
                <a:solidFill>
                  <a:srgbClr val="1C2E6E"/>
                </a:solidFill>
                <a:latin typeface="Calibri"/>
              </a:rPr>
              <a:t>RQ1 Which sentiment and issue themes appear most?</a:t>
            </a:r>
          </a:p>
          <a:p>
            <a:pPr algn="l">
              <a:lnSpc>
                <a:spcPct val="95000"/>
              </a:lnSpc>
              <a:spcAft>
                <a:spcPts val="0"/>
              </a:spcAft>
            </a:pPr>
            <a:r>
              <a:rPr b="1" i="0" dirty="0">
                <a:solidFill>
                  <a:srgbClr val="1C2E6E"/>
                </a:solidFill>
                <a:latin typeface="Calibri"/>
              </a:rPr>
              <a:t>GPT-4o moved 1,887 posts out of General Discussion</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21</a:t>
            </a:r>
          </a:p>
        </p:txBody>
      </p:sp>
      <p:graphicFrame>
        <p:nvGraphicFramePr>
          <p:cNvPr id="4" name="Chart 3"/>
          <p:cNvGraphicFramePr>
            <a:graphicFrameLocks noGrp="1"/>
          </p:cNvGraphicFramePr>
          <p:nvPr/>
        </p:nvGraphicFramePr>
        <p:xfrm>
          <a:off x="548640" y="1600200"/>
          <a:ext cx="7498079" cy="4617720"/>
        </p:xfrm>
        <a:graphic>
          <a:graphicData uri="http://schemas.openxmlformats.org/drawingml/2006/chart">
            <c:chart xmlns:c="http://schemas.openxmlformats.org/drawingml/2006/chart" xmlns:r="http://schemas.openxmlformats.org/officeDocument/2006/relationships" r:id="rId3"/>
          </a:graphicData>
        </a:graphic>
      </p:graphicFrame>
      <p:sp>
        <p:nvSpPr>
          <p:cNvPr id="5" name="Rounded Rectangle 4"/>
          <p:cNvSpPr/>
          <p:nvPr/>
        </p:nvSpPr>
        <p:spPr>
          <a:xfrm>
            <a:off x="8321040" y="1828800"/>
            <a:ext cx="3319272" cy="420624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49640" y="2011680"/>
            <a:ext cx="2862072" cy="365760"/>
          </a:xfrm>
          <a:prstGeom prst="rect">
            <a:avLst/>
          </a:prstGeom>
          <a:noFill/>
        </p:spPr>
        <p:txBody>
          <a:bodyPr wrap="square" lIns="0" tIns="0" rIns="0" bIns="0" anchor="t">
            <a:spAutoFit/>
          </a:bodyPr>
          <a:lstStyle/>
          <a:p>
            <a:pPr algn="l">
              <a:spcAft>
                <a:spcPts val="600"/>
              </a:spcAft>
            </a:pPr>
            <a:r>
              <a:rPr sz="1700" b="1" i="0">
                <a:solidFill>
                  <a:srgbClr val="1C2E6E"/>
                </a:solidFill>
                <a:latin typeface="Calibri"/>
              </a:rPr>
              <a:t>Read with care</a:t>
            </a:r>
          </a:p>
        </p:txBody>
      </p:sp>
      <p:sp>
        <p:nvSpPr>
          <p:cNvPr id="7" name="TextBox 6"/>
          <p:cNvSpPr txBox="1"/>
          <p:nvPr/>
        </p:nvSpPr>
        <p:spPr>
          <a:xfrm>
            <a:off x="8549640" y="2395728"/>
            <a:ext cx="2862072" cy="769441"/>
          </a:xfrm>
          <a:prstGeom prst="rect">
            <a:avLst/>
          </a:prstGeom>
          <a:noFill/>
        </p:spPr>
        <p:txBody>
          <a:bodyPr wrap="square" lIns="0" tIns="0" rIns="0" bIns="0" anchor="t">
            <a:spAutoFit/>
          </a:bodyPr>
          <a:lstStyle/>
          <a:p>
            <a:pPr algn="l">
              <a:spcAft>
                <a:spcPts val="600"/>
              </a:spcAft>
            </a:pPr>
            <a:r>
              <a:rPr sz="1500" b="0" i="0" dirty="0">
                <a:solidFill>
                  <a:srgbClr val="1E293B"/>
                </a:solidFill>
                <a:latin typeface="Calibri"/>
              </a:rPr>
              <a:t>35% of posts had no rule match.</a:t>
            </a:r>
          </a:p>
          <a:p>
            <a:pPr algn="l">
              <a:spcAft>
                <a:spcPts val="600"/>
              </a:spcAft>
            </a:pPr>
            <a:r>
              <a:rPr sz="1500" b="0" i="0" dirty="0">
                <a:solidFill>
                  <a:srgbClr val="1E293B"/>
                </a:solidFill>
                <a:latin typeface="Calibri"/>
              </a:rPr>
              <a:t>Most reassigned posts became Network Quality (+995).</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12000" y="582191"/>
            <a:ext cx="6840000" cy="614014"/>
          </a:xfrm>
          <a:prstGeom prst="rect">
            <a:avLst/>
          </a:prstGeom>
          <a:noFill/>
        </p:spPr>
        <p:txBody>
          <a:bodyPr wrap="square" lIns="0" tIns="0" rIns="0" bIns="0" anchor="ctr">
            <a:spAutoFit/>
          </a:bodyPr>
          <a:lstStyle/>
          <a:p>
            <a:pPr>
              <a:lnSpc>
                <a:spcPct val="95000"/>
              </a:lnSpc>
            </a:pPr>
            <a:r>
              <a:rPr lang="en-US" sz="2400" b="1" dirty="0">
                <a:solidFill>
                  <a:srgbClr val="1C2E6E"/>
                </a:solidFill>
                <a:latin typeface="Calibri"/>
              </a:rPr>
              <a:t>RQ1 Which sentiment and issue themes appear most?</a:t>
            </a:r>
            <a:endParaRPr lang="en-US" sz="2400" b="1" i="0" dirty="0">
              <a:solidFill>
                <a:srgbClr val="1C2E6E"/>
              </a:solidFill>
              <a:latin typeface="Calibri"/>
            </a:endParaRPr>
          </a:p>
          <a:p>
            <a:pPr algn="l">
              <a:lnSpc>
                <a:spcPct val="95000"/>
              </a:lnSpc>
              <a:spcAft>
                <a:spcPts val="0"/>
              </a:spcAft>
            </a:pPr>
            <a:r>
              <a:rPr b="1" i="0" dirty="0">
                <a:solidFill>
                  <a:srgbClr val="1C2E6E"/>
                </a:solidFill>
                <a:latin typeface="Calibri"/>
              </a:rPr>
              <a:t>Two in five posts are not happy, and VADER hides it</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22</a:t>
            </a:r>
          </a:p>
        </p:txBody>
      </p:sp>
      <p:graphicFrame>
        <p:nvGraphicFramePr>
          <p:cNvPr id="4" name="Chart 3"/>
          <p:cNvGraphicFramePr>
            <a:graphicFrameLocks noGrp="1"/>
          </p:cNvGraphicFramePr>
          <p:nvPr/>
        </p:nvGraphicFramePr>
        <p:xfrm>
          <a:off x="548640" y="1600200"/>
          <a:ext cx="6949440" cy="43891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p:cNvSpPr txBox="1"/>
          <p:nvPr/>
        </p:nvSpPr>
        <p:spPr>
          <a:xfrm>
            <a:off x="548640" y="6053328"/>
            <a:ext cx="6949440" cy="320040"/>
          </a:xfrm>
          <a:prstGeom prst="rect">
            <a:avLst/>
          </a:prstGeom>
          <a:noFill/>
        </p:spPr>
        <p:txBody>
          <a:bodyPr wrap="square" lIns="0" tIns="0" rIns="0" bIns="0" anchor="t">
            <a:spAutoFit/>
          </a:bodyPr>
          <a:lstStyle/>
          <a:p>
            <a:pPr algn="l">
              <a:spcAft>
                <a:spcPts val="600"/>
              </a:spcAft>
            </a:pPr>
            <a:r>
              <a:rPr sz="1200" b="0" i="0">
                <a:solidFill>
                  <a:srgbClr val="5B6475"/>
                </a:solidFill>
                <a:latin typeface="Calibri"/>
              </a:rPr>
              <a:t>Shares in %; corpus n = 9,162, gold n = 392 (representative set)</a:t>
            </a:r>
          </a:p>
        </p:txBody>
      </p:sp>
      <p:sp>
        <p:nvSpPr>
          <p:cNvPr id="6" name="TextBox 5"/>
          <p:cNvSpPr txBox="1"/>
          <p:nvPr/>
        </p:nvSpPr>
        <p:spPr>
          <a:xfrm>
            <a:off x="7863840" y="1737360"/>
            <a:ext cx="3749039" cy="457200"/>
          </a:xfrm>
          <a:prstGeom prst="rect">
            <a:avLst/>
          </a:prstGeom>
          <a:noFill/>
        </p:spPr>
        <p:txBody>
          <a:bodyPr wrap="square" lIns="0" tIns="0" rIns="0" bIns="0" anchor="t">
            <a:spAutoFit/>
          </a:bodyPr>
          <a:lstStyle/>
          <a:p>
            <a:pPr algn="l">
              <a:spcAft>
                <a:spcPts val="600"/>
              </a:spcAft>
            </a:pPr>
            <a:r>
              <a:rPr sz="3000" b="1" i="0">
                <a:solidFill>
                  <a:srgbClr val="1C2E6E"/>
                </a:solidFill>
                <a:latin typeface="Calibri"/>
              </a:rPr>
              <a:t>44% → 42% → 40%</a:t>
            </a:r>
          </a:p>
        </p:txBody>
      </p:sp>
      <p:sp>
        <p:nvSpPr>
          <p:cNvPr id="7" name="TextBox 6"/>
          <p:cNvSpPr txBox="1"/>
          <p:nvPr/>
        </p:nvSpPr>
        <p:spPr>
          <a:xfrm>
            <a:off x="7863840" y="2240280"/>
            <a:ext cx="3749039" cy="822960"/>
          </a:xfrm>
          <a:prstGeom prst="rect">
            <a:avLst/>
          </a:prstGeom>
          <a:noFill/>
        </p:spPr>
        <p:txBody>
          <a:bodyPr wrap="square" lIns="0" tIns="0" rIns="0" bIns="0" anchor="t">
            <a:spAutoFit/>
          </a:bodyPr>
          <a:lstStyle/>
          <a:p>
            <a:pPr algn="l">
              <a:spcAft>
                <a:spcPts val="600"/>
              </a:spcAft>
            </a:pPr>
            <a:r>
              <a:rPr sz="1500" b="0" i="0" dirty="0">
                <a:solidFill>
                  <a:srgbClr val="5B6475"/>
                </a:solidFill>
                <a:latin typeface="Calibri"/>
              </a:rPr>
              <a:t>not happy: per post, per thread, outside outages</a:t>
            </a:r>
          </a:p>
        </p:txBody>
      </p:sp>
      <p:sp>
        <p:nvSpPr>
          <p:cNvPr id="8" name="Rounded Rectangle 7"/>
          <p:cNvSpPr/>
          <p:nvPr/>
        </p:nvSpPr>
        <p:spPr>
          <a:xfrm>
            <a:off x="7863840" y="3657600"/>
            <a:ext cx="3776472" cy="233172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92440" y="3840480"/>
            <a:ext cx="3319272" cy="365760"/>
          </a:xfrm>
          <a:prstGeom prst="rect">
            <a:avLst/>
          </a:prstGeom>
          <a:noFill/>
        </p:spPr>
        <p:txBody>
          <a:bodyPr wrap="square" lIns="0" tIns="0" rIns="0" bIns="0" anchor="t">
            <a:spAutoFit/>
          </a:bodyPr>
          <a:lstStyle/>
          <a:p>
            <a:pPr algn="l">
              <a:spcAft>
                <a:spcPts val="600"/>
              </a:spcAft>
            </a:pPr>
            <a:r>
              <a:rPr sz="1700" b="1" i="0">
                <a:solidFill>
                  <a:srgbClr val="1C2E6E"/>
                </a:solidFill>
                <a:latin typeface="Calibri"/>
              </a:rPr>
              <a:t>VADER reverses it</a:t>
            </a:r>
          </a:p>
        </p:txBody>
      </p:sp>
      <p:sp>
        <p:nvSpPr>
          <p:cNvPr id="10" name="TextBox 9"/>
          <p:cNvSpPr txBox="1"/>
          <p:nvPr/>
        </p:nvSpPr>
        <p:spPr>
          <a:xfrm>
            <a:off x="8092440" y="4224528"/>
            <a:ext cx="3319272" cy="1600199"/>
          </a:xfrm>
          <a:prstGeom prst="rect">
            <a:avLst/>
          </a:prstGeom>
          <a:noFill/>
        </p:spPr>
        <p:txBody>
          <a:bodyPr wrap="square" lIns="0" tIns="0" rIns="0" bIns="0" anchor="t">
            <a:spAutoFit/>
          </a:bodyPr>
          <a:lstStyle/>
          <a:p>
            <a:pPr algn="l">
              <a:spcAft>
                <a:spcPts val="600"/>
              </a:spcAft>
            </a:pPr>
            <a:r>
              <a:rPr sz="1500" b="0" i="0">
                <a:solidFill>
                  <a:srgbClr val="1E293B"/>
                </a:solidFill>
                <a:latin typeface="Calibri"/>
              </a:rPr>
              <a:t>Of 4,180 posts VADER calls happy, GPT-4o-mini reads 1,480 as not happy and 1,538 as neutral.</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85496" y="406721"/>
            <a:ext cx="6840000" cy="643253"/>
          </a:xfrm>
          <a:prstGeom prst="rect">
            <a:avLst/>
          </a:prstGeom>
          <a:noFill/>
        </p:spPr>
        <p:txBody>
          <a:bodyPr wrap="square" lIns="0" tIns="0" rIns="0" bIns="0" anchor="ctr">
            <a:spAutoFit/>
          </a:bodyPr>
          <a:lstStyle/>
          <a:p>
            <a:pPr>
              <a:lnSpc>
                <a:spcPct val="95000"/>
              </a:lnSpc>
            </a:pPr>
            <a:r>
              <a:rPr lang="en-US" sz="2400" b="1" dirty="0">
                <a:solidFill>
                  <a:srgbClr val="1C2E6E"/>
                </a:solidFill>
                <a:latin typeface="Calibri"/>
              </a:rPr>
              <a:t>RQ2 How do Reddit vs HWZ and the brands differ?</a:t>
            </a:r>
            <a:endParaRPr lang="en-US" sz="2400" b="1" i="0" dirty="0">
              <a:solidFill>
                <a:srgbClr val="1C2E6E"/>
              </a:solidFill>
              <a:latin typeface="Calibri"/>
            </a:endParaRPr>
          </a:p>
          <a:p>
            <a:pPr algn="l">
              <a:lnSpc>
                <a:spcPct val="95000"/>
              </a:lnSpc>
              <a:spcAft>
                <a:spcPts val="0"/>
              </a:spcAft>
            </a:pPr>
            <a:r>
              <a:rPr sz="2000" b="1" i="0" dirty="0">
                <a:solidFill>
                  <a:srgbClr val="1C2E6E"/>
                </a:solidFill>
                <a:latin typeface="Calibri"/>
              </a:rPr>
              <a:t>Case study: one outage</a:t>
            </a:r>
            <a:r>
              <a:rPr lang="en-US" sz="2000" b="1" i="0" dirty="0">
                <a:solidFill>
                  <a:srgbClr val="1C2E6E"/>
                </a:solidFill>
                <a:latin typeface="Calibri"/>
              </a:rPr>
              <a:t>(Mar Singtel)</a:t>
            </a:r>
            <a:r>
              <a:rPr sz="2000" b="1" i="0" dirty="0">
                <a:solidFill>
                  <a:srgbClr val="1C2E6E"/>
                </a:solidFill>
                <a:latin typeface="Calibri"/>
              </a:rPr>
              <a:t> distorted every number</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24</a:t>
            </a:r>
          </a:p>
        </p:txBody>
      </p:sp>
      <p:graphicFrame>
        <p:nvGraphicFramePr>
          <p:cNvPr id="4" name="Table 3"/>
          <p:cNvGraphicFramePr>
            <a:graphicFrameLocks noGrp="1"/>
          </p:cNvGraphicFramePr>
          <p:nvPr>
            <p:extLst>
              <p:ext uri="{D42A27DB-BD31-4B8C-83A1-F6EECF244321}">
                <p14:modId xmlns:p14="http://schemas.microsoft.com/office/powerpoint/2010/main" val="2255072012"/>
              </p:ext>
            </p:extLst>
          </p:nvPr>
        </p:nvGraphicFramePr>
        <p:xfrm>
          <a:off x="548640" y="1691640"/>
          <a:ext cx="6949440" cy="3401568"/>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tblGrid>
              <a:tr h="566928">
                <a:tc>
                  <a:txBody>
                    <a:bodyPr/>
                    <a:lstStyle/>
                    <a:p>
                      <a:pPr algn="l"/>
                      <a:endParaRPr/>
                    </a:p>
                  </a:txBody>
                  <a:tcPr marT="36576" marB="36576" anchor="ctr">
                    <a:solidFill>
                      <a:srgbClr val="1C2E6E"/>
                    </a:solidFill>
                  </a:tcPr>
                </a:tc>
                <a:tc>
                  <a:txBody>
                    <a:bodyPr/>
                    <a:lstStyle/>
                    <a:p>
                      <a:pPr algn="l"/>
                      <a:r>
                        <a:rPr sz="1500" b="1">
                          <a:solidFill>
                            <a:srgbClr val="FFFFFF"/>
                          </a:solidFill>
                          <a:latin typeface="Calibri"/>
                        </a:rPr>
                        <a:t>Outage threads</a:t>
                      </a:r>
                    </a:p>
                  </a:txBody>
                  <a:tcPr marT="36576" marB="36576" anchor="ctr">
                    <a:solidFill>
                      <a:srgbClr val="1C2E6E"/>
                    </a:solidFill>
                  </a:tcPr>
                </a:tc>
                <a:tc>
                  <a:txBody>
                    <a:bodyPr/>
                    <a:lstStyle/>
                    <a:p>
                      <a:pPr algn="l"/>
                      <a:r>
                        <a:rPr sz="1500" b="1" dirty="0">
                          <a:solidFill>
                            <a:srgbClr val="FFFFFF"/>
                          </a:solidFill>
                          <a:latin typeface="Calibri"/>
                        </a:rPr>
                        <a:t>All other threads</a:t>
                      </a:r>
                      <a:r>
                        <a:rPr lang="en-US" sz="1500" b="1" dirty="0">
                          <a:solidFill>
                            <a:srgbClr val="FFFFFF"/>
                          </a:solidFill>
                          <a:latin typeface="Calibri"/>
                        </a:rPr>
                        <a:t>(BM)</a:t>
                      </a:r>
                      <a:endParaRPr sz="1500" b="1" dirty="0">
                        <a:solidFill>
                          <a:srgbClr val="FFFFFF"/>
                        </a:solidFill>
                        <a:latin typeface="Calibri"/>
                      </a:endParaRPr>
                    </a:p>
                  </a:txBody>
                  <a:tcPr marT="36576" marB="36576" anchor="ctr">
                    <a:solidFill>
                      <a:srgbClr val="1C2E6E"/>
                    </a:solidFill>
                  </a:tcPr>
                </a:tc>
                <a:extLst>
                  <a:ext uri="{0D108BD9-81ED-4DB2-BD59-A6C34878D82A}">
                    <a16:rowId xmlns:a16="http://schemas.microsoft.com/office/drawing/2014/main" val="10000"/>
                  </a:ext>
                </a:extLst>
              </a:tr>
              <a:tr h="566928">
                <a:tc>
                  <a:txBody>
                    <a:bodyPr/>
                    <a:lstStyle/>
                    <a:p>
                      <a:pPr algn="l"/>
                      <a:r>
                        <a:rPr sz="1500" b="0">
                          <a:solidFill>
                            <a:srgbClr val="1E293B"/>
                          </a:solidFill>
                          <a:latin typeface="Calibri"/>
                        </a:rPr>
                        <a:t>Posts</a:t>
                      </a:r>
                    </a:p>
                  </a:txBody>
                  <a:tcPr marT="36576" marB="36576" anchor="ctr">
                    <a:solidFill>
                      <a:srgbClr val="FFFFFF"/>
                    </a:solidFill>
                  </a:tcPr>
                </a:tc>
                <a:tc>
                  <a:txBody>
                    <a:bodyPr/>
                    <a:lstStyle/>
                    <a:p>
                      <a:pPr algn="l"/>
                      <a:r>
                        <a:rPr sz="1500" b="0">
                          <a:solidFill>
                            <a:srgbClr val="1E293B"/>
                          </a:solidFill>
                          <a:latin typeface="Calibri"/>
                        </a:rPr>
                        <a:t>1,102</a:t>
                      </a:r>
                    </a:p>
                  </a:txBody>
                  <a:tcPr marT="36576" marB="36576" anchor="ctr">
                    <a:solidFill>
                      <a:srgbClr val="FFFFFF"/>
                    </a:solidFill>
                  </a:tcPr>
                </a:tc>
                <a:tc>
                  <a:txBody>
                    <a:bodyPr/>
                    <a:lstStyle/>
                    <a:p>
                      <a:pPr algn="l"/>
                      <a:r>
                        <a:rPr sz="1500" b="0">
                          <a:solidFill>
                            <a:srgbClr val="1E293B"/>
                          </a:solidFill>
                          <a:latin typeface="Calibri"/>
                        </a:rPr>
                        <a:t>8,060</a:t>
                      </a:r>
                    </a:p>
                  </a:txBody>
                  <a:tcPr marT="36576" marB="36576" anchor="ctr">
                    <a:solidFill>
                      <a:srgbClr val="FFFFFF"/>
                    </a:solidFill>
                  </a:tcPr>
                </a:tc>
                <a:extLst>
                  <a:ext uri="{0D108BD9-81ED-4DB2-BD59-A6C34878D82A}">
                    <a16:rowId xmlns:a16="http://schemas.microsoft.com/office/drawing/2014/main" val="10001"/>
                  </a:ext>
                </a:extLst>
              </a:tr>
              <a:tr h="566928">
                <a:tc>
                  <a:txBody>
                    <a:bodyPr/>
                    <a:lstStyle/>
                    <a:p>
                      <a:pPr algn="l"/>
                      <a:r>
                        <a:rPr sz="1500" b="1">
                          <a:solidFill>
                            <a:srgbClr val="1E293B"/>
                          </a:solidFill>
                          <a:latin typeface="Calibri"/>
                        </a:rPr>
                        <a:t>Not happy</a:t>
                      </a:r>
                    </a:p>
                  </a:txBody>
                  <a:tcPr marT="36576" marB="36576" anchor="ctr">
                    <a:solidFill>
                      <a:srgbClr val="FBF3DF"/>
                    </a:solidFill>
                  </a:tcPr>
                </a:tc>
                <a:tc>
                  <a:txBody>
                    <a:bodyPr/>
                    <a:lstStyle/>
                    <a:p>
                      <a:pPr algn="l"/>
                      <a:r>
                        <a:rPr sz="1500" b="0">
                          <a:solidFill>
                            <a:srgbClr val="1E293B"/>
                          </a:solidFill>
                          <a:latin typeface="Calibri"/>
                        </a:rPr>
                        <a:t>71%</a:t>
                      </a:r>
                    </a:p>
                  </a:txBody>
                  <a:tcPr marT="36576" marB="36576" anchor="ctr">
                    <a:solidFill>
                      <a:srgbClr val="FBF3DF"/>
                    </a:solidFill>
                  </a:tcPr>
                </a:tc>
                <a:tc>
                  <a:txBody>
                    <a:bodyPr/>
                    <a:lstStyle/>
                    <a:p>
                      <a:pPr algn="l"/>
                      <a:r>
                        <a:rPr sz="1500" b="0">
                          <a:solidFill>
                            <a:srgbClr val="1E293B"/>
                          </a:solidFill>
                          <a:latin typeface="Calibri"/>
                        </a:rPr>
                        <a:t>40%</a:t>
                      </a:r>
                    </a:p>
                  </a:txBody>
                  <a:tcPr marT="36576" marB="36576" anchor="ctr">
                    <a:solidFill>
                      <a:srgbClr val="FBF3DF"/>
                    </a:solidFill>
                  </a:tcPr>
                </a:tc>
                <a:extLst>
                  <a:ext uri="{0D108BD9-81ED-4DB2-BD59-A6C34878D82A}">
                    <a16:rowId xmlns:a16="http://schemas.microsoft.com/office/drawing/2014/main" val="10002"/>
                  </a:ext>
                </a:extLst>
              </a:tr>
              <a:tr h="566928">
                <a:tc>
                  <a:txBody>
                    <a:bodyPr/>
                    <a:lstStyle/>
                    <a:p>
                      <a:pPr algn="l"/>
                      <a:r>
                        <a:rPr sz="1500" b="0">
                          <a:solidFill>
                            <a:srgbClr val="1E293B"/>
                          </a:solidFill>
                          <a:latin typeface="Calibri"/>
                        </a:rPr>
                        <a:t>Singtel not happy</a:t>
                      </a:r>
                    </a:p>
                  </a:txBody>
                  <a:tcPr marT="36576" marB="36576" anchor="ctr">
                    <a:solidFill>
                      <a:srgbClr val="FFFFFF"/>
                    </a:solidFill>
                  </a:tcPr>
                </a:tc>
                <a:tc>
                  <a:txBody>
                    <a:bodyPr/>
                    <a:lstStyle/>
                    <a:p>
                      <a:pPr algn="l"/>
                      <a:r>
                        <a:rPr sz="1500" b="0">
                          <a:solidFill>
                            <a:srgbClr val="1E293B"/>
                          </a:solidFill>
                          <a:latin typeface="Calibri"/>
                        </a:rPr>
                        <a:t>73%</a:t>
                      </a:r>
                    </a:p>
                  </a:txBody>
                  <a:tcPr marT="36576" marB="36576" anchor="ctr">
                    <a:solidFill>
                      <a:srgbClr val="FFFFFF"/>
                    </a:solidFill>
                  </a:tcPr>
                </a:tc>
                <a:tc>
                  <a:txBody>
                    <a:bodyPr/>
                    <a:lstStyle/>
                    <a:p>
                      <a:pPr algn="l"/>
                      <a:r>
                        <a:rPr sz="1500" b="0">
                          <a:solidFill>
                            <a:srgbClr val="1E293B"/>
                          </a:solidFill>
                          <a:latin typeface="Calibri"/>
                        </a:rPr>
                        <a:t>42%</a:t>
                      </a:r>
                    </a:p>
                  </a:txBody>
                  <a:tcPr marT="36576" marB="36576" anchor="ctr">
                    <a:solidFill>
                      <a:srgbClr val="FFFFFF"/>
                    </a:solidFill>
                  </a:tcPr>
                </a:tc>
                <a:extLst>
                  <a:ext uri="{0D108BD9-81ED-4DB2-BD59-A6C34878D82A}">
                    <a16:rowId xmlns:a16="http://schemas.microsoft.com/office/drawing/2014/main" val="10003"/>
                  </a:ext>
                </a:extLst>
              </a:tr>
              <a:tr h="566928">
                <a:tc>
                  <a:txBody>
                    <a:bodyPr/>
                    <a:lstStyle/>
                    <a:p>
                      <a:pPr algn="l"/>
                      <a:r>
                        <a:rPr sz="1500" b="0">
                          <a:solidFill>
                            <a:srgbClr val="1E293B"/>
                          </a:solidFill>
                          <a:latin typeface="Calibri"/>
                        </a:rPr>
                        <a:t>StarHub not happy</a:t>
                      </a:r>
                    </a:p>
                  </a:txBody>
                  <a:tcPr marT="36576" marB="36576" anchor="ctr">
                    <a:solidFill>
                      <a:srgbClr val="F2F4F9"/>
                    </a:solidFill>
                  </a:tcPr>
                </a:tc>
                <a:tc>
                  <a:txBody>
                    <a:bodyPr/>
                    <a:lstStyle/>
                    <a:p>
                      <a:pPr algn="l"/>
                      <a:r>
                        <a:rPr sz="1500" b="0">
                          <a:solidFill>
                            <a:srgbClr val="1E293B"/>
                          </a:solidFill>
                          <a:latin typeface="Calibri"/>
                        </a:rPr>
                        <a:t>68%</a:t>
                      </a:r>
                    </a:p>
                  </a:txBody>
                  <a:tcPr marT="36576" marB="36576" anchor="ctr">
                    <a:solidFill>
                      <a:srgbClr val="F2F4F9"/>
                    </a:solidFill>
                  </a:tcPr>
                </a:tc>
                <a:tc>
                  <a:txBody>
                    <a:bodyPr/>
                    <a:lstStyle/>
                    <a:p>
                      <a:pPr algn="l"/>
                      <a:r>
                        <a:rPr sz="1500" b="0">
                          <a:solidFill>
                            <a:srgbClr val="1E293B"/>
                          </a:solidFill>
                          <a:latin typeface="Calibri"/>
                        </a:rPr>
                        <a:t>40%</a:t>
                      </a:r>
                    </a:p>
                  </a:txBody>
                  <a:tcPr marT="36576" marB="36576" anchor="ctr">
                    <a:solidFill>
                      <a:srgbClr val="F2F4F9"/>
                    </a:solidFill>
                  </a:tcPr>
                </a:tc>
                <a:extLst>
                  <a:ext uri="{0D108BD9-81ED-4DB2-BD59-A6C34878D82A}">
                    <a16:rowId xmlns:a16="http://schemas.microsoft.com/office/drawing/2014/main" val="10004"/>
                  </a:ext>
                </a:extLst>
              </a:tr>
              <a:tr h="566928">
                <a:tc>
                  <a:txBody>
                    <a:bodyPr/>
                    <a:lstStyle/>
                    <a:p>
                      <a:pPr algn="l"/>
                      <a:r>
                        <a:rPr sz="1500" b="1">
                          <a:solidFill>
                            <a:srgbClr val="1E293B"/>
                          </a:solidFill>
                          <a:latin typeface="Calibri"/>
                        </a:rPr>
                        <a:t>Share on Reddit</a:t>
                      </a:r>
                    </a:p>
                  </a:txBody>
                  <a:tcPr marT="36576" marB="36576" anchor="ctr">
                    <a:solidFill>
                      <a:srgbClr val="FBF3DF"/>
                    </a:solidFill>
                  </a:tcPr>
                </a:tc>
                <a:tc>
                  <a:txBody>
                    <a:bodyPr/>
                    <a:lstStyle/>
                    <a:p>
                      <a:pPr algn="l"/>
                      <a:r>
                        <a:rPr sz="1500" b="0">
                          <a:solidFill>
                            <a:srgbClr val="1E293B"/>
                          </a:solidFill>
                          <a:latin typeface="Calibri"/>
                        </a:rPr>
                        <a:t>99.7%</a:t>
                      </a:r>
                    </a:p>
                  </a:txBody>
                  <a:tcPr marT="36576" marB="36576" anchor="ctr">
                    <a:solidFill>
                      <a:srgbClr val="FBF3DF"/>
                    </a:solidFill>
                  </a:tcPr>
                </a:tc>
                <a:tc>
                  <a:txBody>
                    <a:bodyPr/>
                    <a:lstStyle/>
                    <a:p>
                      <a:pPr algn="l"/>
                      <a:r>
                        <a:rPr sz="1500" b="0" dirty="0">
                          <a:solidFill>
                            <a:srgbClr val="1E293B"/>
                          </a:solidFill>
                          <a:latin typeface="Calibri"/>
                        </a:rPr>
                        <a:t>57%</a:t>
                      </a:r>
                    </a:p>
                  </a:txBody>
                  <a:tcPr marT="36576" marB="36576" anchor="ctr">
                    <a:solidFill>
                      <a:srgbClr val="FBF3DF"/>
                    </a:solidFill>
                  </a:tcPr>
                </a:tc>
                <a:extLst>
                  <a:ext uri="{0D108BD9-81ED-4DB2-BD59-A6C34878D82A}">
                    <a16:rowId xmlns:a16="http://schemas.microsoft.com/office/drawing/2014/main" val="10005"/>
                  </a:ext>
                </a:extLst>
              </a:tr>
            </a:tbl>
          </a:graphicData>
        </a:graphic>
      </p:graphicFrame>
      <p:sp>
        <p:nvSpPr>
          <p:cNvPr id="5" name="Rounded Rectangle 4"/>
          <p:cNvSpPr/>
          <p:nvPr/>
        </p:nvSpPr>
        <p:spPr>
          <a:xfrm>
            <a:off x="7863840" y="1691640"/>
            <a:ext cx="3776472" cy="411480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092440" y="1874520"/>
            <a:ext cx="3319272" cy="365760"/>
          </a:xfrm>
          <a:prstGeom prst="rect">
            <a:avLst/>
          </a:prstGeom>
          <a:noFill/>
        </p:spPr>
        <p:txBody>
          <a:bodyPr wrap="square" lIns="0" tIns="0" rIns="0" bIns="0" anchor="t">
            <a:spAutoFit/>
          </a:bodyPr>
          <a:lstStyle/>
          <a:p>
            <a:pPr algn="l">
              <a:spcAft>
                <a:spcPts val="600"/>
              </a:spcAft>
            </a:pPr>
            <a:r>
              <a:rPr sz="1700" b="1" i="0">
                <a:solidFill>
                  <a:srgbClr val="1C2E6E"/>
                </a:solidFill>
                <a:latin typeface="Calibri"/>
              </a:rPr>
              <a:t>The lesson</a:t>
            </a:r>
          </a:p>
        </p:txBody>
      </p:sp>
      <p:sp>
        <p:nvSpPr>
          <p:cNvPr id="7" name="TextBox 6"/>
          <p:cNvSpPr txBox="1"/>
          <p:nvPr/>
        </p:nvSpPr>
        <p:spPr>
          <a:xfrm>
            <a:off x="8092440" y="2258568"/>
            <a:ext cx="3319272" cy="1308050"/>
          </a:xfrm>
          <a:prstGeom prst="rect">
            <a:avLst/>
          </a:prstGeom>
          <a:noFill/>
        </p:spPr>
        <p:txBody>
          <a:bodyPr wrap="square" lIns="0" tIns="0" rIns="0" bIns="0" anchor="t">
            <a:spAutoFit/>
          </a:bodyPr>
          <a:lstStyle/>
          <a:p>
            <a:pPr algn="l">
              <a:spcAft>
                <a:spcPts val="600"/>
              </a:spcAft>
            </a:pPr>
            <a:r>
              <a:rPr sz="1500" b="0" i="0" dirty="0">
                <a:solidFill>
                  <a:srgbClr val="1E293B"/>
                </a:solidFill>
                <a:latin typeface="Calibri"/>
              </a:rPr>
              <a:t>A single incident can create a brand gap and a platform gap.</a:t>
            </a:r>
          </a:p>
          <a:p>
            <a:pPr algn="l">
              <a:spcAft>
                <a:spcPts val="600"/>
              </a:spcAft>
            </a:pPr>
            <a:r>
              <a:rPr sz="1500" b="0" i="0" dirty="0">
                <a:solidFill>
                  <a:srgbClr val="1E293B"/>
                </a:solidFill>
                <a:latin typeface="Calibri"/>
              </a:rPr>
              <a:t>1,099 of 1,102 outage posts are on Reddit.</a:t>
            </a:r>
          </a:p>
          <a:p>
            <a:pPr algn="l">
              <a:spcAft>
                <a:spcPts val="600"/>
              </a:spcAft>
            </a:pPr>
            <a:r>
              <a:rPr lang="en-US" sz="1500" b="0" i="0" dirty="0">
                <a:solidFill>
                  <a:srgbClr val="1E293B"/>
                </a:solidFill>
                <a:latin typeface="Calibri"/>
              </a:rPr>
              <a:t>Action item for Singtel: </a:t>
            </a:r>
            <a:r>
              <a:rPr sz="1500" b="0" i="0" dirty="0">
                <a:solidFill>
                  <a:srgbClr val="1E293B"/>
                </a:solidFill>
                <a:latin typeface="Calibri"/>
              </a:rPr>
              <a:t>Check every finding with the incident removed.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98748" y="207477"/>
            <a:ext cx="6840000" cy="983346"/>
          </a:xfrm>
          <a:prstGeom prst="rect">
            <a:avLst/>
          </a:prstGeom>
          <a:noFill/>
        </p:spPr>
        <p:txBody>
          <a:bodyPr wrap="square" lIns="0" tIns="0" rIns="0" bIns="0" anchor="ctr">
            <a:spAutoFit/>
          </a:bodyPr>
          <a:lstStyle/>
          <a:p>
            <a:pPr>
              <a:lnSpc>
                <a:spcPct val="95000"/>
              </a:lnSpc>
            </a:pPr>
            <a:r>
              <a:rPr lang="en-US" sz="2400" b="1" dirty="0">
                <a:solidFill>
                  <a:srgbClr val="1C2E6E"/>
                </a:solidFill>
                <a:latin typeface="Calibri"/>
              </a:rPr>
              <a:t>RQ1 Which sentiment and issue themes appear most?</a:t>
            </a:r>
          </a:p>
          <a:p>
            <a:pPr>
              <a:lnSpc>
                <a:spcPct val="95000"/>
              </a:lnSpc>
            </a:pPr>
            <a:r>
              <a:rPr lang="en-US" sz="2400" b="1" dirty="0">
                <a:solidFill>
                  <a:srgbClr val="1C2E6E"/>
                </a:solidFill>
                <a:latin typeface="Calibri"/>
              </a:rPr>
              <a:t>RQ2 How do Reddit vs HWZ and the brands differ?</a:t>
            </a:r>
          </a:p>
          <a:p>
            <a:pPr algn="l">
              <a:lnSpc>
                <a:spcPct val="95000"/>
              </a:lnSpc>
              <a:spcAft>
                <a:spcPts val="0"/>
              </a:spcAft>
            </a:pPr>
            <a:r>
              <a:rPr lang="en-US" b="1" i="0" dirty="0">
                <a:solidFill>
                  <a:srgbClr val="1C2E6E"/>
                </a:solidFill>
                <a:latin typeface="Calibri"/>
              </a:rPr>
              <a:t>Not happy breakdown by platform and by brand</a:t>
            </a:r>
            <a:endParaRPr b="1" i="0" dirty="0">
              <a:solidFill>
                <a:srgbClr val="1C2E6E"/>
              </a:solidFill>
              <a:latin typeface="Calibri"/>
            </a:endParaRP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23</a:t>
            </a:r>
          </a:p>
        </p:txBody>
      </p:sp>
      <p:graphicFrame>
        <p:nvGraphicFramePr>
          <p:cNvPr id="4" name="Table 3"/>
          <p:cNvGraphicFramePr>
            <a:graphicFrameLocks noGrp="1"/>
          </p:cNvGraphicFramePr>
          <p:nvPr>
            <p:extLst>
              <p:ext uri="{D42A27DB-BD31-4B8C-83A1-F6EECF244321}">
                <p14:modId xmlns:p14="http://schemas.microsoft.com/office/powerpoint/2010/main" val="2896308893"/>
              </p:ext>
            </p:extLst>
          </p:nvPr>
        </p:nvGraphicFramePr>
        <p:xfrm>
          <a:off x="548640" y="1691640"/>
          <a:ext cx="6858000" cy="4096512"/>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512064">
                <a:tc>
                  <a:txBody>
                    <a:bodyPr/>
                    <a:lstStyle/>
                    <a:p>
                      <a:pPr algn="l"/>
                      <a:r>
                        <a:rPr sz="1400" b="1">
                          <a:solidFill>
                            <a:srgbClr val="FFFFFF"/>
                          </a:solidFill>
                          <a:latin typeface="Calibri"/>
                        </a:rPr>
                        <a:t>Not happy</a:t>
                      </a:r>
                    </a:p>
                  </a:txBody>
                  <a:tcPr marT="36576" marB="36576" anchor="ctr">
                    <a:solidFill>
                      <a:srgbClr val="1C2E6E"/>
                    </a:solidFill>
                  </a:tcPr>
                </a:tc>
                <a:tc>
                  <a:txBody>
                    <a:bodyPr/>
                    <a:lstStyle/>
                    <a:p>
                      <a:pPr algn="l"/>
                      <a:r>
                        <a:rPr sz="1400" b="1">
                          <a:solidFill>
                            <a:srgbClr val="FFFFFF"/>
                          </a:solidFill>
                          <a:latin typeface="Calibri"/>
                        </a:rPr>
                        <a:t>Posts</a:t>
                      </a:r>
                    </a:p>
                  </a:txBody>
                  <a:tcPr marT="36576" marB="36576" anchor="ctr">
                    <a:solidFill>
                      <a:srgbClr val="1C2E6E"/>
                    </a:solidFill>
                  </a:tcPr>
                </a:tc>
                <a:tc>
                  <a:txBody>
                    <a:bodyPr/>
                    <a:lstStyle/>
                    <a:p>
                      <a:pPr algn="l"/>
                      <a:r>
                        <a:rPr sz="1400" b="1">
                          <a:solidFill>
                            <a:srgbClr val="FFFFFF"/>
                          </a:solidFill>
                          <a:latin typeface="Calibri"/>
                        </a:rPr>
                        <a:t>All threads</a:t>
                      </a:r>
                    </a:p>
                  </a:txBody>
                  <a:tcPr marT="36576" marB="36576" anchor="ctr">
                    <a:solidFill>
                      <a:srgbClr val="1C2E6E"/>
                    </a:solidFill>
                  </a:tcPr>
                </a:tc>
                <a:tc>
                  <a:txBody>
                    <a:bodyPr/>
                    <a:lstStyle/>
                    <a:p>
                      <a:pPr algn="l"/>
                      <a:r>
                        <a:rPr sz="1400" b="1">
                          <a:solidFill>
                            <a:srgbClr val="FFFFFF"/>
                          </a:solidFill>
                          <a:latin typeface="Calibri"/>
                        </a:rPr>
                        <a:t>Outside outage threads</a:t>
                      </a:r>
                    </a:p>
                  </a:txBody>
                  <a:tcPr marT="36576" marB="36576" anchor="ctr">
                    <a:solidFill>
                      <a:srgbClr val="1C2E6E"/>
                    </a:solidFill>
                  </a:tcPr>
                </a:tc>
                <a:extLst>
                  <a:ext uri="{0D108BD9-81ED-4DB2-BD59-A6C34878D82A}">
                    <a16:rowId xmlns:a16="http://schemas.microsoft.com/office/drawing/2014/main" val="10000"/>
                  </a:ext>
                </a:extLst>
              </a:tr>
              <a:tr h="512064">
                <a:tc>
                  <a:txBody>
                    <a:bodyPr/>
                    <a:lstStyle/>
                    <a:p>
                      <a:pPr algn="l"/>
                      <a:r>
                        <a:rPr sz="1400" b="0">
                          <a:solidFill>
                            <a:srgbClr val="1E293B"/>
                          </a:solidFill>
                          <a:latin typeface="Calibri"/>
                        </a:rPr>
                        <a:t>Reddit</a:t>
                      </a:r>
                    </a:p>
                  </a:txBody>
                  <a:tcPr marT="36576" marB="36576" anchor="ctr">
                    <a:solidFill>
                      <a:srgbClr val="FFFFFF"/>
                    </a:solidFill>
                  </a:tcPr>
                </a:tc>
                <a:tc>
                  <a:txBody>
                    <a:bodyPr/>
                    <a:lstStyle/>
                    <a:p>
                      <a:pPr algn="l"/>
                      <a:r>
                        <a:rPr sz="1400" b="0">
                          <a:solidFill>
                            <a:srgbClr val="1E293B"/>
                          </a:solidFill>
                          <a:latin typeface="Calibri"/>
                        </a:rPr>
                        <a:t>5,711</a:t>
                      </a:r>
                    </a:p>
                  </a:txBody>
                  <a:tcPr marT="36576" marB="36576" anchor="ctr">
                    <a:solidFill>
                      <a:srgbClr val="FFFFFF"/>
                    </a:solidFill>
                  </a:tcPr>
                </a:tc>
                <a:tc>
                  <a:txBody>
                    <a:bodyPr/>
                    <a:lstStyle/>
                    <a:p>
                      <a:pPr algn="l"/>
                      <a:r>
                        <a:rPr sz="1400" b="0" dirty="0">
                          <a:solidFill>
                            <a:srgbClr val="1E293B"/>
                          </a:solidFill>
                          <a:latin typeface="Calibri"/>
                        </a:rPr>
                        <a:t>48%</a:t>
                      </a:r>
                    </a:p>
                  </a:txBody>
                  <a:tcPr marT="36576" marB="36576" anchor="ctr">
                    <a:solidFill>
                      <a:srgbClr val="FBF3DF"/>
                    </a:solidFill>
                  </a:tcPr>
                </a:tc>
                <a:tc>
                  <a:txBody>
                    <a:bodyPr/>
                    <a:lstStyle/>
                    <a:p>
                      <a:pPr algn="l"/>
                      <a:r>
                        <a:rPr sz="1400" b="0">
                          <a:solidFill>
                            <a:srgbClr val="1E293B"/>
                          </a:solidFill>
                          <a:latin typeface="Calibri"/>
                        </a:rPr>
                        <a:t>42%</a:t>
                      </a:r>
                    </a:p>
                  </a:txBody>
                  <a:tcPr marT="36576" marB="36576" anchor="ctr">
                    <a:solidFill>
                      <a:srgbClr val="FFFFFF"/>
                    </a:solidFill>
                  </a:tcPr>
                </a:tc>
                <a:extLst>
                  <a:ext uri="{0D108BD9-81ED-4DB2-BD59-A6C34878D82A}">
                    <a16:rowId xmlns:a16="http://schemas.microsoft.com/office/drawing/2014/main" val="10001"/>
                  </a:ext>
                </a:extLst>
              </a:tr>
              <a:tr h="512064">
                <a:tc>
                  <a:txBody>
                    <a:bodyPr/>
                    <a:lstStyle/>
                    <a:p>
                      <a:pPr algn="l"/>
                      <a:r>
                        <a:rPr sz="1400" b="0">
                          <a:solidFill>
                            <a:srgbClr val="1E293B"/>
                          </a:solidFill>
                          <a:latin typeface="Calibri"/>
                        </a:rPr>
                        <a:t>HWZ</a:t>
                      </a:r>
                    </a:p>
                  </a:txBody>
                  <a:tcPr marT="36576" marB="36576" anchor="ctr">
                    <a:solidFill>
                      <a:srgbClr val="F2F4F9"/>
                    </a:solidFill>
                  </a:tcPr>
                </a:tc>
                <a:tc>
                  <a:txBody>
                    <a:bodyPr/>
                    <a:lstStyle/>
                    <a:p>
                      <a:pPr algn="l"/>
                      <a:r>
                        <a:rPr sz="1400" b="0">
                          <a:solidFill>
                            <a:srgbClr val="1E293B"/>
                          </a:solidFill>
                          <a:latin typeface="Calibri"/>
                        </a:rPr>
                        <a:t>3,451</a:t>
                      </a:r>
                    </a:p>
                  </a:txBody>
                  <a:tcPr marT="36576" marB="36576" anchor="ctr">
                    <a:solidFill>
                      <a:srgbClr val="F2F4F9"/>
                    </a:solidFill>
                  </a:tcPr>
                </a:tc>
                <a:tc>
                  <a:txBody>
                    <a:bodyPr/>
                    <a:lstStyle/>
                    <a:p>
                      <a:pPr algn="l"/>
                      <a:r>
                        <a:rPr sz="1400" b="0">
                          <a:solidFill>
                            <a:srgbClr val="1E293B"/>
                          </a:solidFill>
                          <a:latin typeface="Calibri"/>
                        </a:rPr>
                        <a:t>37%</a:t>
                      </a:r>
                    </a:p>
                  </a:txBody>
                  <a:tcPr marT="36576" marB="36576" anchor="ctr">
                    <a:solidFill>
                      <a:srgbClr val="F2F4F9"/>
                    </a:solidFill>
                  </a:tcPr>
                </a:tc>
                <a:tc>
                  <a:txBody>
                    <a:bodyPr/>
                    <a:lstStyle/>
                    <a:p>
                      <a:pPr algn="l"/>
                      <a:r>
                        <a:rPr sz="1400" b="0">
                          <a:solidFill>
                            <a:srgbClr val="1E293B"/>
                          </a:solidFill>
                          <a:latin typeface="Calibri"/>
                        </a:rPr>
                        <a:t>37%</a:t>
                      </a:r>
                    </a:p>
                  </a:txBody>
                  <a:tcPr marT="36576" marB="36576" anchor="ctr">
                    <a:solidFill>
                      <a:srgbClr val="F2F4F9"/>
                    </a:solidFill>
                  </a:tcPr>
                </a:tc>
                <a:extLst>
                  <a:ext uri="{0D108BD9-81ED-4DB2-BD59-A6C34878D82A}">
                    <a16:rowId xmlns:a16="http://schemas.microsoft.com/office/drawing/2014/main" val="10002"/>
                  </a:ext>
                </a:extLst>
              </a:tr>
              <a:tr h="512064">
                <a:tc>
                  <a:txBody>
                    <a:bodyPr/>
                    <a:lstStyle/>
                    <a:p>
                      <a:pPr algn="l"/>
                      <a:r>
                        <a:rPr sz="1400" b="0">
                          <a:solidFill>
                            <a:srgbClr val="1E293B"/>
                          </a:solidFill>
                          <a:latin typeface="Calibri"/>
                        </a:rPr>
                        <a:t>Singtel</a:t>
                      </a:r>
                    </a:p>
                  </a:txBody>
                  <a:tcPr marT="36576" marB="36576" anchor="ctr">
                    <a:solidFill>
                      <a:srgbClr val="FFFFFF"/>
                    </a:solidFill>
                  </a:tcPr>
                </a:tc>
                <a:tc>
                  <a:txBody>
                    <a:bodyPr/>
                    <a:lstStyle/>
                    <a:p>
                      <a:pPr algn="l"/>
                      <a:r>
                        <a:rPr sz="1400" b="0">
                          <a:solidFill>
                            <a:srgbClr val="1E293B"/>
                          </a:solidFill>
                          <a:latin typeface="Calibri"/>
                        </a:rPr>
                        <a:t>3,970</a:t>
                      </a:r>
                    </a:p>
                  </a:txBody>
                  <a:tcPr marT="36576" marB="36576" anchor="ctr">
                    <a:solidFill>
                      <a:srgbClr val="FFFFFF"/>
                    </a:solidFill>
                  </a:tcPr>
                </a:tc>
                <a:tc>
                  <a:txBody>
                    <a:bodyPr/>
                    <a:lstStyle/>
                    <a:p>
                      <a:pPr algn="l"/>
                      <a:r>
                        <a:rPr sz="1400" b="0" dirty="0">
                          <a:solidFill>
                            <a:srgbClr val="1E293B"/>
                          </a:solidFill>
                          <a:latin typeface="Calibri"/>
                        </a:rPr>
                        <a:t>48%</a:t>
                      </a:r>
                    </a:p>
                  </a:txBody>
                  <a:tcPr marT="36576" marB="36576" anchor="ctr">
                    <a:solidFill>
                      <a:srgbClr val="FBF3DF"/>
                    </a:solidFill>
                  </a:tcPr>
                </a:tc>
                <a:tc>
                  <a:txBody>
                    <a:bodyPr/>
                    <a:lstStyle/>
                    <a:p>
                      <a:pPr algn="l"/>
                      <a:r>
                        <a:rPr sz="1400" b="0">
                          <a:solidFill>
                            <a:srgbClr val="1E293B"/>
                          </a:solidFill>
                          <a:latin typeface="Calibri"/>
                        </a:rPr>
                        <a:t>42%</a:t>
                      </a:r>
                    </a:p>
                  </a:txBody>
                  <a:tcPr marT="36576" marB="36576" anchor="ctr">
                    <a:solidFill>
                      <a:srgbClr val="FFFFFF"/>
                    </a:solidFill>
                  </a:tcPr>
                </a:tc>
                <a:extLst>
                  <a:ext uri="{0D108BD9-81ED-4DB2-BD59-A6C34878D82A}">
                    <a16:rowId xmlns:a16="http://schemas.microsoft.com/office/drawing/2014/main" val="10003"/>
                  </a:ext>
                </a:extLst>
              </a:tr>
              <a:tr h="512064">
                <a:tc>
                  <a:txBody>
                    <a:bodyPr/>
                    <a:lstStyle/>
                    <a:p>
                      <a:pPr algn="l"/>
                      <a:r>
                        <a:rPr sz="1400" b="0">
                          <a:solidFill>
                            <a:srgbClr val="1E293B"/>
                          </a:solidFill>
                          <a:latin typeface="Calibri"/>
                        </a:rPr>
                        <a:t>StarHub</a:t>
                      </a:r>
                    </a:p>
                  </a:txBody>
                  <a:tcPr marT="36576" marB="36576" anchor="ctr">
                    <a:solidFill>
                      <a:srgbClr val="F2F4F9"/>
                    </a:solidFill>
                  </a:tcPr>
                </a:tc>
                <a:tc>
                  <a:txBody>
                    <a:bodyPr/>
                    <a:lstStyle/>
                    <a:p>
                      <a:pPr algn="l"/>
                      <a:r>
                        <a:rPr sz="1400" b="0">
                          <a:solidFill>
                            <a:srgbClr val="1E293B"/>
                          </a:solidFill>
                          <a:latin typeface="Calibri"/>
                        </a:rPr>
                        <a:t>1,638</a:t>
                      </a:r>
                    </a:p>
                  </a:txBody>
                  <a:tcPr marT="36576" marB="36576" anchor="ctr">
                    <a:solidFill>
                      <a:srgbClr val="F2F4F9"/>
                    </a:solidFill>
                  </a:tcPr>
                </a:tc>
                <a:tc>
                  <a:txBody>
                    <a:bodyPr/>
                    <a:lstStyle/>
                    <a:p>
                      <a:pPr algn="l"/>
                      <a:r>
                        <a:rPr sz="1400" b="0">
                          <a:solidFill>
                            <a:srgbClr val="1E293B"/>
                          </a:solidFill>
                          <a:latin typeface="Calibri"/>
                        </a:rPr>
                        <a:t>44%</a:t>
                      </a:r>
                    </a:p>
                  </a:txBody>
                  <a:tcPr marT="36576" marB="36576" anchor="ctr">
                    <a:solidFill>
                      <a:srgbClr val="F2F4F9"/>
                    </a:solidFill>
                  </a:tcPr>
                </a:tc>
                <a:tc>
                  <a:txBody>
                    <a:bodyPr/>
                    <a:lstStyle/>
                    <a:p>
                      <a:pPr algn="l"/>
                      <a:r>
                        <a:rPr sz="1400" b="0">
                          <a:solidFill>
                            <a:srgbClr val="1E293B"/>
                          </a:solidFill>
                          <a:latin typeface="Calibri"/>
                        </a:rPr>
                        <a:t>40%</a:t>
                      </a:r>
                    </a:p>
                  </a:txBody>
                  <a:tcPr marT="36576" marB="36576" anchor="ctr">
                    <a:solidFill>
                      <a:srgbClr val="F2F4F9"/>
                    </a:solidFill>
                  </a:tcPr>
                </a:tc>
                <a:extLst>
                  <a:ext uri="{0D108BD9-81ED-4DB2-BD59-A6C34878D82A}">
                    <a16:rowId xmlns:a16="http://schemas.microsoft.com/office/drawing/2014/main" val="10004"/>
                  </a:ext>
                </a:extLst>
              </a:tr>
              <a:tr h="512064">
                <a:tc>
                  <a:txBody>
                    <a:bodyPr/>
                    <a:lstStyle/>
                    <a:p>
                      <a:pPr algn="l"/>
                      <a:r>
                        <a:rPr sz="1400" b="0">
                          <a:solidFill>
                            <a:srgbClr val="1E293B"/>
                          </a:solidFill>
                          <a:latin typeface="Calibri"/>
                        </a:rPr>
                        <a:t>SIMBA</a:t>
                      </a:r>
                    </a:p>
                  </a:txBody>
                  <a:tcPr marT="36576" marB="36576" anchor="ctr">
                    <a:solidFill>
                      <a:srgbClr val="FFFFFF"/>
                    </a:solidFill>
                  </a:tcPr>
                </a:tc>
                <a:tc>
                  <a:txBody>
                    <a:bodyPr/>
                    <a:lstStyle/>
                    <a:p>
                      <a:pPr algn="l"/>
                      <a:r>
                        <a:rPr sz="1400" b="0">
                          <a:solidFill>
                            <a:srgbClr val="1E293B"/>
                          </a:solidFill>
                          <a:latin typeface="Calibri"/>
                        </a:rPr>
                        <a:t>1,461</a:t>
                      </a:r>
                    </a:p>
                  </a:txBody>
                  <a:tcPr marT="36576" marB="36576" anchor="ctr">
                    <a:solidFill>
                      <a:srgbClr val="FFFFFF"/>
                    </a:solidFill>
                  </a:tcPr>
                </a:tc>
                <a:tc>
                  <a:txBody>
                    <a:bodyPr/>
                    <a:lstStyle/>
                    <a:p>
                      <a:pPr algn="l"/>
                      <a:r>
                        <a:rPr sz="1400" b="0">
                          <a:solidFill>
                            <a:srgbClr val="1E293B"/>
                          </a:solidFill>
                          <a:latin typeface="Calibri"/>
                        </a:rPr>
                        <a:t>44%</a:t>
                      </a:r>
                    </a:p>
                  </a:txBody>
                  <a:tcPr marT="36576" marB="36576" anchor="ctr">
                    <a:solidFill>
                      <a:srgbClr val="FFFFFF"/>
                    </a:solidFill>
                  </a:tcPr>
                </a:tc>
                <a:tc>
                  <a:txBody>
                    <a:bodyPr/>
                    <a:lstStyle/>
                    <a:p>
                      <a:pPr algn="l"/>
                      <a:r>
                        <a:rPr sz="1400" b="0" dirty="0">
                          <a:solidFill>
                            <a:srgbClr val="1E293B"/>
                          </a:solidFill>
                          <a:latin typeface="Calibri"/>
                        </a:rPr>
                        <a:t>43%</a:t>
                      </a:r>
                    </a:p>
                  </a:txBody>
                  <a:tcPr marT="36576" marB="36576" anchor="ctr">
                    <a:solidFill>
                      <a:srgbClr val="FBF3DF"/>
                    </a:solidFill>
                  </a:tcPr>
                </a:tc>
                <a:extLst>
                  <a:ext uri="{0D108BD9-81ED-4DB2-BD59-A6C34878D82A}">
                    <a16:rowId xmlns:a16="http://schemas.microsoft.com/office/drawing/2014/main" val="10005"/>
                  </a:ext>
                </a:extLst>
              </a:tr>
              <a:tr h="512064">
                <a:tc>
                  <a:txBody>
                    <a:bodyPr/>
                    <a:lstStyle/>
                    <a:p>
                      <a:pPr algn="l"/>
                      <a:r>
                        <a:rPr sz="1400" b="0">
                          <a:solidFill>
                            <a:srgbClr val="1E293B"/>
                          </a:solidFill>
                          <a:latin typeface="Calibri"/>
                        </a:rPr>
                        <a:t>M1</a:t>
                      </a:r>
                    </a:p>
                  </a:txBody>
                  <a:tcPr marT="36576" marB="36576" anchor="ctr">
                    <a:solidFill>
                      <a:srgbClr val="F2F4F9"/>
                    </a:solidFill>
                  </a:tcPr>
                </a:tc>
                <a:tc>
                  <a:txBody>
                    <a:bodyPr/>
                    <a:lstStyle/>
                    <a:p>
                      <a:pPr algn="l"/>
                      <a:r>
                        <a:rPr sz="1400" b="0">
                          <a:solidFill>
                            <a:srgbClr val="1E293B"/>
                          </a:solidFill>
                          <a:latin typeface="Calibri"/>
                        </a:rPr>
                        <a:t>1,415</a:t>
                      </a:r>
                    </a:p>
                  </a:txBody>
                  <a:tcPr marT="36576" marB="36576" anchor="ctr">
                    <a:solidFill>
                      <a:srgbClr val="F2F4F9"/>
                    </a:solidFill>
                  </a:tcPr>
                </a:tc>
                <a:tc>
                  <a:txBody>
                    <a:bodyPr/>
                    <a:lstStyle/>
                    <a:p>
                      <a:pPr algn="l"/>
                      <a:r>
                        <a:rPr sz="1400" b="0">
                          <a:solidFill>
                            <a:srgbClr val="1E293B"/>
                          </a:solidFill>
                          <a:latin typeface="Calibri"/>
                        </a:rPr>
                        <a:t>40%</a:t>
                      </a:r>
                    </a:p>
                  </a:txBody>
                  <a:tcPr marT="36576" marB="36576" anchor="ctr">
                    <a:solidFill>
                      <a:srgbClr val="F2F4F9"/>
                    </a:solidFill>
                  </a:tcPr>
                </a:tc>
                <a:tc>
                  <a:txBody>
                    <a:bodyPr/>
                    <a:lstStyle/>
                    <a:p>
                      <a:pPr algn="l"/>
                      <a:r>
                        <a:rPr sz="1400" b="0">
                          <a:solidFill>
                            <a:srgbClr val="1E293B"/>
                          </a:solidFill>
                          <a:latin typeface="Calibri"/>
                        </a:rPr>
                        <a:t>40%</a:t>
                      </a:r>
                    </a:p>
                  </a:txBody>
                  <a:tcPr marT="36576" marB="36576" anchor="ctr">
                    <a:solidFill>
                      <a:srgbClr val="F2F4F9"/>
                    </a:solidFill>
                  </a:tcPr>
                </a:tc>
                <a:extLst>
                  <a:ext uri="{0D108BD9-81ED-4DB2-BD59-A6C34878D82A}">
                    <a16:rowId xmlns:a16="http://schemas.microsoft.com/office/drawing/2014/main" val="10006"/>
                  </a:ext>
                </a:extLst>
              </a:tr>
              <a:tr h="512064">
                <a:tc>
                  <a:txBody>
                    <a:bodyPr/>
                    <a:lstStyle/>
                    <a:p>
                      <a:pPr algn="l"/>
                      <a:r>
                        <a:rPr sz="1400" b="1">
                          <a:solidFill>
                            <a:srgbClr val="1E293B"/>
                          </a:solidFill>
                          <a:latin typeface="Calibri"/>
                        </a:rPr>
                        <a:t>Eight</a:t>
                      </a:r>
                    </a:p>
                  </a:txBody>
                  <a:tcPr marT="36576" marB="36576" anchor="ctr">
                    <a:solidFill>
                      <a:srgbClr val="FBF3DF"/>
                    </a:solidFill>
                  </a:tcPr>
                </a:tc>
                <a:tc>
                  <a:txBody>
                    <a:bodyPr/>
                    <a:lstStyle/>
                    <a:p>
                      <a:pPr algn="l"/>
                      <a:r>
                        <a:rPr sz="1400" b="0">
                          <a:solidFill>
                            <a:srgbClr val="1E293B"/>
                          </a:solidFill>
                          <a:latin typeface="Calibri"/>
                        </a:rPr>
                        <a:t>734</a:t>
                      </a:r>
                    </a:p>
                  </a:txBody>
                  <a:tcPr marT="36576" marB="36576" anchor="ctr">
                    <a:solidFill>
                      <a:srgbClr val="FBF3DF"/>
                    </a:solidFill>
                  </a:tcPr>
                </a:tc>
                <a:tc>
                  <a:txBody>
                    <a:bodyPr/>
                    <a:lstStyle/>
                    <a:p>
                      <a:pPr algn="l"/>
                      <a:r>
                        <a:rPr sz="1400" b="0">
                          <a:solidFill>
                            <a:srgbClr val="1E293B"/>
                          </a:solidFill>
                          <a:latin typeface="Calibri"/>
                        </a:rPr>
                        <a:t>35%</a:t>
                      </a:r>
                    </a:p>
                  </a:txBody>
                  <a:tcPr marT="36576" marB="36576" anchor="ctr">
                    <a:solidFill>
                      <a:srgbClr val="FBF3DF"/>
                    </a:solidFill>
                  </a:tcPr>
                </a:tc>
                <a:tc>
                  <a:txBody>
                    <a:bodyPr/>
                    <a:lstStyle/>
                    <a:p>
                      <a:pPr algn="l"/>
                      <a:r>
                        <a:rPr sz="1400" b="0" dirty="0">
                          <a:solidFill>
                            <a:srgbClr val="1E293B"/>
                          </a:solidFill>
                          <a:latin typeface="Calibri"/>
                        </a:rPr>
                        <a:t>35%</a:t>
                      </a:r>
                    </a:p>
                  </a:txBody>
                  <a:tcPr marT="36576" marB="36576" anchor="ctr">
                    <a:solidFill>
                      <a:srgbClr val="FBF3DF"/>
                    </a:solidFill>
                  </a:tcPr>
                </a:tc>
                <a:extLst>
                  <a:ext uri="{0D108BD9-81ED-4DB2-BD59-A6C34878D82A}">
                    <a16:rowId xmlns:a16="http://schemas.microsoft.com/office/drawing/2014/main" val="10007"/>
                  </a:ext>
                </a:extLst>
              </a:tr>
            </a:tbl>
          </a:graphicData>
        </a:graphic>
      </p:graphicFrame>
      <p:sp>
        <p:nvSpPr>
          <p:cNvPr id="5" name="TextBox 4"/>
          <p:cNvSpPr txBox="1"/>
          <p:nvPr/>
        </p:nvSpPr>
        <p:spPr>
          <a:xfrm>
            <a:off x="548640" y="5852160"/>
            <a:ext cx="6858000" cy="365760"/>
          </a:xfrm>
          <a:prstGeom prst="rect">
            <a:avLst/>
          </a:prstGeom>
          <a:noFill/>
        </p:spPr>
        <p:txBody>
          <a:bodyPr wrap="square" lIns="0" tIns="0" rIns="0" bIns="0" anchor="t">
            <a:spAutoFit/>
          </a:bodyPr>
          <a:lstStyle/>
          <a:p>
            <a:pPr algn="l">
              <a:spcAft>
                <a:spcPts val="600"/>
              </a:spcAft>
            </a:pPr>
            <a:r>
              <a:rPr sz="1200" b="0" i="0">
                <a:solidFill>
                  <a:srgbClr val="5B6475"/>
                </a:solidFill>
                <a:latin typeface="Calibri"/>
              </a:rPr>
              <a:t>Brands ranked only with ≥92 posts and ≥10 threads; human gold: Reddit 51%, HWZ 47%</a:t>
            </a:r>
          </a:p>
        </p:txBody>
      </p:sp>
      <p:sp>
        <p:nvSpPr>
          <p:cNvPr id="6" name="Rounded Rectangle 5"/>
          <p:cNvSpPr/>
          <p:nvPr/>
        </p:nvSpPr>
        <p:spPr>
          <a:xfrm>
            <a:off x="7772400" y="1691640"/>
            <a:ext cx="3867912" cy="411480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01000" y="1874520"/>
            <a:ext cx="3410712" cy="365760"/>
          </a:xfrm>
          <a:prstGeom prst="rect">
            <a:avLst/>
          </a:prstGeom>
          <a:noFill/>
        </p:spPr>
        <p:txBody>
          <a:bodyPr wrap="square" lIns="0" tIns="0" rIns="0" bIns="0" anchor="t">
            <a:spAutoFit/>
          </a:bodyPr>
          <a:lstStyle/>
          <a:p>
            <a:pPr algn="l">
              <a:spcAft>
                <a:spcPts val="600"/>
              </a:spcAft>
            </a:pPr>
            <a:r>
              <a:rPr sz="1700" b="1" i="0">
                <a:solidFill>
                  <a:srgbClr val="1C2E6E"/>
                </a:solidFill>
                <a:latin typeface="Calibri"/>
              </a:rPr>
              <a:t>Top issues (share of posts)</a:t>
            </a:r>
          </a:p>
        </p:txBody>
      </p:sp>
      <p:sp>
        <p:nvSpPr>
          <p:cNvPr id="8" name="TextBox 7"/>
          <p:cNvSpPr txBox="1"/>
          <p:nvPr/>
        </p:nvSpPr>
        <p:spPr>
          <a:xfrm>
            <a:off x="8001000" y="2258568"/>
            <a:ext cx="3410712" cy="3383280"/>
          </a:xfrm>
          <a:prstGeom prst="rect">
            <a:avLst/>
          </a:prstGeom>
          <a:noFill/>
        </p:spPr>
        <p:txBody>
          <a:bodyPr wrap="square" lIns="0" tIns="0" rIns="0" bIns="0" anchor="t">
            <a:spAutoFit/>
          </a:bodyPr>
          <a:lstStyle/>
          <a:p>
            <a:pPr algn="l">
              <a:spcAft>
                <a:spcPts val="600"/>
              </a:spcAft>
            </a:pPr>
            <a:r>
              <a:rPr sz="1500" b="0" i="0">
                <a:solidFill>
                  <a:srgbClr val="1E293B"/>
                </a:solidFill>
                <a:latin typeface="Calibri"/>
              </a:rPr>
              <a:t>Network Quality 41%</a:t>
            </a:r>
          </a:p>
          <a:p>
            <a:pPr algn="l">
              <a:spcAft>
                <a:spcPts val="600"/>
              </a:spcAft>
            </a:pPr>
            <a:r>
              <a:rPr sz="1500" b="0" i="0">
                <a:solidFill>
                  <a:srgbClr val="1E293B"/>
                </a:solidFill>
                <a:latin typeface="Calibri"/>
              </a:rPr>
              <a:t>Mobile Plans 14%</a:t>
            </a:r>
          </a:p>
          <a:p>
            <a:pPr algn="l">
              <a:spcAft>
                <a:spcPts val="600"/>
              </a:spcAft>
            </a:pPr>
            <a:r>
              <a:rPr sz="1500" b="0" i="0">
                <a:solidFill>
                  <a:srgbClr val="1E293B"/>
                </a:solidFill>
                <a:latin typeface="Calibri"/>
              </a:rPr>
              <a:t>Pricing &amp; Promotions 8%</a:t>
            </a:r>
          </a:p>
          <a:p>
            <a:pPr algn="l">
              <a:spcAft>
                <a:spcPts val="600"/>
              </a:spcAft>
            </a:pPr>
            <a:r>
              <a:rPr sz="1500" b="0" i="0">
                <a:solidFill>
                  <a:srgbClr val="1E293B"/>
                </a:solidFill>
                <a:latin typeface="Calibri"/>
              </a:rPr>
              <a:t>App &amp; Account 4%, in 115 threads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85096" y="362587"/>
            <a:ext cx="6840000" cy="643253"/>
          </a:xfrm>
          <a:prstGeom prst="rect">
            <a:avLst/>
          </a:prstGeom>
          <a:noFill/>
        </p:spPr>
        <p:txBody>
          <a:bodyPr wrap="square" lIns="0" tIns="0" rIns="0" bIns="0" anchor="ctr">
            <a:spAutoFit/>
          </a:bodyPr>
          <a:lstStyle/>
          <a:p>
            <a:pPr>
              <a:lnSpc>
                <a:spcPct val="95000"/>
              </a:lnSpc>
            </a:pPr>
            <a:r>
              <a:rPr lang="en-US" sz="2400" b="1" dirty="0">
                <a:solidFill>
                  <a:srgbClr val="1C2E6E"/>
                </a:solidFill>
                <a:latin typeface="Calibri"/>
              </a:rPr>
              <a:t>RQ4 </a:t>
            </a:r>
            <a:r>
              <a:rPr lang="en-US" sz="2400" b="1" i="0" dirty="0">
                <a:solidFill>
                  <a:srgbClr val="1C2E6E"/>
                </a:solidFill>
                <a:latin typeface="Calibri"/>
              </a:rPr>
              <a:t>How can the signals drive operator decisions?</a:t>
            </a:r>
          </a:p>
          <a:p>
            <a:pPr>
              <a:lnSpc>
                <a:spcPct val="95000"/>
              </a:lnSpc>
            </a:pPr>
            <a:r>
              <a:rPr sz="2000" b="1" i="0" dirty="0">
                <a:solidFill>
                  <a:srgbClr val="1C2E6E"/>
                </a:solidFill>
                <a:latin typeface="Calibri"/>
              </a:rPr>
              <a:t>The dashboard runs a </a:t>
            </a:r>
            <a:r>
              <a:rPr sz="2000" b="1" i="0" dirty="0">
                <a:solidFill>
                  <a:srgbClr val="FF0000"/>
                </a:solidFill>
                <a:latin typeface="Calibri"/>
              </a:rPr>
              <a:t>weekly 30-minute huddle</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25</a:t>
            </a:r>
          </a:p>
        </p:txBody>
      </p:sp>
      <p:sp>
        <p:nvSpPr>
          <p:cNvPr id="4" name="Pentagon 3"/>
          <p:cNvSpPr/>
          <p:nvPr/>
        </p:nvSpPr>
        <p:spPr>
          <a:xfrm>
            <a:off x="548640" y="1828800"/>
            <a:ext cx="2159812" cy="1188720"/>
          </a:xfrm>
          <a:prstGeom prst="homePlate">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700" b="1">
                <a:solidFill>
                  <a:srgbClr val="FFFFFF"/>
                </a:solidFill>
                <a:latin typeface="Calibri"/>
              </a:rPr>
              <a:t>1  Queue</a:t>
            </a:r>
          </a:p>
        </p:txBody>
      </p:sp>
      <p:sp>
        <p:nvSpPr>
          <p:cNvPr id="5" name="Chevron 4"/>
          <p:cNvSpPr/>
          <p:nvPr/>
        </p:nvSpPr>
        <p:spPr>
          <a:xfrm>
            <a:off x="2781604" y="1828800"/>
            <a:ext cx="2159812" cy="1188720"/>
          </a:xfrm>
          <a:prstGeom prst="chevron">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700" b="1">
                <a:solidFill>
                  <a:srgbClr val="FFFFFF"/>
                </a:solidFill>
                <a:latin typeface="Calibri"/>
              </a:rPr>
              <a:t>2  Open 10</a:t>
            </a:r>
          </a:p>
        </p:txBody>
      </p:sp>
      <p:sp>
        <p:nvSpPr>
          <p:cNvPr id="6" name="Chevron 5"/>
          <p:cNvSpPr/>
          <p:nvPr/>
        </p:nvSpPr>
        <p:spPr>
          <a:xfrm>
            <a:off x="5014569" y="1828800"/>
            <a:ext cx="2159812" cy="1188720"/>
          </a:xfrm>
          <a:prstGeom prst="chevron">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700" b="1">
                <a:solidFill>
                  <a:srgbClr val="FFFFFF"/>
                </a:solidFill>
                <a:latin typeface="Calibri"/>
              </a:rPr>
              <a:t>3  Match</a:t>
            </a:r>
          </a:p>
        </p:txBody>
      </p:sp>
      <p:sp>
        <p:nvSpPr>
          <p:cNvPr id="7" name="Chevron 6"/>
          <p:cNvSpPr/>
          <p:nvPr/>
        </p:nvSpPr>
        <p:spPr>
          <a:xfrm>
            <a:off x="7247534" y="1828800"/>
            <a:ext cx="2159812" cy="1188720"/>
          </a:xfrm>
          <a:prstGeom prst="chevron">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700" b="1">
                <a:solidFill>
                  <a:srgbClr val="FFFFFF"/>
                </a:solidFill>
                <a:latin typeface="Calibri"/>
              </a:rPr>
              <a:t>4  One owner</a:t>
            </a:r>
          </a:p>
        </p:txBody>
      </p:sp>
      <p:sp>
        <p:nvSpPr>
          <p:cNvPr id="8" name="Chevron 7"/>
          <p:cNvSpPr/>
          <p:nvPr/>
        </p:nvSpPr>
        <p:spPr>
          <a:xfrm>
            <a:off x="9480499" y="1828800"/>
            <a:ext cx="2159812" cy="1188720"/>
          </a:xfrm>
          <a:prstGeom prst="chevron">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700" b="1">
                <a:solidFill>
                  <a:srgbClr val="FFFFFF"/>
                </a:solidFill>
                <a:latin typeface="Calibri"/>
              </a:rPr>
              <a:t>5  Next week</a:t>
            </a:r>
          </a:p>
        </p:txBody>
      </p:sp>
      <p:sp>
        <p:nvSpPr>
          <p:cNvPr id="9" name="TextBox 8"/>
          <p:cNvSpPr txBox="1"/>
          <p:nvPr/>
        </p:nvSpPr>
        <p:spPr>
          <a:xfrm>
            <a:off x="594360" y="3200400"/>
            <a:ext cx="2022652" cy="1280160"/>
          </a:xfrm>
          <a:prstGeom prst="rect">
            <a:avLst/>
          </a:prstGeom>
          <a:noFill/>
        </p:spPr>
        <p:txBody>
          <a:bodyPr wrap="square" lIns="0" tIns="0" rIns="0" bIns="0" anchor="t">
            <a:spAutoFit/>
          </a:bodyPr>
          <a:lstStyle/>
          <a:p>
            <a:pPr algn="l">
              <a:spcAft>
                <a:spcPts val="600"/>
              </a:spcAft>
            </a:pPr>
            <a:r>
              <a:rPr sz="1400" b="0" i="0">
                <a:solidFill>
                  <a:srgbClr val="1E293B"/>
                </a:solidFill>
                <a:latin typeface="Calibri"/>
              </a:rPr>
              <a:t>Not-happy posts in Network, App &amp; Account, Porting; act only above 2× a normal week</a:t>
            </a:r>
          </a:p>
        </p:txBody>
      </p:sp>
      <p:sp>
        <p:nvSpPr>
          <p:cNvPr id="10" name="TextBox 9"/>
          <p:cNvSpPr txBox="1"/>
          <p:nvPr/>
        </p:nvSpPr>
        <p:spPr>
          <a:xfrm>
            <a:off x="2827324" y="3200400"/>
            <a:ext cx="2022652" cy="1280160"/>
          </a:xfrm>
          <a:prstGeom prst="rect">
            <a:avLst/>
          </a:prstGeom>
          <a:noFill/>
        </p:spPr>
        <p:txBody>
          <a:bodyPr wrap="square" lIns="0" tIns="0" rIns="0" bIns="0" anchor="t">
            <a:spAutoFit/>
          </a:bodyPr>
          <a:lstStyle/>
          <a:p>
            <a:pPr algn="l">
              <a:spcAft>
                <a:spcPts val="600"/>
              </a:spcAft>
            </a:pPr>
            <a:r>
              <a:rPr sz="1400" b="0" i="0">
                <a:solidFill>
                  <a:srgbClr val="1E293B"/>
                </a:solidFill>
                <a:latin typeface="Calibri"/>
              </a:rPr>
              <a:t>Read ten source posts; drop sarcasm and mislabels</a:t>
            </a:r>
          </a:p>
        </p:txBody>
      </p:sp>
      <p:sp>
        <p:nvSpPr>
          <p:cNvPr id="11" name="TextBox 10"/>
          <p:cNvSpPr txBox="1"/>
          <p:nvPr/>
        </p:nvSpPr>
        <p:spPr>
          <a:xfrm>
            <a:off x="5060289" y="3200400"/>
            <a:ext cx="2022652" cy="1280160"/>
          </a:xfrm>
          <a:prstGeom prst="rect">
            <a:avLst/>
          </a:prstGeom>
          <a:noFill/>
        </p:spPr>
        <p:txBody>
          <a:bodyPr wrap="square" lIns="0" tIns="0" rIns="0" bIns="0" anchor="t">
            <a:spAutoFit/>
          </a:bodyPr>
          <a:lstStyle/>
          <a:p>
            <a:pPr algn="l">
              <a:spcAft>
                <a:spcPts val="600"/>
              </a:spcAft>
            </a:pPr>
            <a:r>
              <a:rPr sz="1400" b="0" i="0">
                <a:solidFill>
                  <a:srgbClr val="1E293B"/>
                </a:solidFill>
                <a:latin typeface="Calibri"/>
              </a:rPr>
              <a:t>Tie what’s left to tickets, outages or bills</a:t>
            </a:r>
          </a:p>
        </p:txBody>
      </p:sp>
      <p:sp>
        <p:nvSpPr>
          <p:cNvPr id="12" name="TextBox 11"/>
          <p:cNvSpPr txBox="1"/>
          <p:nvPr/>
        </p:nvSpPr>
        <p:spPr>
          <a:xfrm>
            <a:off x="7293254" y="3200400"/>
            <a:ext cx="2022652" cy="1280160"/>
          </a:xfrm>
          <a:prstGeom prst="rect">
            <a:avLst/>
          </a:prstGeom>
          <a:noFill/>
        </p:spPr>
        <p:txBody>
          <a:bodyPr wrap="square" lIns="0" tIns="0" rIns="0" bIns="0" anchor="t">
            <a:spAutoFit/>
          </a:bodyPr>
          <a:lstStyle/>
          <a:p>
            <a:pPr algn="l">
              <a:spcAft>
                <a:spcPts val="600"/>
              </a:spcAft>
            </a:pPr>
            <a:r>
              <a:rPr sz="1400" b="0" i="0">
                <a:solidFill>
                  <a:srgbClr val="1E293B"/>
                </a:solidFill>
                <a:latin typeface="Calibri"/>
              </a:rPr>
              <a:t>Assign one squad and a response date</a:t>
            </a:r>
          </a:p>
        </p:txBody>
      </p:sp>
      <p:sp>
        <p:nvSpPr>
          <p:cNvPr id="13" name="TextBox 12"/>
          <p:cNvSpPr txBox="1"/>
          <p:nvPr/>
        </p:nvSpPr>
        <p:spPr>
          <a:xfrm>
            <a:off x="9526219" y="3200400"/>
            <a:ext cx="2022652" cy="1280160"/>
          </a:xfrm>
          <a:prstGeom prst="rect">
            <a:avLst/>
          </a:prstGeom>
          <a:noFill/>
        </p:spPr>
        <p:txBody>
          <a:bodyPr wrap="square" lIns="0" tIns="0" rIns="0" bIns="0" anchor="t">
            <a:spAutoFit/>
          </a:bodyPr>
          <a:lstStyle/>
          <a:p>
            <a:pPr algn="l">
              <a:spcAft>
                <a:spcPts val="600"/>
              </a:spcAft>
            </a:pPr>
            <a:r>
              <a:rPr sz="1400" b="0" i="0">
                <a:solidFill>
                  <a:srgbClr val="1E293B"/>
                </a:solidFill>
                <a:latin typeface="Calibri"/>
              </a:rPr>
              <a:t>Check whether that issue’s share fell</a:t>
            </a:r>
          </a:p>
        </p:txBody>
      </p:sp>
      <p:sp>
        <p:nvSpPr>
          <p:cNvPr id="14" name="Rounded Rectangle 13"/>
          <p:cNvSpPr/>
          <p:nvPr/>
        </p:nvSpPr>
        <p:spPr>
          <a:xfrm>
            <a:off x="548640" y="4754880"/>
            <a:ext cx="11091672" cy="11887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59" y="4846320"/>
            <a:ext cx="3931920" cy="1005840"/>
          </a:xfrm>
          <a:prstGeom prst="rect">
            <a:avLst/>
          </a:prstGeom>
          <a:noFill/>
        </p:spPr>
        <p:txBody>
          <a:bodyPr wrap="square" lIns="0" tIns="0" rIns="0" bIns="0" anchor="ctr">
            <a:spAutoFit/>
          </a:bodyPr>
          <a:lstStyle/>
          <a:p>
            <a:pPr algn="l">
              <a:spcAft>
                <a:spcPts val="600"/>
              </a:spcAft>
            </a:pPr>
            <a:r>
              <a:rPr sz="2200" b="1" i="0">
                <a:solidFill>
                  <a:srgbClr val="1C2E6E"/>
                </a:solidFill>
                <a:latin typeface="Calibri"/>
              </a:rPr>
              <a:t>2 weeks </a:t>
            </a:r>
            <a:r>
              <a:rPr sz="1600" b="0" i="0">
                <a:solidFill>
                  <a:srgbClr val="1E293B"/>
                </a:solidFill>
                <a:latin typeface="Calibri"/>
              </a:rPr>
              <a:t>crossed n ≥ 115</a:t>
            </a:r>
          </a:p>
        </p:txBody>
      </p:sp>
      <p:sp>
        <p:nvSpPr>
          <p:cNvPr id="16" name="TextBox 15"/>
          <p:cNvSpPr txBox="1"/>
          <p:nvPr/>
        </p:nvSpPr>
        <p:spPr>
          <a:xfrm>
            <a:off x="4937760" y="4846320"/>
            <a:ext cx="6492240" cy="1005840"/>
          </a:xfrm>
          <a:prstGeom prst="rect">
            <a:avLst/>
          </a:prstGeom>
          <a:noFill/>
        </p:spPr>
        <p:txBody>
          <a:bodyPr wrap="square" lIns="0" tIns="0" rIns="0" bIns="0" anchor="ctr">
            <a:spAutoFit/>
          </a:bodyPr>
          <a:lstStyle/>
          <a:p>
            <a:pPr algn="l">
              <a:spcAft>
                <a:spcPts val="400"/>
              </a:spcAft>
            </a:pPr>
            <a:r>
              <a:rPr sz="1600" b="0" i="0">
                <a:solidFill>
                  <a:srgbClr val="1E293B"/>
                </a:solidFill>
                <a:latin typeface="Calibri"/>
              </a:rPr>
              <a:t>16 Mar: Singtel outage (352)  ·  14 Sep: multi-brand (149)</a:t>
            </a:r>
          </a:p>
          <a:p>
            <a:pPr algn="l">
              <a:spcAft>
                <a:spcPts val="400"/>
              </a:spcAft>
            </a:pPr>
            <a:r>
              <a:rPr sz="1600" b="0" i="0">
                <a:solidFill>
                  <a:srgbClr val="1E293B"/>
                </a:solidFill>
                <a:latin typeface="Calibri"/>
              </a:rPr>
              <a:t>Demo: open dashboard/index.html</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822959" y="2148840"/>
            <a:ext cx="1234440" cy="1234440"/>
          </a:xfrm>
          <a:prstGeom prst="roundRect">
            <a:avLst>
              <a:gd name="adj" fmla="val 12000"/>
            </a:avLst>
          </a:prstGeom>
          <a:solidFill>
            <a:srgbClr val="D29B0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4800" b="1">
                <a:solidFill>
                  <a:srgbClr val="FFFFFF"/>
                </a:solidFill>
                <a:latin typeface="Calibri"/>
              </a:rPr>
              <a:t>E</a:t>
            </a:r>
          </a:p>
        </p:txBody>
      </p:sp>
      <p:sp>
        <p:nvSpPr>
          <p:cNvPr id="3" name="TextBox 2"/>
          <p:cNvSpPr txBox="1"/>
          <p:nvPr/>
        </p:nvSpPr>
        <p:spPr>
          <a:xfrm>
            <a:off x="2423160" y="2011680"/>
            <a:ext cx="8686800" cy="822960"/>
          </a:xfrm>
          <a:prstGeom prst="rect">
            <a:avLst/>
          </a:prstGeom>
          <a:noFill/>
        </p:spPr>
        <p:txBody>
          <a:bodyPr wrap="square" lIns="0" tIns="0" rIns="0" bIns="0" anchor="t">
            <a:spAutoFit/>
          </a:bodyPr>
          <a:lstStyle/>
          <a:p>
            <a:pPr algn="l">
              <a:spcAft>
                <a:spcPts val="600"/>
              </a:spcAft>
            </a:pPr>
            <a:r>
              <a:rPr sz="4000" b="1" i="0">
                <a:solidFill>
                  <a:srgbClr val="1C2E6E"/>
                </a:solidFill>
                <a:latin typeface="Calibri"/>
              </a:rPr>
              <a:t>Actions and reflection</a:t>
            </a:r>
          </a:p>
        </p:txBody>
      </p:sp>
      <p:sp>
        <p:nvSpPr>
          <p:cNvPr id="4" name="TextBox 3"/>
          <p:cNvSpPr txBox="1"/>
          <p:nvPr/>
        </p:nvSpPr>
        <p:spPr>
          <a:xfrm>
            <a:off x="2423160" y="2834640"/>
            <a:ext cx="8686800" cy="548640"/>
          </a:xfrm>
          <a:prstGeom prst="rect">
            <a:avLst/>
          </a:prstGeom>
          <a:noFill/>
        </p:spPr>
        <p:txBody>
          <a:bodyPr wrap="square" lIns="0" tIns="0" rIns="0" bIns="0" anchor="t">
            <a:spAutoFit/>
          </a:bodyPr>
          <a:lstStyle/>
          <a:p>
            <a:pPr algn="l">
              <a:spcAft>
                <a:spcPts val="600"/>
              </a:spcAft>
            </a:pPr>
            <a:r>
              <a:rPr sz="2000" b="0" i="0">
                <a:solidFill>
                  <a:srgbClr val="5B6475"/>
                </a:solidFill>
                <a:latin typeface="Calibri"/>
              </a:rPr>
              <a:t>What operators should do, and what I learned</a:t>
            </a:r>
          </a:p>
        </p:txBody>
      </p:sp>
      <p:sp>
        <p:nvSpPr>
          <p:cNvPr id="5" name="TextBox 4"/>
          <p:cNvSpPr txBox="1"/>
          <p:nvPr/>
        </p:nvSpPr>
        <p:spPr>
          <a:xfrm>
            <a:off x="2423160" y="3520440"/>
            <a:ext cx="8686800" cy="365760"/>
          </a:xfrm>
          <a:prstGeom prst="rect">
            <a:avLst/>
          </a:prstGeom>
          <a:noFill/>
        </p:spPr>
        <p:txBody>
          <a:bodyPr wrap="square" lIns="0" tIns="0" rIns="0" bIns="0" anchor="t">
            <a:spAutoFit/>
          </a:bodyPr>
          <a:lstStyle/>
          <a:p>
            <a:pPr algn="l">
              <a:spcAft>
                <a:spcPts val="600"/>
              </a:spcAft>
            </a:pPr>
            <a:r>
              <a:rPr sz="1600" b="1" i="0" dirty="0">
                <a:solidFill>
                  <a:srgbClr val="D29B08"/>
                </a:solidFill>
                <a:latin typeface="Calibri"/>
              </a:rPr>
              <a:t>About 4 minutes</a:t>
            </a:r>
          </a:p>
        </p:txBody>
      </p:sp>
      <p:sp>
        <p:nvSpPr>
          <p:cNvPr id="6" name="TextBox 5"/>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26</a:t>
            </a:r>
          </a:p>
        </p:txBody>
      </p:sp>
      <p:sp>
        <p:nvSpPr>
          <p:cNvPr id="7" name="TextBox 6">
            <a:extLst>
              <a:ext uri="{FF2B5EF4-FFF2-40B4-BE49-F238E27FC236}">
                <a16:creationId xmlns:a16="http://schemas.microsoft.com/office/drawing/2014/main" id="{6CD477AE-B25B-C839-9C62-B657FA4646BA}"/>
              </a:ext>
            </a:extLst>
          </p:cNvPr>
          <p:cNvSpPr txBox="1"/>
          <p:nvPr/>
        </p:nvSpPr>
        <p:spPr>
          <a:xfrm>
            <a:off x="-2743200" y="4620986"/>
            <a:ext cx="184731" cy="369332"/>
          </a:xfrm>
          <a:prstGeom prst="rect">
            <a:avLst/>
          </a:prstGeom>
          <a:noFill/>
        </p:spPr>
        <p:txBody>
          <a:bodyPr wrap="none" rtlCol="0">
            <a:spAutoFit/>
          </a:bodyPr>
          <a:lstStyle/>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98748" y="409893"/>
            <a:ext cx="6840000" cy="643253"/>
          </a:xfrm>
          <a:prstGeom prst="rect">
            <a:avLst/>
          </a:prstGeom>
          <a:noFill/>
        </p:spPr>
        <p:txBody>
          <a:bodyPr wrap="square" lIns="0" tIns="0" rIns="0" bIns="0" anchor="ctr">
            <a:spAutoFit/>
          </a:bodyPr>
          <a:lstStyle/>
          <a:p>
            <a:pPr>
              <a:lnSpc>
                <a:spcPct val="95000"/>
              </a:lnSpc>
            </a:pPr>
            <a:r>
              <a:rPr lang="en-US" sz="2400" b="1" dirty="0">
                <a:solidFill>
                  <a:srgbClr val="1C2E6E"/>
                </a:solidFill>
                <a:latin typeface="Calibri"/>
              </a:rPr>
              <a:t>RQ4 How can the signals drive operator decisions?</a:t>
            </a:r>
            <a:endParaRPr lang="en-US" sz="2400" b="1" i="0" dirty="0">
              <a:solidFill>
                <a:srgbClr val="1C2E6E"/>
              </a:solidFill>
              <a:latin typeface="Calibri"/>
            </a:endParaRPr>
          </a:p>
          <a:p>
            <a:pPr algn="l">
              <a:lnSpc>
                <a:spcPct val="95000"/>
              </a:lnSpc>
              <a:spcAft>
                <a:spcPts val="0"/>
              </a:spcAft>
            </a:pPr>
            <a:r>
              <a:rPr sz="2000" b="1" i="0" dirty="0">
                <a:solidFill>
                  <a:srgbClr val="1C2E6E"/>
                </a:solidFill>
                <a:latin typeface="Calibri"/>
              </a:rPr>
              <a:t>Recommendations, ordered by not-happy share</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27</a:t>
            </a:r>
          </a:p>
        </p:txBody>
      </p:sp>
      <p:sp>
        <p:nvSpPr>
          <p:cNvPr id="4" name="Rounded Rectangle 3"/>
          <p:cNvSpPr/>
          <p:nvPr/>
        </p:nvSpPr>
        <p:spPr>
          <a:xfrm>
            <a:off x="548640" y="1691640"/>
            <a:ext cx="3544824" cy="210312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874520"/>
            <a:ext cx="3087624" cy="411480"/>
          </a:xfrm>
          <a:prstGeom prst="rect">
            <a:avLst/>
          </a:prstGeom>
          <a:noFill/>
        </p:spPr>
        <p:txBody>
          <a:bodyPr wrap="square" lIns="0" tIns="0" rIns="0" bIns="0" anchor="t">
            <a:spAutoFit/>
          </a:bodyPr>
          <a:lstStyle/>
          <a:p>
            <a:pPr algn="l">
              <a:spcAft>
                <a:spcPts val="600"/>
              </a:spcAft>
            </a:pPr>
            <a:r>
              <a:rPr sz="1800" b="1" i="0">
                <a:solidFill>
                  <a:srgbClr val="1C2E6E"/>
                </a:solidFill>
                <a:latin typeface="Calibri"/>
              </a:rPr>
              <a:t>1  Network</a:t>
            </a:r>
          </a:p>
        </p:txBody>
      </p:sp>
      <p:sp>
        <p:nvSpPr>
          <p:cNvPr id="6" name="TextBox 5"/>
          <p:cNvSpPr txBox="1"/>
          <p:nvPr/>
        </p:nvSpPr>
        <p:spPr>
          <a:xfrm>
            <a:off x="777240" y="2331720"/>
            <a:ext cx="3087624" cy="868680"/>
          </a:xfrm>
          <a:prstGeom prst="rect">
            <a:avLst/>
          </a:prstGeom>
          <a:noFill/>
        </p:spPr>
        <p:txBody>
          <a:bodyPr wrap="square" lIns="0" tIns="0" rIns="0" bIns="0" anchor="t">
            <a:spAutoFit/>
          </a:bodyPr>
          <a:lstStyle/>
          <a:p>
            <a:pPr algn="l">
              <a:spcAft>
                <a:spcPts val="600"/>
              </a:spcAft>
            </a:pPr>
            <a:r>
              <a:rPr sz="1400" b="0" i="0">
                <a:solidFill>
                  <a:srgbClr val="1E293B"/>
                </a:solidFill>
                <a:latin typeface="Calibri"/>
              </a:rPr>
              <a:t>Status page and restoration ETA during incidents; join named-location posts to tickets</a:t>
            </a:r>
          </a:p>
        </p:txBody>
      </p:sp>
      <p:sp>
        <p:nvSpPr>
          <p:cNvPr id="7" name="TextBox 6"/>
          <p:cNvSpPr txBox="1"/>
          <p:nvPr/>
        </p:nvSpPr>
        <p:spPr>
          <a:xfrm>
            <a:off x="777240" y="3154680"/>
            <a:ext cx="3087624" cy="548640"/>
          </a:xfrm>
          <a:prstGeom prst="rect">
            <a:avLst/>
          </a:prstGeom>
          <a:noFill/>
        </p:spPr>
        <p:txBody>
          <a:bodyPr wrap="square" lIns="0" tIns="0" rIns="0" bIns="0" anchor="t">
            <a:spAutoFit/>
          </a:bodyPr>
          <a:lstStyle/>
          <a:p>
            <a:pPr algn="l">
              <a:spcAft>
                <a:spcPts val="600"/>
              </a:spcAft>
            </a:pPr>
            <a:r>
              <a:rPr sz="1300" b="1" i="0">
                <a:solidFill>
                  <a:srgbClr val="D29B08"/>
                </a:solidFill>
                <a:latin typeface="Calibri"/>
              </a:rPr>
              <a:t>Check: </a:t>
            </a:r>
            <a:r>
              <a:rPr sz="1300" b="0" i="0">
                <a:solidFill>
                  <a:srgbClr val="1E293B"/>
                </a:solidFill>
                <a:latin typeface="Calibri"/>
              </a:rPr>
              <a:t>Faster first update; fewer tickets at that location</a:t>
            </a:r>
          </a:p>
        </p:txBody>
      </p:sp>
      <p:sp>
        <p:nvSpPr>
          <p:cNvPr id="8" name="Rounded Rectangle 7"/>
          <p:cNvSpPr/>
          <p:nvPr/>
        </p:nvSpPr>
        <p:spPr>
          <a:xfrm>
            <a:off x="4322064" y="1691640"/>
            <a:ext cx="3544824" cy="210312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50664" y="1874520"/>
            <a:ext cx="3087624" cy="411480"/>
          </a:xfrm>
          <a:prstGeom prst="rect">
            <a:avLst/>
          </a:prstGeom>
          <a:noFill/>
        </p:spPr>
        <p:txBody>
          <a:bodyPr wrap="square" lIns="0" tIns="0" rIns="0" bIns="0" anchor="t">
            <a:spAutoFit/>
          </a:bodyPr>
          <a:lstStyle/>
          <a:p>
            <a:pPr algn="l">
              <a:spcAft>
                <a:spcPts val="600"/>
              </a:spcAft>
            </a:pPr>
            <a:r>
              <a:rPr sz="1800" b="1" i="0">
                <a:solidFill>
                  <a:srgbClr val="1C2E6E"/>
                </a:solidFill>
                <a:latin typeface="Calibri"/>
              </a:rPr>
              <a:t>2  Plans &amp; pricing</a:t>
            </a:r>
          </a:p>
        </p:txBody>
      </p:sp>
      <p:sp>
        <p:nvSpPr>
          <p:cNvPr id="10" name="TextBox 9"/>
          <p:cNvSpPr txBox="1"/>
          <p:nvPr/>
        </p:nvSpPr>
        <p:spPr>
          <a:xfrm>
            <a:off x="4550664" y="2331720"/>
            <a:ext cx="3087624" cy="868680"/>
          </a:xfrm>
          <a:prstGeom prst="rect">
            <a:avLst/>
          </a:prstGeom>
          <a:noFill/>
        </p:spPr>
        <p:txBody>
          <a:bodyPr wrap="square" lIns="0" tIns="0" rIns="0" bIns="0" anchor="t">
            <a:spAutoFit/>
          </a:bodyPr>
          <a:lstStyle/>
          <a:p>
            <a:pPr algn="l">
              <a:spcAft>
                <a:spcPts val="600"/>
              </a:spcAft>
            </a:pPr>
            <a:r>
              <a:rPr sz="1400" b="0" i="0">
                <a:solidFill>
                  <a:srgbClr val="1E293B"/>
                </a:solidFill>
                <a:latin typeface="Calibri"/>
              </a:rPr>
              <a:t>Show fair-use limits, add-on charges and recurring price at checkout</a:t>
            </a:r>
          </a:p>
        </p:txBody>
      </p:sp>
      <p:sp>
        <p:nvSpPr>
          <p:cNvPr id="11" name="TextBox 10"/>
          <p:cNvSpPr txBox="1"/>
          <p:nvPr/>
        </p:nvSpPr>
        <p:spPr>
          <a:xfrm>
            <a:off x="4550664" y="3154680"/>
            <a:ext cx="3087624" cy="548640"/>
          </a:xfrm>
          <a:prstGeom prst="rect">
            <a:avLst/>
          </a:prstGeom>
          <a:noFill/>
        </p:spPr>
        <p:txBody>
          <a:bodyPr wrap="square" lIns="0" tIns="0" rIns="0" bIns="0" anchor="t">
            <a:spAutoFit/>
          </a:bodyPr>
          <a:lstStyle/>
          <a:p>
            <a:pPr algn="l">
              <a:spcAft>
                <a:spcPts val="600"/>
              </a:spcAft>
            </a:pPr>
            <a:r>
              <a:rPr sz="1300" b="1" i="0">
                <a:solidFill>
                  <a:srgbClr val="D29B08"/>
                </a:solidFill>
                <a:latin typeface="Calibri"/>
              </a:rPr>
              <a:t>Check: </a:t>
            </a:r>
            <a:r>
              <a:rPr sz="1300" b="0" i="0">
                <a:solidFill>
                  <a:srgbClr val="1E293B"/>
                </a:solidFill>
                <a:latin typeface="Calibri"/>
              </a:rPr>
              <a:t>Fewer hidden-charge threads</a:t>
            </a:r>
          </a:p>
        </p:txBody>
      </p:sp>
      <p:sp>
        <p:nvSpPr>
          <p:cNvPr id="12" name="Rounded Rectangle 11"/>
          <p:cNvSpPr/>
          <p:nvPr/>
        </p:nvSpPr>
        <p:spPr>
          <a:xfrm>
            <a:off x="8095488" y="1691640"/>
            <a:ext cx="3544824" cy="21031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24088" y="1874520"/>
            <a:ext cx="3087624" cy="411480"/>
          </a:xfrm>
          <a:prstGeom prst="rect">
            <a:avLst/>
          </a:prstGeom>
          <a:noFill/>
        </p:spPr>
        <p:txBody>
          <a:bodyPr wrap="square" lIns="0" tIns="0" rIns="0" bIns="0" anchor="t">
            <a:spAutoFit/>
          </a:bodyPr>
          <a:lstStyle/>
          <a:p>
            <a:pPr algn="l">
              <a:spcAft>
                <a:spcPts val="600"/>
              </a:spcAft>
            </a:pPr>
            <a:r>
              <a:rPr sz="1800" b="1" i="0">
                <a:solidFill>
                  <a:srgbClr val="1C2E6E"/>
                </a:solidFill>
                <a:latin typeface="Calibri"/>
              </a:rPr>
              <a:t>3  Devices &amp; app</a:t>
            </a:r>
          </a:p>
        </p:txBody>
      </p:sp>
      <p:sp>
        <p:nvSpPr>
          <p:cNvPr id="14" name="TextBox 13"/>
          <p:cNvSpPr txBox="1"/>
          <p:nvPr/>
        </p:nvSpPr>
        <p:spPr>
          <a:xfrm>
            <a:off x="8324088" y="2331720"/>
            <a:ext cx="3087624" cy="430887"/>
          </a:xfrm>
          <a:prstGeom prst="rect">
            <a:avLst/>
          </a:prstGeom>
          <a:noFill/>
        </p:spPr>
        <p:txBody>
          <a:bodyPr wrap="square" lIns="0" tIns="0" rIns="0" bIns="0" anchor="t">
            <a:spAutoFit/>
          </a:bodyPr>
          <a:lstStyle/>
          <a:p>
            <a:pPr algn="l">
              <a:spcAft>
                <a:spcPts val="600"/>
              </a:spcAft>
            </a:pPr>
            <a:r>
              <a:rPr sz="1400" b="0" i="0" dirty="0">
                <a:solidFill>
                  <a:srgbClr val="1E293B"/>
                </a:solidFill>
                <a:latin typeface="Calibri"/>
              </a:rPr>
              <a:t>Publish router and </a:t>
            </a:r>
            <a:r>
              <a:rPr sz="1400" b="1" i="0" dirty="0" err="1">
                <a:solidFill>
                  <a:srgbClr val="1E293B"/>
                </a:solidFill>
                <a:latin typeface="Calibri"/>
              </a:rPr>
              <a:t>eSIM</a:t>
            </a:r>
            <a:r>
              <a:rPr sz="1400" b="0" i="0" dirty="0">
                <a:solidFill>
                  <a:srgbClr val="1E293B"/>
                </a:solidFill>
                <a:latin typeface="Calibri"/>
              </a:rPr>
              <a:t> requirements; watch posts after each app release</a:t>
            </a:r>
          </a:p>
        </p:txBody>
      </p:sp>
      <p:sp>
        <p:nvSpPr>
          <p:cNvPr id="15" name="TextBox 14"/>
          <p:cNvSpPr txBox="1"/>
          <p:nvPr/>
        </p:nvSpPr>
        <p:spPr>
          <a:xfrm>
            <a:off x="8324088" y="3154680"/>
            <a:ext cx="3087624" cy="548640"/>
          </a:xfrm>
          <a:prstGeom prst="rect">
            <a:avLst/>
          </a:prstGeom>
          <a:noFill/>
        </p:spPr>
        <p:txBody>
          <a:bodyPr wrap="square" lIns="0" tIns="0" rIns="0" bIns="0" anchor="t">
            <a:spAutoFit/>
          </a:bodyPr>
          <a:lstStyle/>
          <a:p>
            <a:pPr algn="l">
              <a:spcAft>
                <a:spcPts val="600"/>
              </a:spcAft>
            </a:pPr>
            <a:r>
              <a:rPr sz="1300" b="1" i="0">
                <a:solidFill>
                  <a:srgbClr val="D29B08"/>
                </a:solidFill>
                <a:latin typeface="Calibri"/>
              </a:rPr>
              <a:t>Check: </a:t>
            </a:r>
            <a:r>
              <a:rPr sz="1300" b="0" i="0">
                <a:solidFill>
                  <a:srgbClr val="1E293B"/>
                </a:solidFill>
                <a:latin typeface="Calibri"/>
              </a:rPr>
              <a:t>Fewer equipment and “can’t log in” threads</a:t>
            </a:r>
          </a:p>
        </p:txBody>
      </p:sp>
      <p:sp>
        <p:nvSpPr>
          <p:cNvPr id="16" name="Rounded Rectangle 15"/>
          <p:cNvSpPr/>
          <p:nvPr/>
        </p:nvSpPr>
        <p:spPr>
          <a:xfrm>
            <a:off x="548640" y="4023360"/>
            <a:ext cx="3544824" cy="21031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4206240"/>
            <a:ext cx="3087624" cy="411480"/>
          </a:xfrm>
          <a:prstGeom prst="rect">
            <a:avLst/>
          </a:prstGeom>
          <a:noFill/>
        </p:spPr>
        <p:txBody>
          <a:bodyPr wrap="square" lIns="0" tIns="0" rIns="0" bIns="0" anchor="t">
            <a:spAutoFit/>
          </a:bodyPr>
          <a:lstStyle/>
          <a:p>
            <a:pPr algn="l">
              <a:spcAft>
                <a:spcPts val="600"/>
              </a:spcAft>
            </a:pPr>
            <a:r>
              <a:rPr sz="1800" b="1" i="0">
                <a:solidFill>
                  <a:srgbClr val="1C2E6E"/>
                </a:solidFill>
                <a:latin typeface="Calibri"/>
              </a:rPr>
              <a:t>4  Incident aftercare</a:t>
            </a:r>
          </a:p>
        </p:txBody>
      </p:sp>
      <p:sp>
        <p:nvSpPr>
          <p:cNvPr id="18" name="TextBox 17"/>
          <p:cNvSpPr txBox="1"/>
          <p:nvPr/>
        </p:nvSpPr>
        <p:spPr>
          <a:xfrm>
            <a:off x="777240" y="4663440"/>
            <a:ext cx="3087624" cy="868680"/>
          </a:xfrm>
          <a:prstGeom prst="rect">
            <a:avLst/>
          </a:prstGeom>
          <a:noFill/>
        </p:spPr>
        <p:txBody>
          <a:bodyPr wrap="square" lIns="0" tIns="0" rIns="0" bIns="0" anchor="t">
            <a:spAutoFit/>
          </a:bodyPr>
          <a:lstStyle/>
          <a:p>
            <a:pPr algn="l">
              <a:spcAft>
                <a:spcPts val="600"/>
              </a:spcAft>
            </a:pPr>
            <a:r>
              <a:rPr sz="1400" b="0" i="0">
                <a:solidFill>
                  <a:srgbClr val="1E293B"/>
                </a:solidFill>
                <a:latin typeface="Calibri"/>
              </a:rPr>
              <a:t>Publish the compensation rule with the outage notice; keep self-service open</a:t>
            </a:r>
          </a:p>
        </p:txBody>
      </p:sp>
      <p:sp>
        <p:nvSpPr>
          <p:cNvPr id="19" name="TextBox 18"/>
          <p:cNvSpPr txBox="1"/>
          <p:nvPr/>
        </p:nvSpPr>
        <p:spPr>
          <a:xfrm>
            <a:off x="777240" y="5486400"/>
            <a:ext cx="3087624" cy="548640"/>
          </a:xfrm>
          <a:prstGeom prst="rect">
            <a:avLst/>
          </a:prstGeom>
          <a:noFill/>
        </p:spPr>
        <p:txBody>
          <a:bodyPr wrap="square" lIns="0" tIns="0" rIns="0" bIns="0" anchor="t">
            <a:spAutoFit/>
          </a:bodyPr>
          <a:lstStyle/>
          <a:p>
            <a:pPr algn="l">
              <a:spcAft>
                <a:spcPts val="600"/>
              </a:spcAft>
            </a:pPr>
            <a:r>
              <a:rPr sz="1300" b="1" i="0">
                <a:solidFill>
                  <a:srgbClr val="D29B08"/>
                </a:solidFill>
                <a:latin typeface="Calibri"/>
              </a:rPr>
              <a:t>Check: </a:t>
            </a:r>
            <a:r>
              <a:rPr sz="1300" b="0" i="0">
                <a:solidFill>
                  <a:srgbClr val="1E293B"/>
                </a:solidFill>
                <a:latin typeface="Calibri"/>
              </a:rPr>
              <a:t>Fewer compensation and “can’t reach support” posts</a:t>
            </a:r>
          </a:p>
        </p:txBody>
      </p:sp>
      <p:sp>
        <p:nvSpPr>
          <p:cNvPr id="20" name="Rounded Rectangle 19"/>
          <p:cNvSpPr/>
          <p:nvPr/>
        </p:nvSpPr>
        <p:spPr>
          <a:xfrm>
            <a:off x="4322064" y="4023360"/>
            <a:ext cx="3544824" cy="21031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50664" y="4206240"/>
            <a:ext cx="3087624" cy="411480"/>
          </a:xfrm>
          <a:prstGeom prst="rect">
            <a:avLst/>
          </a:prstGeom>
          <a:noFill/>
        </p:spPr>
        <p:txBody>
          <a:bodyPr wrap="square" lIns="0" tIns="0" rIns="0" bIns="0" anchor="t">
            <a:spAutoFit/>
          </a:bodyPr>
          <a:lstStyle/>
          <a:p>
            <a:pPr algn="l">
              <a:spcAft>
                <a:spcPts val="600"/>
              </a:spcAft>
            </a:pPr>
            <a:r>
              <a:rPr sz="1800" b="1" i="0">
                <a:solidFill>
                  <a:srgbClr val="1C2E6E"/>
                </a:solidFill>
                <a:latin typeface="Calibri"/>
              </a:rPr>
              <a:t>5  Roaming, porting</a:t>
            </a:r>
          </a:p>
        </p:txBody>
      </p:sp>
      <p:sp>
        <p:nvSpPr>
          <p:cNvPr id="22" name="TextBox 21"/>
          <p:cNvSpPr txBox="1"/>
          <p:nvPr/>
        </p:nvSpPr>
        <p:spPr>
          <a:xfrm>
            <a:off x="4550664" y="4663440"/>
            <a:ext cx="3087624" cy="868680"/>
          </a:xfrm>
          <a:prstGeom prst="rect">
            <a:avLst/>
          </a:prstGeom>
          <a:noFill/>
        </p:spPr>
        <p:txBody>
          <a:bodyPr wrap="square" lIns="0" tIns="0" rIns="0" bIns="0" anchor="t">
            <a:spAutoFit/>
          </a:bodyPr>
          <a:lstStyle/>
          <a:p>
            <a:pPr algn="l">
              <a:spcAft>
                <a:spcPts val="600"/>
              </a:spcAft>
            </a:pPr>
            <a:r>
              <a:rPr sz="1400" b="0" i="0">
                <a:solidFill>
                  <a:srgbClr val="1E293B"/>
                </a:solidFill>
                <a:latin typeface="Calibri"/>
              </a:rPr>
              <a:t>Small, mostly questions: a travel checklist and clearer port timelines</a:t>
            </a:r>
          </a:p>
        </p:txBody>
      </p:sp>
      <p:sp>
        <p:nvSpPr>
          <p:cNvPr id="23" name="TextBox 22"/>
          <p:cNvSpPr txBox="1"/>
          <p:nvPr/>
        </p:nvSpPr>
        <p:spPr>
          <a:xfrm>
            <a:off x="4550664" y="5486400"/>
            <a:ext cx="3087624" cy="548640"/>
          </a:xfrm>
          <a:prstGeom prst="rect">
            <a:avLst/>
          </a:prstGeom>
          <a:noFill/>
        </p:spPr>
        <p:txBody>
          <a:bodyPr wrap="square" lIns="0" tIns="0" rIns="0" bIns="0" anchor="t">
            <a:spAutoFit/>
          </a:bodyPr>
          <a:lstStyle/>
          <a:p>
            <a:pPr algn="l">
              <a:spcAft>
                <a:spcPts val="600"/>
              </a:spcAft>
            </a:pPr>
            <a:r>
              <a:rPr sz="1300" b="1" i="0">
                <a:solidFill>
                  <a:srgbClr val="D29B08"/>
                </a:solidFill>
                <a:latin typeface="Calibri"/>
              </a:rPr>
              <a:t>Check: </a:t>
            </a:r>
            <a:r>
              <a:rPr sz="1300" b="0" i="0">
                <a:solidFill>
                  <a:srgbClr val="1E293B"/>
                </a:solidFill>
                <a:latin typeface="Calibri"/>
              </a:rPr>
              <a:t>No priority unless volume rises</a:t>
            </a:r>
          </a:p>
        </p:txBody>
      </p:sp>
      <p:sp>
        <p:nvSpPr>
          <p:cNvPr id="24" name="Rounded Rectangle 23"/>
          <p:cNvSpPr/>
          <p:nvPr/>
        </p:nvSpPr>
        <p:spPr>
          <a:xfrm>
            <a:off x="8095488" y="4023360"/>
            <a:ext cx="3544824" cy="21031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324088" y="4206240"/>
            <a:ext cx="3087624" cy="411480"/>
          </a:xfrm>
          <a:prstGeom prst="rect">
            <a:avLst/>
          </a:prstGeom>
          <a:noFill/>
        </p:spPr>
        <p:txBody>
          <a:bodyPr wrap="square" lIns="0" tIns="0" rIns="0" bIns="0" anchor="t">
            <a:spAutoFit/>
          </a:bodyPr>
          <a:lstStyle/>
          <a:p>
            <a:pPr algn="l">
              <a:spcAft>
                <a:spcPts val="600"/>
              </a:spcAft>
            </a:pPr>
            <a:r>
              <a:rPr sz="1800" b="1" i="0">
                <a:solidFill>
                  <a:srgbClr val="1C2E6E"/>
                </a:solidFill>
                <a:latin typeface="Calibri"/>
              </a:rPr>
              <a:t>6  Weekly huddle</a:t>
            </a:r>
          </a:p>
        </p:txBody>
      </p:sp>
      <p:sp>
        <p:nvSpPr>
          <p:cNvPr id="26" name="TextBox 25"/>
          <p:cNvSpPr txBox="1"/>
          <p:nvPr/>
        </p:nvSpPr>
        <p:spPr>
          <a:xfrm>
            <a:off x="8324088" y="4663440"/>
            <a:ext cx="3087624" cy="868680"/>
          </a:xfrm>
          <a:prstGeom prst="rect">
            <a:avLst/>
          </a:prstGeom>
          <a:noFill/>
        </p:spPr>
        <p:txBody>
          <a:bodyPr wrap="square" lIns="0" tIns="0" rIns="0" bIns="0" anchor="t">
            <a:spAutoFit/>
          </a:bodyPr>
          <a:lstStyle/>
          <a:p>
            <a:pPr algn="l">
              <a:spcAft>
                <a:spcPts val="600"/>
              </a:spcAft>
            </a:pPr>
            <a:r>
              <a:rPr sz="1400" b="0" i="0">
                <a:solidFill>
                  <a:srgbClr val="1E293B"/>
                </a:solidFill>
                <a:latin typeface="Calibri"/>
              </a:rPr>
              <a:t>Act only when a week reaches twice a normal week; one owner, one date</a:t>
            </a:r>
          </a:p>
        </p:txBody>
      </p:sp>
      <p:sp>
        <p:nvSpPr>
          <p:cNvPr id="27" name="TextBox 26"/>
          <p:cNvSpPr txBox="1"/>
          <p:nvPr/>
        </p:nvSpPr>
        <p:spPr>
          <a:xfrm>
            <a:off x="8324088" y="5486400"/>
            <a:ext cx="3087624" cy="548640"/>
          </a:xfrm>
          <a:prstGeom prst="rect">
            <a:avLst/>
          </a:prstGeom>
          <a:noFill/>
        </p:spPr>
        <p:txBody>
          <a:bodyPr wrap="square" lIns="0" tIns="0" rIns="0" bIns="0" anchor="t">
            <a:spAutoFit/>
          </a:bodyPr>
          <a:lstStyle/>
          <a:p>
            <a:pPr algn="l">
              <a:spcAft>
                <a:spcPts val="600"/>
              </a:spcAft>
            </a:pPr>
            <a:r>
              <a:rPr sz="1300" b="1" i="0">
                <a:solidFill>
                  <a:srgbClr val="D29B08"/>
                </a:solidFill>
                <a:latin typeface="Calibri"/>
              </a:rPr>
              <a:t>Check: </a:t>
            </a:r>
            <a:r>
              <a:rPr sz="1300" b="0" i="0">
                <a:solidFill>
                  <a:srgbClr val="1E293B"/>
                </a:solidFill>
                <a:latin typeface="Calibri"/>
              </a:rPr>
              <a:t>That issue’s share falls next week</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12000" y="475199"/>
            <a:ext cx="6840000" cy="828000"/>
          </a:xfrm>
          <a:prstGeom prst="rect">
            <a:avLst/>
          </a:prstGeom>
          <a:noFill/>
        </p:spPr>
        <p:txBody>
          <a:bodyPr wrap="square" lIns="0" tIns="0" rIns="0" bIns="0" anchor="ctr">
            <a:spAutoFit/>
          </a:bodyPr>
          <a:lstStyle/>
          <a:p>
            <a:pPr algn="l">
              <a:lnSpc>
                <a:spcPct val="95000"/>
              </a:lnSpc>
              <a:spcAft>
                <a:spcPts val="0"/>
              </a:spcAft>
            </a:pPr>
            <a:r>
              <a:rPr sz="2400" b="1" i="0">
                <a:solidFill>
                  <a:srgbClr val="1C2E6E"/>
                </a:solidFill>
                <a:latin typeface="Calibri"/>
              </a:rPr>
              <a:t>What I found most interesting</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28</a:t>
            </a:r>
          </a:p>
        </p:txBody>
      </p:sp>
      <p:sp>
        <p:nvSpPr>
          <p:cNvPr id="4" name="Oval 3"/>
          <p:cNvSpPr/>
          <p:nvPr/>
        </p:nvSpPr>
        <p:spPr>
          <a:xfrm>
            <a:off x="548640" y="1847088"/>
            <a:ext cx="566928" cy="566928"/>
          </a:xfrm>
          <a:prstGeom prst="ellipse">
            <a:avLst/>
          </a:prstGeom>
          <a:solidFill>
            <a:srgbClr val="D29B0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800" b="1">
                <a:solidFill>
                  <a:srgbClr val="FFFFFF"/>
                </a:solidFill>
                <a:latin typeface="Calibri"/>
              </a:rPr>
              <a:t>1</a:t>
            </a:r>
          </a:p>
        </p:txBody>
      </p:sp>
      <p:sp>
        <p:nvSpPr>
          <p:cNvPr id="5" name="TextBox 4"/>
          <p:cNvSpPr txBox="1"/>
          <p:nvPr/>
        </p:nvSpPr>
        <p:spPr>
          <a:xfrm>
            <a:off x="1371600" y="1783080"/>
            <a:ext cx="3977639" cy="731520"/>
          </a:xfrm>
          <a:prstGeom prst="rect">
            <a:avLst/>
          </a:prstGeom>
          <a:noFill/>
        </p:spPr>
        <p:txBody>
          <a:bodyPr wrap="square" lIns="0" tIns="0" rIns="0" bIns="0" anchor="ctr">
            <a:spAutoFit/>
          </a:bodyPr>
          <a:lstStyle/>
          <a:p>
            <a:pPr algn="l">
              <a:spcAft>
                <a:spcPts val="600"/>
              </a:spcAft>
            </a:pPr>
            <a:r>
              <a:rPr sz="1800" b="1" i="0">
                <a:solidFill>
                  <a:srgbClr val="1C2E6E"/>
                </a:solidFill>
                <a:latin typeface="Calibri"/>
              </a:rPr>
              <a:t>The bigger model didn’t win</a:t>
            </a:r>
          </a:p>
        </p:txBody>
      </p:sp>
      <p:sp>
        <p:nvSpPr>
          <p:cNvPr id="6" name="TextBox 5"/>
          <p:cNvSpPr txBox="1"/>
          <p:nvPr/>
        </p:nvSpPr>
        <p:spPr>
          <a:xfrm>
            <a:off x="5486400" y="1783080"/>
            <a:ext cx="6153912" cy="731520"/>
          </a:xfrm>
          <a:prstGeom prst="rect">
            <a:avLst/>
          </a:prstGeom>
          <a:noFill/>
        </p:spPr>
        <p:txBody>
          <a:bodyPr wrap="square" lIns="0" tIns="0" rIns="0" bIns="0" anchor="ctr">
            <a:spAutoFit/>
          </a:bodyPr>
          <a:lstStyle/>
          <a:p>
            <a:pPr algn="l">
              <a:spcAft>
                <a:spcPts val="600"/>
              </a:spcAft>
            </a:pPr>
            <a:r>
              <a:rPr sz="1600" b="0" i="0">
                <a:solidFill>
                  <a:srgbClr val="1E293B"/>
                </a:solidFill>
                <a:latin typeface="Calibri"/>
              </a:rPr>
              <a:t>GPT-4o ties mini on sentiment at ~17× the cost, on both gold sets.</a:t>
            </a:r>
          </a:p>
        </p:txBody>
      </p:sp>
      <p:sp>
        <p:nvSpPr>
          <p:cNvPr id="7" name="Oval 6"/>
          <p:cNvSpPr/>
          <p:nvPr/>
        </p:nvSpPr>
        <p:spPr>
          <a:xfrm>
            <a:off x="548640" y="2944368"/>
            <a:ext cx="566928" cy="566928"/>
          </a:xfrm>
          <a:prstGeom prst="ellipse">
            <a:avLst/>
          </a:prstGeom>
          <a:solidFill>
            <a:srgbClr val="D29B0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800" b="1">
                <a:solidFill>
                  <a:srgbClr val="FFFFFF"/>
                </a:solidFill>
                <a:latin typeface="Calibri"/>
              </a:rPr>
              <a:t>2</a:t>
            </a:r>
          </a:p>
        </p:txBody>
      </p:sp>
      <p:sp>
        <p:nvSpPr>
          <p:cNvPr id="8" name="TextBox 7"/>
          <p:cNvSpPr txBox="1"/>
          <p:nvPr/>
        </p:nvSpPr>
        <p:spPr>
          <a:xfrm>
            <a:off x="1371600" y="2880360"/>
            <a:ext cx="3977639" cy="731520"/>
          </a:xfrm>
          <a:prstGeom prst="rect">
            <a:avLst/>
          </a:prstGeom>
          <a:noFill/>
        </p:spPr>
        <p:txBody>
          <a:bodyPr wrap="square" lIns="0" tIns="0" rIns="0" bIns="0" anchor="ctr">
            <a:spAutoFit/>
          </a:bodyPr>
          <a:lstStyle/>
          <a:p>
            <a:pPr algn="l">
              <a:spcAft>
                <a:spcPts val="600"/>
              </a:spcAft>
            </a:pPr>
            <a:r>
              <a:rPr sz="1800" b="1" i="0">
                <a:solidFill>
                  <a:srgbClr val="1C2E6E"/>
                </a:solidFill>
                <a:latin typeface="Calibri"/>
              </a:rPr>
              <a:t>My best method failed the held-out test</a:t>
            </a:r>
          </a:p>
        </p:txBody>
      </p:sp>
      <p:sp>
        <p:nvSpPr>
          <p:cNvPr id="9" name="TextBox 8"/>
          <p:cNvSpPr txBox="1"/>
          <p:nvPr/>
        </p:nvSpPr>
        <p:spPr>
          <a:xfrm>
            <a:off x="5486400" y="2880360"/>
            <a:ext cx="6153912" cy="731520"/>
          </a:xfrm>
          <a:prstGeom prst="rect">
            <a:avLst/>
          </a:prstGeom>
          <a:noFill/>
        </p:spPr>
        <p:txBody>
          <a:bodyPr wrap="square" lIns="0" tIns="0" rIns="0" bIns="0" anchor="ctr">
            <a:spAutoFit/>
          </a:bodyPr>
          <a:lstStyle/>
          <a:p>
            <a:pPr algn="l">
              <a:spcAft>
                <a:spcPts val="600"/>
              </a:spcAft>
            </a:pPr>
            <a:r>
              <a:rPr sz="1600" b="0" i="0">
                <a:solidFill>
                  <a:srgbClr val="1E293B"/>
                </a:solidFill>
                <a:latin typeface="Calibri"/>
              </a:rPr>
              <a:t>Hybrid: 0.639 on the representative set, 0.509 on held-out posts, where GPT-4o on every post won.</a:t>
            </a:r>
          </a:p>
        </p:txBody>
      </p:sp>
      <p:sp>
        <p:nvSpPr>
          <p:cNvPr id="10" name="Oval 9"/>
          <p:cNvSpPr/>
          <p:nvPr/>
        </p:nvSpPr>
        <p:spPr>
          <a:xfrm>
            <a:off x="548640" y="4041648"/>
            <a:ext cx="566928" cy="566928"/>
          </a:xfrm>
          <a:prstGeom prst="ellipse">
            <a:avLst/>
          </a:prstGeom>
          <a:solidFill>
            <a:srgbClr val="D29B0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800" b="1">
                <a:solidFill>
                  <a:srgbClr val="FFFFFF"/>
                </a:solidFill>
                <a:latin typeface="Calibri"/>
              </a:rPr>
              <a:t>3</a:t>
            </a:r>
          </a:p>
        </p:txBody>
      </p:sp>
      <p:sp>
        <p:nvSpPr>
          <p:cNvPr id="11" name="TextBox 10"/>
          <p:cNvSpPr txBox="1"/>
          <p:nvPr/>
        </p:nvSpPr>
        <p:spPr>
          <a:xfrm>
            <a:off x="1371600" y="4204899"/>
            <a:ext cx="3977639" cy="276999"/>
          </a:xfrm>
          <a:prstGeom prst="rect">
            <a:avLst/>
          </a:prstGeom>
          <a:noFill/>
        </p:spPr>
        <p:txBody>
          <a:bodyPr wrap="square" lIns="0" tIns="0" rIns="0" bIns="0" anchor="ctr">
            <a:spAutoFit/>
          </a:bodyPr>
          <a:lstStyle/>
          <a:p>
            <a:pPr algn="l">
              <a:spcAft>
                <a:spcPts val="600"/>
              </a:spcAft>
            </a:pPr>
            <a:r>
              <a:rPr lang="en-US" sz="1800" b="1" i="0" dirty="0">
                <a:solidFill>
                  <a:srgbClr val="1C2E6E"/>
                </a:solidFill>
                <a:latin typeface="Calibri"/>
              </a:rPr>
              <a:t>One outage created two fake gaps</a:t>
            </a:r>
            <a:endParaRPr sz="1800" b="1" i="0" dirty="0">
              <a:solidFill>
                <a:srgbClr val="1C2E6E"/>
              </a:solidFill>
              <a:latin typeface="Calibri"/>
            </a:endParaRPr>
          </a:p>
        </p:txBody>
      </p:sp>
      <p:sp>
        <p:nvSpPr>
          <p:cNvPr id="12" name="TextBox 11"/>
          <p:cNvSpPr txBox="1"/>
          <p:nvPr/>
        </p:nvSpPr>
        <p:spPr>
          <a:xfrm>
            <a:off x="5486400" y="4097178"/>
            <a:ext cx="6153912" cy="492443"/>
          </a:xfrm>
          <a:prstGeom prst="rect">
            <a:avLst/>
          </a:prstGeom>
          <a:noFill/>
        </p:spPr>
        <p:txBody>
          <a:bodyPr wrap="square" lIns="0" tIns="0" rIns="0" bIns="0" anchor="ctr">
            <a:spAutoFit/>
          </a:bodyPr>
          <a:lstStyle/>
          <a:p>
            <a:pPr algn="l">
              <a:spcAft>
                <a:spcPts val="600"/>
              </a:spcAft>
            </a:pPr>
            <a:r>
              <a:rPr lang="en-US" sz="1600" b="0" i="0" dirty="0">
                <a:solidFill>
                  <a:srgbClr val="1E293B"/>
                </a:solidFill>
                <a:latin typeface="Calibri"/>
              </a:rPr>
              <a:t>1,099 of 1,102 outage posts were on Reddit, mostly about Singtel; without them, Singtel is 42% not happy vs StarHub 40%.</a:t>
            </a:r>
            <a:endParaRPr sz="1600" b="0" i="0" dirty="0">
              <a:solidFill>
                <a:srgbClr val="1E293B"/>
              </a:solidFill>
              <a:latin typeface="Calibri"/>
            </a:endParaRPr>
          </a:p>
        </p:txBody>
      </p:sp>
      <p:sp>
        <p:nvSpPr>
          <p:cNvPr id="13" name="Oval 12"/>
          <p:cNvSpPr/>
          <p:nvPr/>
        </p:nvSpPr>
        <p:spPr>
          <a:xfrm>
            <a:off x="548640" y="5138928"/>
            <a:ext cx="566928" cy="566928"/>
          </a:xfrm>
          <a:prstGeom prst="ellipse">
            <a:avLst/>
          </a:prstGeom>
          <a:solidFill>
            <a:srgbClr val="D29B0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800" b="1">
                <a:solidFill>
                  <a:srgbClr val="FFFFFF"/>
                </a:solidFill>
                <a:latin typeface="Calibri"/>
              </a:rPr>
              <a:t>4</a:t>
            </a:r>
          </a:p>
        </p:txBody>
      </p:sp>
      <p:sp>
        <p:nvSpPr>
          <p:cNvPr id="14" name="TextBox 13"/>
          <p:cNvSpPr txBox="1"/>
          <p:nvPr/>
        </p:nvSpPr>
        <p:spPr>
          <a:xfrm>
            <a:off x="1371600" y="5074920"/>
            <a:ext cx="3977639" cy="731520"/>
          </a:xfrm>
          <a:prstGeom prst="rect">
            <a:avLst/>
          </a:prstGeom>
          <a:noFill/>
        </p:spPr>
        <p:txBody>
          <a:bodyPr wrap="square" lIns="0" tIns="0" rIns="0" bIns="0" anchor="ctr">
            <a:spAutoFit/>
          </a:bodyPr>
          <a:lstStyle/>
          <a:p>
            <a:pPr algn="l">
              <a:spcAft>
                <a:spcPts val="600"/>
              </a:spcAft>
            </a:pPr>
            <a:r>
              <a:rPr sz="1800" b="1" i="0">
                <a:solidFill>
                  <a:srgbClr val="1C2E6E"/>
                </a:solidFill>
                <a:latin typeface="Calibri"/>
              </a:rPr>
              <a:t>The data had bugs too</a:t>
            </a:r>
          </a:p>
        </p:txBody>
      </p:sp>
      <p:sp>
        <p:nvSpPr>
          <p:cNvPr id="15" name="TextBox 14"/>
          <p:cNvSpPr txBox="1"/>
          <p:nvPr/>
        </p:nvSpPr>
        <p:spPr>
          <a:xfrm>
            <a:off x="5486400" y="5074920"/>
            <a:ext cx="6153912" cy="731520"/>
          </a:xfrm>
          <a:prstGeom prst="rect">
            <a:avLst/>
          </a:prstGeom>
          <a:noFill/>
        </p:spPr>
        <p:txBody>
          <a:bodyPr wrap="square" lIns="0" tIns="0" rIns="0" bIns="0" anchor="ctr">
            <a:spAutoFit/>
          </a:bodyPr>
          <a:lstStyle/>
          <a:p>
            <a:pPr algn="l">
              <a:spcAft>
                <a:spcPts val="600"/>
              </a:spcAft>
            </a:pPr>
            <a:r>
              <a:rPr sz="1600" b="0" i="0" dirty="0">
                <a:solidFill>
                  <a:srgbClr val="1E293B"/>
                </a:solidFill>
                <a:latin typeface="Calibri"/>
              </a:rPr>
              <a:t>24,690 rows → 11,643 unique posts; HWZ scraper read only page 1 until fixed.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12000" y="475199"/>
            <a:ext cx="6840000" cy="828000"/>
          </a:xfrm>
          <a:prstGeom prst="rect">
            <a:avLst/>
          </a:prstGeom>
          <a:noFill/>
        </p:spPr>
        <p:txBody>
          <a:bodyPr wrap="square" lIns="0" tIns="0" rIns="0" bIns="0" anchor="ctr">
            <a:spAutoFit/>
          </a:bodyPr>
          <a:lstStyle/>
          <a:p>
            <a:pPr algn="l">
              <a:lnSpc>
                <a:spcPct val="95000"/>
              </a:lnSpc>
              <a:spcAft>
                <a:spcPts val="0"/>
              </a:spcAft>
            </a:pPr>
            <a:r>
              <a:rPr sz="2400" b="1" i="0">
                <a:solidFill>
                  <a:srgbClr val="1C2E6E"/>
                </a:solidFill>
                <a:latin typeface="Calibri"/>
              </a:rPr>
              <a:t>Limitations I’d flag to any reader</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29</a:t>
            </a:r>
          </a:p>
        </p:txBody>
      </p:sp>
      <p:sp>
        <p:nvSpPr>
          <p:cNvPr id="4" name="Rounded Rectangle 3"/>
          <p:cNvSpPr/>
          <p:nvPr/>
        </p:nvSpPr>
        <p:spPr>
          <a:xfrm>
            <a:off x="548640" y="1691640"/>
            <a:ext cx="5422392" cy="39319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59" y="1920240"/>
            <a:ext cx="4846320" cy="457200"/>
          </a:xfrm>
          <a:prstGeom prst="rect">
            <a:avLst/>
          </a:prstGeom>
          <a:noFill/>
        </p:spPr>
        <p:txBody>
          <a:bodyPr wrap="square" lIns="0" tIns="0" rIns="0" bIns="0" anchor="t">
            <a:spAutoFit/>
          </a:bodyPr>
          <a:lstStyle/>
          <a:p>
            <a:pPr algn="l">
              <a:spcAft>
                <a:spcPts val="600"/>
              </a:spcAft>
            </a:pPr>
            <a:r>
              <a:rPr sz="2200" b="1" i="0">
                <a:solidFill>
                  <a:srgbClr val="1C2E6E"/>
                </a:solidFill>
                <a:latin typeface="Calibri"/>
              </a:rPr>
              <a:t>Data</a:t>
            </a:r>
          </a:p>
        </p:txBody>
      </p:sp>
      <p:sp>
        <p:nvSpPr>
          <p:cNvPr id="6" name="TextBox 5"/>
          <p:cNvSpPr txBox="1"/>
          <p:nvPr/>
        </p:nvSpPr>
        <p:spPr>
          <a:xfrm>
            <a:off x="822959" y="2560320"/>
            <a:ext cx="4892040" cy="2841804"/>
          </a:xfrm>
          <a:prstGeom prst="rect">
            <a:avLst/>
          </a:prstGeom>
          <a:noFill/>
        </p:spPr>
        <p:txBody>
          <a:bodyPr wrap="square" lIns="0" tIns="0" rIns="0" bIns="0" anchor="t">
            <a:spAutoFit/>
          </a:bodyPr>
          <a:lstStyle/>
          <a:p>
            <a:pPr marL="256032" indent="-256032" algn="l">
              <a:spcAft>
                <a:spcPts val="1400"/>
              </a:spcAft>
              <a:buClr>
                <a:srgbClr val="D29B08"/>
              </a:buClr>
              <a:buFont typeface="Arial"/>
              <a:buChar char="•"/>
            </a:pPr>
            <a:r>
              <a:rPr sz="1700" b="0" i="0" dirty="0">
                <a:solidFill>
                  <a:srgbClr val="1E293B"/>
                </a:solidFill>
                <a:latin typeface="Calibri"/>
              </a:rPr>
              <a:t>Forum posters self-select; they are not all subscribers</a:t>
            </a:r>
          </a:p>
          <a:p>
            <a:pPr marL="256032" indent="-256032" algn="l">
              <a:spcAft>
                <a:spcPts val="1400"/>
              </a:spcAft>
              <a:buClr>
                <a:srgbClr val="D29B08"/>
              </a:buClr>
              <a:buFont typeface="Arial"/>
              <a:buChar char="•"/>
            </a:pPr>
            <a:r>
              <a:rPr lang="en-US" sz="1700" b="0" i="0" dirty="0">
                <a:solidFill>
                  <a:srgbClr val="1E293B"/>
                </a:solidFill>
                <a:latin typeface="Calibri"/>
              </a:rPr>
              <a:t>People post publicly to complain, so a high not-happy share is expected</a:t>
            </a:r>
          </a:p>
          <a:p>
            <a:pPr marL="256032" indent="-256032" algn="l">
              <a:spcAft>
                <a:spcPts val="1400"/>
              </a:spcAft>
              <a:buClr>
                <a:srgbClr val="D29B08"/>
              </a:buClr>
              <a:buFont typeface="Arial"/>
              <a:buChar char="•"/>
            </a:pPr>
            <a:r>
              <a:rPr sz="1700" b="0" i="0" dirty="0">
                <a:solidFill>
                  <a:srgbClr val="1E293B"/>
                </a:solidFill>
                <a:latin typeface="Calibri"/>
              </a:rPr>
              <a:t>95% of posts from 2026; replies cluster by thread</a:t>
            </a:r>
          </a:p>
          <a:p>
            <a:pPr marL="256032" indent="-256032">
              <a:spcAft>
                <a:spcPts val="1400"/>
              </a:spcAft>
              <a:buClr>
                <a:srgbClr val="D29B08"/>
              </a:buClr>
              <a:buFont typeface="Arial"/>
              <a:buChar char="•"/>
            </a:pPr>
            <a:r>
              <a:rPr sz="1700" b="0" i="0" dirty="0">
                <a:solidFill>
                  <a:srgbClr val="1E293B"/>
                </a:solidFill>
                <a:latin typeface="Calibri"/>
              </a:rPr>
              <a:t>Recent Reddit posts via a research archive</a:t>
            </a:r>
            <a:r>
              <a:rPr lang="en-US" sz="1700" b="0" i="0" dirty="0">
                <a:solidFill>
                  <a:srgbClr val="1E293B"/>
                </a:solidFill>
                <a:latin typeface="Calibri"/>
              </a:rPr>
              <a:t>,</a:t>
            </a:r>
            <a:r>
              <a:rPr lang="en-US" sz="1600" dirty="0"/>
              <a:t> which can miss deleted posts</a:t>
            </a:r>
            <a:endParaRPr sz="1700" b="0" i="0" dirty="0">
              <a:solidFill>
                <a:srgbClr val="1E293B"/>
              </a:solidFill>
              <a:latin typeface="Calibri"/>
            </a:endParaRPr>
          </a:p>
          <a:p>
            <a:pPr marL="256032" indent="-256032" algn="l">
              <a:spcAft>
                <a:spcPts val="1400"/>
              </a:spcAft>
              <a:buClr>
                <a:srgbClr val="D29B08"/>
              </a:buClr>
              <a:buFont typeface="Arial"/>
              <a:buChar char="•"/>
            </a:pPr>
            <a:r>
              <a:rPr sz="1700" b="0" i="0" dirty="0">
                <a:solidFill>
                  <a:srgbClr val="1E293B"/>
                </a:solidFill>
                <a:latin typeface="Calibri"/>
              </a:rPr>
              <a:t>No tickets, outages or NPS to validate against</a:t>
            </a:r>
          </a:p>
        </p:txBody>
      </p:sp>
      <p:sp>
        <p:nvSpPr>
          <p:cNvPr id="7" name="Rounded Rectangle 6"/>
          <p:cNvSpPr/>
          <p:nvPr/>
        </p:nvSpPr>
        <p:spPr>
          <a:xfrm>
            <a:off x="6217920" y="1691640"/>
            <a:ext cx="5422392" cy="39319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1920240"/>
            <a:ext cx="4846320" cy="457200"/>
          </a:xfrm>
          <a:prstGeom prst="rect">
            <a:avLst/>
          </a:prstGeom>
          <a:noFill/>
        </p:spPr>
        <p:txBody>
          <a:bodyPr wrap="square" lIns="0" tIns="0" rIns="0" bIns="0" anchor="t">
            <a:spAutoFit/>
          </a:bodyPr>
          <a:lstStyle/>
          <a:p>
            <a:pPr algn="l">
              <a:spcAft>
                <a:spcPts val="600"/>
              </a:spcAft>
            </a:pPr>
            <a:r>
              <a:rPr sz="2200" b="1" i="0">
                <a:solidFill>
                  <a:srgbClr val="1C2E6E"/>
                </a:solidFill>
                <a:latin typeface="Calibri"/>
              </a:rPr>
              <a:t>Method</a:t>
            </a:r>
          </a:p>
        </p:txBody>
      </p:sp>
      <p:sp>
        <p:nvSpPr>
          <p:cNvPr id="9" name="TextBox 8"/>
          <p:cNvSpPr txBox="1"/>
          <p:nvPr/>
        </p:nvSpPr>
        <p:spPr>
          <a:xfrm>
            <a:off x="6492240" y="2560320"/>
            <a:ext cx="4892040" cy="1651734"/>
          </a:xfrm>
          <a:prstGeom prst="rect">
            <a:avLst/>
          </a:prstGeom>
          <a:noFill/>
        </p:spPr>
        <p:txBody>
          <a:bodyPr wrap="square" lIns="0" tIns="0" rIns="0" bIns="0" anchor="t">
            <a:spAutoFit/>
          </a:bodyPr>
          <a:lstStyle/>
          <a:p>
            <a:pPr marL="256032" indent="-256032">
              <a:spcAft>
                <a:spcPts val="1400"/>
              </a:spcAft>
              <a:buClr>
                <a:srgbClr val="D29B08"/>
              </a:buClr>
              <a:buFont typeface="Arial"/>
              <a:buChar char="•"/>
            </a:pPr>
            <a:r>
              <a:rPr sz="1700" b="0" i="0" dirty="0">
                <a:solidFill>
                  <a:srgbClr val="1E293B"/>
                </a:solidFill>
                <a:latin typeface="Calibri"/>
              </a:rPr>
              <a:t>Mini matches humans on ~2/3 of posts; humans agree at </a:t>
            </a:r>
            <a:r>
              <a:rPr lang="en-US" sz="1600" dirty="0"/>
              <a:t>kappa </a:t>
            </a:r>
            <a:r>
              <a:rPr sz="1700" b="0" i="0" dirty="0" err="1">
                <a:solidFill>
                  <a:srgbClr val="1E293B"/>
                </a:solidFill>
                <a:latin typeface="Calibri"/>
              </a:rPr>
              <a:t>κ</a:t>
            </a:r>
            <a:r>
              <a:rPr lang="en-US" sz="1700" b="0" i="0" dirty="0">
                <a:solidFill>
                  <a:srgbClr val="1E293B"/>
                </a:solidFill>
                <a:latin typeface="Calibri"/>
              </a:rPr>
              <a:t> </a:t>
            </a:r>
            <a:r>
              <a:rPr sz="1700" b="0" i="0" dirty="0">
                <a:solidFill>
                  <a:srgbClr val="1E293B"/>
                </a:solidFill>
                <a:latin typeface="Calibri"/>
              </a:rPr>
              <a:t> 0.39</a:t>
            </a:r>
          </a:p>
          <a:p>
            <a:pPr marL="256032" indent="-256032" algn="l">
              <a:spcAft>
                <a:spcPts val="1400"/>
              </a:spcAft>
              <a:buClr>
                <a:srgbClr val="D29B08"/>
              </a:buClr>
              <a:buFont typeface="Arial"/>
              <a:buChar char="•"/>
            </a:pPr>
            <a:r>
              <a:rPr sz="1700" b="0" i="0" dirty="0">
                <a:solidFill>
                  <a:srgbClr val="1E293B"/>
                </a:solidFill>
                <a:latin typeface="Calibri"/>
              </a:rPr>
              <a:t>Hybrid’s 0.639 is optimistic (0.509 held out)</a:t>
            </a:r>
          </a:p>
          <a:p>
            <a:pPr marL="256032" indent="-256032">
              <a:spcAft>
                <a:spcPts val="1400"/>
              </a:spcAft>
              <a:buClr>
                <a:srgbClr val="D29B08"/>
              </a:buClr>
              <a:buFont typeface="Arial"/>
              <a:buChar char="•"/>
            </a:pPr>
            <a:r>
              <a:rPr sz="1700" b="0" i="0" dirty="0">
                <a:solidFill>
                  <a:srgbClr val="1E293B"/>
                </a:solidFill>
                <a:latin typeface="Calibri"/>
              </a:rPr>
              <a:t>One</a:t>
            </a:r>
            <a:r>
              <a:rPr lang="en-US" sz="1600" dirty="0"/>
              <a:t> multi-brand post gives its one sentiment to every brand.</a:t>
            </a:r>
            <a:endParaRPr sz="1700" b="0" i="0" dirty="0">
              <a:solidFill>
                <a:srgbClr val="1E293B"/>
              </a:solidFill>
              <a:latin typeface="Calibri"/>
            </a:endParaRPr>
          </a:p>
        </p:txBody>
      </p:sp>
    </p:spTree>
    <p:extLst>
      <p:ext uri="{BB962C8B-B14F-4D97-AF65-F5344CB8AC3E}">
        <p14:creationId xmlns:p14="http://schemas.microsoft.com/office/powerpoint/2010/main" val="2804290051"/>
      </p:ext>
    </p:extLst>
  </p:cSld>
  <p:clrMapOvr>
    <a:masterClrMapping/>
  </p:clrMapOvr>
  <p:extLst>
    <p:ext uri="{6950BFC3-D8DA-4A85-94F7-54DA5524770B}">
      <p188:commentRel xmlns:p188="http://schemas.microsoft.com/office/powerpoint/2018/8/main" r:id="rId3"/>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12000" y="475199"/>
            <a:ext cx="6840000" cy="828000"/>
          </a:xfrm>
          <a:prstGeom prst="rect">
            <a:avLst/>
          </a:prstGeom>
          <a:noFill/>
        </p:spPr>
        <p:txBody>
          <a:bodyPr wrap="square" lIns="0" tIns="0" rIns="0" bIns="0" anchor="ctr">
            <a:spAutoFit/>
          </a:bodyPr>
          <a:lstStyle/>
          <a:p>
            <a:pPr algn="l">
              <a:lnSpc>
                <a:spcPct val="95000"/>
              </a:lnSpc>
              <a:spcAft>
                <a:spcPts val="0"/>
              </a:spcAft>
            </a:pPr>
            <a:r>
              <a:rPr sz="2400" b="1" i="0">
                <a:solidFill>
                  <a:srgbClr val="1C2E6E"/>
                </a:solidFill>
                <a:latin typeface="Calibri"/>
              </a:rPr>
              <a:t>Next steps, in order</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30</a:t>
            </a:r>
          </a:p>
        </p:txBody>
      </p:sp>
      <p:sp>
        <p:nvSpPr>
          <p:cNvPr id="4" name="Rounded Rectangle 3"/>
          <p:cNvSpPr/>
          <p:nvPr/>
        </p:nvSpPr>
        <p:spPr>
          <a:xfrm>
            <a:off x="548640" y="1920240"/>
            <a:ext cx="2601468" cy="3752772"/>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22959" y="2194560"/>
            <a:ext cx="731520" cy="731520"/>
          </a:xfrm>
          <a:prstGeom prst="ellipse">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2200" b="1">
                <a:solidFill>
                  <a:srgbClr val="FFFFFF"/>
                </a:solidFill>
                <a:latin typeface="Calibri"/>
              </a:rPr>
              <a:t>1</a:t>
            </a:r>
          </a:p>
        </p:txBody>
      </p:sp>
      <p:sp>
        <p:nvSpPr>
          <p:cNvPr id="6" name="TextBox 5"/>
          <p:cNvSpPr txBox="1"/>
          <p:nvPr/>
        </p:nvSpPr>
        <p:spPr>
          <a:xfrm>
            <a:off x="822959" y="3200400"/>
            <a:ext cx="2052828" cy="822960"/>
          </a:xfrm>
          <a:prstGeom prst="rect">
            <a:avLst/>
          </a:prstGeom>
          <a:noFill/>
        </p:spPr>
        <p:txBody>
          <a:bodyPr wrap="square" lIns="0" tIns="0" rIns="0" bIns="0" anchor="t">
            <a:spAutoFit/>
          </a:bodyPr>
          <a:lstStyle/>
          <a:p>
            <a:pPr algn="l">
              <a:spcAft>
                <a:spcPts val="600"/>
              </a:spcAft>
            </a:pPr>
            <a:r>
              <a:rPr sz="1900" b="1" i="0">
                <a:solidFill>
                  <a:srgbClr val="1C2E6E"/>
                </a:solidFill>
                <a:latin typeface="Calibri"/>
              </a:rPr>
              <a:t>Issue tagging</a:t>
            </a:r>
          </a:p>
        </p:txBody>
      </p:sp>
      <p:sp>
        <p:nvSpPr>
          <p:cNvPr id="7" name="TextBox 6"/>
          <p:cNvSpPr txBox="1"/>
          <p:nvPr/>
        </p:nvSpPr>
        <p:spPr>
          <a:xfrm>
            <a:off x="822959" y="4023360"/>
            <a:ext cx="2052828" cy="1477328"/>
          </a:xfrm>
          <a:prstGeom prst="rect">
            <a:avLst/>
          </a:prstGeom>
          <a:noFill/>
        </p:spPr>
        <p:txBody>
          <a:bodyPr wrap="square" lIns="0" tIns="0" rIns="0" bIns="0" anchor="t">
            <a:spAutoFit/>
          </a:bodyPr>
          <a:lstStyle/>
          <a:p>
            <a:pPr>
              <a:spcAft>
                <a:spcPts val="600"/>
              </a:spcAft>
            </a:pPr>
            <a:r>
              <a:rPr sz="1600" b="0" i="0" dirty="0">
                <a:solidFill>
                  <a:srgbClr val="1E293B"/>
                </a:solidFill>
                <a:latin typeface="Calibri"/>
              </a:rPr>
              <a:t>Lift issue F1, starting with Customer Service (F1 0.47); have the second annotator label more of the gold set</a:t>
            </a:r>
          </a:p>
        </p:txBody>
      </p:sp>
      <p:sp>
        <p:nvSpPr>
          <p:cNvPr id="8" name="Rounded Rectangle 7"/>
          <p:cNvSpPr/>
          <p:nvPr/>
        </p:nvSpPr>
        <p:spPr>
          <a:xfrm>
            <a:off x="3378708" y="1920240"/>
            <a:ext cx="2601468" cy="329184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3653028" y="2194560"/>
            <a:ext cx="731520" cy="731520"/>
          </a:xfrm>
          <a:prstGeom prst="ellipse">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2200" b="1">
                <a:solidFill>
                  <a:srgbClr val="FFFFFF"/>
                </a:solidFill>
                <a:latin typeface="Calibri"/>
              </a:rPr>
              <a:t>2</a:t>
            </a:r>
          </a:p>
        </p:txBody>
      </p:sp>
      <p:sp>
        <p:nvSpPr>
          <p:cNvPr id="10" name="TextBox 9"/>
          <p:cNvSpPr txBox="1"/>
          <p:nvPr/>
        </p:nvSpPr>
        <p:spPr>
          <a:xfrm>
            <a:off x="3653028" y="3200400"/>
            <a:ext cx="2052828" cy="822960"/>
          </a:xfrm>
          <a:prstGeom prst="rect">
            <a:avLst/>
          </a:prstGeom>
          <a:noFill/>
        </p:spPr>
        <p:txBody>
          <a:bodyPr wrap="square" lIns="0" tIns="0" rIns="0" bIns="0" anchor="t">
            <a:spAutoFit/>
          </a:bodyPr>
          <a:lstStyle/>
          <a:p>
            <a:pPr algn="l">
              <a:spcAft>
                <a:spcPts val="600"/>
              </a:spcAft>
            </a:pPr>
            <a:r>
              <a:rPr sz="1900" b="1" i="0">
                <a:solidFill>
                  <a:srgbClr val="1C2E6E"/>
                </a:solidFill>
                <a:latin typeface="Calibri"/>
              </a:rPr>
              <a:t>Adjudicate</a:t>
            </a:r>
          </a:p>
        </p:txBody>
      </p:sp>
      <p:sp>
        <p:nvSpPr>
          <p:cNvPr id="11" name="TextBox 10"/>
          <p:cNvSpPr txBox="1"/>
          <p:nvPr/>
        </p:nvSpPr>
        <p:spPr>
          <a:xfrm>
            <a:off x="3653028" y="4023360"/>
            <a:ext cx="2052828" cy="1097280"/>
          </a:xfrm>
          <a:prstGeom prst="rect">
            <a:avLst/>
          </a:prstGeom>
          <a:noFill/>
        </p:spPr>
        <p:txBody>
          <a:bodyPr wrap="square" lIns="0" tIns="0" rIns="0" bIns="0" anchor="t">
            <a:spAutoFit/>
          </a:bodyPr>
          <a:lstStyle/>
          <a:p>
            <a:pPr algn="l">
              <a:spcAft>
                <a:spcPts val="600"/>
              </a:spcAft>
            </a:pPr>
            <a:r>
              <a:rPr sz="1600" b="0" i="0" dirty="0">
                <a:solidFill>
                  <a:srgbClr val="1E293B"/>
                </a:solidFill>
                <a:latin typeface="Calibri"/>
              </a:rPr>
              <a:t>Resolve A–B disagreements in a separate file</a:t>
            </a:r>
          </a:p>
        </p:txBody>
      </p:sp>
      <p:sp>
        <p:nvSpPr>
          <p:cNvPr id="12" name="Rounded Rectangle 11"/>
          <p:cNvSpPr/>
          <p:nvPr/>
        </p:nvSpPr>
        <p:spPr>
          <a:xfrm>
            <a:off x="6208776" y="1920240"/>
            <a:ext cx="2601468" cy="329184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483096" y="2194560"/>
            <a:ext cx="731520" cy="731520"/>
          </a:xfrm>
          <a:prstGeom prst="ellipse">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2200" b="1">
                <a:solidFill>
                  <a:srgbClr val="FFFFFF"/>
                </a:solidFill>
                <a:latin typeface="Calibri"/>
              </a:rPr>
              <a:t>3</a:t>
            </a:r>
          </a:p>
        </p:txBody>
      </p:sp>
      <p:sp>
        <p:nvSpPr>
          <p:cNvPr id="14" name="TextBox 13"/>
          <p:cNvSpPr txBox="1"/>
          <p:nvPr/>
        </p:nvSpPr>
        <p:spPr>
          <a:xfrm>
            <a:off x="6483096" y="3200400"/>
            <a:ext cx="2052828" cy="822960"/>
          </a:xfrm>
          <a:prstGeom prst="rect">
            <a:avLst/>
          </a:prstGeom>
          <a:noFill/>
        </p:spPr>
        <p:txBody>
          <a:bodyPr wrap="square" lIns="0" tIns="0" rIns="0" bIns="0" anchor="t">
            <a:spAutoFit/>
          </a:bodyPr>
          <a:lstStyle/>
          <a:p>
            <a:pPr algn="l">
              <a:spcAft>
                <a:spcPts val="600"/>
              </a:spcAft>
            </a:pPr>
            <a:r>
              <a:rPr sz="1900" b="1" i="0">
                <a:solidFill>
                  <a:srgbClr val="1C2E6E"/>
                </a:solidFill>
                <a:latin typeface="Calibri"/>
              </a:rPr>
              <a:t>Fresh held-out test</a:t>
            </a:r>
          </a:p>
        </p:txBody>
      </p:sp>
      <p:sp>
        <p:nvSpPr>
          <p:cNvPr id="15" name="TextBox 14"/>
          <p:cNvSpPr txBox="1"/>
          <p:nvPr/>
        </p:nvSpPr>
        <p:spPr>
          <a:xfrm>
            <a:off x="6483096" y="4023360"/>
            <a:ext cx="2052828" cy="738664"/>
          </a:xfrm>
          <a:prstGeom prst="rect">
            <a:avLst/>
          </a:prstGeom>
          <a:noFill/>
        </p:spPr>
        <p:txBody>
          <a:bodyPr wrap="square" lIns="0" tIns="0" rIns="0" bIns="0" anchor="t">
            <a:spAutoFit/>
          </a:bodyPr>
          <a:lstStyle/>
          <a:p>
            <a:pPr algn="l">
              <a:spcAft>
                <a:spcPts val="600"/>
              </a:spcAft>
            </a:pPr>
            <a:r>
              <a:rPr sz="1600" b="0" i="0" dirty="0">
                <a:solidFill>
                  <a:srgbClr val="1E293B"/>
                </a:solidFill>
                <a:latin typeface="Calibri"/>
              </a:rPr>
              <a:t>Hybrid vs GPT-4o on </a:t>
            </a:r>
            <a:r>
              <a:rPr sz="1600" b="1" i="0" dirty="0">
                <a:solidFill>
                  <a:srgbClr val="1E293B"/>
                </a:solidFill>
                <a:latin typeface="Calibri"/>
              </a:rPr>
              <a:t>every</a:t>
            </a:r>
            <a:r>
              <a:rPr sz="1600" b="0" i="0" dirty="0">
                <a:solidFill>
                  <a:srgbClr val="1E293B"/>
                </a:solidFill>
                <a:latin typeface="Calibri"/>
              </a:rPr>
              <a:t> post, on new posts</a:t>
            </a:r>
          </a:p>
        </p:txBody>
      </p:sp>
      <p:sp>
        <p:nvSpPr>
          <p:cNvPr id="16" name="Rounded Rectangle 15"/>
          <p:cNvSpPr/>
          <p:nvPr/>
        </p:nvSpPr>
        <p:spPr>
          <a:xfrm>
            <a:off x="9038844" y="1920240"/>
            <a:ext cx="2601468" cy="329184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313164" y="2194560"/>
            <a:ext cx="731520" cy="731520"/>
          </a:xfrm>
          <a:prstGeom prst="ellipse">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2200" b="1">
                <a:solidFill>
                  <a:srgbClr val="FFFFFF"/>
                </a:solidFill>
                <a:latin typeface="Calibri"/>
              </a:rPr>
              <a:t>4</a:t>
            </a:r>
          </a:p>
        </p:txBody>
      </p:sp>
      <p:sp>
        <p:nvSpPr>
          <p:cNvPr id="18" name="TextBox 17"/>
          <p:cNvSpPr txBox="1"/>
          <p:nvPr/>
        </p:nvSpPr>
        <p:spPr>
          <a:xfrm>
            <a:off x="9313164" y="3200400"/>
            <a:ext cx="2052828" cy="822960"/>
          </a:xfrm>
          <a:prstGeom prst="rect">
            <a:avLst/>
          </a:prstGeom>
          <a:noFill/>
        </p:spPr>
        <p:txBody>
          <a:bodyPr wrap="square" lIns="0" tIns="0" rIns="0" bIns="0" anchor="t">
            <a:spAutoFit/>
          </a:bodyPr>
          <a:lstStyle/>
          <a:p>
            <a:pPr algn="l">
              <a:spcAft>
                <a:spcPts val="600"/>
              </a:spcAft>
            </a:pPr>
            <a:r>
              <a:rPr sz="1900" b="1" i="0">
                <a:solidFill>
                  <a:srgbClr val="1C2E6E"/>
                </a:solidFill>
                <a:latin typeface="Calibri"/>
              </a:rPr>
              <a:t>Brand-level sentiment</a:t>
            </a:r>
          </a:p>
        </p:txBody>
      </p:sp>
      <p:sp>
        <p:nvSpPr>
          <p:cNvPr id="19" name="TextBox 18"/>
          <p:cNvSpPr txBox="1"/>
          <p:nvPr/>
        </p:nvSpPr>
        <p:spPr>
          <a:xfrm>
            <a:off x="9313164" y="4023360"/>
            <a:ext cx="2052828" cy="1097280"/>
          </a:xfrm>
          <a:prstGeom prst="rect">
            <a:avLst/>
          </a:prstGeom>
          <a:noFill/>
        </p:spPr>
        <p:txBody>
          <a:bodyPr wrap="square" lIns="0" tIns="0" rIns="0" bIns="0" anchor="t">
            <a:spAutoFit/>
          </a:bodyPr>
          <a:lstStyle/>
          <a:p>
            <a:pPr algn="l">
              <a:spcAft>
                <a:spcPts val="600"/>
              </a:spcAft>
            </a:pPr>
            <a:r>
              <a:rPr sz="1600" b="0" i="0">
                <a:solidFill>
                  <a:srgbClr val="1E293B"/>
                </a:solidFill>
                <a:latin typeface="Calibri"/>
              </a:rPr>
              <a:t>One label per brand per post; validate against tickets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31</a:t>
            </a:r>
          </a:p>
        </p:txBody>
      </p:sp>
      <p:sp>
        <p:nvSpPr>
          <p:cNvPr id="3" name="TextBox 2"/>
          <p:cNvSpPr txBox="1"/>
          <p:nvPr/>
        </p:nvSpPr>
        <p:spPr>
          <a:xfrm>
            <a:off x="822959" y="1828800"/>
            <a:ext cx="10515600" cy="1097280"/>
          </a:xfrm>
          <a:prstGeom prst="rect">
            <a:avLst/>
          </a:prstGeom>
          <a:noFill/>
        </p:spPr>
        <p:txBody>
          <a:bodyPr wrap="square" lIns="0" tIns="0" rIns="0" bIns="0" anchor="t">
            <a:spAutoFit/>
          </a:bodyPr>
          <a:lstStyle/>
          <a:p>
            <a:pPr algn="l">
              <a:spcAft>
                <a:spcPts val="600"/>
              </a:spcAft>
            </a:pPr>
            <a:r>
              <a:rPr sz="4800" b="1" i="0">
                <a:solidFill>
                  <a:srgbClr val="1C2E6E"/>
                </a:solidFill>
                <a:latin typeface="Calibri"/>
              </a:rPr>
              <a:t>Thank you</a:t>
            </a:r>
          </a:p>
        </p:txBody>
      </p:sp>
      <p:sp>
        <p:nvSpPr>
          <p:cNvPr id="4" name="TextBox 3"/>
          <p:cNvSpPr txBox="1"/>
          <p:nvPr/>
        </p:nvSpPr>
        <p:spPr>
          <a:xfrm>
            <a:off x="822959" y="2926080"/>
            <a:ext cx="10515600" cy="640080"/>
          </a:xfrm>
          <a:prstGeom prst="rect">
            <a:avLst/>
          </a:prstGeom>
          <a:noFill/>
        </p:spPr>
        <p:txBody>
          <a:bodyPr wrap="square" lIns="0" tIns="0" rIns="0" bIns="0" anchor="t">
            <a:spAutoFit/>
          </a:bodyPr>
          <a:lstStyle/>
          <a:p>
            <a:pPr algn="l">
              <a:spcAft>
                <a:spcPts val="600"/>
              </a:spcAft>
            </a:pPr>
            <a:r>
              <a:rPr sz="2400" b="0" i="0">
                <a:solidFill>
                  <a:srgbClr val="5B6475"/>
                </a:solidFill>
                <a:latin typeface="Calibri"/>
              </a:rPr>
              <a:t>Questions and discussion</a:t>
            </a:r>
          </a:p>
        </p:txBody>
      </p:sp>
      <p:sp>
        <p:nvSpPr>
          <p:cNvPr id="5" name="Pentagon 4"/>
          <p:cNvSpPr/>
          <p:nvPr/>
        </p:nvSpPr>
        <p:spPr>
          <a:xfrm>
            <a:off x="822959" y="4023360"/>
            <a:ext cx="3547872" cy="1005840"/>
          </a:xfrm>
          <a:prstGeom prst="homePlate">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800" b="1">
                <a:solidFill>
                  <a:srgbClr val="FFFFFF"/>
                </a:solidFill>
                <a:latin typeface="Calibri"/>
              </a:rPr>
              <a:t>LLM for sentiment</a:t>
            </a:r>
          </a:p>
        </p:txBody>
      </p:sp>
      <p:sp>
        <p:nvSpPr>
          <p:cNvPr id="6" name="Chevron 5"/>
          <p:cNvSpPr/>
          <p:nvPr/>
        </p:nvSpPr>
        <p:spPr>
          <a:xfrm>
            <a:off x="4443984" y="4023360"/>
            <a:ext cx="3547872" cy="1005840"/>
          </a:xfrm>
          <a:prstGeom prst="chevron">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800" b="1">
                <a:solidFill>
                  <a:srgbClr val="FFFFFF"/>
                </a:solidFill>
                <a:latin typeface="Calibri"/>
              </a:rPr>
              <a:t>Rules + targeted GPT-4o for issues</a:t>
            </a:r>
          </a:p>
        </p:txBody>
      </p:sp>
      <p:sp>
        <p:nvSpPr>
          <p:cNvPr id="7" name="Chevron 6"/>
          <p:cNvSpPr/>
          <p:nvPr/>
        </p:nvSpPr>
        <p:spPr>
          <a:xfrm>
            <a:off x="8065008" y="4023360"/>
            <a:ext cx="3547872" cy="1005840"/>
          </a:xfrm>
          <a:prstGeom prst="chevron">
            <a:avLst>
              <a:gd name="adj" fmla="val 28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800" b="1">
                <a:solidFill>
                  <a:srgbClr val="FFFFFF"/>
                </a:solidFill>
                <a:latin typeface="Calibri"/>
              </a:rPr>
              <a:t>People decide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822959" y="2148840"/>
            <a:ext cx="1234440" cy="1234440"/>
          </a:xfrm>
          <a:prstGeom prst="roundRect">
            <a:avLst>
              <a:gd name="adj" fmla="val 12000"/>
            </a:avLst>
          </a:prstGeom>
          <a:solidFill>
            <a:srgbClr val="D29B0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4800" b="1">
                <a:solidFill>
                  <a:srgbClr val="FFFFFF"/>
                </a:solidFill>
                <a:latin typeface="Calibri"/>
              </a:rPr>
              <a:t>Q</a:t>
            </a:r>
          </a:p>
        </p:txBody>
      </p:sp>
      <p:sp>
        <p:nvSpPr>
          <p:cNvPr id="3" name="TextBox 2"/>
          <p:cNvSpPr txBox="1"/>
          <p:nvPr/>
        </p:nvSpPr>
        <p:spPr>
          <a:xfrm>
            <a:off x="2423160" y="2011680"/>
            <a:ext cx="8686800" cy="822960"/>
          </a:xfrm>
          <a:prstGeom prst="rect">
            <a:avLst/>
          </a:prstGeom>
          <a:noFill/>
        </p:spPr>
        <p:txBody>
          <a:bodyPr wrap="square" lIns="0" tIns="0" rIns="0" bIns="0" anchor="t">
            <a:spAutoFit/>
          </a:bodyPr>
          <a:lstStyle/>
          <a:p>
            <a:pPr algn="l">
              <a:spcAft>
                <a:spcPts val="600"/>
              </a:spcAft>
            </a:pPr>
            <a:r>
              <a:rPr sz="4000" b="1" i="0">
                <a:solidFill>
                  <a:srgbClr val="1C2E6E"/>
                </a:solidFill>
                <a:latin typeface="Calibri"/>
              </a:rPr>
              <a:t>Backup: anticipated questions</a:t>
            </a:r>
          </a:p>
        </p:txBody>
      </p:sp>
      <p:sp>
        <p:nvSpPr>
          <p:cNvPr id="4" name="TextBox 3"/>
          <p:cNvSpPr txBox="1"/>
          <p:nvPr/>
        </p:nvSpPr>
        <p:spPr>
          <a:xfrm>
            <a:off x="2423160" y="2834640"/>
            <a:ext cx="8686800" cy="548640"/>
          </a:xfrm>
          <a:prstGeom prst="rect">
            <a:avLst/>
          </a:prstGeom>
          <a:noFill/>
        </p:spPr>
        <p:txBody>
          <a:bodyPr wrap="square" lIns="0" tIns="0" rIns="0" bIns="0" anchor="t">
            <a:spAutoFit/>
          </a:bodyPr>
          <a:lstStyle/>
          <a:p>
            <a:pPr algn="l">
              <a:spcAft>
                <a:spcPts val="600"/>
              </a:spcAft>
            </a:pPr>
            <a:r>
              <a:rPr sz="2000" b="0" i="0">
                <a:solidFill>
                  <a:srgbClr val="5B6475"/>
                </a:solidFill>
                <a:latin typeface="Calibri"/>
              </a:rPr>
              <a:t>Short answers, with the evidence behind them</a:t>
            </a:r>
          </a:p>
        </p:txBody>
      </p:sp>
      <p:sp>
        <p:nvSpPr>
          <p:cNvPr id="5" name="TextBox 4"/>
          <p:cNvSpPr txBox="1"/>
          <p:nvPr/>
        </p:nvSpPr>
        <p:spPr>
          <a:xfrm>
            <a:off x="2423160" y="3520440"/>
            <a:ext cx="8686800" cy="365760"/>
          </a:xfrm>
          <a:prstGeom prst="rect">
            <a:avLst/>
          </a:prstGeom>
          <a:noFill/>
        </p:spPr>
        <p:txBody>
          <a:bodyPr wrap="square" lIns="0" tIns="0" rIns="0" bIns="0" anchor="t">
            <a:spAutoFit/>
          </a:bodyPr>
          <a:lstStyle/>
          <a:p>
            <a:pPr algn="l">
              <a:spcAft>
                <a:spcPts val="600"/>
              </a:spcAft>
            </a:pPr>
            <a:r>
              <a:rPr sz="1600" b="1" i="0">
                <a:solidFill>
                  <a:srgbClr val="D29B08"/>
                </a:solidFill>
                <a:latin typeface="Calibri"/>
              </a:rPr>
              <a:t>For Q&amp;A</a:t>
            </a:r>
          </a:p>
        </p:txBody>
      </p:sp>
      <p:sp>
        <p:nvSpPr>
          <p:cNvPr id="6" name="TextBox 5"/>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32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CD04B91-B283-CBB3-2B79-15CEC783FE85}"/>
              </a:ext>
            </a:extLst>
          </p:cNvPr>
          <p:cNvSpPr txBox="1"/>
          <p:nvPr/>
        </p:nvSpPr>
        <p:spPr>
          <a:xfrm>
            <a:off x="5085495" y="530835"/>
            <a:ext cx="6840000" cy="350865"/>
          </a:xfrm>
          <a:prstGeom prst="rect">
            <a:avLst/>
          </a:prstGeom>
          <a:noFill/>
        </p:spPr>
        <p:txBody>
          <a:bodyPr wrap="square" lIns="0" tIns="0" rIns="0" bIns="0" anchor="ctr">
            <a:spAutoFit/>
          </a:bodyPr>
          <a:lstStyle/>
          <a:p>
            <a:pPr>
              <a:lnSpc>
                <a:spcPct val="95000"/>
              </a:lnSpc>
            </a:pPr>
            <a:r>
              <a:rPr lang="en-US" sz="2400" b="1" dirty="0">
                <a:solidFill>
                  <a:srgbClr val="1C2E6E"/>
                </a:solidFill>
                <a:latin typeface="Calibri"/>
              </a:rPr>
              <a:t>In a glance</a:t>
            </a:r>
            <a:endParaRPr sz="2000" b="1" i="0" dirty="0">
              <a:solidFill>
                <a:srgbClr val="1C2E6E"/>
              </a:solidFill>
              <a:latin typeface="Calibri"/>
            </a:endParaRPr>
          </a:p>
        </p:txBody>
      </p:sp>
      <p:graphicFrame>
        <p:nvGraphicFramePr>
          <p:cNvPr id="5" name="Table 4">
            <a:extLst>
              <a:ext uri="{FF2B5EF4-FFF2-40B4-BE49-F238E27FC236}">
                <a16:creationId xmlns:a16="http://schemas.microsoft.com/office/drawing/2014/main" id="{8EE90225-90A8-8696-BB5A-8B523B5665BA}"/>
              </a:ext>
            </a:extLst>
          </p:cNvPr>
          <p:cNvGraphicFramePr>
            <a:graphicFrameLocks noGrp="1"/>
          </p:cNvGraphicFramePr>
          <p:nvPr/>
        </p:nvGraphicFramePr>
        <p:xfrm>
          <a:off x="1026940" y="1540412"/>
          <a:ext cx="10424161" cy="5120640"/>
        </p:xfrm>
        <a:graphic>
          <a:graphicData uri="http://schemas.openxmlformats.org/drawingml/2006/table">
            <a:tbl>
              <a:tblPr firstRow="1" bandRow="1">
                <a:tableStyleId>{5C22544A-7EE6-4342-B048-85BDC9FD1C3A}</a:tableStyleId>
              </a:tblPr>
              <a:tblGrid>
                <a:gridCol w="3740128">
                  <a:extLst>
                    <a:ext uri="{9D8B030D-6E8A-4147-A177-3AD203B41FA5}">
                      <a16:colId xmlns:a16="http://schemas.microsoft.com/office/drawing/2014/main" val="20000"/>
                    </a:ext>
                  </a:extLst>
                </a:gridCol>
                <a:gridCol w="6684033">
                  <a:extLst>
                    <a:ext uri="{9D8B030D-6E8A-4147-A177-3AD203B41FA5}">
                      <a16:colId xmlns:a16="http://schemas.microsoft.com/office/drawing/2014/main" val="20001"/>
                    </a:ext>
                  </a:extLst>
                </a:gridCol>
              </a:tblGrid>
              <a:tr h="731520">
                <a:tc>
                  <a:txBody>
                    <a:bodyPr/>
                    <a:lstStyle/>
                    <a:p>
                      <a:pPr>
                        <a:buNone/>
                      </a:pPr>
                      <a:r>
                        <a:rPr lang="en-US" dirty="0"/>
                        <a:t>What</a:t>
                      </a:r>
                    </a:p>
                  </a:txBody>
                  <a:tcPr anchor="ctr">
                    <a:solidFill>
                      <a:srgbClr val="1C2E6E"/>
                    </a:solidFill>
                  </a:tcPr>
                </a:tc>
                <a:tc>
                  <a:txBody>
                    <a:bodyPr/>
                    <a:lstStyle/>
                    <a:p>
                      <a:pPr>
                        <a:buNone/>
                      </a:pPr>
                      <a:r>
                        <a:rPr lang="en-US"/>
                        <a:t>Number</a:t>
                      </a:r>
                    </a:p>
                  </a:txBody>
                  <a:tcPr anchor="ctr">
                    <a:solidFill>
                      <a:srgbClr val="1C2E6E"/>
                    </a:solidFill>
                  </a:tcPr>
                </a:tc>
                <a:extLst>
                  <a:ext uri="{0D108BD9-81ED-4DB2-BD59-A6C34878D82A}">
                    <a16:rowId xmlns:a16="http://schemas.microsoft.com/office/drawing/2014/main" val="10000"/>
                  </a:ext>
                </a:extLst>
              </a:tr>
              <a:tr h="731520">
                <a:tc>
                  <a:txBody>
                    <a:bodyPr/>
                    <a:lstStyle/>
                    <a:p>
                      <a:pPr>
                        <a:buNone/>
                      </a:pPr>
                      <a:r>
                        <a:rPr lang="en-US" dirty="0"/>
                        <a:t>Corpus</a:t>
                      </a:r>
                    </a:p>
                  </a:txBody>
                  <a:tcPr anchor="ctr">
                    <a:solidFill>
                      <a:srgbClr val="FFFFFF"/>
                    </a:solidFill>
                  </a:tcPr>
                </a:tc>
                <a:tc>
                  <a:txBody>
                    <a:bodyPr/>
                    <a:lstStyle/>
                    <a:p>
                      <a:pPr>
                        <a:buNone/>
                      </a:pPr>
                      <a:r>
                        <a:rPr lang="en-US" dirty="0"/>
                        <a:t>24,690 raw → 11,643 unique → 9,162 posts, 349 threads</a:t>
                      </a:r>
                    </a:p>
                  </a:txBody>
                  <a:tcPr anchor="ctr">
                    <a:solidFill>
                      <a:srgbClr val="FFFFFF"/>
                    </a:solidFill>
                  </a:tcPr>
                </a:tc>
                <a:extLst>
                  <a:ext uri="{0D108BD9-81ED-4DB2-BD59-A6C34878D82A}">
                    <a16:rowId xmlns:a16="http://schemas.microsoft.com/office/drawing/2014/main" val="10001"/>
                  </a:ext>
                </a:extLst>
              </a:tr>
              <a:tr h="731520">
                <a:tc>
                  <a:txBody>
                    <a:bodyPr/>
                    <a:lstStyle/>
                    <a:p>
                      <a:pPr>
                        <a:buNone/>
                      </a:pPr>
                      <a:r>
                        <a:rPr lang="en-US" dirty="0"/>
                        <a:t>Sentiment F1</a:t>
                      </a:r>
                    </a:p>
                  </a:txBody>
                  <a:tcPr anchor="ctr">
                    <a:solidFill>
                      <a:srgbClr val="F2F4F9"/>
                    </a:solidFill>
                  </a:tcPr>
                </a:tc>
                <a:tc>
                  <a:txBody>
                    <a:bodyPr/>
                    <a:lstStyle/>
                    <a:p>
                      <a:pPr>
                        <a:buNone/>
                      </a:pPr>
                      <a:r>
                        <a:rPr lang="en-US" dirty="0"/>
                        <a:t>VADER 0.380, mini 0.641, GPT-4o 0.611 (tie, ~17× cost)</a:t>
                      </a:r>
                    </a:p>
                  </a:txBody>
                  <a:tcPr anchor="ctr">
                    <a:solidFill>
                      <a:srgbClr val="F2F4F9"/>
                    </a:solidFill>
                  </a:tcPr>
                </a:tc>
                <a:extLst>
                  <a:ext uri="{0D108BD9-81ED-4DB2-BD59-A6C34878D82A}">
                    <a16:rowId xmlns:a16="http://schemas.microsoft.com/office/drawing/2014/main" val="10002"/>
                  </a:ext>
                </a:extLst>
              </a:tr>
              <a:tr h="731520">
                <a:tc>
                  <a:txBody>
                    <a:bodyPr/>
                    <a:lstStyle/>
                    <a:p>
                      <a:pPr>
                        <a:buNone/>
                      </a:pPr>
                      <a:r>
                        <a:rPr lang="en-US"/>
                        <a:t>Issue F1, typical posts</a:t>
                      </a:r>
                    </a:p>
                  </a:txBody>
                  <a:tcPr anchor="ctr">
                    <a:solidFill>
                      <a:srgbClr val="FFFFFF"/>
                    </a:solidFill>
                  </a:tcPr>
                </a:tc>
                <a:tc>
                  <a:txBody>
                    <a:bodyPr/>
                    <a:lstStyle/>
                    <a:p>
                      <a:pPr>
                        <a:buNone/>
                      </a:pPr>
                      <a:r>
                        <a:rPr lang="en-US" dirty="0"/>
                        <a:t>rules 0.590, hybrid 0.639</a:t>
                      </a:r>
                    </a:p>
                  </a:txBody>
                  <a:tcPr anchor="ctr">
                    <a:solidFill>
                      <a:srgbClr val="FFFFFF"/>
                    </a:solidFill>
                  </a:tcPr>
                </a:tc>
                <a:extLst>
                  <a:ext uri="{0D108BD9-81ED-4DB2-BD59-A6C34878D82A}">
                    <a16:rowId xmlns:a16="http://schemas.microsoft.com/office/drawing/2014/main" val="10003"/>
                  </a:ext>
                </a:extLst>
              </a:tr>
              <a:tr h="731520">
                <a:tc>
                  <a:txBody>
                    <a:bodyPr/>
                    <a:lstStyle/>
                    <a:p>
                      <a:pPr>
                        <a:buNone/>
                      </a:pPr>
                      <a:r>
                        <a:rPr lang="en-US" dirty="0"/>
                        <a:t>Issue F1, held-out challenge set</a:t>
                      </a:r>
                    </a:p>
                  </a:txBody>
                  <a:tcPr anchor="ctr">
                    <a:solidFill>
                      <a:srgbClr val="F2F4F9"/>
                    </a:solidFill>
                  </a:tcPr>
                </a:tc>
                <a:tc>
                  <a:txBody>
                    <a:bodyPr/>
                    <a:lstStyle/>
                    <a:p>
                      <a:pPr>
                        <a:buNone/>
                      </a:pPr>
                      <a:r>
                        <a:rPr lang="en-US" dirty="0"/>
                        <a:t>rules 0.499, hybrid 0.509, GPT-4o 0.596</a:t>
                      </a:r>
                    </a:p>
                  </a:txBody>
                  <a:tcPr anchor="ctr">
                    <a:solidFill>
                      <a:srgbClr val="F2F4F9"/>
                    </a:solidFill>
                  </a:tcPr>
                </a:tc>
                <a:extLst>
                  <a:ext uri="{0D108BD9-81ED-4DB2-BD59-A6C34878D82A}">
                    <a16:rowId xmlns:a16="http://schemas.microsoft.com/office/drawing/2014/main" val="10004"/>
                  </a:ext>
                </a:extLst>
              </a:tr>
              <a:tr h="731520">
                <a:tc>
                  <a:txBody>
                    <a:bodyPr/>
                    <a:lstStyle/>
                    <a:p>
                      <a:pPr>
                        <a:buNone/>
                      </a:pPr>
                      <a:r>
                        <a:rPr lang="en-US"/>
                        <a:t>Not happy</a:t>
                      </a:r>
                    </a:p>
                  </a:txBody>
                  <a:tcPr anchor="ctr">
                    <a:solidFill>
                      <a:srgbClr val="F2F4F9"/>
                    </a:solidFill>
                  </a:tcPr>
                </a:tc>
                <a:tc>
                  <a:txBody>
                    <a:bodyPr/>
                    <a:lstStyle/>
                    <a:p>
                      <a:pPr>
                        <a:buNone/>
                      </a:pPr>
                      <a:r>
                        <a:rPr lang="en-US"/>
                        <a:t>44% overall, 40% outside outages, 71% inside outages</a:t>
                      </a:r>
                    </a:p>
                  </a:txBody>
                  <a:tcPr anchor="ctr">
                    <a:solidFill>
                      <a:srgbClr val="F2F4F9"/>
                    </a:solidFill>
                  </a:tcPr>
                </a:tc>
                <a:extLst>
                  <a:ext uri="{0D108BD9-81ED-4DB2-BD59-A6C34878D82A}">
                    <a16:rowId xmlns:a16="http://schemas.microsoft.com/office/drawing/2014/main" val="2038160827"/>
                  </a:ext>
                </a:extLst>
              </a:tr>
              <a:tr h="731520">
                <a:tc>
                  <a:txBody>
                    <a:bodyPr/>
                    <a:lstStyle/>
                    <a:p>
                      <a:pPr>
                        <a:buNone/>
                      </a:pPr>
                      <a:r>
                        <a:rPr lang="en-US"/>
                        <a:t>Human agreement</a:t>
                      </a:r>
                    </a:p>
                  </a:txBody>
                  <a:tcPr anchor="ctr">
                    <a:solidFill>
                      <a:srgbClr val="F2F4F9"/>
                    </a:solidFill>
                  </a:tcPr>
                </a:tc>
                <a:tc>
                  <a:txBody>
                    <a:bodyPr/>
                    <a:lstStyle/>
                    <a:p>
                      <a:pPr>
                        <a:buNone/>
                      </a:pPr>
                      <a:r>
                        <a:rPr lang="en-US" dirty="0" err="1"/>
                        <a:t>κ</a:t>
                      </a:r>
                      <a:r>
                        <a:rPr lang="en-US" dirty="0"/>
                        <a:t> 0.39 typical, 0.59 hard</a:t>
                      </a:r>
                    </a:p>
                  </a:txBody>
                  <a:tcPr anchor="ctr">
                    <a:solidFill>
                      <a:srgbClr val="F2F4F9"/>
                    </a:solidFill>
                  </a:tcPr>
                </a:tc>
                <a:extLst>
                  <a:ext uri="{0D108BD9-81ED-4DB2-BD59-A6C34878D82A}">
                    <a16:rowId xmlns:a16="http://schemas.microsoft.com/office/drawing/2014/main" val="790124287"/>
                  </a:ext>
                </a:extLst>
              </a:tr>
            </a:tbl>
          </a:graphicData>
        </a:graphic>
      </p:graphicFrame>
    </p:spTree>
    <p:extLst>
      <p:ext uri="{BB962C8B-B14F-4D97-AF65-F5344CB8AC3E}">
        <p14:creationId xmlns:p14="http://schemas.microsoft.com/office/powerpoint/2010/main" val="5379748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12000" y="713766"/>
            <a:ext cx="6840000" cy="350865"/>
          </a:xfrm>
          <a:prstGeom prst="rect">
            <a:avLst/>
          </a:prstGeom>
          <a:noFill/>
        </p:spPr>
        <p:txBody>
          <a:bodyPr wrap="square" lIns="0" tIns="0" rIns="0" bIns="0" anchor="ctr">
            <a:spAutoFit/>
          </a:bodyPr>
          <a:lstStyle/>
          <a:p>
            <a:pPr algn="l">
              <a:lnSpc>
                <a:spcPct val="95000"/>
              </a:lnSpc>
              <a:spcAft>
                <a:spcPts val="0"/>
              </a:spcAft>
            </a:pPr>
            <a:r>
              <a:rPr sz="2400" b="1" i="0" dirty="0">
                <a:solidFill>
                  <a:srgbClr val="1C2E6E"/>
                </a:solidFill>
                <a:latin typeface="Calibri"/>
              </a:rPr>
              <a:t>Anticipated questions (1 of </a:t>
            </a:r>
            <a:r>
              <a:rPr lang="en-US" sz="2400" b="1" i="0" dirty="0">
                <a:solidFill>
                  <a:srgbClr val="1C2E6E"/>
                </a:solidFill>
                <a:latin typeface="Calibri"/>
              </a:rPr>
              <a:t>4</a:t>
            </a:r>
            <a:r>
              <a:rPr sz="2400" b="1" i="0" dirty="0">
                <a:solidFill>
                  <a:srgbClr val="1C2E6E"/>
                </a:solidFill>
                <a:latin typeface="Calibri"/>
              </a:rPr>
              <a:t>)</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33</a:t>
            </a:r>
          </a:p>
        </p:txBody>
      </p:sp>
      <p:sp>
        <p:nvSpPr>
          <p:cNvPr id="4" name="Rounded Rectangle 3"/>
          <p:cNvSpPr/>
          <p:nvPr/>
        </p:nvSpPr>
        <p:spPr>
          <a:xfrm>
            <a:off x="548640" y="1645920"/>
            <a:ext cx="11091672" cy="14173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59" y="1783080"/>
            <a:ext cx="3474720" cy="1143000"/>
          </a:xfrm>
          <a:prstGeom prst="rect">
            <a:avLst/>
          </a:prstGeom>
          <a:noFill/>
        </p:spPr>
        <p:txBody>
          <a:bodyPr wrap="square" lIns="0" tIns="0" rIns="0" bIns="0" anchor="ctr">
            <a:spAutoFit/>
          </a:bodyPr>
          <a:lstStyle/>
          <a:p>
            <a:pPr algn="l">
              <a:spcAft>
                <a:spcPts val="600"/>
              </a:spcAft>
            </a:pPr>
            <a:r>
              <a:rPr sz="1700" b="1" i="0">
                <a:solidFill>
                  <a:srgbClr val="1C2E6E"/>
                </a:solidFill>
                <a:latin typeface="Calibri"/>
              </a:rPr>
              <a:t>Why not use GPT-4o for everything?</a:t>
            </a:r>
          </a:p>
        </p:txBody>
      </p:sp>
      <p:sp>
        <p:nvSpPr>
          <p:cNvPr id="6" name="TextBox 5"/>
          <p:cNvSpPr txBox="1"/>
          <p:nvPr/>
        </p:nvSpPr>
        <p:spPr>
          <a:xfrm>
            <a:off x="4572000" y="2008331"/>
            <a:ext cx="6858000" cy="692497"/>
          </a:xfrm>
          <a:prstGeom prst="rect">
            <a:avLst/>
          </a:prstGeom>
          <a:noFill/>
        </p:spPr>
        <p:txBody>
          <a:bodyPr wrap="square" lIns="0" tIns="0" rIns="0" bIns="0" anchor="ctr">
            <a:spAutoFit/>
          </a:bodyPr>
          <a:lstStyle/>
          <a:p>
            <a:pPr algn="l">
              <a:spcAft>
                <a:spcPts val="600"/>
              </a:spcAft>
            </a:pPr>
            <a:r>
              <a:rPr sz="1500" b="0" i="0" dirty="0">
                <a:solidFill>
                  <a:srgbClr val="1E293B"/>
                </a:solidFill>
                <a:latin typeface="Calibri"/>
              </a:rPr>
              <a:t>On typical posts GPT-4o on every post ties rules (0.585 vs 0.590) and costs ~17× mini. On hard posts it wins (0.596 vs 0.499). At ~$0.0005 a post it’s affordable on a deduplicated feed; I’d settle it on fresh held-out data.</a:t>
            </a:r>
          </a:p>
        </p:txBody>
      </p:sp>
      <p:sp>
        <p:nvSpPr>
          <p:cNvPr id="7" name="Rounded Rectangle 6"/>
          <p:cNvSpPr/>
          <p:nvPr/>
        </p:nvSpPr>
        <p:spPr>
          <a:xfrm>
            <a:off x="548640" y="3200400"/>
            <a:ext cx="11091672" cy="1417320"/>
          </a:xfrm>
          <a:prstGeom prst="roundRect">
            <a:avLst>
              <a:gd name="adj" fmla="val 6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59" y="3337560"/>
            <a:ext cx="3474720" cy="1143000"/>
          </a:xfrm>
          <a:prstGeom prst="rect">
            <a:avLst/>
          </a:prstGeom>
          <a:noFill/>
        </p:spPr>
        <p:txBody>
          <a:bodyPr wrap="square" lIns="0" tIns="0" rIns="0" bIns="0" anchor="ctr">
            <a:spAutoFit/>
          </a:bodyPr>
          <a:lstStyle/>
          <a:p>
            <a:pPr algn="l">
              <a:spcAft>
                <a:spcPts val="600"/>
              </a:spcAft>
            </a:pPr>
            <a:r>
              <a:rPr sz="1700" b="1" i="0">
                <a:solidFill>
                  <a:srgbClr val="1C2E6E"/>
                </a:solidFill>
                <a:latin typeface="Calibri"/>
              </a:rPr>
              <a:t>Is the hybrid’s gain real?</a:t>
            </a:r>
          </a:p>
        </p:txBody>
      </p:sp>
      <p:sp>
        <p:nvSpPr>
          <p:cNvPr id="9" name="TextBox 8"/>
          <p:cNvSpPr txBox="1"/>
          <p:nvPr/>
        </p:nvSpPr>
        <p:spPr>
          <a:xfrm>
            <a:off x="4572000" y="3337560"/>
            <a:ext cx="6858000" cy="1143000"/>
          </a:xfrm>
          <a:prstGeom prst="rect">
            <a:avLst/>
          </a:prstGeom>
          <a:noFill/>
        </p:spPr>
        <p:txBody>
          <a:bodyPr wrap="square" lIns="0" tIns="0" rIns="0" bIns="0" anchor="ctr">
            <a:spAutoFit/>
          </a:bodyPr>
          <a:lstStyle/>
          <a:p>
            <a:pPr algn="l">
              <a:spcAft>
                <a:spcPts val="600"/>
              </a:spcAft>
            </a:pPr>
            <a:r>
              <a:rPr sz="1500" b="0" i="0">
                <a:solidFill>
                  <a:srgbClr val="1E293B"/>
                </a:solidFill>
                <a:latin typeface="Calibri"/>
              </a:rPr>
              <a:t>On the representative set, yes: +0.049, 95% CI +0.024 to +0.074. On the held-out challenge set, no: +0.010, CI −0.04 to +0.07. So I report 0.639 as optimistic.</a:t>
            </a:r>
          </a:p>
        </p:txBody>
      </p:sp>
      <p:sp>
        <p:nvSpPr>
          <p:cNvPr id="10" name="Rounded Rectangle 9"/>
          <p:cNvSpPr/>
          <p:nvPr/>
        </p:nvSpPr>
        <p:spPr>
          <a:xfrm>
            <a:off x="548640" y="4754880"/>
            <a:ext cx="11091672" cy="14173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59" y="4892040"/>
            <a:ext cx="3474720" cy="1143000"/>
          </a:xfrm>
          <a:prstGeom prst="rect">
            <a:avLst/>
          </a:prstGeom>
          <a:noFill/>
        </p:spPr>
        <p:txBody>
          <a:bodyPr wrap="square" lIns="0" tIns="0" rIns="0" bIns="0" anchor="ctr">
            <a:spAutoFit/>
          </a:bodyPr>
          <a:lstStyle/>
          <a:p>
            <a:pPr algn="l">
              <a:spcAft>
                <a:spcPts val="600"/>
              </a:spcAft>
            </a:pPr>
            <a:r>
              <a:rPr sz="1700" b="1" i="0">
                <a:solidFill>
                  <a:srgbClr val="1C2E6E"/>
                </a:solidFill>
                <a:latin typeface="Calibri"/>
              </a:rPr>
              <a:t>How reliable are your labels?</a:t>
            </a:r>
          </a:p>
        </p:txBody>
      </p:sp>
      <p:sp>
        <p:nvSpPr>
          <p:cNvPr id="12" name="TextBox 11"/>
          <p:cNvSpPr txBox="1"/>
          <p:nvPr/>
        </p:nvSpPr>
        <p:spPr>
          <a:xfrm>
            <a:off x="4572000" y="5232707"/>
            <a:ext cx="6858000" cy="461665"/>
          </a:xfrm>
          <a:prstGeom prst="rect">
            <a:avLst/>
          </a:prstGeom>
          <a:noFill/>
        </p:spPr>
        <p:txBody>
          <a:bodyPr wrap="square" lIns="0" tIns="0" rIns="0" bIns="0" anchor="ctr">
            <a:spAutoFit/>
          </a:bodyPr>
          <a:lstStyle/>
          <a:p>
            <a:pPr algn="l">
              <a:spcAft>
                <a:spcPts val="600"/>
              </a:spcAft>
            </a:pPr>
            <a:r>
              <a:rPr sz="1500" b="0" i="0" dirty="0">
                <a:solidFill>
                  <a:srgbClr val="1E293B"/>
                </a:solidFill>
                <a:latin typeface="Calibri"/>
              </a:rPr>
              <a:t>Two annotators agree at </a:t>
            </a:r>
            <a:r>
              <a:rPr sz="1500" b="0" i="0" dirty="0" err="1">
                <a:solidFill>
                  <a:srgbClr val="1E293B"/>
                </a:solidFill>
                <a:latin typeface="Calibri"/>
              </a:rPr>
              <a:t>κ</a:t>
            </a:r>
            <a:r>
              <a:rPr sz="1500" b="0" i="0" dirty="0">
                <a:solidFill>
                  <a:srgbClr val="1E293B"/>
                </a:solidFill>
                <a:latin typeface="Calibri"/>
              </a:rPr>
              <a:t> 0.39 on typical posts and 0.59 on hard ones, </a:t>
            </a:r>
            <a:r>
              <a:rPr sz="1500" b="1" i="0" dirty="0">
                <a:solidFill>
                  <a:srgbClr val="1E293B"/>
                </a:solidFill>
                <a:latin typeface="Calibri"/>
              </a:rPr>
              <a:t>mostly split on complaint</a:t>
            </a:r>
            <a:r>
              <a:rPr lang="en-US" sz="1500" b="1" i="0" dirty="0">
                <a:solidFill>
                  <a:srgbClr val="1E293B"/>
                </a:solidFill>
                <a:latin typeface="Calibri"/>
              </a:rPr>
              <a:t>(not happy)</a:t>
            </a:r>
            <a:r>
              <a:rPr sz="1500" b="1" i="0" dirty="0">
                <a:solidFill>
                  <a:srgbClr val="1E293B"/>
                </a:solidFill>
                <a:latin typeface="Calibri"/>
              </a:rPr>
              <a:t> vs neutral</a:t>
            </a:r>
            <a:r>
              <a:rPr sz="1500" b="0" i="0" dirty="0">
                <a:solidFill>
                  <a:srgbClr val="1E293B"/>
                </a:solidFill>
                <a:latin typeface="Calibri"/>
              </a:rPr>
              <a:t>. The guide now has an explicit rule for failure reports.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12000" y="713766"/>
            <a:ext cx="6840000" cy="350865"/>
          </a:xfrm>
          <a:prstGeom prst="rect">
            <a:avLst/>
          </a:prstGeom>
          <a:noFill/>
        </p:spPr>
        <p:txBody>
          <a:bodyPr wrap="square" lIns="0" tIns="0" rIns="0" bIns="0" anchor="ctr">
            <a:spAutoFit/>
          </a:bodyPr>
          <a:lstStyle/>
          <a:p>
            <a:pPr algn="l">
              <a:lnSpc>
                <a:spcPct val="95000"/>
              </a:lnSpc>
              <a:spcAft>
                <a:spcPts val="0"/>
              </a:spcAft>
            </a:pPr>
            <a:r>
              <a:rPr sz="2400" b="1" i="0" dirty="0">
                <a:solidFill>
                  <a:srgbClr val="1C2E6E"/>
                </a:solidFill>
                <a:latin typeface="Calibri"/>
              </a:rPr>
              <a:t>Anticipated questions (2 of </a:t>
            </a:r>
            <a:r>
              <a:rPr lang="en-US" sz="2400" b="1" i="0" dirty="0">
                <a:solidFill>
                  <a:srgbClr val="1C2E6E"/>
                </a:solidFill>
                <a:latin typeface="Calibri"/>
              </a:rPr>
              <a:t>4</a:t>
            </a:r>
            <a:r>
              <a:rPr sz="2400" b="1" i="0" dirty="0">
                <a:solidFill>
                  <a:srgbClr val="1C2E6E"/>
                </a:solidFill>
                <a:latin typeface="Calibri"/>
              </a:rPr>
              <a:t>)</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34</a:t>
            </a:r>
          </a:p>
        </p:txBody>
      </p:sp>
      <p:sp>
        <p:nvSpPr>
          <p:cNvPr id="4" name="Rounded Rectangle 3"/>
          <p:cNvSpPr/>
          <p:nvPr/>
        </p:nvSpPr>
        <p:spPr>
          <a:xfrm>
            <a:off x="548640" y="1645920"/>
            <a:ext cx="11091672" cy="14173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59" y="1783080"/>
            <a:ext cx="3474720" cy="1143000"/>
          </a:xfrm>
          <a:prstGeom prst="rect">
            <a:avLst/>
          </a:prstGeom>
          <a:noFill/>
        </p:spPr>
        <p:txBody>
          <a:bodyPr wrap="square" lIns="0" tIns="0" rIns="0" bIns="0" anchor="ctr">
            <a:spAutoFit/>
          </a:bodyPr>
          <a:lstStyle/>
          <a:p>
            <a:pPr algn="l">
              <a:spcAft>
                <a:spcPts val="600"/>
              </a:spcAft>
            </a:pPr>
            <a:r>
              <a:rPr sz="1700" b="1" i="0">
                <a:solidFill>
                  <a:srgbClr val="1C2E6E"/>
                </a:solidFill>
                <a:latin typeface="Calibri"/>
              </a:rPr>
              <a:t>How good is GPT-4o-mini on the corpus?</a:t>
            </a:r>
          </a:p>
        </p:txBody>
      </p:sp>
      <p:sp>
        <p:nvSpPr>
          <p:cNvPr id="6" name="TextBox 5"/>
          <p:cNvSpPr txBox="1"/>
          <p:nvPr/>
        </p:nvSpPr>
        <p:spPr>
          <a:xfrm>
            <a:off x="4572000" y="1783080"/>
            <a:ext cx="6858000" cy="1143000"/>
          </a:xfrm>
          <a:prstGeom prst="rect">
            <a:avLst/>
          </a:prstGeom>
          <a:noFill/>
        </p:spPr>
        <p:txBody>
          <a:bodyPr wrap="square" lIns="0" tIns="0" rIns="0" bIns="0" anchor="ctr">
            <a:spAutoFit/>
          </a:bodyPr>
          <a:lstStyle/>
          <a:p>
            <a:pPr algn="l">
              <a:spcAft>
                <a:spcPts val="600"/>
              </a:spcAft>
            </a:pPr>
            <a:r>
              <a:rPr sz="1500" b="0" i="0">
                <a:solidFill>
                  <a:srgbClr val="1E293B"/>
                </a:solidFill>
                <a:latin typeface="Calibri"/>
              </a:rPr>
              <a:t>F1 0.641 on the 392-post representative set; a rerun reproduced 292 of 295 labels. On the gold posts its not-happy share matches mine (47% vs 47%).</a:t>
            </a:r>
          </a:p>
        </p:txBody>
      </p:sp>
      <p:sp>
        <p:nvSpPr>
          <p:cNvPr id="7" name="Rounded Rectangle 6"/>
          <p:cNvSpPr/>
          <p:nvPr/>
        </p:nvSpPr>
        <p:spPr>
          <a:xfrm>
            <a:off x="548640" y="3200400"/>
            <a:ext cx="11091672" cy="1417320"/>
          </a:xfrm>
          <a:prstGeom prst="roundRect">
            <a:avLst>
              <a:gd name="adj" fmla="val 6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59" y="3337560"/>
            <a:ext cx="3474720" cy="1143000"/>
          </a:xfrm>
          <a:prstGeom prst="rect">
            <a:avLst/>
          </a:prstGeom>
          <a:noFill/>
        </p:spPr>
        <p:txBody>
          <a:bodyPr wrap="square" lIns="0" tIns="0" rIns="0" bIns="0" anchor="ctr">
            <a:spAutoFit/>
          </a:bodyPr>
          <a:lstStyle/>
          <a:p>
            <a:pPr algn="l">
              <a:spcAft>
                <a:spcPts val="600"/>
              </a:spcAft>
            </a:pPr>
            <a:r>
              <a:rPr sz="1700" b="1" i="0">
                <a:solidFill>
                  <a:srgbClr val="1C2E6E"/>
                </a:solidFill>
                <a:latin typeface="Calibri"/>
              </a:rPr>
              <a:t>How do you handle sarcasm and Singlish?</a:t>
            </a:r>
          </a:p>
        </p:txBody>
      </p:sp>
      <p:sp>
        <p:nvSpPr>
          <p:cNvPr id="9" name="TextBox 8"/>
          <p:cNvSpPr txBox="1"/>
          <p:nvPr/>
        </p:nvSpPr>
        <p:spPr>
          <a:xfrm>
            <a:off x="4572000" y="3337560"/>
            <a:ext cx="6858000" cy="1143000"/>
          </a:xfrm>
          <a:prstGeom prst="rect">
            <a:avLst/>
          </a:prstGeom>
          <a:noFill/>
        </p:spPr>
        <p:txBody>
          <a:bodyPr wrap="square" lIns="0" tIns="0" rIns="0" bIns="0" anchor="ctr">
            <a:spAutoFit/>
          </a:bodyPr>
          <a:lstStyle/>
          <a:p>
            <a:pPr algn="l">
              <a:spcAft>
                <a:spcPts val="600"/>
              </a:spcAft>
            </a:pPr>
            <a:r>
              <a:rPr sz="1500" b="0" i="0">
                <a:solidFill>
                  <a:srgbClr val="1E293B"/>
                </a:solidFill>
                <a:latin typeface="Calibri"/>
              </a:rPr>
              <a:t>VADER can’t; the challenge set targets these cases. There GPT-4o-mini reaches 0.773 macro F1 vs VADER 0.491 and GPT-4o 0.712.</a:t>
            </a:r>
          </a:p>
        </p:txBody>
      </p:sp>
      <p:sp>
        <p:nvSpPr>
          <p:cNvPr id="10" name="Rounded Rectangle 9"/>
          <p:cNvSpPr/>
          <p:nvPr/>
        </p:nvSpPr>
        <p:spPr>
          <a:xfrm>
            <a:off x="548640" y="4754880"/>
            <a:ext cx="11091672" cy="14173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59" y="4892040"/>
            <a:ext cx="3474720" cy="1143000"/>
          </a:xfrm>
          <a:prstGeom prst="rect">
            <a:avLst/>
          </a:prstGeom>
          <a:noFill/>
        </p:spPr>
        <p:txBody>
          <a:bodyPr wrap="square" lIns="0" tIns="0" rIns="0" bIns="0" anchor="ctr">
            <a:spAutoFit/>
          </a:bodyPr>
          <a:lstStyle/>
          <a:p>
            <a:pPr algn="l">
              <a:spcAft>
                <a:spcPts val="600"/>
              </a:spcAft>
            </a:pPr>
            <a:r>
              <a:rPr sz="1700" b="1" i="0">
                <a:solidFill>
                  <a:srgbClr val="1C2E6E"/>
                </a:solidFill>
                <a:latin typeface="Calibri"/>
              </a:rPr>
              <a:t>Why keep VADER at all?</a:t>
            </a:r>
          </a:p>
        </p:txBody>
      </p:sp>
      <p:sp>
        <p:nvSpPr>
          <p:cNvPr id="12" name="TextBox 11"/>
          <p:cNvSpPr txBox="1"/>
          <p:nvPr/>
        </p:nvSpPr>
        <p:spPr>
          <a:xfrm>
            <a:off x="4572000" y="4892040"/>
            <a:ext cx="6858000" cy="1143000"/>
          </a:xfrm>
          <a:prstGeom prst="rect">
            <a:avLst/>
          </a:prstGeom>
          <a:noFill/>
        </p:spPr>
        <p:txBody>
          <a:bodyPr wrap="square" lIns="0" tIns="0" rIns="0" bIns="0" anchor="ctr">
            <a:spAutoFit/>
          </a:bodyPr>
          <a:lstStyle/>
          <a:p>
            <a:pPr algn="l">
              <a:spcAft>
                <a:spcPts val="600"/>
              </a:spcAft>
            </a:pPr>
            <a:r>
              <a:rPr sz="1500" b="0" i="0">
                <a:solidFill>
                  <a:srgbClr val="1E293B"/>
                </a:solidFill>
                <a:latin typeface="Calibri"/>
              </a:rPr>
              <a:t>It’s free, local and deterministic: a baseline to beat. I no longer use it for any headline share.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12000" y="713766"/>
            <a:ext cx="6840000" cy="350865"/>
          </a:xfrm>
          <a:prstGeom prst="rect">
            <a:avLst/>
          </a:prstGeom>
          <a:noFill/>
        </p:spPr>
        <p:txBody>
          <a:bodyPr wrap="square" lIns="0" tIns="0" rIns="0" bIns="0" anchor="ctr">
            <a:spAutoFit/>
          </a:bodyPr>
          <a:lstStyle/>
          <a:p>
            <a:pPr algn="l">
              <a:lnSpc>
                <a:spcPct val="95000"/>
              </a:lnSpc>
              <a:spcAft>
                <a:spcPts val="0"/>
              </a:spcAft>
            </a:pPr>
            <a:r>
              <a:rPr sz="2400" b="1" i="0" dirty="0">
                <a:solidFill>
                  <a:srgbClr val="1C2E6E"/>
                </a:solidFill>
                <a:latin typeface="Calibri"/>
              </a:rPr>
              <a:t>Anticipated questions (3 of </a:t>
            </a:r>
            <a:r>
              <a:rPr lang="en-US" sz="2400" b="1" i="0" dirty="0">
                <a:solidFill>
                  <a:srgbClr val="1C2E6E"/>
                </a:solidFill>
                <a:latin typeface="Calibri"/>
              </a:rPr>
              <a:t>4</a:t>
            </a:r>
            <a:r>
              <a:rPr sz="2400" b="1" i="0" dirty="0">
                <a:solidFill>
                  <a:srgbClr val="1C2E6E"/>
                </a:solidFill>
                <a:latin typeface="Calibri"/>
              </a:rPr>
              <a:t>)</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35</a:t>
            </a:r>
          </a:p>
        </p:txBody>
      </p:sp>
      <p:sp>
        <p:nvSpPr>
          <p:cNvPr id="4" name="Rounded Rectangle 3"/>
          <p:cNvSpPr/>
          <p:nvPr/>
        </p:nvSpPr>
        <p:spPr>
          <a:xfrm>
            <a:off x="548640" y="1645920"/>
            <a:ext cx="11091672" cy="14173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59" y="1783080"/>
            <a:ext cx="3474720" cy="1143000"/>
          </a:xfrm>
          <a:prstGeom prst="rect">
            <a:avLst/>
          </a:prstGeom>
          <a:noFill/>
        </p:spPr>
        <p:txBody>
          <a:bodyPr wrap="square" lIns="0" tIns="0" rIns="0" bIns="0" anchor="ctr">
            <a:spAutoFit/>
          </a:bodyPr>
          <a:lstStyle/>
          <a:p>
            <a:pPr algn="l">
              <a:spcAft>
                <a:spcPts val="600"/>
              </a:spcAft>
            </a:pPr>
            <a:r>
              <a:rPr sz="1700" b="1" i="0">
                <a:solidFill>
                  <a:srgbClr val="1C2E6E"/>
                </a:solidFill>
                <a:latin typeface="Calibri"/>
              </a:rPr>
              <a:t>Is Reddit more negative than HWZ? Is Singtel worst?</a:t>
            </a:r>
          </a:p>
        </p:txBody>
      </p:sp>
      <p:sp>
        <p:nvSpPr>
          <p:cNvPr id="6" name="TextBox 5"/>
          <p:cNvSpPr txBox="1"/>
          <p:nvPr/>
        </p:nvSpPr>
        <p:spPr>
          <a:xfrm>
            <a:off x="4572000" y="1783080"/>
            <a:ext cx="6858000" cy="1143000"/>
          </a:xfrm>
          <a:prstGeom prst="rect">
            <a:avLst/>
          </a:prstGeom>
          <a:noFill/>
        </p:spPr>
        <p:txBody>
          <a:bodyPr wrap="square" lIns="0" tIns="0" rIns="0" bIns="0" anchor="ctr">
            <a:spAutoFit/>
          </a:bodyPr>
          <a:lstStyle/>
          <a:p>
            <a:pPr algn="l">
              <a:spcAft>
                <a:spcPts val="600"/>
              </a:spcAft>
            </a:pPr>
            <a:r>
              <a:rPr sz="1500" b="0" i="0">
                <a:solidFill>
                  <a:srgbClr val="1E293B"/>
                </a:solidFill>
                <a:latin typeface="Calibri"/>
              </a:rPr>
              <a:t>Outside outage threads, Reddit 42% vs HWZ 37%, mostly topic mix; brands sit within 3 points (Singtel 42%, StarHub 40%), with Eight lowest at 35%.</a:t>
            </a:r>
          </a:p>
        </p:txBody>
      </p:sp>
      <p:sp>
        <p:nvSpPr>
          <p:cNvPr id="7" name="Rounded Rectangle 6"/>
          <p:cNvSpPr/>
          <p:nvPr/>
        </p:nvSpPr>
        <p:spPr>
          <a:xfrm>
            <a:off x="548640" y="3200400"/>
            <a:ext cx="11091672" cy="1417320"/>
          </a:xfrm>
          <a:prstGeom prst="roundRect">
            <a:avLst>
              <a:gd name="adj" fmla="val 6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59" y="3337560"/>
            <a:ext cx="3474720" cy="1143000"/>
          </a:xfrm>
          <a:prstGeom prst="rect">
            <a:avLst/>
          </a:prstGeom>
          <a:noFill/>
        </p:spPr>
        <p:txBody>
          <a:bodyPr wrap="square" lIns="0" tIns="0" rIns="0" bIns="0" anchor="ctr">
            <a:spAutoFit/>
          </a:bodyPr>
          <a:lstStyle/>
          <a:p>
            <a:pPr algn="l">
              <a:spcAft>
                <a:spcPts val="600"/>
              </a:spcAft>
            </a:pPr>
            <a:r>
              <a:rPr sz="1700" b="1" i="0">
                <a:solidFill>
                  <a:srgbClr val="1C2E6E"/>
                </a:solidFill>
                <a:latin typeface="Calibri"/>
              </a:rPr>
              <a:t>What about privacy and ethics?</a:t>
            </a:r>
          </a:p>
        </p:txBody>
      </p:sp>
      <p:sp>
        <p:nvSpPr>
          <p:cNvPr id="9" name="TextBox 8"/>
          <p:cNvSpPr txBox="1"/>
          <p:nvPr/>
        </p:nvSpPr>
        <p:spPr>
          <a:xfrm>
            <a:off x="4572000" y="3337560"/>
            <a:ext cx="6858000" cy="1143000"/>
          </a:xfrm>
          <a:prstGeom prst="rect">
            <a:avLst/>
          </a:prstGeom>
          <a:noFill/>
        </p:spPr>
        <p:txBody>
          <a:bodyPr wrap="square" lIns="0" tIns="0" rIns="0" bIns="0" anchor="ctr">
            <a:spAutoFit/>
          </a:bodyPr>
          <a:lstStyle/>
          <a:p>
            <a:pPr algn="l">
              <a:spcAft>
                <a:spcPts val="600"/>
              </a:spcAft>
            </a:pPr>
            <a:r>
              <a:rPr sz="1500" b="0" i="0">
                <a:solidFill>
                  <a:srgbClr val="1E293B"/>
                </a:solidFill>
                <a:latin typeface="Calibri"/>
              </a:rPr>
              <a:t>Public posts only, no usernames in outputs, no identifiers sent to the API, and API keys kept in environment variables, never in code.</a:t>
            </a:r>
          </a:p>
        </p:txBody>
      </p:sp>
      <p:sp>
        <p:nvSpPr>
          <p:cNvPr id="10" name="Rounded Rectangle 9"/>
          <p:cNvSpPr/>
          <p:nvPr/>
        </p:nvSpPr>
        <p:spPr>
          <a:xfrm>
            <a:off x="548640" y="4754880"/>
            <a:ext cx="11091672" cy="14173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59" y="4892040"/>
            <a:ext cx="3474720" cy="1143000"/>
          </a:xfrm>
          <a:prstGeom prst="rect">
            <a:avLst/>
          </a:prstGeom>
          <a:noFill/>
        </p:spPr>
        <p:txBody>
          <a:bodyPr wrap="square" lIns="0" tIns="0" rIns="0" bIns="0" anchor="ctr">
            <a:spAutoFit/>
          </a:bodyPr>
          <a:lstStyle/>
          <a:p>
            <a:pPr algn="l">
              <a:spcAft>
                <a:spcPts val="600"/>
              </a:spcAft>
            </a:pPr>
            <a:r>
              <a:rPr sz="1700" b="1" i="0">
                <a:solidFill>
                  <a:srgbClr val="1C2E6E"/>
                </a:solidFill>
                <a:latin typeface="Calibri"/>
              </a:rPr>
              <a:t>Can this estimate NPS or market share?</a:t>
            </a:r>
          </a:p>
        </p:txBody>
      </p:sp>
      <p:sp>
        <p:nvSpPr>
          <p:cNvPr id="12" name="TextBox 11"/>
          <p:cNvSpPr txBox="1"/>
          <p:nvPr/>
        </p:nvSpPr>
        <p:spPr>
          <a:xfrm>
            <a:off x="4572000" y="4892040"/>
            <a:ext cx="6858000" cy="1143000"/>
          </a:xfrm>
          <a:prstGeom prst="rect">
            <a:avLst/>
          </a:prstGeom>
          <a:noFill/>
        </p:spPr>
        <p:txBody>
          <a:bodyPr wrap="square" lIns="0" tIns="0" rIns="0" bIns="0" anchor="ctr">
            <a:spAutoFit/>
          </a:bodyPr>
          <a:lstStyle/>
          <a:p>
            <a:pPr algn="l">
              <a:spcAft>
                <a:spcPts val="600"/>
              </a:spcAft>
            </a:pPr>
            <a:r>
              <a:rPr sz="1500" b="0" i="0" dirty="0">
                <a:solidFill>
                  <a:srgbClr val="1E293B"/>
                </a:solidFill>
                <a:latin typeface="Calibri"/>
              </a:rPr>
              <a:t>No. Posters self-select, replies cluster by thread, and 95% of posts are from 2026. It’s a triage queue, not a population measure.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9DA5F-444C-A287-1616-0E511AA5362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6D67DCF-76D9-B313-806D-C06CC10ACF84}"/>
              </a:ext>
            </a:extLst>
          </p:cNvPr>
          <p:cNvSpPr txBox="1"/>
          <p:nvPr/>
        </p:nvSpPr>
        <p:spPr>
          <a:xfrm>
            <a:off x="5112000" y="713766"/>
            <a:ext cx="6840000" cy="350865"/>
          </a:xfrm>
          <a:prstGeom prst="rect">
            <a:avLst/>
          </a:prstGeom>
          <a:noFill/>
        </p:spPr>
        <p:txBody>
          <a:bodyPr wrap="square" lIns="0" tIns="0" rIns="0" bIns="0" anchor="ctr">
            <a:spAutoFit/>
          </a:bodyPr>
          <a:lstStyle/>
          <a:p>
            <a:pPr algn="l">
              <a:lnSpc>
                <a:spcPct val="95000"/>
              </a:lnSpc>
              <a:spcAft>
                <a:spcPts val="0"/>
              </a:spcAft>
            </a:pPr>
            <a:r>
              <a:rPr sz="2400" b="1" i="0" dirty="0">
                <a:solidFill>
                  <a:srgbClr val="1C2E6E"/>
                </a:solidFill>
                <a:latin typeface="Calibri"/>
              </a:rPr>
              <a:t>Anticipated questions (</a:t>
            </a:r>
            <a:r>
              <a:rPr lang="en-US" sz="2400" b="1" dirty="0">
                <a:solidFill>
                  <a:srgbClr val="1C2E6E"/>
                </a:solidFill>
                <a:latin typeface="Calibri"/>
              </a:rPr>
              <a:t>4</a:t>
            </a:r>
            <a:r>
              <a:rPr sz="2400" b="1" i="0" dirty="0">
                <a:solidFill>
                  <a:srgbClr val="1C2E6E"/>
                </a:solidFill>
                <a:latin typeface="Calibri"/>
              </a:rPr>
              <a:t> of </a:t>
            </a:r>
            <a:r>
              <a:rPr lang="en-US" sz="2400" b="1" i="0" dirty="0">
                <a:solidFill>
                  <a:srgbClr val="1C2E6E"/>
                </a:solidFill>
                <a:latin typeface="Calibri"/>
              </a:rPr>
              <a:t>4</a:t>
            </a:r>
            <a:r>
              <a:rPr sz="2400" b="1" i="0" dirty="0">
                <a:solidFill>
                  <a:srgbClr val="1C2E6E"/>
                </a:solidFill>
                <a:latin typeface="Calibri"/>
              </a:rPr>
              <a:t>)</a:t>
            </a:r>
          </a:p>
        </p:txBody>
      </p:sp>
      <p:sp>
        <p:nvSpPr>
          <p:cNvPr id="3" name="TextBox 2">
            <a:extLst>
              <a:ext uri="{FF2B5EF4-FFF2-40B4-BE49-F238E27FC236}">
                <a16:creationId xmlns:a16="http://schemas.microsoft.com/office/drawing/2014/main" id="{52FCC8DD-D6D1-1E2A-265C-94B286C2654B}"/>
              </a:ext>
            </a:extLst>
          </p:cNvPr>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34</a:t>
            </a:r>
          </a:p>
        </p:txBody>
      </p:sp>
      <p:sp>
        <p:nvSpPr>
          <p:cNvPr id="4" name="Rounded Rectangle 3">
            <a:extLst>
              <a:ext uri="{FF2B5EF4-FFF2-40B4-BE49-F238E27FC236}">
                <a16:creationId xmlns:a16="http://schemas.microsoft.com/office/drawing/2014/main" id="{0A29ECCB-5BC4-3BB2-A81F-913B53BBEF23}"/>
              </a:ext>
            </a:extLst>
          </p:cNvPr>
          <p:cNvSpPr/>
          <p:nvPr/>
        </p:nvSpPr>
        <p:spPr>
          <a:xfrm>
            <a:off x="548640" y="1645920"/>
            <a:ext cx="11091672" cy="14173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0E7083B9-DA73-8900-1C5F-393E38D8239B}"/>
              </a:ext>
            </a:extLst>
          </p:cNvPr>
          <p:cNvSpPr txBox="1"/>
          <p:nvPr/>
        </p:nvSpPr>
        <p:spPr>
          <a:xfrm>
            <a:off x="822959" y="2223775"/>
            <a:ext cx="3474720" cy="261610"/>
          </a:xfrm>
          <a:prstGeom prst="rect">
            <a:avLst/>
          </a:prstGeom>
          <a:noFill/>
        </p:spPr>
        <p:txBody>
          <a:bodyPr wrap="square" lIns="0" tIns="0" rIns="0" bIns="0" anchor="ctr">
            <a:spAutoFit/>
          </a:bodyPr>
          <a:lstStyle/>
          <a:p>
            <a:pPr algn="l">
              <a:spcAft>
                <a:spcPts val="600"/>
              </a:spcAft>
            </a:pPr>
            <a:r>
              <a:rPr lang="en-US" sz="1700" b="1" dirty="0">
                <a:solidFill>
                  <a:srgbClr val="1C2E6E"/>
                </a:solidFill>
                <a:latin typeface="Calibri"/>
              </a:rPr>
              <a:t>Why Macro F1</a:t>
            </a:r>
            <a:endParaRPr sz="1700" b="1" i="0" dirty="0">
              <a:solidFill>
                <a:srgbClr val="1C2E6E"/>
              </a:solidFill>
              <a:latin typeface="Calibri"/>
            </a:endParaRPr>
          </a:p>
        </p:txBody>
      </p:sp>
      <p:sp>
        <p:nvSpPr>
          <p:cNvPr id="6" name="TextBox 5">
            <a:extLst>
              <a:ext uri="{FF2B5EF4-FFF2-40B4-BE49-F238E27FC236}">
                <a16:creationId xmlns:a16="http://schemas.microsoft.com/office/drawing/2014/main" id="{5AF15DAB-1B01-34C2-542C-3003442FBFFB}"/>
              </a:ext>
            </a:extLst>
          </p:cNvPr>
          <p:cNvSpPr txBox="1"/>
          <p:nvPr/>
        </p:nvSpPr>
        <p:spPr>
          <a:xfrm>
            <a:off x="4572000" y="1700556"/>
            <a:ext cx="6858000" cy="1308050"/>
          </a:xfrm>
          <a:prstGeom prst="rect">
            <a:avLst/>
          </a:prstGeom>
          <a:noFill/>
        </p:spPr>
        <p:txBody>
          <a:bodyPr wrap="square" lIns="0" tIns="0" rIns="0" bIns="0" anchor="ctr">
            <a:spAutoFit/>
          </a:bodyPr>
          <a:lstStyle/>
          <a:p>
            <a:pPr algn="l">
              <a:spcAft>
                <a:spcPts val="600"/>
              </a:spcAft>
            </a:pPr>
            <a:r>
              <a:rPr lang="en-US" sz="1500" b="0" i="0" dirty="0">
                <a:solidFill>
                  <a:srgbClr val="1E293B"/>
                </a:solidFill>
                <a:latin typeface="Calibri"/>
              </a:rPr>
              <a:t>Because your classes are </a:t>
            </a:r>
            <a:r>
              <a:rPr lang="en-US" sz="1500" b="1" i="0" dirty="0">
                <a:solidFill>
                  <a:srgbClr val="1E293B"/>
                </a:solidFill>
                <a:latin typeface="Calibri"/>
              </a:rPr>
              <a:t>unbalanced</a:t>
            </a:r>
            <a:r>
              <a:rPr lang="en-US" sz="1500" b="0" i="0" dirty="0">
                <a:solidFill>
                  <a:srgbClr val="1E293B"/>
                </a:solidFill>
                <a:latin typeface="Calibri"/>
              </a:rPr>
              <a:t>, and you care about every class, not just the biggest one.</a:t>
            </a:r>
          </a:p>
          <a:p>
            <a:pPr algn="l">
              <a:spcAft>
                <a:spcPts val="600"/>
              </a:spcAft>
            </a:pPr>
            <a:r>
              <a:rPr lang="en-US" sz="1500" b="0" i="0" dirty="0">
                <a:solidFill>
                  <a:srgbClr val="1E293B"/>
                </a:solidFill>
                <a:latin typeface="Calibri"/>
              </a:rPr>
              <a:t>Accuracy would reward guessing "not happy" for everything: about half your gold posts are not happy, so that lazy guess already scores 47%.</a:t>
            </a:r>
          </a:p>
          <a:p>
            <a:pPr algn="l">
              <a:spcAft>
                <a:spcPts val="600"/>
              </a:spcAft>
            </a:pPr>
            <a:r>
              <a:rPr lang="en-US" sz="1500" b="0" i="0" dirty="0">
                <a:solidFill>
                  <a:srgbClr val="1E293B"/>
                </a:solidFill>
                <a:latin typeface="Calibri"/>
              </a:rPr>
              <a:t>Macro F1 works differently:</a:t>
            </a:r>
          </a:p>
        </p:txBody>
      </p:sp>
      <p:sp>
        <p:nvSpPr>
          <p:cNvPr id="9" name="TextBox 8">
            <a:extLst>
              <a:ext uri="{FF2B5EF4-FFF2-40B4-BE49-F238E27FC236}">
                <a16:creationId xmlns:a16="http://schemas.microsoft.com/office/drawing/2014/main" id="{7AA5BB03-A158-B081-0F15-6C4A588C1631}"/>
              </a:ext>
            </a:extLst>
          </p:cNvPr>
          <p:cNvSpPr txBox="1"/>
          <p:nvPr/>
        </p:nvSpPr>
        <p:spPr>
          <a:xfrm>
            <a:off x="4572000" y="3117876"/>
            <a:ext cx="6858000" cy="1846659"/>
          </a:xfrm>
          <a:prstGeom prst="rect">
            <a:avLst/>
          </a:prstGeom>
          <a:noFill/>
        </p:spPr>
        <p:txBody>
          <a:bodyPr wrap="square" lIns="0" tIns="0" rIns="0" bIns="0" anchor="ctr">
            <a:spAutoFit/>
          </a:bodyPr>
          <a:lstStyle/>
          <a:p>
            <a:pPr algn="l">
              <a:spcAft>
                <a:spcPts val="600"/>
              </a:spcAft>
            </a:pPr>
            <a:r>
              <a:rPr lang="en-US" sz="1500" b="0" i="0" dirty="0">
                <a:solidFill>
                  <a:srgbClr val="1E293B"/>
                </a:solidFill>
                <a:latin typeface="Calibri"/>
              </a:rPr>
              <a:t>It scores each class separately (happy, not happy, neutral).</a:t>
            </a:r>
          </a:p>
          <a:p>
            <a:pPr algn="l">
              <a:spcAft>
                <a:spcPts val="600"/>
              </a:spcAft>
            </a:pPr>
            <a:r>
              <a:rPr lang="en-US" sz="1500" b="0" i="0" dirty="0">
                <a:solidFill>
                  <a:srgbClr val="1E293B"/>
                </a:solidFill>
                <a:latin typeface="Calibri"/>
              </a:rPr>
              <a:t>For each class it balances precision (when the model says this label, is it right?) and recall (of the posts that really are this label, how many did it find?).</a:t>
            </a:r>
          </a:p>
          <a:p>
            <a:pPr algn="l">
              <a:spcAft>
                <a:spcPts val="600"/>
              </a:spcAft>
            </a:pPr>
            <a:r>
              <a:rPr lang="en-US" sz="1500" b="0" i="0" dirty="0">
                <a:solidFill>
                  <a:srgbClr val="1E293B"/>
                </a:solidFill>
                <a:latin typeface="Calibri"/>
              </a:rPr>
              <a:t>It then averages the three with equal weight.</a:t>
            </a:r>
          </a:p>
          <a:p>
            <a:pPr algn="l">
              <a:spcAft>
                <a:spcPts val="600"/>
              </a:spcAft>
            </a:pPr>
            <a:r>
              <a:rPr lang="en-US" sz="1500" b="0" i="0" dirty="0">
                <a:solidFill>
                  <a:srgbClr val="1E293B"/>
                </a:solidFill>
                <a:latin typeface="Calibri"/>
              </a:rPr>
              <a:t>So a model only scores well if it handles the small "happy" class too. That's exactly where VADER fails: it misses complaints and over-calls happy. The same logic applies to the ten issue labels, where small ones like Porting count as much as Network Quality.</a:t>
            </a:r>
          </a:p>
        </p:txBody>
      </p:sp>
      <p:sp>
        <p:nvSpPr>
          <p:cNvPr id="10" name="Rounded Rectangle 9">
            <a:extLst>
              <a:ext uri="{FF2B5EF4-FFF2-40B4-BE49-F238E27FC236}">
                <a16:creationId xmlns:a16="http://schemas.microsoft.com/office/drawing/2014/main" id="{9B9BF4EC-0A6D-582F-3D46-A5D255B1F5DC}"/>
              </a:ext>
            </a:extLst>
          </p:cNvPr>
          <p:cNvSpPr/>
          <p:nvPr/>
        </p:nvSpPr>
        <p:spPr>
          <a:xfrm>
            <a:off x="548640" y="4754880"/>
            <a:ext cx="11091672" cy="141732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B0DD6052-2DCD-BC6C-7221-7D8C58471075}"/>
              </a:ext>
            </a:extLst>
          </p:cNvPr>
          <p:cNvSpPr txBox="1"/>
          <p:nvPr/>
        </p:nvSpPr>
        <p:spPr>
          <a:xfrm>
            <a:off x="822959" y="5332735"/>
            <a:ext cx="3474720" cy="261610"/>
          </a:xfrm>
          <a:prstGeom prst="rect">
            <a:avLst/>
          </a:prstGeom>
          <a:noFill/>
        </p:spPr>
        <p:txBody>
          <a:bodyPr wrap="square" lIns="0" tIns="0" rIns="0" bIns="0" anchor="ctr">
            <a:spAutoFit/>
          </a:bodyPr>
          <a:lstStyle/>
          <a:p>
            <a:pPr algn="l">
              <a:spcAft>
                <a:spcPts val="600"/>
              </a:spcAft>
            </a:pPr>
            <a:r>
              <a:rPr lang="en-US" sz="1700" b="1" i="0" dirty="0">
                <a:solidFill>
                  <a:srgbClr val="1C2E6E"/>
                </a:solidFill>
                <a:latin typeface="Calibri"/>
              </a:rPr>
              <a:t>1</a:t>
            </a:r>
            <a:endParaRPr sz="1700" b="1" i="0" dirty="0">
              <a:solidFill>
                <a:srgbClr val="1C2E6E"/>
              </a:solidFill>
              <a:latin typeface="Calibri"/>
            </a:endParaRPr>
          </a:p>
        </p:txBody>
      </p:sp>
    </p:spTree>
    <p:extLst>
      <p:ext uri="{BB962C8B-B14F-4D97-AF65-F5344CB8AC3E}">
        <p14:creationId xmlns:p14="http://schemas.microsoft.com/office/powerpoint/2010/main" val="19848388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12000" y="475199"/>
            <a:ext cx="6840000" cy="828000"/>
          </a:xfrm>
          <a:prstGeom prst="rect">
            <a:avLst/>
          </a:prstGeom>
          <a:noFill/>
        </p:spPr>
        <p:txBody>
          <a:bodyPr wrap="square" lIns="0" tIns="0" rIns="0" bIns="0" anchor="ctr">
            <a:spAutoFit/>
          </a:bodyPr>
          <a:lstStyle/>
          <a:p>
            <a:pPr algn="l">
              <a:lnSpc>
                <a:spcPct val="95000"/>
              </a:lnSpc>
              <a:spcAft>
                <a:spcPts val="0"/>
              </a:spcAft>
            </a:pPr>
            <a:r>
              <a:rPr sz="2400" b="1" i="0">
                <a:solidFill>
                  <a:srgbClr val="1C2E6E"/>
                </a:solidFill>
                <a:latin typeface="Calibri"/>
              </a:rPr>
              <a:t>Backup: two humans split on complaint vs neutral</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36</a:t>
            </a:r>
          </a:p>
        </p:txBody>
      </p:sp>
      <p:graphicFrame>
        <p:nvGraphicFramePr>
          <p:cNvPr id="4" name="Table 3"/>
          <p:cNvGraphicFramePr>
            <a:graphicFrameLocks noGrp="1"/>
          </p:cNvGraphicFramePr>
          <p:nvPr/>
        </p:nvGraphicFramePr>
        <p:xfrm>
          <a:off x="548640" y="1691640"/>
          <a:ext cx="11091672" cy="164592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2953512">
                  <a:extLst>
                    <a:ext uri="{9D8B030D-6E8A-4147-A177-3AD203B41FA5}">
                      <a16:colId xmlns:a16="http://schemas.microsoft.com/office/drawing/2014/main" val="20004"/>
                    </a:ext>
                  </a:extLst>
                </a:gridCol>
              </a:tblGrid>
              <a:tr h="548640">
                <a:tc>
                  <a:txBody>
                    <a:bodyPr/>
                    <a:lstStyle/>
                    <a:p>
                      <a:pPr algn="l"/>
                      <a:r>
                        <a:rPr sz="1600" b="1">
                          <a:solidFill>
                            <a:srgbClr val="FFFFFF"/>
                          </a:solidFill>
                          <a:latin typeface="Calibri"/>
                        </a:rPr>
                        <a:t>Set</a:t>
                      </a:r>
                    </a:p>
                  </a:txBody>
                  <a:tcPr marT="36576" marB="36576" anchor="ctr">
                    <a:solidFill>
                      <a:srgbClr val="1C2E6E"/>
                    </a:solidFill>
                  </a:tcPr>
                </a:tc>
                <a:tc>
                  <a:txBody>
                    <a:bodyPr/>
                    <a:lstStyle/>
                    <a:p>
                      <a:pPr algn="l"/>
                      <a:r>
                        <a:rPr sz="1600" b="1">
                          <a:solidFill>
                            <a:srgbClr val="FFFFFF"/>
                          </a:solidFill>
                          <a:latin typeface="Calibri"/>
                        </a:rPr>
                        <a:t>Posts</a:t>
                      </a:r>
                    </a:p>
                  </a:txBody>
                  <a:tcPr marT="36576" marB="36576" anchor="ctr">
                    <a:solidFill>
                      <a:srgbClr val="1C2E6E"/>
                    </a:solidFill>
                  </a:tcPr>
                </a:tc>
                <a:tc>
                  <a:txBody>
                    <a:bodyPr/>
                    <a:lstStyle/>
                    <a:p>
                      <a:pPr algn="l"/>
                      <a:r>
                        <a:rPr sz="1600" b="1">
                          <a:solidFill>
                            <a:srgbClr val="FFFFFF"/>
                          </a:solidFill>
                          <a:latin typeface="Calibri"/>
                        </a:rPr>
                        <a:t>Sentiment agreement</a:t>
                      </a:r>
                    </a:p>
                  </a:txBody>
                  <a:tcPr marT="36576" marB="36576" anchor="ctr">
                    <a:solidFill>
                      <a:srgbClr val="1C2E6E"/>
                    </a:solidFill>
                  </a:tcPr>
                </a:tc>
                <a:tc>
                  <a:txBody>
                    <a:bodyPr/>
                    <a:lstStyle/>
                    <a:p>
                      <a:pPr algn="l"/>
                      <a:r>
                        <a:rPr sz="1600" b="1">
                          <a:solidFill>
                            <a:srgbClr val="FFFFFF"/>
                          </a:solidFill>
                          <a:latin typeface="Calibri"/>
                        </a:rPr>
                        <a:t>Sentiment κ</a:t>
                      </a:r>
                    </a:p>
                  </a:txBody>
                  <a:tcPr marT="36576" marB="36576" anchor="ctr">
                    <a:solidFill>
                      <a:srgbClr val="1C2E6E"/>
                    </a:solidFill>
                  </a:tcPr>
                </a:tc>
                <a:tc>
                  <a:txBody>
                    <a:bodyPr/>
                    <a:lstStyle/>
                    <a:p>
                      <a:pPr algn="l"/>
                      <a:r>
                        <a:rPr sz="1600" b="1">
                          <a:solidFill>
                            <a:srgbClr val="FFFFFF"/>
                          </a:solidFill>
                          <a:latin typeface="Calibri"/>
                        </a:rPr>
                        <a:t>Issue overlap (Jaccard)</a:t>
                      </a:r>
                    </a:p>
                  </a:txBody>
                  <a:tcPr marT="36576" marB="36576" anchor="ctr">
                    <a:solidFill>
                      <a:srgbClr val="1C2E6E"/>
                    </a:solidFill>
                  </a:tcPr>
                </a:tc>
                <a:extLst>
                  <a:ext uri="{0D108BD9-81ED-4DB2-BD59-A6C34878D82A}">
                    <a16:rowId xmlns:a16="http://schemas.microsoft.com/office/drawing/2014/main" val="10000"/>
                  </a:ext>
                </a:extLst>
              </a:tr>
              <a:tr h="548640">
                <a:tc>
                  <a:txBody>
                    <a:bodyPr/>
                    <a:lstStyle/>
                    <a:p>
                      <a:pPr algn="l"/>
                      <a:r>
                        <a:rPr sz="1600" b="0">
                          <a:solidFill>
                            <a:srgbClr val="1E293B"/>
                          </a:solidFill>
                          <a:latin typeface="Calibri"/>
                        </a:rPr>
                        <a:t>Representative</a:t>
                      </a:r>
                    </a:p>
                  </a:txBody>
                  <a:tcPr marT="36576" marB="36576" anchor="ctr">
                    <a:solidFill>
                      <a:srgbClr val="FFFFFF"/>
                    </a:solidFill>
                  </a:tcPr>
                </a:tc>
                <a:tc>
                  <a:txBody>
                    <a:bodyPr/>
                    <a:lstStyle/>
                    <a:p>
                      <a:pPr algn="l"/>
                      <a:r>
                        <a:rPr sz="1600" b="0">
                          <a:solidFill>
                            <a:srgbClr val="1E293B"/>
                          </a:solidFill>
                          <a:latin typeface="Calibri"/>
                        </a:rPr>
                        <a:t>58</a:t>
                      </a:r>
                    </a:p>
                  </a:txBody>
                  <a:tcPr marT="36576" marB="36576" anchor="ctr">
                    <a:solidFill>
                      <a:srgbClr val="FFFFFF"/>
                    </a:solidFill>
                  </a:tcPr>
                </a:tc>
                <a:tc>
                  <a:txBody>
                    <a:bodyPr/>
                    <a:lstStyle/>
                    <a:p>
                      <a:pPr algn="l"/>
                      <a:r>
                        <a:rPr sz="1600" b="0">
                          <a:solidFill>
                            <a:srgbClr val="1E293B"/>
                          </a:solidFill>
                          <a:latin typeface="Calibri"/>
                        </a:rPr>
                        <a:t>62%</a:t>
                      </a:r>
                    </a:p>
                  </a:txBody>
                  <a:tcPr marT="36576" marB="36576" anchor="ctr">
                    <a:solidFill>
                      <a:srgbClr val="FFFFFF"/>
                    </a:solidFill>
                  </a:tcPr>
                </a:tc>
                <a:tc>
                  <a:txBody>
                    <a:bodyPr/>
                    <a:lstStyle/>
                    <a:p>
                      <a:pPr algn="l"/>
                      <a:r>
                        <a:rPr sz="1600" b="0">
                          <a:solidFill>
                            <a:srgbClr val="1E293B"/>
                          </a:solidFill>
                          <a:latin typeface="Calibri"/>
                        </a:rPr>
                        <a:t>0.39</a:t>
                      </a:r>
                    </a:p>
                  </a:txBody>
                  <a:tcPr marT="36576" marB="36576" anchor="ctr">
                    <a:solidFill>
                      <a:srgbClr val="FFFFFF"/>
                    </a:solidFill>
                  </a:tcPr>
                </a:tc>
                <a:tc>
                  <a:txBody>
                    <a:bodyPr/>
                    <a:lstStyle/>
                    <a:p>
                      <a:pPr algn="l"/>
                      <a:r>
                        <a:rPr sz="1600" b="0">
                          <a:solidFill>
                            <a:srgbClr val="1E293B"/>
                          </a:solidFill>
                          <a:latin typeface="Calibri"/>
                        </a:rPr>
                        <a:t>0.56</a:t>
                      </a:r>
                    </a:p>
                  </a:txBody>
                  <a:tcPr marT="36576" marB="36576" anchor="ctr">
                    <a:solidFill>
                      <a:srgbClr val="FFFFFF"/>
                    </a:solidFill>
                  </a:tcPr>
                </a:tc>
                <a:extLst>
                  <a:ext uri="{0D108BD9-81ED-4DB2-BD59-A6C34878D82A}">
                    <a16:rowId xmlns:a16="http://schemas.microsoft.com/office/drawing/2014/main" val="10001"/>
                  </a:ext>
                </a:extLst>
              </a:tr>
              <a:tr h="548640">
                <a:tc>
                  <a:txBody>
                    <a:bodyPr/>
                    <a:lstStyle/>
                    <a:p>
                      <a:pPr algn="l"/>
                      <a:r>
                        <a:rPr sz="1600" b="0">
                          <a:solidFill>
                            <a:srgbClr val="1E293B"/>
                          </a:solidFill>
                          <a:latin typeface="Calibri"/>
                        </a:rPr>
                        <a:t>Challenge</a:t>
                      </a:r>
                    </a:p>
                  </a:txBody>
                  <a:tcPr marT="36576" marB="36576" anchor="ctr">
                    <a:solidFill>
                      <a:srgbClr val="F2F4F9"/>
                    </a:solidFill>
                  </a:tcPr>
                </a:tc>
                <a:tc>
                  <a:txBody>
                    <a:bodyPr/>
                    <a:lstStyle/>
                    <a:p>
                      <a:pPr algn="l"/>
                      <a:r>
                        <a:rPr sz="1600" b="0">
                          <a:solidFill>
                            <a:srgbClr val="1E293B"/>
                          </a:solidFill>
                          <a:latin typeface="Calibri"/>
                        </a:rPr>
                        <a:t>40</a:t>
                      </a:r>
                    </a:p>
                  </a:txBody>
                  <a:tcPr marT="36576" marB="36576" anchor="ctr">
                    <a:solidFill>
                      <a:srgbClr val="F2F4F9"/>
                    </a:solidFill>
                  </a:tcPr>
                </a:tc>
                <a:tc>
                  <a:txBody>
                    <a:bodyPr/>
                    <a:lstStyle/>
                    <a:p>
                      <a:pPr algn="l"/>
                      <a:r>
                        <a:rPr sz="1600" b="0">
                          <a:solidFill>
                            <a:srgbClr val="1E293B"/>
                          </a:solidFill>
                          <a:latin typeface="Calibri"/>
                        </a:rPr>
                        <a:t>73%</a:t>
                      </a:r>
                    </a:p>
                  </a:txBody>
                  <a:tcPr marT="36576" marB="36576" anchor="ctr">
                    <a:solidFill>
                      <a:srgbClr val="F2F4F9"/>
                    </a:solidFill>
                  </a:tcPr>
                </a:tc>
                <a:tc>
                  <a:txBody>
                    <a:bodyPr/>
                    <a:lstStyle/>
                    <a:p>
                      <a:pPr algn="l"/>
                      <a:r>
                        <a:rPr sz="1600" b="0">
                          <a:solidFill>
                            <a:srgbClr val="1E293B"/>
                          </a:solidFill>
                          <a:latin typeface="Calibri"/>
                        </a:rPr>
                        <a:t>0.59</a:t>
                      </a:r>
                    </a:p>
                  </a:txBody>
                  <a:tcPr marT="36576" marB="36576" anchor="ctr">
                    <a:solidFill>
                      <a:srgbClr val="F2F4F9"/>
                    </a:solidFill>
                  </a:tcPr>
                </a:tc>
                <a:tc>
                  <a:txBody>
                    <a:bodyPr/>
                    <a:lstStyle/>
                    <a:p>
                      <a:pPr algn="l"/>
                      <a:r>
                        <a:rPr sz="1600" b="0">
                          <a:solidFill>
                            <a:srgbClr val="1E293B"/>
                          </a:solidFill>
                          <a:latin typeface="Calibri"/>
                        </a:rPr>
                        <a:t>0.77</a:t>
                      </a:r>
                    </a:p>
                  </a:txBody>
                  <a:tcPr marT="36576" marB="36576" anchor="ctr">
                    <a:solidFill>
                      <a:srgbClr val="F2F4F9"/>
                    </a:solidFill>
                  </a:tcPr>
                </a:tc>
                <a:extLst>
                  <a:ext uri="{0D108BD9-81ED-4DB2-BD59-A6C34878D82A}">
                    <a16:rowId xmlns:a16="http://schemas.microsoft.com/office/drawing/2014/main" val="10002"/>
                  </a:ext>
                </a:extLst>
              </a:tr>
            </a:tbl>
          </a:graphicData>
        </a:graphic>
      </p:graphicFrame>
      <p:sp>
        <p:nvSpPr>
          <p:cNvPr id="5" name="Rounded Rectangle 4"/>
          <p:cNvSpPr/>
          <p:nvPr/>
        </p:nvSpPr>
        <p:spPr>
          <a:xfrm>
            <a:off x="548640" y="3703320"/>
            <a:ext cx="5394960" cy="201168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3886200"/>
            <a:ext cx="4937760" cy="365760"/>
          </a:xfrm>
          <a:prstGeom prst="rect">
            <a:avLst/>
          </a:prstGeom>
          <a:noFill/>
        </p:spPr>
        <p:txBody>
          <a:bodyPr wrap="square" lIns="0" tIns="0" rIns="0" bIns="0" anchor="t">
            <a:spAutoFit/>
          </a:bodyPr>
          <a:lstStyle/>
          <a:p>
            <a:pPr algn="l">
              <a:spcAft>
                <a:spcPts val="600"/>
              </a:spcAft>
            </a:pPr>
            <a:r>
              <a:rPr sz="1700" b="1" i="0" dirty="0">
                <a:solidFill>
                  <a:srgbClr val="1C2E6E"/>
                </a:solidFill>
                <a:latin typeface="Calibri"/>
              </a:rPr>
              <a:t>One pattern explains most of it</a:t>
            </a:r>
          </a:p>
        </p:txBody>
      </p:sp>
      <p:sp>
        <p:nvSpPr>
          <p:cNvPr id="7" name="TextBox 6"/>
          <p:cNvSpPr txBox="1"/>
          <p:nvPr/>
        </p:nvSpPr>
        <p:spPr>
          <a:xfrm>
            <a:off x="777240" y="4270248"/>
            <a:ext cx="4937760" cy="1280160"/>
          </a:xfrm>
          <a:prstGeom prst="rect">
            <a:avLst/>
          </a:prstGeom>
          <a:noFill/>
        </p:spPr>
        <p:txBody>
          <a:bodyPr wrap="square" lIns="0" tIns="0" rIns="0" bIns="0" anchor="t">
            <a:spAutoFit/>
          </a:bodyPr>
          <a:lstStyle/>
          <a:p>
            <a:pPr algn="l">
              <a:spcAft>
                <a:spcPts val="600"/>
              </a:spcAft>
            </a:pPr>
            <a:r>
              <a:rPr sz="1500" b="0" i="0">
                <a:solidFill>
                  <a:srgbClr val="1E293B"/>
                </a:solidFill>
                <a:latin typeface="Calibri"/>
              </a:rPr>
              <a:t>9 of 22 representative disagreements (8 of 11 on challenge): I said not happy, B said neutral.</a:t>
            </a:r>
          </a:p>
        </p:txBody>
      </p:sp>
      <p:sp>
        <p:nvSpPr>
          <p:cNvPr id="8" name="Rounded Rectangle 7"/>
          <p:cNvSpPr/>
          <p:nvPr/>
        </p:nvSpPr>
        <p:spPr>
          <a:xfrm>
            <a:off x="6245352" y="3703320"/>
            <a:ext cx="5394960" cy="201168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73952" y="3886200"/>
            <a:ext cx="4937760" cy="365760"/>
          </a:xfrm>
          <a:prstGeom prst="rect">
            <a:avLst/>
          </a:prstGeom>
          <a:noFill/>
        </p:spPr>
        <p:txBody>
          <a:bodyPr wrap="square" lIns="0" tIns="0" rIns="0" bIns="0" anchor="t">
            <a:spAutoFit/>
          </a:bodyPr>
          <a:lstStyle/>
          <a:p>
            <a:pPr algn="l">
              <a:spcAft>
                <a:spcPts val="600"/>
              </a:spcAft>
            </a:pPr>
            <a:r>
              <a:rPr sz="1700" b="1" i="0">
                <a:solidFill>
                  <a:srgbClr val="1C2E6E"/>
                </a:solidFill>
                <a:latin typeface="Calibri"/>
              </a:rPr>
              <a:t>Low human ceiling on small themes</a:t>
            </a:r>
          </a:p>
        </p:txBody>
      </p:sp>
      <p:sp>
        <p:nvSpPr>
          <p:cNvPr id="10" name="TextBox 9"/>
          <p:cNvSpPr txBox="1"/>
          <p:nvPr/>
        </p:nvSpPr>
        <p:spPr>
          <a:xfrm>
            <a:off x="6473952" y="4270248"/>
            <a:ext cx="4937760" cy="1280160"/>
          </a:xfrm>
          <a:prstGeom prst="rect">
            <a:avLst/>
          </a:prstGeom>
          <a:noFill/>
        </p:spPr>
        <p:txBody>
          <a:bodyPr wrap="square" lIns="0" tIns="0" rIns="0" bIns="0" anchor="t">
            <a:spAutoFit/>
          </a:bodyPr>
          <a:lstStyle/>
          <a:p>
            <a:pPr algn="l">
              <a:spcAft>
                <a:spcPts val="600"/>
              </a:spcAft>
            </a:pPr>
            <a:r>
              <a:rPr sz="1500" b="0" i="0">
                <a:solidFill>
                  <a:srgbClr val="1E293B"/>
                </a:solidFill>
                <a:latin typeface="Calibri"/>
              </a:rPr>
              <a:t>Issue κ: Network 0.79, but Devices 0.16, App 0.17, Customer Service 0.28.</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12000" y="475199"/>
            <a:ext cx="6840000" cy="828000"/>
          </a:xfrm>
          <a:prstGeom prst="rect">
            <a:avLst/>
          </a:prstGeom>
          <a:noFill/>
        </p:spPr>
        <p:txBody>
          <a:bodyPr wrap="square" lIns="0" tIns="0" rIns="0" bIns="0" anchor="ctr">
            <a:spAutoFit/>
          </a:bodyPr>
          <a:lstStyle/>
          <a:p>
            <a:pPr algn="l">
              <a:lnSpc>
                <a:spcPct val="95000"/>
              </a:lnSpc>
              <a:spcAft>
                <a:spcPts val="0"/>
              </a:spcAft>
            </a:pPr>
            <a:r>
              <a:rPr sz="2400" b="1" i="0">
                <a:solidFill>
                  <a:srgbClr val="1C2E6E"/>
                </a:solidFill>
                <a:latin typeface="Calibri"/>
              </a:rPr>
              <a:t>Backup: per-class sentiment metrics (n = 392; GPT-4o 388)</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37</a:t>
            </a:r>
          </a:p>
        </p:txBody>
      </p:sp>
      <p:graphicFrame>
        <p:nvGraphicFramePr>
          <p:cNvPr id="4" name="Table 3"/>
          <p:cNvGraphicFramePr>
            <a:graphicFrameLocks noGrp="1"/>
          </p:cNvGraphicFramePr>
          <p:nvPr/>
        </p:nvGraphicFramePr>
        <p:xfrm>
          <a:off x="548640" y="1691640"/>
          <a:ext cx="11091672" cy="429768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gridCol w="1490472">
                  <a:extLst>
                    <a:ext uri="{9D8B030D-6E8A-4147-A177-3AD203B41FA5}">
                      <a16:colId xmlns:a16="http://schemas.microsoft.com/office/drawing/2014/main" val="20005"/>
                    </a:ext>
                  </a:extLst>
                </a:gridCol>
              </a:tblGrid>
              <a:tr h="429768">
                <a:tc>
                  <a:txBody>
                    <a:bodyPr/>
                    <a:lstStyle/>
                    <a:p>
                      <a:pPr algn="l"/>
                      <a:r>
                        <a:rPr sz="1400" b="1">
                          <a:solidFill>
                            <a:srgbClr val="FFFFFF"/>
                          </a:solidFill>
                          <a:latin typeface="Calibri"/>
                        </a:rPr>
                        <a:t>Method</a:t>
                      </a:r>
                    </a:p>
                  </a:txBody>
                  <a:tcPr marT="36576" marB="36576" anchor="ctr">
                    <a:solidFill>
                      <a:srgbClr val="1C2E6E"/>
                    </a:solidFill>
                  </a:tcPr>
                </a:tc>
                <a:tc>
                  <a:txBody>
                    <a:bodyPr/>
                    <a:lstStyle/>
                    <a:p>
                      <a:pPr algn="l"/>
                      <a:r>
                        <a:rPr sz="1400" b="1">
                          <a:solidFill>
                            <a:srgbClr val="FFFFFF"/>
                          </a:solidFill>
                          <a:latin typeface="Calibri"/>
                        </a:rPr>
                        <a:t>Class</a:t>
                      </a:r>
                    </a:p>
                  </a:txBody>
                  <a:tcPr marT="36576" marB="36576" anchor="ctr">
                    <a:solidFill>
                      <a:srgbClr val="1C2E6E"/>
                    </a:solidFill>
                  </a:tcPr>
                </a:tc>
                <a:tc>
                  <a:txBody>
                    <a:bodyPr/>
                    <a:lstStyle/>
                    <a:p>
                      <a:pPr algn="l"/>
                      <a:r>
                        <a:rPr sz="1400" b="1">
                          <a:solidFill>
                            <a:srgbClr val="FFFFFF"/>
                          </a:solidFill>
                          <a:latin typeface="Calibri"/>
                        </a:rPr>
                        <a:t>Precision</a:t>
                      </a:r>
                    </a:p>
                  </a:txBody>
                  <a:tcPr marT="36576" marB="36576" anchor="ctr">
                    <a:solidFill>
                      <a:srgbClr val="1C2E6E"/>
                    </a:solidFill>
                  </a:tcPr>
                </a:tc>
                <a:tc>
                  <a:txBody>
                    <a:bodyPr/>
                    <a:lstStyle/>
                    <a:p>
                      <a:pPr algn="l"/>
                      <a:r>
                        <a:rPr sz="1400" b="1">
                          <a:solidFill>
                            <a:srgbClr val="FFFFFF"/>
                          </a:solidFill>
                          <a:latin typeface="Calibri"/>
                        </a:rPr>
                        <a:t>Recall</a:t>
                      </a:r>
                    </a:p>
                  </a:txBody>
                  <a:tcPr marT="36576" marB="36576" anchor="ctr">
                    <a:solidFill>
                      <a:srgbClr val="1C2E6E"/>
                    </a:solidFill>
                  </a:tcPr>
                </a:tc>
                <a:tc>
                  <a:txBody>
                    <a:bodyPr/>
                    <a:lstStyle/>
                    <a:p>
                      <a:pPr algn="l"/>
                      <a:r>
                        <a:rPr sz="1400" b="1">
                          <a:solidFill>
                            <a:srgbClr val="FFFFFF"/>
                          </a:solidFill>
                          <a:latin typeface="Calibri"/>
                        </a:rPr>
                        <a:t>F1</a:t>
                      </a:r>
                    </a:p>
                  </a:txBody>
                  <a:tcPr marT="36576" marB="36576" anchor="ctr">
                    <a:solidFill>
                      <a:srgbClr val="1C2E6E"/>
                    </a:solidFill>
                  </a:tcPr>
                </a:tc>
                <a:tc>
                  <a:txBody>
                    <a:bodyPr/>
                    <a:lstStyle/>
                    <a:p>
                      <a:pPr algn="l"/>
                      <a:r>
                        <a:rPr sz="1400" b="1">
                          <a:solidFill>
                            <a:srgbClr val="FFFFFF"/>
                          </a:solidFill>
                          <a:latin typeface="Calibri"/>
                        </a:rPr>
                        <a:t>Support</a:t>
                      </a:r>
                    </a:p>
                  </a:txBody>
                  <a:tcPr marT="36576" marB="36576" anchor="ctr">
                    <a:solidFill>
                      <a:srgbClr val="1C2E6E"/>
                    </a:solidFill>
                  </a:tcPr>
                </a:tc>
                <a:extLst>
                  <a:ext uri="{0D108BD9-81ED-4DB2-BD59-A6C34878D82A}">
                    <a16:rowId xmlns:a16="http://schemas.microsoft.com/office/drawing/2014/main" val="10000"/>
                  </a:ext>
                </a:extLst>
              </a:tr>
              <a:tr h="429768">
                <a:tc>
                  <a:txBody>
                    <a:bodyPr/>
                    <a:lstStyle/>
                    <a:p>
                      <a:pPr algn="l"/>
                      <a:r>
                        <a:rPr sz="1400" b="0">
                          <a:solidFill>
                            <a:srgbClr val="1E293B"/>
                          </a:solidFill>
                          <a:latin typeface="Calibri"/>
                        </a:rPr>
                        <a:t>VADER</a:t>
                      </a:r>
                    </a:p>
                  </a:txBody>
                  <a:tcPr marT="36576" marB="36576" anchor="ctr">
                    <a:solidFill>
                      <a:srgbClr val="FFFFFF"/>
                    </a:solidFill>
                  </a:tcPr>
                </a:tc>
                <a:tc>
                  <a:txBody>
                    <a:bodyPr/>
                    <a:lstStyle/>
                    <a:p>
                      <a:pPr algn="l"/>
                      <a:r>
                        <a:rPr sz="1400" b="0">
                          <a:solidFill>
                            <a:srgbClr val="1E293B"/>
                          </a:solidFill>
                          <a:latin typeface="Calibri"/>
                        </a:rPr>
                        <a:t>Happy</a:t>
                      </a:r>
                    </a:p>
                  </a:txBody>
                  <a:tcPr marT="36576" marB="36576" anchor="ctr">
                    <a:solidFill>
                      <a:srgbClr val="FFFFFF"/>
                    </a:solidFill>
                  </a:tcPr>
                </a:tc>
                <a:tc>
                  <a:txBody>
                    <a:bodyPr/>
                    <a:lstStyle/>
                    <a:p>
                      <a:pPr algn="l"/>
                      <a:r>
                        <a:rPr sz="1400" b="0">
                          <a:solidFill>
                            <a:srgbClr val="1E293B"/>
                          </a:solidFill>
                          <a:latin typeface="Calibri"/>
                        </a:rPr>
                        <a:t>0.288</a:t>
                      </a:r>
                    </a:p>
                  </a:txBody>
                  <a:tcPr marT="36576" marB="36576" anchor="ctr">
                    <a:solidFill>
                      <a:srgbClr val="FFFFFF"/>
                    </a:solidFill>
                  </a:tcPr>
                </a:tc>
                <a:tc>
                  <a:txBody>
                    <a:bodyPr/>
                    <a:lstStyle/>
                    <a:p>
                      <a:pPr algn="l"/>
                      <a:r>
                        <a:rPr sz="1400" b="0">
                          <a:solidFill>
                            <a:srgbClr val="1E293B"/>
                          </a:solidFill>
                          <a:latin typeface="Calibri"/>
                        </a:rPr>
                        <a:t>0.646</a:t>
                      </a:r>
                    </a:p>
                  </a:txBody>
                  <a:tcPr marT="36576" marB="36576" anchor="ctr">
                    <a:solidFill>
                      <a:srgbClr val="FFFFFF"/>
                    </a:solidFill>
                  </a:tcPr>
                </a:tc>
                <a:tc>
                  <a:txBody>
                    <a:bodyPr/>
                    <a:lstStyle/>
                    <a:p>
                      <a:pPr algn="l"/>
                      <a:r>
                        <a:rPr sz="1400" b="0">
                          <a:solidFill>
                            <a:srgbClr val="1E293B"/>
                          </a:solidFill>
                          <a:latin typeface="Calibri"/>
                        </a:rPr>
                        <a:t>0.398</a:t>
                      </a:r>
                    </a:p>
                  </a:txBody>
                  <a:tcPr marT="36576" marB="36576" anchor="ctr">
                    <a:solidFill>
                      <a:srgbClr val="FFFFFF"/>
                    </a:solidFill>
                  </a:tcPr>
                </a:tc>
                <a:tc>
                  <a:txBody>
                    <a:bodyPr/>
                    <a:lstStyle/>
                    <a:p>
                      <a:pPr algn="l"/>
                      <a:r>
                        <a:rPr sz="1400" b="0">
                          <a:solidFill>
                            <a:srgbClr val="1E293B"/>
                          </a:solidFill>
                          <a:latin typeface="Calibri"/>
                        </a:rPr>
                        <a:t>82</a:t>
                      </a:r>
                    </a:p>
                  </a:txBody>
                  <a:tcPr marT="36576" marB="36576" anchor="ctr">
                    <a:solidFill>
                      <a:srgbClr val="FFFFFF"/>
                    </a:solidFill>
                  </a:tcPr>
                </a:tc>
                <a:extLst>
                  <a:ext uri="{0D108BD9-81ED-4DB2-BD59-A6C34878D82A}">
                    <a16:rowId xmlns:a16="http://schemas.microsoft.com/office/drawing/2014/main" val="10001"/>
                  </a:ext>
                </a:extLst>
              </a:tr>
              <a:tr h="429768">
                <a:tc>
                  <a:txBody>
                    <a:bodyPr/>
                    <a:lstStyle/>
                    <a:p>
                      <a:pPr algn="l"/>
                      <a:r>
                        <a:rPr sz="1400" b="1">
                          <a:solidFill>
                            <a:srgbClr val="1E293B"/>
                          </a:solidFill>
                          <a:latin typeface="Calibri"/>
                        </a:rPr>
                        <a:t>VADER</a:t>
                      </a:r>
                    </a:p>
                  </a:txBody>
                  <a:tcPr marT="36576" marB="36576" anchor="ctr">
                    <a:solidFill>
                      <a:srgbClr val="FBF3DF"/>
                    </a:solidFill>
                  </a:tcPr>
                </a:tc>
                <a:tc>
                  <a:txBody>
                    <a:bodyPr/>
                    <a:lstStyle/>
                    <a:p>
                      <a:pPr algn="l"/>
                      <a:r>
                        <a:rPr sz="1400" b="0">
                          <a:solidFill>
                            <a:srgbClr val="1E293B"/>
                          </a:solidFill>
                          <a:latin typeface="Calibri"/>
                        </a:rPr>
                        <a:t>Not happy</a:t>
                      </a:r>
                    </a:p>
                  </a:txBody>
                  <a:tcPr marT="36576" marB="36576" anchor="ctr">
                    <a:solidFill>
                      <a:srgbClr val="FBF3DF"/>
                    </a:solidFill>
                  </a:tcPr>
                </a:tc>
                <a:tc>
                  <a:txBody>
                    <a:bodyPr/>
                    <a:lstStyle/>
                    <a:p>
                      <a:pPr algn="l"/>
                      <a:r>
                        <a:rPr sz="1400" b="0">
                          <a:solidFill>
                            <a:srgbClr val="1E293B"/>
                          </a:solidFill>
                          <a:latin typeface="Calibri"/>
                        </a:rPr>
                        <a:t>0.589</a:t>
                      </a:r>
                    </a:p>
                  </a:txBody>
                  <a:tcPr marT="36576" marB="36576" anchor="ctr">
                    <a:solidFill>
                      <a:srgbClr val="FBF3DF"/>
                    </a:solidFill>
                  </a:tcPr>
                </a:tc>
                <a:tc>
                  <a:txBody>
                    <a:bodyPr/>
                    <a:lstStyle/>
                    <a:p>
                      <a:pPr algn="l"/>
                      <a:r>
                        <a:rPr sz="1400" b="0">
                          <a:solidFill>
                            <a:srgbClr val="1E293B"/>
                          </a:solidFill>
                          <a:latin typeface="Calibri"/>
                        </a:rPr>
                        <a:t>0.339</a:t>
                      </a:r>
                    </a:p>
                  </a:txBody>
                  <a:tcPr marT="36576" marB="36576" anchor="ctr">
                    <a:solidFill>
                      <a:srgbClr val="FBF3DF"/>
                    </a:solidFill>
                  </a:tcPr>
                </a:tc>
                <a:tc>
                  <a:txBody>
                    <a:bodyPr/>
                    <a:lstStyle/>
                    <a:p>
                      <a:pPr algn="l"/>
                      <a:r>
                        <a:rPr sz="1400" b="0">
                          <a:solidFill>
                            <a:srgbClr val="1E293B"/>
                          </a:solidFill>
                          <a:latin typeface="Calibri"/>
                        </a:rPr>
                        <a:t>0.430</a:t>
                      </a:r>
                    </a:p>
                  </a:txBody>
                  <a:tcPr marT="36576" marB="36576" anchor="ctr">
                    <a:solidFill>
                      <a:srgbClr val="FBF3DF"/>
                    </a:solidFill>
                  </a:tcPr>
                </a:tc>
                <a:tc>
                  <a:txBody>
                    <a:bodyPr/>
                    <a:lstStyle/>
                    <a:p>
                      <a:pPr algn="l"/>
                      <a:r>
                        <a:rPr sz="1400" b="0">
                          <a:solidFill>
                            <a:srgbClr val="1E293B"/>
                          </a:solidFill>
                          <a:latin typeface="Calibri"/>
                        </a:rPr>
                        <a:t>186</a:t>
                      </a:r>
                    </a:p>
                  </a:txBody>
                  <a:tcPr marT="36576" marB="36576" anchor="ctr">
                    <a:solidFill>
                      <a:srgbClr val="FBF3DF"/>
                    </a:solidFill>
                  </a:tcPr>
                </a:tc>
                <a:extLst>
                  <a:ext uri="{0D108BD9-81ED-4DB2-BD59-A6C34878D82A}">
                    <a16:rowId xmlns:a16="http://schemas.microsoft.com/office/drawing/2014/main" val="10002"/>
                  </a:ext>
                </a:extLst>
              </a:tr>
              <a:tr h="429768">
                <a:tc>
                  <a:txBody>
                    <a:bodyPr/>
                    <a:lstStyle/>
                    <a:p>
                      <a:pPr algn="l"/>
                      <a:r>
                        <a:rPr sz="1400" b="0">
                          <a:solidFill>
                            <a:srgbClr val="1E293B"/>
                          </a:solidFill>
                          <a:latin typeface="Calibri"/>
                        </a:rPr>
                        <a:t>VADER</a:t>
                      </a:r>
                    </a:p>
                  </a:txBody>
                  <a:tcPr marT="36576" marB="36576" anchor="ctr">
                    <a:solidFill>
                      <a:srgbClr val="FFFFFF"/>
                    </a:solidFill>
                  </a:tcPr>
                </a:tc>
                <a:tc>
                  <a:txBody>
                    <a:bodyPr/>
                    <a:lstStyle/>
                    <a:p>
                      <a:pPr algn="l"/>
                      <a:r>
                        <a:rPr sz="1400" b="0">
                          <a:solidFill>
                            <a:srgbClr val="1E293B"/>
                          </a:solidFill>
                          <a:latin typeface="Calibri"/>
                        </a:rPr>
                        <a:t>Neutral</a:t>
                      </a:r>
                    </a:p>
                  </a:txBody>
                  <a:tcPr marT="36576" marB="36576" anchor="ctr">
                    <a:solidFill>
                      <a:srgbClr val="FFFFFF"/>
                    </a:solidFill>
                  </a:tcPr>
                </a:tc>
                <a:tc>
                  <a:txBody>
                    <a:bodyPr/>
                    <a:lstStyle/>
                    <a:p>
                      <a:pPr algn="l"/>
                      <a:r>
                        <a:rPr sz="1400" b="0">
                          <a:solidFill>
                            <a:srgbClr val="1E293B"/>
                          </a:solidFill>
                          <a:latin typeface="Calibri"/>
                        </a:rPr>
                        <a:t>0.347</a:t>
                      </a:r>
                    </a:p>
                  </a:txBody>
                  <a:tcPr marT="36576" marB="36576" anchor="ctr">
                    <a:solidFill>
                      <a:srgbClr val="FFFFFF"/>
                    </a:solidFill>
                  </a:tcPr>
                </a:tc>
                <a:tc>
                  <a:txBody>
                    <a:bodyPr/>
                    <a:lstStyle/>
                    <a:p>
                      <a:pPr algn="l"/>
                      <a:r>
                        <a:rPr sz="1400" b="0">
                          <a:solidFill>
                            <a:srgbClr val="1E293B"/>
                          </a:solidFill>
                          <a:latin typeface="Calibri"/>
                        </a:rPr>
                        <a:t>0.282</a:t>
                      </a:r>
                    </a:p>
                  </a:txBody>
                  <a:tcPr marT="36576" marB="36576" anchor="ctr">
                    <a:solidFill>
                      <a:srgbClr val="FFFFFF"/>
                    </a:solidFill>
                  </a:tcPr>
                </a:tc>
                <a:tc>
                  <a:txBody>
                    <a:bodyPr/>
                    <a:lstStyle/>
                    <a:p>
                      <a:pPr algn="l"/>
                      <a:r>
                        <a:rPr sz="1400" b="0">
                          <a:solidFill>
                            <a:srgbClr val="1E293B"/>
                          </a:solidFill>
                          <a:latin typeface="Calibri"/>
                        </a:rPr>
                        <a:t>0.311</a:t>
                      </a:r>
                    </a:p>
                  </a:txBody>
                  <a:tcPr marT="36576" marB="36576" anchor="ctr">
                    <a:solidFill>
                      <a:srgbClr val="FFFFFF"/>
                    </a:solidFill>
                  </a:tcPr>
                </a:tc>
                <a:tc>
                  <a:txBody>
                    <a:bodyPr/>
                    <a:lstStyle/>
                    <a:p>
                      <a:pPr algn="l"/>
                      <a:r>
                        <a:rPr sz="1400" b="0">
                          <a:solidFill>
                            <a:srgbClr val="1E293B"/>
                          </a:solidFill>
                          <a:latin typeface="Calibri"/>
                        </a:rPr>
                        <a:t>124</a:t>
                      </a:r>
                    </a:p>
                  </a:txBody>
                  <a:tcPr marT="36576" marB="36576" anchor="ctr">
                    <a:solidFill>
                      <a:srgbClr val="FFFFFF"/>
                    </a:solidFill>
                  </a:tcPr>
                </a:tc>
                <a:extLst>
                  <a:ext uri="{0D108BD9-81ED-4DB2-BD59-A6C34878D82A}">
                    <a16:rowId xmlns:a16="http://schemas.microsoft.com/office/drawing/2014/main" val="10003"/>
                  </a:ext>
                </a:extLst>
              </a:tr>
              <a:tr h="429768">
                <a:tc>
                  <a:txBody>
                    <a:bodyPr/>
                    <a:lstStyle/>
                    <a:p>
                      <a:pPr algn="l"/>
                      <a:r>
                        <a:rPr sz="1400" b="0">
                          <a:solidFill>
                            <a:srgbClr val="1E293B"/>
                          </a:solidFill>
                          <a:latin typeface="Calibri"/>
                        </a:rPr>
                        <a:t>GPT-4o-mini</a:t>
                      </a:r>
                    </a:p>
                  </a:txBody>
                  <a:tcPr marT="36576" marB="36576" anchor="ctr">
                    <a:solidFill>
                      <a:srgbClr val="F2F4F9"/>
                    </a:solidFill>
                  </a:tcPr>
                </a:tc>
                <a:tc>
                  <a:txBody>
                    <a:bodyPr/>
                    <a:lstStyle/>
                    <a:p>
                      <a:pPr algn="l"/>
                      <a:r>
                        <a:rPr sz="1400" b="0">
                          <a:solidFill>
                            <a:srgbClr val="1E293B"/>
                          </a:solidFill>
                          <a:latin typeface="Calibri"/>
                        </a:rPr>
                        <a:t>Happy</a:t>
                      </a:r>
                    </a:p>
                  </a:txBody>
                  <a:tcPr marT="36576" marB="36576" anchor="ctr">
                    <a:solidFill>
                      <a:srgbClr val="F2F4F9"/>
                    </a:solidFill>
                  </a:tcPr>
                </a:tc>
                <a:tc>
                  <a:txBody>
                    <a:bodyPr/>
                    <a:lstStyle/>
                    <a:p>
                      <a:pPr algn="l"/>
                      <a:r>
                        <a:rPr sz="1400" b="0">
                          <a:solidFill>
                            <a:srgbClr val="1E293B"/>
                          </a:solidFill>
                          <a:latin typeface="Calibri"/>
                        </a:rPr>
                        <a:t>0.653</a:t>
                      </a:r>
                    </a:p>
                  </a:txBody>
                  <a:tcPr marT="36576" marB="36576" anchor="ctr">
                    <a:solidFill>
                      <a:srgbClr val="F2F4F9"/>
                    </a:solidFill>
                  </a:tcPr>
                </a:tc>
                <a:tc>
                  <a:txBody>
                    <a:bodyPr/>
                    <a:lstStyle/>
                    <a:p>
                      <a:pPr algn="l"/>
                      <a:r>
                        <a:rPr sz="1400" b="0">
                          <a:solidFill>
                            <a:srgbClr val="1E293B"/>
                          </a:solidFill>
                          <a:latin typeface="Calibri"/>
                        </a:rPr>
                        <a:t>0.573</a:t>
                      </a:r>
                    </a:p>
                  </a:txBody>
                  <a:tcPr marT="36576" marB="36576" anchor="ctr">
                    <a:solidFill>
                      <a:srgbClr val="F2F4F9"/>
                    </a:solidFill>
                  </a:tcPr>
                </a:tc>
                <a:tc>
                  <a:txBody>
                    <a:bodyPr/>
                    <a:lstStyle/>
                    <a:p>
                      <a:pPr algn="l"/>
                      <a:r>
                        <a:rPr sz="1400" b="0">
                          <a:solidFill>
                            <a:srgbClr val="1E293B"/>
                          </a:solidFill>
                          <a:latin typeface="Calibri"/>
                        </a:rPr>
                        <a:t>0.610</a:t>
                      </a:r>
                    </a:p>
                  </a:txBody>
                  <a:tcPr marT="36576" marB="36576" anchor="ctr">
                    <a:solidFill>
                      <a:srgbClr val="F2F4F9"/>
                    </a:solidFill>
                  </a:tcPr>
                </a:tc>
                <a:tc>
                  <a:txBody>
                    <a:bodyPr/>
                    <a:lstStyle/>
                    <a:p>
                      <a:pPr algn="l"/>
                      <a:r>
                        <a:rPr sz="1400" b="0">
                          <a:solidFill>
                            <a:srgbClr val="1E293B"/>
                          </a:solidFill>
                          <a:latin typeface="Calibri"/>
                        </a:rPr>
                        <a:t>82</a:t>
                      </a:r>
                    </a:p>
                  </a:txBody>
                  <a:tcPr marT="36576" marB="36576" anchor="ctr">
                    <a:solidFill>
                      <a:srgbClr val="F2F4F9"/>
                    </a:solidFill>
                  </a:tcPr>
                </a:tc>
                <a:extLst>
                  <a:ext uri="{0D108BD9-81ED-4DB2-BD59-A6C34878D82A}">
                    <a16:rowId xmlns:a16="http://schemas.microsoft.com/office/drawing/2014/main" val="10004"/>
                  </a:ext>
                </a:extLst>
              </a:tr>
              <a:tr h="429768">
                <a:tc>
                  <a:txBody>
                    <a:bodyPr/>
                    <a:lstStyle/>
                    <a:p>
                      <a:pPr algn="l"/>
                      <a:r>
                        <a:rPr sz="1400" b="1">
                          <a:solidFill>
                            <a:srgbClr val="1E293B"/>
                          </a:solidFill>
                          <a:latin typeface="Calibri"/>
                        </a:rPr>
                        <a:t>GPT-4o-mini</a:t>
                      </a:r>
                    </a:p>
                  </a:txBody>
                  <a:tcPr marT="36576" marB="36576" anchor="ctr">
                    <a:solidFill>
                      <a:srgbClr val="FBF3DF"/>
                    </a:solidFill>
                  </a:tcPr>
                </a:tc>
                <a:tc>
                  <a:txBody>
                    <a:bodyPr/>
                    <a:lstStyle/>
                    <a:p>
                      <a:pPr algn="l"/>
                      <a:r>
                        <a:rPr sz="1400" b="0">
                          <a:solidFill>
                            <a:srgbClr val="1E293B"/>
                          </a:solidFill>
                          <a:latin typeface="Calibri"/>
                        </a:rPr>
                        <a:t>Not happy</a:t>
                      </a:r>
                    </a:p>
                  </a:txBody>
                  <a:tcPr marT="36576" marB="36576" anchor="ctr">
                    <a:solidFill>
                      <a:srgbClr val="FBF3DF"/>
                    </a:solidFill>
                  </a:tcPr>
                </a:tc>
                <a:tc>
                  <a:txBody>
                    <a:bodyPr/>
                    <a:lstStyle/>
                    <a:p>
                      <a:pPr algn="l"/>
                      <a:r>
                        <a:rPr sz="1400" b="0">
                          <a:solidFill>
                            <a:srgbClr val="1E293B"/>
                          </a:solidFill>
                          <a:latin typeface="Calibri"/>
                        </a:rPr>
                        <a:t>0.747</a:t>
                      </a:r>
                    </a:p>
                  </a:txBody>
                  <a:tcPr marT="36576" marB="36576" anchor="ctr">
                    <a:solidFill>
                      <a:srgbClr val="FBF3DF"/>
                    </a:solidFill>
                  </a:tcPr>
                </a:tc>
                <a:tc>
                  <a:txBody>
                    <a:bodyPr/>
                    <a:lstStyle/>
                    <a:p>
                      <a:pPr algn="l"/>
                      <a:r>
                        <a:rPr sz="1400" b="0">
                          <a:solidFill>
                            <a:srgbClr val="1E293B"/>
                          </a:solidFill>
                          <a:latin typeface="Calibri"/>
                        </a:rPr>
                        <a:t>0.747</a:t>
                      </a:r>
                    </a:p>
                  </a:txBody>
                  <a:tcPr marT="36576" marB="36576" anchor="ctr">
                    <a:solidFill>
                      <a:srgbClr val="FBF3DF"/>
                    </a:solidFill>
                  </a:tcPr>
                </a:tc>
                <a:tc>
                  <a:txBody>
                    <a:bodyPr/>
                    <a:lstStyle/>
                    <a:p>
                      <a:pPr algn="l"/>
                      <a:r>
                        <a:rPr sz="1400" b="0">
                          <a:solidFill>
                            <a:srgbClr val="1E293B"/>
                          </a:solidFill>
                          <a:latin typeface="Calibri"/>
                        </a:rPr>
                        <a:t>0.747</a:t>
                      </a:r>
                    </a:p>
                  </a:txBody>
                  <a:tcPr marT="36576" marB="36576" anchor="ctr">
                    <a:solidFill>
                      <a:srgbClr val="FBF3DF"/>
                    </a:solidFill>
                  </a:tcPr>
                </a:tc>
                <a:tc>
                  <a:txBody>
                    <a:bodyPr/>
                    <a:lstStyle/>
                    <a:p>
                      <a:pPr algn="l"/>
                      <a:r>
                        <a:rPr sz="1400" b="0">
                          <a:solidFill>
                            <a:srgbClr val="1E293B"/>
                          </a:solidFill>
                          <a:latin typeface="Calibri"/>
                        </a:rPr>
                        <a:t>186</a:t>
                      </a:r>
                    </a:p>
                  </a:txBody>
                  <a:tcPr marT="36576" marB="36576" anchor="ctr">
                    <a:solidFill>
                      <a:srgbClr val="FBF3DF"/>
                    </a:solidFill>
                  </a:tcPr>
                </a:tc>
                <a:extLst>
                  <a:ext uri="{0D108BD9-81ED-4DB2-BD59-A6C34878D82A}">
                    <a16:rowId xmlns:a16="http://schemas.microsoft.com/office/drawing/2014/main" val="10005"/>
                  </a:ext>
                </a:extLst>
              </a:tr>
              <a:tr h="429768">
                <a:tc>
                  <a:txBody>
                    <a:bodyPr/>
                    <a:lstStyle/>
                    <a:p>
                      <a:pPr algn="l"/>
                      <a:r>
                        <a:rPr sz="1400" b="0">
                          <a:solidFill>
                            <a:srgbClr val="1E293B"/>
                          </a:solidFill>
                          <a:latin typeface="Calibri"/>
                        </a:rPr>
                        <a:t>GPT-4o-mini</a:t>
                      </a:r>
                    </a:p>
                  </a:txBody>
                  <a:tcPr marT="36576" marB="36576" anchor="ctr">
                    <a:solidFill>
                      <a:srgbClr val="F2F4F9"/>
                    </a:solidFill>
                  </a:tcPr>
                </a:tc>
                <a:tc>
                  <a:txBody>
                    <a:bodyPr/>
                    <a:lstStyle/>
                    <a:p>
                      <a:pPr algn="l"/>
                      <a:r>
                        <a:rPr sz="1400" b="0">
                          <a:solidFill>
                            <a:srgbClr val="1E293B"/>
                          </a:solidFill>
                          <a:latin typeface="Calibri"/>
                        </a:rPr>
                        <a:t>Neutral</a:t>
                      </a:r>
                    </a:p>
                  </a:txBody>
                  <a:tcPr marT="36576" marB="36576" anchor="ctr">
                    <a:solidFill>
                      <a:srgbClr val="F2F4F9"/>
                    </a:solidFill>
                  </a:tcPr>
                </a:tc>
                <a:tc>
                  <a:txBody>
                    <a:bodyPr/>
                    <a:lstStyle/>
                    <a:p>
                      <a:pPr algn="l"/>
                      <a:r>
                        <a:rPr sz="1400" b="0">
                          <a:solidFill>
                            <a:srgbClr val="1E293B"/>
                          </a:solidFill>
                          <a:latin typeface="Calibri"/>
                        </a:rPr>
                        <a:t>0.545</a:t>
                      </a:r>
                    </a:p>
                  </a:txBody>
                  <a:tcPr marT="36576" marB="36576" anchor="ctr">
                    <a:solidFill>
                      <a:srgbClr val="F2F4F9"/>
                    </a:solidFill>
                  </a:tcPr>
                </a:tc>
                <a:tc>
                  <a:txBody>
                    <a:bodyPr/>
                    <a:lstStyle/>
                    <a:p>
                      <a:pPr algn="l"/>
                      <a:r>
                        <a:rPr sz="1400" b="0">
                          <a:solidFill>
                            <a:srgbClr val="1E293B"/>
                          </a:solidFill>
                          <a:latin typeface="Calibri"/>
                        </a:rPr>
                        <a:t>0.589</a:t>
                      </a:r>
                    </a:p>
                  </a:txBody>
                  <a:tcPr marT="36576" marB="36576" anchor="ctr">
                    <a:solidFill>
                      <a:srgbClr val="F2F4F9"/>
                    </a:solidFill>
                  </a:tcPr>
                </a:tc>
                <a:tc>
                  <a:txBody>
                    <a:bodyPr/>
                    <a:lstStyle/>
                    <a:p>
                      <a:pPr algn="l"/>
                      <a:r>
                        <a:rPr sz="1400" b="0">
                          <a:solidFill>
                            <a:srgbClr val="1E293B"/>
                          </a:solidFill>
                          <a:latin typeface="Calibri"/>
                        </a:rPr>
                        <a:t>0.566</a:t>
                      </a:r>
                    </a:p>
                  </a:txBody>
                  <a:tcPr marT="36576" marB="36576" anchor="ctr">
                    <a:solidFill>
                      <a:srgbClr val="F2F4F9"/>
                    </a:solidFill>
                  </a:tcPr>
                </a:tc>
                <a:tc>
                  <a:txBody>
                    <a:bodyPr/>
                    <a:lstStyle/>
                    <a:p>
                      <a:pPr algn="l"/>
                      <a:r>
                        <a:rPr sz="1400" b="0">
                          <a:solidFill>
                            <a:srgbClr val="1E293B"/>
                          </a:solidFill>
                          <a:latin typeface="Calibri"/>
                        </a:rPr>
                        <a:t>124</a:t>
                      </a:r>
                    </a:p>
                  </a:txBody>
                  <a:tcPr marT="36576" marB="36576" anchor="ctr">
                    <a:solidFill>
                      <a:srgbClr val="F2F4F9"/>
                    </a:solidFill>
                  </a:tcPr>
                </a:tc>
                <a:extLst>
                  <a:ext uri="{0D108BD9-81ED-4DB2-BD59-A6C34878D82A}">
                    <a16:rowId xmlns:a16="http://schemas.microsoft.com/office/drawing/2014/main" val="10006"/>
                  </a:ext>
                </a:extLst>
              </a:tr>
              <a:tr h="429768">
                <a:tc>
                  <a:txBody>
                    <a:bodyPr/>
                    <a:lstStyle/>
                    <a:p>
                      <a:pPr algn="l"/>
                      <a:r>
                        <a:rPr sz="1400" b="0">
                          <a:solidFill>
                            <a:srgbClr val="1E293B"/>
                          </a:solidFill>
                          <a:latin typeface="Calibri"/>
                        </a:rPr>
                        <a:t>GPT-4o</a:t>
                      </a:r>
                    </a:p>
                  </a:txBody>
                  <a:tcPr marT="36576" marB="36576" anchor="ctr">
                    <a:solidFill>
                      <a:srgbClr val="FFFFFF"/>
                    </a:solidFill>
                  </a:tcPr>
                </a:tc>
                <a:tc>
                  <a:txBody>
                    <a:bodyPr/>
                    <a:lstStyle/>
                    <a:p>
                      <a:pPr algn="l"/>
                      <a:r>
                        <a:rPr sz="1400" b="0">
                          <a:solidFill>
                            <a:srgbClr val="1E293B"/>
                          </a:solidFill>
                          <a:latin typeface="Calibri"/>
                        </a:rPr>
                        <a:t>Happy</a:t>
                      </a:r>
                    </a:p>
                  </a:txBody>
                  <a:tcPr marT="36576" marB="36576" anchor="ctr">
                    <a:solidFill>
                      <a:srgbClr val="FFFFFF"/>
                    </a:solidFill>
                  </a:tcPr>
                </a:tc>
                <a:tc>
                  <a:txBody>
                    <a:bodyPr/>
                    <a:lstStyle/>
                    <a:p>
                      <a:pPr algn="l"/>
                      <a:r>
                        <a:rPr sz="1400" b="0">
                          <a:solidFill>
                            <a:srgbClr val="1E293B"/>
                          </a:solidFill>
                          <a:latin typeface="Calibri"/>
                        </a:rPr>
                        <a:t>0.775</a:t>
                      </a:r>
                    </a:p>
                  </a:txBody>
                  <a:tcPr marT="36576" marB="36576" anchor="ctr">
                    <a:solidFill>
                      <a:srgbClr val="FFFFFF"/>
                    </a:solidFill>
                  </a:tcPr>
                </a:tc>
                <a:tc>
                  <a:txBody>
                    <a:bodyPr/>
                    <a:lstStyle/>
                    <a:p>
                      <a:pPr algn="l"/>
                      <a:r>
                        <a:rPr sz="1400" b="0">
                          <a:solidFill>
                            <a:srgbClr val="1E293B"/>
                          </a:solidFill>
                          <a:latin typeface="Calibri"/>
                        </a:rPr>
                        <a:t>0.378</a:t>
                      </a:r>
                    </a:p>
                  </a:txBody>
                  <a:tcPr marT="36576" marB="36576" anchor="ctr">
                    <a:solidFill>
                      <a:srgbClr val="FFFFFF"/>
                    </a:solidFill>
                  </a:tcPr>
                </a:tc>
                <a:tc>
                  <a:txBody>
                    <a:bodyPr/>
                    <a:lstStyle/>
                    <a:p>
                      <a:pPr algn="l"/>
                      <a:r>
                        <a:rPr sz="1400" b="0">
                          <a:solidFill>
                            <a:srgbClr val="1E293B"/>
                          </a:solidFill>
                          <a:latin typeface="Calibri"/>
                        </a:rPr>
                        <a:t>0.508</a:t>
                      </a:r>
                    </a:p>
                  </a:txBody>
                  <a:tcPr marT="36576" marB="36576" anchor="ctr">
                    <a:solidFill>
                      <a:srgbClr val="FFFFFF"/>
                    </a:solidFill>
                  </a:tcPr>
                </a:tc>
                <a:tc>
                  <a:txBody>
                    <a:bodyPr/>
                    <a:lstStyle/>
                    <a:p>
                      <a:pPr algn="l"/>
                      <a:r>
                        <a:rPr sz="1400" b="0">
                          <a:solidFill>
                            <a:srgbClr val="1E293B"/>
                          </a:solidFill>
                          <a:latin typeface="Calibri"/>
                        </a:rPr>
                        <a:t>82</a:t>
                      </a:r>
                    </a:p>
                  </a:txBody>
                  <a:tcPr marT="36576" marB="36576" anchor="ctr">
                    <a:solidFill>
                      <a:srgbClr val="FFFFFF"/>
                    </a:solidFill>
                  </a:tcPr>
                </a:tc>
                <a:extLst>
                  <a:ext uri="{0D108BD9-81ED-4DB2-BD59-A6C34878D82A}">
                    <a16:rowId xmlns:a16="http://schemas.microsoft.com/office/drawing/2014/main" val="10007"/>
                  </a:ext>
                </a:extLst>
              </a:tr>
              <a:tr h="429768">
                <a:tc>
                  <a:txBody>
                    <a:bodyPr/>
                    <a:lstStyle/>
                    <a:p>
                      <a:pPr algn="l"/>
                      <a:r>
                        <a:rPr sz="1400" b="0">
                          <a:solidFill>
                            <a:srgbClr val="1E293B"/>
                          </a:solidFill>
                          <a:latin typeface="Calibri"/>
                        </a:rPr>
                        <a:t>GPT-4o</a:t>
                      </a:r>
                    </a:p>
                  </a:txBody>
                  <a:tcPr marT="36576" marB="36576" anchor="ctr">
                    <a:solidFill>
                      <a:srgbClr val="F2F4F9"/>
                    </a:solidFill>
                  </a:tcPr>
                </a:tc>
                <a:tc>
                  <a:txBody>
                    <a:bodyPr/>
                    <a:lstStyle/>
                    <a:p>
                      <a:pPr algn="l"/>
                      <a:r>
                        <a:rPr sz="1400" b="0">
                          <a:solidFill>
                            <a:srgbClr val="1E293B"/>
                          </a:solidFill>
                          <a:latin typeface="Calibri"/>
                        </a:rPr>
                        <a:t>Not happy</a:t>
                      </a:r>
                    </a:p>
                  </a:txBody>
                  <a:tcPr marT="36576" marB="36576" anchor="ctr">
                    <a:solidFill>
                      <a:srgbClr val="F2F4F9"/>
                    </a:solidFill>
                  </a:tcPr>
                </a:tc>
                <a:tc>
                  <a:txBody>
                    <a:bodyPr/>
                    <a:lstStyle/>
                    <a:p>
                      <a:pPr algn="l"/>
                      <a:r>
                        <a:rPr sz="1400" b="0">
                          <a:solidFill>
                            <a:srgbClr val="1E293B"/>
                          </a:solidFill>
                          <a:latin typeface="Calibri"/>
                        </a:rPr>
                        <a:t>0.743</a:t>
                      </a:r>
                    </a:p>
                  </a:txBody>
                  <a:tcPr marT="36576" marB="36576" anchor="ctr">
                    <a:solidFill>
                      <a:srgbClr val="F2F4F9"/>
                    </a:solidFill>
                  </a:tcPr>
                </a:tc>
                <a:tc>
                  <a:txBody>
                    <a:bodyPr/>
                    <a:lstStyle/>
                    <a:p>
                      <a:pPr algn="l"/>
                      <a:r>
                        <a:rPr sz="1400" b="0">
                          <a:solidFill>
                            <a:srgbClr val="1E293B"/>
                          </a:solidFill>
                          <a:latin typeface="Calibri"/>
                        </a:rPr>
                        <a:t>0.768</a:t>
                      </a:r>
                    </a:p>
                  </a:txBody>
                  <a:tcPr marT="36576" marB="36576" anchor="ctr">
                    <a:solidFill>
                      <a:srgbClr val="F2F4F9"/>
                    </a:solidFill>
                  </a:tcPr>
                </a:tc>
                <a:tc>
                  <a:txBody>
                    <a:bodyPr/>
                    <a:lstStyle/>
                    <a:p>
                      <a:pPr algn="l"/>
                      <a:r>
                        <a:rPr sz="1400" b="0">
                          <a:solidFill>
                            <a:srgbClr val="1E293B"/>
                          </a:solidFill>
                          <a:latin typeface="Calibri"/>
                        </a:rPr>
                        <a:t>0.755</a:t>
                      </a:r>
                    </a:p>
                  </a:txBody>
                  <a:tcPr marT="36576" marB="36576" anchor="ctr">
                    <a:solidFill>
                      <a:srgbClr val="F2F4F9"/>
                    </a:solidFill>
                  </a:tcPr>
                </a:tc>
                <a:tc>
                  <a:txBody>
                    <a:bodyPr/>
                    <a:lstStyle/>
                    <a:p>
                      <a:pPr algn="l"/>
                      <a:r>
                        <a:rPr sz="1400" b="0">
                          <a:solidFill>
                            <a:srgbClr val="1E293B"/>
                          </a:solidFill>
                          <a:latin typeface="Calibri"/>
                        </a:rPr>
                        <a:t>185</a:t>
                      </a:r>
                    </a:p>
                  </a:txBody>
                  <a:tcPr marT="36576" marB="36576" anchor="ctr">
                    <a:solidFill>
                      <a:srgbClr val="F2F4F9"/>
                    </a:solidFill>
                  </a:tcPr>
                </a:tc>
                <a:extLst>
                  <a:ext uri="{0D108BD9-81ED-4DB2-BD59-A6C34878D82A}">
                    <a16:rowId xmlns:a16="http://schemas.microsoft.com/office/drawing/2014/main" val="10008"/>
                  </a:ext>
                </a:extLst>
              </a:tr>
              <a:tr h="429768">
                <a:tc>
                  <a:txBody>
                    <a:bodyPr/>
                    <a:lstStyle/>
                    <a:p>
                      <a:pPr algn="l"/>
                      <a:r>
                        <a:rPr sz="1400" b="0">
                          <a:solidFill>
                            <a:srgbClr val="1E293B"/>
                          </a:solidFill>
                          <a:latin typeface="Calibri"/>
                        </a:rPr>
                        <a:t>GPT-4o</a:t>
                      </a:r>
                    </a:p>
                  </a:txBody>
                  <a:tcPr marT="36576" marB="36576" anchor="ctr">
                    <a:solidFill>
                      <a:srgbClr val="FFFFFF"/>
                    </a:solidFill>
                  </a:tcPr>
                </a:tc>
                <a:tc>
                  <a:txBody>
                    <a:bodyPr/>
                    <a:lstStyle/>
                    <a:p>
                      <a:pPr algn="l"/>
                      <a:r>
                        <a:rPr sz="1400" b="0">
                          <a:solidFill>
                            <a:srgbClr val="1E293B"/>
                          </a:solidFill>
                          <a:latin typeface="Calibri"/>
                        </a:rPr>
                        <a:t>Neutral</a:t>
                      </a:r>
                    </a:p>
                  </a:txBody>
                  <a:tcPr marT="36576" marB="36576" anchor="ctr">
                    <a:solidFill>
                      <a:srgbClr val="FFFFFF"/>
                    </a:solidFill>
                  </a:tcPr>
                </a:tc>
                <a:tc>
                  <a:txBody>
                    <a:bodyPr/>
                    <a:lstStyle/>
                    <a:p>
                      <a:pPr algn="l"/>
                      <a:r>
                        <a:rPr sz="1400" b="0">
                          <a:solidFill>
                            <a:srgbClr val="1E293B"/>
                          </a:solidFill>
                          <a:latin typeface="Calibri"/>
                        </a:rPr>
                        <a:t>0.503</a:t>
                      </a:r>
                    </a:p>
                  </a:txBody>
                  <a:tcPr marT="36576" marB="36576" anchor="ctr">
                    <a:solidFill>
                      <a:srgbClr val="FFFFFF"/>
                    </a:solidFill>
                  </a:tcPr>
                </a:tc>
                <a:tc>
                  <a:txBody>
                    <a:bodyPr/>
                    <a:lstStyle/>
                    <a:p>
                      <a:pPr algn="l"/>
                      <a:r>
                        <a:rPr sz="1400" b="0">
                          <a:solidFill>
                            <a:srgbClr val="1E293B"/>
                          </a:solidFill>
                          <a:latin typeface="Calibri"/>
                        </a:rPr>
                        <a:t>0.653</a:t>
                      </a:r>
                    </a:p>
                  </a:txBody>
                  <a:tcPr marT="36576" marB="36576" anchor="ctr">
                    <a:solidFill>
                      <a:srgbClr val="FFFFFF"/>
                    </a:solidFill>
                  </a:tcPr>
                </a:tc>
                <a:tc>
                  <a:txBody>
                    <a:bodyPr/>
                    <a:lstStyle/>
                    <a:p>
                      <a:pPr algn="l"/>
                      <a:r>
                        <a:rPr sz="1400" b="0">
                          <a:solidFill>
                            <a:srgbClr val="1E293B"/>
                          </a:solidFill>
                          <a:latin typeface="Calibri"/>
                        </a:rPr>
                        <a:t>0.568</a:t>
                      </a:r>
                    </a:p>
                  </a:txBody>
                  <a:tcPr marT="36576" marB="36576" anchor="ctr">
                    <a:solidFill>
                      <a:srgbClr val="FFFFFF"/>
                    </a:solidFill>
                  </a:tcPr>
                </a:tc>
                <a:tc>
                  <a:txBody>
                    <a:bodyPr/>
                    <a:lstStyle/>
                    <a:p>
                      <a:pPr algn="l"/>
                      <a:r>
                        <a:rPr sz="1400" b="0">
                          <a:solidFill>
                            <a:srgbClr val="1E293B"/>
                          </a:solidFill>
                          <a:latin typeface="Calibri"/>
                        </a:rPr>
                        <a:t>121</a:t>
                      </a:r>
                    </a:p>
                  </a:txBody>
                  <a:tcPr marT="36576" marB="36576" anchor="ctr">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B4FE177-A874-9BEA-8275-14B82EE79B9E}"/>
              </a:ext>
            </a:extLst>
          </p:cNvPr>
          <p:cNvSpPr txBox="1"/>
          <p:nvPr/>
        </p:nvSpPr>
        <p:spPr>
          <a:xfrm>
            <a:off x="5069797" y="465644"/>
            <a:ext cx="6840000" cy="350865"/>
          </a:xfrm>
          <a:prstGeom prst="rect">
            <a:avLst/>
          </a:prstGeom>
          <a:noFill/>
        </p:spPr>
        <p:txBody>
          <a:bodyPr wrap="square" lIns="0" tIns="0" rIns="0" bIns="0" anchor="ctr">
            <a:spAutoFit/>
          </a:bodyPr>
          <a:lstStyle/>
          <a:p>
            <a:pPr algn="l">
              <a:lnSpc>
                <a:spcPct val="95000"/>
              </a:lnSpc>
              <a:spcAft>
                <a:spcPts val="0"/>
              </a:spcAft>
            </a:pPr>
            <a:r>
              <a:rPr sz="2400" b="1" i="0" dirty="0">
                <a:solidFill>
                  <a:srgbClr val="1C2E6E"/>
                </a:solidFill>
                <a:latin typeface="Calibri"/>
              </a:rPr>
              <a:t>Backup</a:t>
            </a:r>
            <a:r>
              <a:rPr lang="en-US" sz="2400" b="1" i="0" dirty="0">
                <a:solidFill>
                  <a:srgbClr val="1C2E6E"/>
                </a:solidFill>
                <a:latin typeface="Calibri"/>
              </a:rPr>
              <a:t>: M</a:t>
            </a:r>
            <a:r>
              <a:rPr lang="en-US" sz="2400" b="1" dirty="0">
                <a:solidFill>
                  <a:srgbClr val="1C2E6E"/>
                </a:solidFill>
                <a:latin typeface="Calibri"/>
              </a:rPr>
              <a:t>ulti </a:t>
            </a:r>
            <a:r>
              <a:rPr lang="en-US" sz="2400" b="1" dirty="0" err="1">
                <a:solidFill>
                  <a:srgbClr val="1C2E6E"/>
                </a:solidFill>
                <a:latin typeface="Calibri"/>
              </a:rPr>
              <a:t>labelas</a:t>
            </a:r>
            <a:endParaRPr sz="2400" b="1" i="0" dirty="0">
              <a:solidFill>
                <a:srgbClr val="1C2E6E"/>
              </a:solidFill>
              <a:latin typeface="Calibri"/>
            </a:endParaRPr>
          </a:p>
        </p:txBody>
      </p:sp>
      <p:sp>
        <p:nvSpPr>
          <p:cNvPr id="7" name="TextBox 6">
            <a:extLst>
              <a:ext uri="{FF2B5EF4-FFF2-40B4-BE49-F238E27FC236}">
                <a16:creationId xmlns:a16="http://schemas.microsoft.com/office/drawing/2014/main" id="{46E1083B-98D4-CF24-705B-F2C7A29B91C1}"/>
              </a:ext>
            </a:extLst>
          </p:cNvPr>
          <p:cNvSpPr txBox="1"/>
          <p:nvPr/>
        </p:nvSpPr>
        <p:spPr>
          <a:xfrm>
            <a:off x="422031" y="1497084"/>
            <a:ext cx="689317" cy="353943"/>
          </a:xfrm>
          <a:prstGeom prst="rect">
            <a:avLst/>
          </a:prstGeom>
          <a:noFill/>
        </p:spPr>
        <p:txBody>
          <a:bodyPr wrap="square">
            <a:spAutoFit/>
          </a:bodyPr>
          <a:lstStyle/>
          <a:p>
            <a:r>
              <a:rPr lang="en-US" sz="1700" b="1" i="0" dirty="0">
                <a:solidFill>
                  <a:srgbClr val="1C2E6E"/>
                </a:solidFill>
                <a:latin typeface="Calibri"/>
              </a:rPr>
              <a:t>_</a:t>
            </a:r>
            <a:endParaRPr lang="en-US" dirty="0"/>
          </a:p>
        </p:txBody>
      </p:sp>
      <p:sp>
        <p:nvSpPr>
          <p:cNvPr id="11" name="TextBox 10">
            <a:extLst>
              <a:ext uri="{FF2B5EF4-FFF2-40B4-BE49-F238E27FC236}">
                <a16:creationId xmlns:a16="http://schemas.microsoft.com/office/drawing/2014/main" id="{A9C59B15-8006-C6BD-537B-DBB57188C710}"/>
              </a:ext>
            </a:extLst>
          </p:cNvPr>
          <p:cNvSpPr txBox="1"/>
          <p:nvPr/>
        </p:nvSpPr>
        <p:spPr>
          <a:xfrm>
            <a:off x="984738" y="1497084"/>
            <a:ext cx="10426505" cy="4524315"/>
          </a:xfrm>
          <a:prstGeom prst="rect">
            <a:avLst/>
          </a:prstGeom>
          <a:noFill/>
        </p:spPr>
        <p:txBody>
          <a:bodyPr wrap="square">
            <a:spAutoFit/>
          </a:bodyPr>
          <a:lstStyle/>
          <a:p>
            <a:pPr lvl="0"/>
            <a:r>
              <a:rPr lang="en-US" b="1" i="0" kern="1200" dirty="0">
                <a:solidFill>
                  <a:schemeClr val="tx1"/>
                </a:solidFill>
                <a:effectLst/>
                <a:latin typeface="+mn-lt"/>
                <a:ea typeface="+mn-ea"/>
                <a:cs typeface="+mn-cs"/>
              </a:rPr>
              <a:t>Sentiment:</a:t>
            </a:r>
            <a:r>
              <a:rPr lang="en-US" b="0" i="0" kern="1200" dirty="0">
                <a:solidFill>
                  <a:schemeClr val="tx1"/>
                </a:solidFill>
                <a:effectLst/>
                <a:latin typeface="+mn-lt"/>
                <a:ea typeface="+mn-ea"/>
                <a:cs typeface="+mn-cs"/>
              </a:rPr>
              <a:t> GPT-4o-mini (and your gold labels) give the whole post one label. If the tone is mixed, the post gets whichever tone dominates, or "neutral" if neither does.</a:t>
            </a:r>
          </a:p>
          <a:p>
            <a:pPr lvl="0"/>
            <a:r>
              <a:rPr lang="en-US" b="1" i="0" kern="1200" dirty="0">
                <a:solidFill>
                  <a:schemeClr val="tx1"/>
                </a:solidFill>
                <a:effectLst/>
                <a:latin typeface="+mn-lt"/>
                <a:ea typeface="+mn-ea"/>
                <a:cs typeface="+mn-cs"/>
              </a:rPr>
              <a:t>Issues and brands:</a:t>
            </a:r>
            <a:r>
              <a:rPr lang="en-US" b="0" i="0" kern="1200" dirty="0">
                <a:solidFill>
                  <a:schemeClr val="tx1"/>
                </a:solidFill>
                <a:effectLst/>
                <a:latin typeface="+mn-lt"/>
                <a:ea typeface="+mn-ea"/>
                <a:cs typeface="+mn-cs"/>
              </a:rPr>
              <a:t> a post keeps every issue and brand it mentions.</a:t>
            </a:r>
          </a:p>
          <a:p>
            <a:pPr lvl="0"/>
            <a:r>
              <a:rPr lang="en-US" b="1" i="0" kern="1200" dirty="0">
                <a:solidFill>
                  <a:schemeClr val="tx1"/>
                </a:solidFill>
                <a:effectLst/>
                <a:latin typeface="+mn-lt"/>
                <a:ea typeface="+mn-ea"/>
                <a:cs typeface="+mn-cs"/>
              </a:rPr>
              <a:t>Breakdowns:</a:t>
            </a:r>
            <a:r>
              <a:rPr lang="en-US" b="0" i="0" kern="1200" dirty="0">
                <a:solidFill>
                  <a:schemeClr val="tx1"/>
                </a:solidFill>
                <a:effectLst/>
                <a:latin typeface="+mn-lt"/>
                <a:ea typeface="+mn-ea"/>
                <a:cs typeface="+mn-cs"/>
              </a:rPr>
              <a:t> when you split results by issue or by brand, that one sentiment is counted under each label the post carries.</a:t>
            </a:r>
          </a:p>
          <a:p>
            <a:pPr lvl="0"/>
            <a:endParaRPr lang="en-US" dirty="0"/>
          </a:p>
          <a:p>
            <a:r>
              <a:rPr lang="en-US" dirty="0"/>
              <a:t>Take a post that says "Singtel roaming worked great in Japan, but they overcharged my bill." It gets one sentiment, probably "not happy", plus Roaming, Billing &amp; Payment and Singtel. In the breakdowns, Roaming gets a not-happy post it doesn't deserve, and so does Billing.</a:t>
            </a:r>
          </a:p>
          <a:p>
            <a:r>
              <a:rPr lang="en-US" dirty="0"/>
              <a:t>What that does to your results:</a:t>
            </a:r>
          </a:p>
          <a:p>
            <a:endParaRPr lang="en-US" dirty="0"/>
          </a:p>
          <a:p>
            <a:pPr lvl="0"/>
            <a:r>
              <a:rPr lang="en-US" b="1" dirty="0"/>
              <a:t>Headline shares are unaffected.</a:t>
            </a:r>
            <a:r>
              <a:rPr lang="en-US" dirty="0"/>
              <a:t> The overall 44% not happy counts each post once, and so do the main-issue shares on slide 9.</a:t>
            </a:r>
          </a:p>
          <a:p>
            <a:pPr lvl="0"/>
            <a:endParaRPr lang="en-US" dirty="0"/>
          </a:p>
          <a:p>
            <a:pPr lvl="0"/>
            <a:endParaRPr lang="en-US" dirty="0"/>
          </a:p>
          <a:p>
            <a:pPr lvl="0"/>
            <a:endParaRPr lang="en-US"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5212501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112000" y="475199"/>
            <a:ext cx="6840000" cy="828000"/>
          </a:xfrm>
          <a:prstGeom prst="rect">
            <a:avLst/>
          </a:prstGeom>
          <a:noFill/>
        </p:spPr>
        <p:txBody>
          <a:bodyPr wrap="square" lIns="0" tIns="0" rIns="0" bIns="0" anchor="ctr">
            <a:spAutoFit/>
          </a:bodyPr>
          <a:lstStyle/>
          <a:p>
            <a:pPr algn="l">
              <a:lnSpc>
                <a:spcPct val="95000"/>
              </a:lnSpc>
              <a:spcAft>
                <a:spcPts val="0"/>
              </a:spcAft>
            </a:pPr>
            <a:r>
              <a:rPr sz="2400" b="1" i="0" dirty="0">
                <a:solidFill>
                  <a:srgbClr val="1C2E6E"/>
                </a:solidFill>
                <a:latin typeface="Calibri"/>
              </a:rPr>
              <a:t>I split labels wherever a different team fixes it</a:t>
            </a:r>
          </a:p>
        </p:txBody>
      </p:sp>
      <p:sp>
        <p:nvSpPr>
          <p:cNvPr id="3" name="TextBox 2"/>
          <p:cNvSpPr txBox="1"/>
          <p:nvPr/>
        </p:nvSpPr>
        <p:spPr>
          <a:xfrm>
            <a:off x="11155680" y="6446520"/>
            <a:ext cx="548640" cy="274320"/>
          </a:xfrm>
          <a:prstGeom prst="rect">
            <a:avLst/>
          </a:prstGeom>
          <a:noFill/>
        </p:spPr>
        <p:txBody>
          <a:bodyPr wrap="square" lIns="0" tIns="0" rIns="0" bIns="0" anchor="t">
            <a:spAutoFit/>
          </a:bodyPr>
          <a:lstStyle/>
          <a:p>
            <a:pPr algn="r">
              <a:spcAft>
                <a:spcPts val="600"/>
              </a:spcAft>
            </a:pPr>
            <a:r>
              <a:rPr sz="1000" b="0" i="0">
                <a:solidFill>
                  <a:srgbClr val="5B6475"/>
                </a:solidFill>
                <a:latin typeface="Calibri"/>
              </a:rPr>
              <a:t>10</a:t>
            </a:r>
          </a:p>
        </p:txBody>
      </p:sp>
      <p:sp>
        <p:nvSpPr>
          <p:cNvPr id="4" name="TextBox 3"/>
          <p:cNvSpPr txBox="1"/>
          <p:nvPr/>
        </p:nvSpPr>
        <p:spPr>
          <a:xfrm>
            <a:off x="548640" y="1737360"/>
            <a:ext cx="5486400" cy="365760"/>
          </a:xfrm>
          <a:prstGeom prst="rect">
            <a:avLst/>
          </a:prstGeom>
          <a:noFill/>
        </p:spPr>
        <p:txBody>
          <a:bodyPr wrap="square" lIns="0" tIns="0" rIns="0" bIns="0" anchor="t">
            <a:spAutoFit/>
          </a:bodyPr>
          <a:lstStyle/>
          <a:p>
            <a:pPr algn="l">
              <a:spcAft>
                <a:spcPts val="600"/>
              </a:spcAft>
            </a:pPr>
            <a:r>
              <a:rPr sz="1800" b="1" i="0" dirty="0">
                <a:solidFill>
                  <a:srgbClr val="1C2E6E"/>
                </a:solidFill>
                <a:latin typeface="Calibri"/>
              </a:rPr>
              <a:t>How my draft labels changed</a:t>
            </a:r>
          </a:p>
        </p:txBody>
      </p:sp>
      <p:sp>
        <p:nvSpPr>
          <p:cNvPr id="5" name="Rounded Rectangle 4"/>
          <p:cNvSpPr/>
          <p:nvPr/>
        </p:nvSpPr>
        <p:spPr>
          <a:xfrm>
            <a:off x="548640" y="2286000"/>
            <a:ext cx="2103120" cy="91440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1C2E6E"/>
                </a:solidFill>
                <a:latin typeface="Calibri"/>
              </a:rPr>
              <a:t>Mobile Plans &amp; Pricing</a:t>
            </a:r>
          </a:p>
        </p:txBody>
      </p:sp>
      <p:sp>
        <p:nvSpPr>
          <p:cNvPr id="6" name="TextBox 5"/>
          <p:cNvSpPr txBox="1"/>
          <p:nvPr/>
        </p:nvSpPr>
        <p:spPr>
          <a:xfrm>
            <a:off x="2651760" y="2286000"/>
            <a:ext cx="457200" cy="914400"/>
          </a:xfrm>
          <a:prstGeom prst="rect">
            <a:avLst/>
          </a:prstGeom>
          <a:noFill/>
        </p:spPr>
        <p:txBody>
          <a:bodyPr wrap="square" lIns="0" tIns="0" rIns="0" bIns="0" anchor="ctr">
            <a:spAutoFit/>
          </a:bodyPr>
          <a:lstStyle/>
          <a:p>
            <a:pPr algn="ctr">
              <a:spcAft>
                <a:spcPts val="600"/>
              </a:spcAft>
            </a:pPr>
            <a:r>
              <a:rPr sz="2400" b="1" i="0">
                <a:solidFill>
                  <a:srgbClr val="D29B08"/>
                </a:solidFill>
                <a:latin typeface="Calibri"/>
              </a:rPr>
              <a:t>→</a:t>
            </a:r>
          </a:p>
        </p:txBody>
      </p:sp>
      <p:sp>
        <p:nvSpPr>
          <p:cNvPr id="7" name="Rounded Rectangle 6"/>
          <p:cNvSpPr/>
          <p:nvPr/>
        </p:nvSpPr>
        <p:spPr>
          <a:xfrm>
            <a:off x="3108960" y="2286000"/>
            <a:ext cx="3108960" cy="91440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1C2E6E"/>
                </a:solidFill>
                <a:latin typeface="Calibri"/>
              </a:rPr>
              <a:t>Mobile Plans  +  Pricing &amp; Promotions</a:t>
            </a:r>
          </a:p>
          <a:p>
            <a:pPr algn="ctr"/>
            <a:r>
              <a:rPr sz="1100" b="0">
                <a:solidFill>
                  <a:srgbClr val="1C2E6E"/>
                </a:solidFill>
                <a:latin typeface="Calibri"/>
              </a:rPr>
              <a:t>Product  /  Commercial</a:t>
            </a:r>
          </a:p>
        </p:txBody>
      </p:sp>
      <p:sp>
        <p:nvSpPr>
          <p:cNvPr id="8" name="Rounded Rectangle 7"/>
          <p:cNvSpPr/>
          <p:nvPr/>
        </p:nvSpPr>
        <p:spPr>
          <a:xfrm>
            <a:off x="548640" y="3383280"/>
            <a:ext cx="2103120" cy="91440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1C2E6E"/>
                </a:solidFill>
                <a:latin typeface="Calibri"/>
              </a:rPr>
              <a:t>Customer Service &amp; Account</a:t>
            </a:r>
          </a:p>
        </p:txBody>
      </p:sp>
      <p:sp>
        <p:nvSpPr>
          <p:cNvPr id="9" name="TextBox 8"/>
          <p:cNvSpPr txBox="1"/>
          <p:nvPr/>
        </p:nvSpPr>
        <p:spPr>
          <a:xfrm>
            <a:off x="2651760" y="3383280"/>
            <a:ext cx="457200" cy="914400"/>
          </a:xfrm>
          <a:prstGeom prst="rect">
            <a:avLst/>
          </a:prstGeom>
          <a:noFill/>
        </p:spPr>
        <p:txBody>
          <a:bodyPr wrap="square" lIns="0" tIns="0" rIns="0" bIns="0" anchor="ctr">
            <a:spAutoFit/>
          </a:bodyPr>
          <a:lstStyle/>
          <a:p>
            <a:pPr algn="ctr">
              <a:spcAft>
                <a:spcPts val="600"/>
              </a:spcAft>
            </a:pPr>
            <a:r>
              <a:rPr sz="2400" b="1" i="0">
                <a:solidFill>
                  <a:srgbClr val="D29B08"/>
                </a:solidFill>
                <a:latin typeface="Calibri"/>
              </a:rPr>
              <a:t>→</a:t>
            </a:r>
          </a:p>
        </p:txBody>
      </p:sp>
      <p:sp>
        <p:nvSpPr>
          <p:cNvPr id="10" name="Rounded Rectangle 9"/>
          <p:cNvSpPr/>
          <p:nvPr/>
        </p:nvSpPr>
        <p:spPr>
          <a:xfrm>
            <a:off x="3108960" y="3383280"/>
            <a:ext cx="3108960" cy="91440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1C2E6E"/>
                </a:solidFill>
                <a:latin typeface="Calibri"/>
              </a:rPr>
              <a:t>Customer Service  +  App &amp; Account</a:t>
            </a:r>
          </a:p>
          <a:p>
            <a:pPr algn="ctr"/>
            <a:r>
              <a:rPr sz="1100" b="0">
                <a:solidFill>
                  <a:srgbClr val="1C2E6E"/>
                </a:solidFill>
                <a:latin typeface="Calibri"/>
              </a:rPr>
              <a:t>Service operations  /  Digital CX</a:t>
            </a:r>
          </a:p>
        </p:txBody>
      </p:sp>
      <p:sp>
        <p:nvSpPr>
          <p:cNvPr id="11" name="Rounded Rectangle 10"/>
          <p:cNvSpPr/>
          <p:nvPr/>
        </p:nvSpPr>
        <p:spPr>
          <a:xfrm>
            <a:off x="548640" y="4480560"/>
            <a:ext cx="2103120" cy="914400"/>
          </a:xfrm>
          <a:prstGeom prst="roundRect">
            <a:avLst>
              <a:gd name="adj" fmla="val 6000"/>
            </a:avLst>
          </a:prstGeom>
          <a:solidFill>
            <a:srgbClr val="FBF3D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1C2E6E"/>
                </a:solidFill>
                <a:latin typeface="Calibri"/>
              </a:rPr>
              <a:t>Network Outage &amp; Connectivity</a:t>
            </a:r>
          </a:p>
        </p:txBody>
      </p:sp>
      <p:sp>
        <p:nvSpPr>
          <p:cNvPr id="12" name="TextBox 11"/>
          <p:cNvSpPr txBox="1"/>
          <p:nvPr/>
        </p:nvSpPr>
        <p:spPr>
          <a:xfrm>
            <a:off x="2651760" y="4480560"/>
            <a:ext cx="457200" cy="914400"/>
          </a:xfrm>
          <a:prstGeom prst="rect">
            <a:avLst/>
          </a:prstGeom>
          <a:noFill/>
        </p:spPr>
        <p:txBody>
          <a:bodyPr wrap="square" lIns="0" tIns="0" rIns="0" bIns="0" anchor="ctr">
            <a:spAutoFit/>
          </a:bodyPr>
          <a:lstStyle/>
          <a:p>
            <a:pPr algn="ctr">
              <a:spcAft>
                <a:spcPts val="600"/>
              </a:spcAft>
            </a:pPr>
            <a:r>
              <a:rPr sz="2400" b="1" i="0">
                <a:solidFill>
                  <a:srgbClr val="D29B08"/>
                </a:solidFill>
                <a:latin typeface="Calibri"/>
              </a:rPr>
              <a:t>→</a:t>
            </a:r>
          </a:p>
        </p:txBody>
      </p:sp>
      <p:sp>
        <p:nvSpPr>
          <p:cNvPr id="13" name="Rounded Rectangle 12"/>
          <p:cNvSpPr/>
          <p:nvPr/>
        </p:nvSpPr>
        <p:spPr>
          <a:xfrm>
            <a:off x="3108960" y="4480560"/>
            <a:ext cx="3108960" cy="914400"/>
          </a:xfrm>
          <a:prstGeom prst="roundRect">
            <a:avLst>
              <a:gd name="adj" fmla="val 6000"/>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a:solidFill>
                  <a:srgbClr val="1C2E6E"/>
                </a:solidFill>
                <a:latin typeface="Calibri"/>
              </a:rPr>
              <a:t>Network Quality</a:t>
            </a:r>
          </a:p>
          <a:p>
            <a:pPr algn="ctr"/>
            <a:r>
              <a:rPr sz="1100" b="0">
                <a:solidFill>
                  <a:srgbClr val="1C2E6E"/>
                </a:solidFill>
                <a:latin typeface="Calibri"/>
              </a:rPr>
              <a:t>Also slow speeds and dead spots, not only outages</a:t>
            </a:r>
          </a:p>
        </p:txBody>
      </p:sp>
      <p:sp>
        <p:nvSpPr>
          <p:cNvPr id="14" name="TextBox 13"/>
          <p:cNvSpPr txBox="1"/>
          <p:nvPr/>
        </p:nvSpPr>
        <p:spPr>
          <a:xfrm>
            <a:off x="6492240" y="1737360"/>
            <a:ext cx="5148072" cy="320040"/>
          </a:xfrm>
          <a:prstGeom prst="rect">
            <a:avLst/>
          </a:prstGeom>
          <a:noFill/>
        </p:spPr>
        <p:txBody>
          <a:bodyPr wrap="square" lIns="0" tIns="0" rIns="0" bIns="0" anchor="t">
            <a:spAutoFit/>
          </a:bodyPr>
          <a:lstStyle/>
          <a:p>
            <a:pPr algn="l">
              <a:spcAft>
                <a:spcPts val="600"/>
              </a:spcAft>
            </a:pPr>
            <a:r>
              <a:rPr sz="1600" b="1" i="0">
                <a:solidFill>
                  <a:srgbClr val="1C2E6E"/>
                </a:solidFill>
                <a:latin typeface="Calibri"/>
              </a:rPr>
              <a:t>Small labels stay when the pain is sharp</a:t>
            </a:r>
          </a:p>
        </p:txBody>
      </p:sp>
      <p:sp>
        <p:nvSpPr>
          <p:cNvPr id="15" name="TextBox 14"/>
          <p:cNvSpPr txBox="1"/>
          <p:nvPr/>
        </p:nvSpPr>
        <p:spPr>
          <a:xfrm>
            <a:off x="6492240" y="2103120"/>
            <a:ext cx="5148072" cy="646331"/>
          </a:xfrm>
          <a:prstGeom prst="rect">
            <a:avLst/>
          </a:prstGeom>
          <a:noFill/>
        </p:spPr>
        <p:txBody>
          <a:bodyPr wrap="square" lIns="0" tIns="0" rIns="0" bIns="0" anchor="t">
            <a:spAutoFit/>
          </a:bodyPr>
          <a:lstStyle/>
          <a:p>
            <a:pPr algn="l">
              <a:spcAft>
                <a:spcPts val="600"/>
              </a:spcAft>
            </a:pPr>
            <a:r>
              <a:rPr sz="1400" b="1" i="0" dirty="0">
                <a:solidFill>
                  <a:srgbClr val="1E293B"/>
                </a:solidFill>
                <a:latin typeface="Calibri"/>
              </a:rPr>
              <a:t>Customer Service </a:t>
            </a:r>
            <a:r>
              <a:rPr sz="1400" b="0" i="0" dirty="0">
                <a:solidFill>
                  <a:srgbClr val="1E293B"/>
                </a:solidFill>
                <a:latin typeface="Calibri"/>
              </a:rPr>
              <a:t>is 4% of posts but the most negative label (59% not happy). Roaming and Porting each have their own team; merging them would bury their spikes.</a:t>
            </a:r>
          </a:p>
        </p:txBody>
      </p:sp>
      <p:sp>
        <p:nvSpPr>
          <p:cNvPr id="16" name="TextBox 15"/>
          <p:cNvSpPr txBox="1"/>
          <p:nvPr/>
        </p:nvSpPr>
        <p:spPr>
          <a:xfrm>
            <a:off x="6492240" y="3017520"/>
            <a:ext cx="5148072" cy="320040"/>
          </a:xfrm>
          <a:prstGeom prst="rect">
            <a:avLst/>
          </a:prstGeom>
          <a:noFill/>
        </p:spPr>
        <p:txBody>
          <a:bodyPr wrap="square" lIns="0" tIns="0" rIns="0" bIns="0" anchor="t">
            <a:spAutoFit/>
          </a:bodyPr>
          <a:lstStyle/>
          <a:p>
            <a:pPr algn="l">
              <a:spcAft>
                <a:spcPts val="600"/>
              </a:spcAft>
            </a:pPr>
            <a:r>
              <a:rPr sz="1600" b="1" i="0" dirty="0">
                <a:solidFill>
                  <a:srgbClr val="1C2E6E"/>
                </a:solidFill>
                <a:latin typeface="Calibri"/>
              </a:rPr>
              <a:t>General Discussion is the residual</a:t>
            </a:r>
          </a:p>
        </p:txBody>
      </p:sp>
      <p:sp>
        <p:nvSpPr>
          <p:cNvPr id="17" name="TextBox 16"/>
          <p:cNvSpPr txBox="1"/>
          <p:nvPr/>
        </p:nvSpPr>
        <p:spPr>
          <a:xfrm>
            <a:off x="6492240" y="3383279"/>
            <a:ext cx="5148072" cy="822960"/>
          </a:xfrm>
          <a:prstGeom prst="rect">
            <a:avLst/>
          </a:prstGeom>
          <a:noFill/>
        </p:spPr>
        <p:txBody>
          <a:bodyPr wrap="square" lIns="0" tIns="0" rIns="0" bIns="0" anchor="t">
            <a:spAutoFit/>
          </a:bodyPr>
          <a:lstStyle/>
          <a:p>
            <a:pPr algn="l">
              <a:spcAft>
                <a:spcPts val="600"/>
              </a:spcAft>
            </a:pPr>
            <a:r>
              <a:rPr sz="1400" b="0" i="0">
                <a:solidFill>
                  <a:srgbClr val="1E293B"/>
                </a:solidFill>
                <a:latin typeface="Calibri"/>
              </a:rPr>
              <a:t>Used only when nothing specific fits, never beside a label (15% of posts). That makes it the queue the hybrid sends to GPT-4o.</a:t>
            </a:r>
          </a:p>
        </p:txBody>
      </p:sp>
      <p:sp>
        <p:nvSpPr>
          <p:cNvPr id="18" name="TextBox 17"/>
          <p:cNvSpPr txBox="1"/>
          <p:nvPr/>
        </p:nvSpPr>
        <p:spPr>
          <a:xfrm>
            <a:off x="6492240" y="4297680"/>
            <a:ext cx="5148072" cy="320040"/>
          </a:xfrm>
          <a:prstGeom prst="rect">
            <a:avLst/>
          </a:prstGeom>
          <a:noFill/>
        </p:spPr>
        <p:txBody>
          <a:bodyPr wrap="square" lIns="0" tIns="0" rIns="0" bIns="0" anchor="t">
            <a:spAutoFit/>
          </a:bodyPr>
          <a:lstStyle/>
          <a:p>
            <a:pPr algn="l">
              <a:spcAft>
                <a:spcPts val="600"/>
              </a:spcAft>
            </a:pPr>
            <a:r>
              <a:rPr sz="1600" b="1" i="0">
                <a:solidFill>
                  <a:srgbClr val="1C2E6E"/>
                </a:solidFill>
                <a:latin typeface="Calibri"/>
              </a:rPr>
              <a:t>Many issues per post, one sentiment</a:t>
            </a:r>
          </a:p>
        </p:txBody>
      </p:sp>
      <p:sp>
        <p:nvSpPr>
          <p:cNvPr id="19" name="TextBox 18"/>
          <p:cNvSpPr txBox="1"/>
          <p:nvPr/>
        </p:nvSpPr>
        <p:spPr>
          <a:xfrm>
            <a:off x="6492240" y="4663440"/>
            <a:ext cx="5148072" cy="822960"/>
          </a:xfrm>
          <a:prstGeom prst="rect">
            <a:avLst/>
          </a:prstGeom>
          <a:noFill/>
        </p:spPr>
        <p:txBody>
          <a:bodyPr wrap="square" lIns="0" tIns="0" rIns="0" bIns="0" anchor="t">
            <a:spAutoFit/>
          </a:bodyPr>
          <a:lstStyle/>
          <a:p>
            <a:pPr algn="l">
              <a:spcAft>
                <a:spcPts val="600"/>
              </a:spcAft>
            </a:pPr>
            <a:r>
              <a:rPr sz="1400" b="0" i="0" dirty="0">
                <a:solidFill>
                  <a:srgbClr val="1E293B"/>
                </a:solidFill>
                <a:latin typeface="Calibri"/>
              </a:rPr>
              <a:t>One post can raise roaming and billing at once, so issues are multi-label; sentiment stays one label per post.</a:t>
            </a:r>
          </a:p>
        </p:txBody>
      </p:sp>
      <p:sp>
        <p:nvSpPr>
          <p:cNvPr id="20" name="TextBox 19"/>
          <p:cNvSpPr txBox="1"/>
          <p:nvPr/>
        </p:nvSpPr>
        <p:spPr>
          <a:xfrm>
            <a:off x="548640" y="5760720"/>
            <a:ext cx="11091672" cy="548640"/>
          </a:xfrm>
          <a:prstGeom prst="rect">
            <a:avLst/>
          </a:prstGeom>
          <a:noFill/>
        </p:spPr>
        <p:txBody>
          <a:bodyPr wrap="square" lIns="0" tIns="0" rIns="0" bIns="0" anchor="t">
            <a:spAutoFit/>
          </a:bodyPr>
          <a:lstStyle/>
          <a:p>
            <a:pPr algn="l">
              <a:spcAft>
                <a:spcPts val="600"/>
              </a:spcAft>
            </a:pPr>
            <a:r>
              <a:rPr sz="1400" b="1" i="0">
                <a:solidFill>
                  <a:srgbClr val="1C2E6E"/>
                </a:solidFill>
                <a:latin typeface="Calibri"/>
              </a:rPr>
              <a:t>The cost of finer labels: </a:t>
            </a:r>
            <a:r>
              <a:rPr sz="1400" b="0" i="0">
                <a:solidFill>
                  <a:srgbClr val="1E293B"/>
                </a:solidFill>
                <a:latin typeface="Calibri"/>
              </a:rPr>
              <a:t>two humans agreed on Network (κ 0.79) but not on Devices (0.16), App &amp; Account (0.17) or Customer Service (0.28).</a:t>
            </a:r>
          </a:p>
        </p:txBody>
      </p:sp>
    </p:spTree>
    <p:extLst>
      <p:ext uri="{BB962C8B-B14F-4D97-AF65-F5344CB8AC3E}">
        <p14:creationId xmlns:p14="http://schemas.microsoft.com/office/powerpoint/2010/main" val="37032088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60BAC1E-B5AB-8B4F-99BB-367AA74C7868}">
  <we:reference id="wa200010001" version="1.0.0.1" store="en-US" storeType="OMEX"/>
  <we:alternateReferences>
    <we:reference id="WA200010001" version="1.0.0.1" store="WA200010001" storeType="OMEX"/>
  </we:alternateReferences>
  <we:properties>
    <we:property name="claude.fileId" value="&quot;9e7721c1-9334-4529-ad70-5739d17315b4&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1943</TotalTime>
  <Words>9594</Words>
  <Application>Microsoft Macintosh PowerPoint</Application>
  <PresentationFormat>Widescreen</PresentationFormat>
  <Paragraphs>941</Paragraphs>
  <Slides>41</Slides>
  <Notes>40</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41</vt:i4>
      </vt:variant>
    </vt:vector>
  </HeadingPairs>
  <TitlesOfParts>
    <vt:vector size="47" baseType="lpstr">
      <vt:lpstr>-apple-system</vt: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#LIAO ZIXIN#</dc:creator>
  <cp:lastModifiedBy>LIAO Zixin</cp:lastModifiedBy>
  <cp:revision>42</cp:revision>
  <dcterms:created xsi:type="dcterms:W3CDTF">2026-07-06T13:08:18Z</dcterms:created>
  <dcterms:modified xsi:type="dcterms:W3CDTF">2026-10-07T13:56:06Z</dcterms:modified>
</cp:coreProperties>
</file>