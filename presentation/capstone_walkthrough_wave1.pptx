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omments/modernComment_10D_0.xml" ContentType="application/vnd.ms-powerpoint.comments+xml"/>
  <Override PartName="/ppt/charts/chart2.xml" ContentType="application/vnd.openxmlformats-officedocument.drawingml.chart+xml"/>
  <Override PartName="/ppt/notesSlides/notesSlide16.xml" ContentType="application/vnd.openxmlformats-officedocument.presentationml.notesSlide+xml"/>
  <Override PartName="/ppt/comments/modernComment_10E_0.xml" ContentType="application/vnd.ms-powerpoint.comments+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12_0.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6.xml" ContentType="application/vnd.openxmlformats-officedocument.drawingml.chart+xml"/>
  <Override PartName="/ppt/notesSlides/notesSlide23.xml" ContentType="application/vnd.openxmlformats-officedocument.presentationml.notesSlide+xml"/>
  <Override PartName="/ppt/charts/chart7.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26_A7261203.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7" r:id="rId14"/>
    <p:sldId id="268" r:id="rId15"/>
    <p:sldId id="269" r:id="rId16"/>
    <p:sldId id="270" r:id="rId17"/>
    <p:sldId id="271" r:id="rId18"/>
    <p:sldId id="272" r:id="rId19"/>
    <p:sldId id="293" r:id="rId20"/>
    <p:sldId id="274" r:id="rId21"/>
    <p:sldId id="275" r:id="rId22"/>
    <p:sldId id="276" r:id="rId23"/>
    <p:sldId id="277" r:id="rId24"/>
    <p:sldId id="279" r:id="rId25"/>
    <p:sldId id="278" r:id="rId26"/>
    <p:sldId id="280" r:id="rId27"/>
    <p:sldId id="281" r:id="rId28"/>
    <p:sldId id="282" r:id="rId29"/>
    <p:sldId id="283" r:id="rId30"/>
    <p:sldId id="294" r:id="rId31"/>
    <p:sldId id="285" r:id="rId32"/>
    <p:sldId id="286" r:id="rId33"/>
    <p:sldId id="287" r:id="rId34"/>
    <p:sldId id="296" r:id="rId35"/>
    <p:sldId id="288" r:id="rId36"/>
    <p:sldId id="289" r:id="rId37"/>
    <p:sldId id="290" r:id="rId38"/>
    <p:sldId id="291" r:id="rId39"/>
    <p:sldId id="292" r:id="rId40"/>
    <p:sldId id="295" r:id="rId41"/>
    <p:sldId id="29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14F118-7805-1949-99D6-403040127FCA}">
          <p14:sldIdLst>
            <p14:sldId id="256"/>
            <p14:sldId id="257"/>
          </p14:sldIdLst>
        </p14:section>
        <p14:section name="A problem" id="{297D1888-C73B-4842-99F6-29D43D52BDFD}">
          <p14:sldIdLst>
            <p14:sldId id="258"/>
            <p14:sldId id="259"/>
          </p14:sldIdLst>
        </p14:section>
        <p14:section name="B Data n pipelines" id="{03AC9673-6C42-1741-B768-396B591574B5}">
          <p14:sldIdLst>
            <p14:sldId id="260"/>
            <p14:sldId id="261"/>
            <p14:sldId id="262"/>
            <p14:sldId id="263"/>
            <p14:sldId id="264"/>
            <p14:sldId id="265"/>
          </p14:sldIdLst>
        </p14:section>
        <p14:section name="C Evaluation" id="{85AA2850-9727-014C-AB28-C6C9386CB12B}">
          <p14:sldIdLst>
            <p14:sldId id="266"/>
            <p14:sldId id="267"/>
            <p14:sldId id="297"/>
            <p14:sldId id="268"/>
            <p14:sldId id="269"/>
            <p14:sldId id="270"/>
            <p14:sldId id="271"/>
            <p14:sldId id="272"/>
            <p14:sldId id="293"/>
            <p14:sldId id="274"/>
          </p14:sldIdLst>
        </p14:section>
        <p14:section name="D Finding" id="{9826FDFC-9A4C-5F4A-BF9E-FE1A5A9088B5}">
          <p14:sldIdLst>
            <p14:sldId id="275"/>
            <p14:sldId id="276"/>
            <p14:sldId id="277"/>
            <p14:sldId id="279"/>
            <p14:sldId id="278"/>
            <p14:sldId id="280"/>
          </p14:sldIdLst>
        </p14:section>
        <p14:section name="E Actions and relection" id="{608E4990-5BD3-1244-88F6-9EA38E0C300D}">
          <p14:sldIdLst>
            <p14:sldId id="281"/>
            <p14:sldId id="282"/>
            <p14:sldId id="283"/>
            <p14:sldId id="294"/>
            <p14:sldId id="285"/>
            <p14:sldId id="286"/>
            <p14:sldId id="287"/>
            <p14:sldId id="296"/>
            <p14:sldId id="288"/>
            <p14:sldId id="289"/>
            <p14:sldId id="290"/>
            <p14:sldId id="291"/>
            <p14:sldId id="292"/>
            <p14:sldId id="295"/>
            <p14:sldId id="29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97BFC3-30C7-EE76-E08E-E243CF10A644}" name="LIAO Zixin" initials="LZ" userId="S::zixin.liao.2024@msc.smu.edu.sg::a9e034a8-5b93-4ab3-a499-d6048e4ed9c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3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69"/>
    <p:restoredTop sz="81884"/>
  </p:normalViewPr>
  <p:slideViewPr>
    <p:cSldViewPr snapToGrid="0">
      <p:cViewPr>
        <p:scale>
          <a:sx n="97" d="100"/>
          <a:sy n="97" d="100"/>
        </p:scale>
        <p:origin x="-12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Value</c:v>
                </c:pt>
              </c:strCache>
            </c:strRef>
          </c:tx>
          <c:invertIfNegative val="1"/>
          <c:dPt>
            <c:idx val="0"/>
            <c:invertIfNegative val="1"/>
            <c:bubble3D val="0"/>
            <c:spPr>
              <a:solidFill>
                <a:srgbClr val="A3AAB8"/>
              </a:solidFill>
            </c:spPr>
            <c:extLst>
              <c:ext xmlns:c16="http://schemas.microsoft.com/office/drawing/2014/chart" uri="{C3380CC4-5D6E-409C-BE32-E72D297353CC}">
                <c16:uniqueId val="{00000001-1918-D94F-B363-16393AC71D68}"/>
              </c:ext>
            </c:extLst>
          </c:dPt>
          <c:dPt>
            <c:idx val="1"/>
            <c:invertIfNegative val="1"/>
            <c:bubble3D val="0"/>
            <c:spPr>
              <a:solidFill>
                <a:srgbClr val="D29B08"/>
              </a:solidFill>
            </c:spPr>
            <c:extLst>
              <c:ext xmlns:c16="http://schemas.microsoft.com/office/drawing/2014/chart" uri="{C3380CC4-5D6E-409C-BE32-E72D297353CC}">
                <c16:uniqueId val="{00000003-1918-D94F-B363-16393AC71D68}"/>
              </c:ext>
            </c:extLst>
          </c:dPt>
          <c:dPt>
            <c:idx val="2"/>
            <c:invertIfNegative val="1"/>
            <c:bubble3D val="0"/>
            <c:spPr>
              <a:solidFill>
                <a:srgbClr val="5C6FA6"/>
              </a:solidFill>
            </c:spPr>
            <c:extLst>
              <c:ext xmlns:c16="http://schemas.microsoft.com/office/drawing/2014/chart" uri="{C3380CC4-5D6E-409C-BE32-E72D297353CC}">
                <c16:uniqueId val="{00000005-1918-D94F-B363-16393AC71D68}"/>
              </c:ext>
            </c:extLst>
          </c:dPt>
          <c:dLbls>
            <c:numFmt formatCode="0.000" sourceLinked="0"/>
            <c:spPr>
              <a:noFill/>
              <a:ln>
                <a:noFill/>
              </a:ln>
              <a:effectLst/>
            </c:spPr>
            <c:txPr>
              <a:bodyPr/>
              <a:lstStyle/>
              <a:p>
                <a:pPr>
                  <a:defRPr sz="14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VADER</c:v>
                </c:pt>
                <c:pt idx="1">
                  <c:v>GPT-4o-mini</c:v>
                </c:pt>
                <c:pt idx="2">
                  <c:v>GPT-4o</c:v>
                </c:pt>
              </c:strCache>
            </c:strRef>
          </c:cat>
          <c:val>
            <c:numRef>
              <c:f>Sheet1!$B$2:$B$4</c:f>
              <c:numCache>
                <c:formatCode>General</c:formatCode>
                <c:ptCount val="3"/>
                <c:pt idx="0">
                  <c:v>0.36</c:v>
                </c:pt>
                <c:pt idx="1">
                  <c:v>0.63100000000000001</c:v>
                </c:pt>
                <c:pt idx="2">
                  <c:v>0.623</c:v>
                </c:pt>
              </c:numCache>
            </c:numRef>
          </c:val>
          <c:extLst>
            <c:ext xmlns:c16="http://schemas.microsoft.com/office/drawing/2014/chart" uri="{C3380CC4-5D6E-409C-BE32-E72D297353CC}">
              <c16:uniqueId val="{00000006-1918-D94F-B363-16393AC71D6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Value</c:v>
                </c:pt>
              </c:strCache>
            </c:strRef>
          </c:tx>
          <c:invertIfNegative val="1"/>
          <c:dPt>
            <c:idx val="0"/>
            <c:invertIfNegative val="1"/>
            <c:bubble3D val="0"/>
            <c:spPr>
              <a:solidFill>
                <a:srgbClr val="5C6FA6"/>
              </a:solidFill>
            </c:spPr>
            <c:extLst>
              <c:ext xmlns:c16="http://schemas.microsoft.com/office/drawing/2014/chart" uri="{C3380CC4-5D6E-409C-BE32-E72D297353CC}">
                <c16:uniqueId val="{00000001-073F-4E49-9AD3-AD0F028393ED}"/>
              </c:ext>
            </c:extLst>
          </c:dPt>
          <c:dPt>
            <c:idx val="1"/>
            <c:invertIfNegative val="1"/>
            <c:bubble3D val="0"/>
            <c:spPr>
              <a:solidFill>
                <a:srgbClr val="A3AAB8"/>
              </a:solidFill>
            </c:spPr>
            <c:extLst>
              <c:ext xmlns:c16="http://schemas.microsoft.com/office/drawing/2014/chart" uri="{C3380CC4-5D6E-409C-BE32-E72D297353CC}">
                <c16:uniqueId val="{00000003-073F-4E49-9AD3-AD0F028393ED}"/>
              </c:ext>
            </c:extLst>
          </c:dPt>
          <c:dPt>
            <c:idx val="2"/>
            <c:invertIfNegative val="1"/>
            <c:bubble3D val="0"/>
            <c:spPr>
              <a:solidFill>
                <a:srgbClr val="A3AAB8"/>
              </a:solidFill>
            </c:spPr>
            <c:extLst>
              <c:ext xmlns:c16="http://schemas.microsoft.com/office/drawing/2014/chart" uri="{C3380CC4-5D6E-409C-BE32-E72D297353CC}">
                <c16:uniqueId val="{00000005-073F-4E49-9AD3-AD0F028393ED}"/>
              </c:ext>
            </c:extLst>
          </c:dPt>
          <c:dPt>
            <c:idx val="3"/>
            <c:invertIfNegative val="1"/>
            <c:bubble3D val="0"/>
            <c:spPr>
              <a:solidFill>
                <a:srgbClr val="D29B08"/>
              </a:solidFill>
            </c:spPr>
            <c:extLst>
              <c:ext xmlns:c16="http://schemas.microsoft.com/office/drawing/2014/chart" uri="{C3380CC4-5D6E-409C-BE32-E72D297353CC}">
                <c16:uniqueId val="{00000007-073F-4E49-9AD3-AD0F028393ED}"/>
              </c:ext>
            </c:extLst>
          </c:dPt>
          <c:dLbls>
            <c:numFmt formatCode="0.000" sourceLinked="0"/>
            <c:spPr>
              <a:noFill/>
              <a:ln>
                <a:noFill/>
              </a:ln>
              <a:effectLst/>
            </c:spPr>
            <c:txPr>
              <a:bodyPr/>
              <a:lstStyle/>
              <a:p>
                <a:pPr>
                  <a:defRPr sz="14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Keyword rules</c:v>
                </c:pt>
                <c:pt idx="1">
                  <c:v>GPT-4o-mini
all posts</c:v>
                </c:pt>
                <c:pt idx="2">
                  <c:v>GPT-4o
all posts</c:v>
                </c:pt>
                <c:pt idx="3">
                  <c:v>Hybrid</c:v>
                </c:pt>
              </c:strCache>
            </c:strRef>
          </c:cat>
          <c:val>
            <c:numRef>
              <c:f>Sheet1!$B$2:$B$5</c:f>
              <c:numCache>
                <c:formatCode>General</c:formatCode>
                <c:ptCount val="4"/>
                <c:pt idx="0">
                  <c:v>0.63900000000000001</c:v>
                </c:pt>
                <c:pt idx="1">
                  <c:v>0.504</c:v>
                </c:pt>
                <c:pt idx="2">
                  <c:v>0.6</c:v>
                </c:pt>
                <c:pt idx="3">
                  <c:v>0.68</c:v>
                </c:pt>
              </c:numCache>
            </c:numRef>
          </c:val>
          <c:extLst>
            <c:ext xmlns:c16="http://schemas.microsoft.com/office/drawing/2014/chart" uri="{C3380CC4-5D6E-409C-BE32-E72D297353CC}">
              <c16:uniqueId val="{00000008-073F-4E49-9AD3-AD0F028393ED}"/>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Representative (n = 295)</c:v>
                </c:pt>
              </c:strCache>
            </c:strRef>
          </c:tx>
          <c:spPr>
            <a:solidFill>
              <a:srgbClr val="A3AAB8"/>
            </a:solidFill>
          </c:spPr>
          <c:invertIfNegative val="1"/>
          <c:dLbls>
            <c:numFmt formatCode="0.00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Keyword rules</c:v>
                </c:pt>
                <c:pt idx="1">
                  <c:v>GPT-4o all posts</c:v>
                </c:pt>
                <c:pt idx="2">
                  <c:v>Hybrid</c:v>
                </c:pt>
              </c:strCache>
            </c:strRef>
          </c:cat>
          <c:val>
            <c:numRef>
              <c:f>Sheet1!$B$2:$B$4</c:f>
              <c:numCache>
                <c:formatCode>General</c:formatCode>
                <c:ptCount val="3"/>
                <c:pt idx="0">
                  <c:v>0.63900000000000001</c:v>
                </c:pt>
                <c:pt idx="1">
                  <c:v>0.6</c:v>
                </c:pt>
                <c:pt idx="2">
                  <c:v>0.68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868-A84D-97F1-4BCC67F55E2B}"/>
            </c:ext>
          </c:extLst>
        </c:ser>
        <c:ser>
          <c:idx val="1"/>
          <c:order val="1"/>
          <c:tx>
            <c:strRef>
              <c:f>Sheet1!$C$1</c:f>
              <c:strCache>
                <c:ptCount val="1"/>
                <c:pt idx="0">
                  <c:v>Challenge, held out (n = 100)</c:v>
                </c:pt>
              </c:strCache>
            </c:strRef>
          </c:tx>
          <c:spPr>
            <a:solidFill>
              <a:srgbClr val="1C2E6E"/>
            </a:solidFill>
          </c:spPr>
          <c:invertIfNegative val="1"/>
          <c:dLbls>
            <c:numFmt formatCode="0.00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Keyword rules</c:v>
                </c:pt>
                <c:pt idx="1">
                  <c:v>GPT-4o all posts</c:v>
                </c:pt>
                <c:pt idx="2">
                  <c:v>Hybrid</c:v>
                </c:pt>
              </c:strCache>
            </c:strRef>
          </c:cat>
          <c:val>
            <c:numRef>
              <c:f>Sheet1!$C$2:$C$4</c:f>
              <c:numCache>
                <c:formatCode>General</c:formatCode>
                <c:ptCount val="3"/>
                <c:pt idx="0">
                  <c:v>0.499</c:v>
                </c:pt>
                <c:pt idx="1">
                  <c:v>0.59599999999999997</c:v>
                </c:pt>
                <c:pt idx="2">
                  <c:v>0.50900000000000001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868-A84D-97F1-4BCC67F55E2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1E293B"/>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Value</c:v>
                </c:pt>
              </c:strCache>
            </c:strRef>
          </c:tx>
          <c:invertIfNegative val="1"/>
          <c:dPt>
            <c:idx val="0"/>
            <c:invertIfNegative val="1"/>
            <c:bubble3D val="0"/>
            <c:spPr>
              <a:solidFill>
                <a:srgbClr val="A3AAB8"/>
              </a:solidFill>
            </c:spPr>
            <c:extLst>
              <c:ext xmlns:c16="http://schemas.microsoft.com/office/drawing/2014/chart" uri="{C3380CC4-5D6E-409C-BE32-E72D297353CC}">
                <c16:uniqueId val="{00000001-769D-0344-8EFD-1F59B59E85B0}"/>
              </c:ext>
            </c:extLst>
          </c:dPt>
          <c:dPt>
            <c:idx val="1"/>
            <c:invertIfNegative val="1"/>
            <c:bubble3D val="0"/>
            <c:spPr>
              <a:solidFill>
                <a:srgbClr val="D29B08"/>
              </a:solidFill>
            </c:spPr>
            <c:extLst>
              <c:ext xmlns:c16="http://schemas.microsoft.com/office/drawing/2014/chart" uri="{C3380CC4-5D6E-409C-BE32-E72D297353CC}">
                <c16:uniqueId val="{00000003-769D-0344-8EFD-1F59B59E85B0}"/>
              </c:ext>
            </c:extLst>
          </c:dPt>
          <c:dPt>
            <c:idx val="2"/>
            <c:invertIfNegative val="1"/>
            <c:bubble3D val="0"/>
            <c:spPr>
              <a:solidFill>
                <a:srgbClr val="A3AAB8"/>
              </a:solidFill>
            </c:spPr>
            <c:extLst>
              <c:ext xmlns:c16="http://schemas.microsoft.com/office/drawing/2014/chart" uri="{C3380CC4-5D6E-409C-BE32-E72D297353CC}">
                <c16:uniqueId val="{00000005-769D-0344-8EFD-1F59B59E85B0}"/>
              </c:ext>
            </c:extLst>
          </c:dPt>
          <c:dPt>
            <c:idx val="3"/>
            <c:invertIfNegative val="1"/>
            <c:bubble3D val="0"/>
            <c:spPr>
              <a:solidFill>
                <a:srgbClr val="A3AAB8"/>
              </a:solidFill>
            </c:spPr>
            <c:extLst>
              <c:ext xmlns:c16="http://schemas.microsoft.com/office/drawing/2014/chart" uri="{C3380CC4-5D6E-409C-BE32-E72D297353CC}">
                <c16:uniqueId val="{00000007-769D-0344-8EFD-1F59B59E85B0}"/>
              </c:ext>
            </c:extLst>
          </c:dPt>
          <c:dPt>
            <c:idx val="4"/>
            <c:invertIfNegative val="1"/>
            <c:bubble3D val="0"/>
            <c:spPr>
              <a:solidFill>
                <a:srgbClr val="1C2E6E"/>
              </a:solidFill>
            </c:spPr>
            <c:extLst>
              <c:ext xmlns:c16="http://schemas.microsoft.com/office/drawing/2014/chart" uri="{C3380CC4-5D6E-409C-BE32-E72D297353CC}">
                <c16:uniqueId val="{00000009-769D-0344-8EFD-1F59B59E85B0}"/>
              </c:ext>
            </c:extLst>
          </c:dPt>
          <c:dLbls>
            <c:numFmt formatCode="0.000" sourceLinked="0"/>
            <c:spPr>
              <a:noFill/>
              <a:ln>
                <a:noFill/>
              </a:ln>
              <a:effectLst/>
            </c:spPr>
            <c:txPr>
              <a:bodyPr/>
              <a:lstStyle/>
              <a:p>
                <a:pPr>
                  <a:defRPr sz="14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Sentiment
VADER</c:v>
                </c:pt>
                <c:pt idx="1">
                  <c:v>Sentiment
GPT-4o-mini</c:v>
                </c:pt>
                <c:pt idx="2">
                  <c:v>Issues
rules</c:v>
                </c:pt>
                <c:pt idx="3">
                  <c:v>Issues
GPT-4o-mini</c:v>
                </c:pt>
                <c:pt idx="4">
                  <c:v>Issues
hybrid</c:v>
                </c:pt>
              </c:strCache>
            </c:strRef>
          </c:cat>
          <c:val>
            <c:numRef>
              <c:f>Sheet1!$B$2:$B$6</c:f>
              <c:numCache>
                <c:formatCode>General</c:formatCode>
                <c:ptCount val="5"/>
                <c:pt idx="0">
                  <c:v>0.42799999999999999</c:v>
                </c:pt>
                <c:pt idx="1">
                  <c:v>0.63700000000000001</c:v>
                </c:pt>
                <c:pt idx="2">
                  <c:v>0.41299999999999998</c:v>
                </c:pt>
                <c:pt idx="3">
                  <c:v>0.44</c:v>
                </c:pt>
                <c:pt idx="4">
                  <c:v>0.47699999999999998</c:v>
                </c:pt>
              </c:numCache>
            </c:numRef>
          </c:val>
          <c:extLst>
            <c:ext xmlns:c16="http://schemas.microsoft.com/office/drawing/2014/chart" uri="{C3380CC4-5D6E-409C-BE32-E72D297353CC}">
              <c16:uniqueId val="{0000000A-769D-0344-8EFD-1F59B59E85B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Value</c:v>
                </c:pt>
              </c:strCache>
            </c:strRef>
          </c:tx>
          <c:invertIfNegative val="1"/>
          <c:dPt>
            <c:idx val="0"/>
            <c:invertIfNegative val="1"/>
            <c:bubble3D val="0"/>
            <c:spPr>
              <a:solidFill>
                <a:srgbClr val="5C6FA6"/>
              </a:solidFill>
            </c:spPr>
            <c:extLst>
              <c:ext xmlns:c16="http://schemas.microsoft.com/office/drawing/2014/chart" uri="{C3380CC4-5D6E-409C-BE32-E72D297353CC}">
                <c16:uniqueId val="{00000001-C399-9A48-A265-6ECBF94B0FC4}"/>
              </c:ext>
            </c:extLst>
          </c:dPt>
          <c:dPt>
            <c:idx val="1"/>
            <c:invertIfNegative val="1"/>
            <c:bubble3D val="0"/>
            <c:spPr>
              <a:solidFill>
                <a:srgbClr val="A3AAB8"/>
              </a:solidFill>
            </c:spPr>
            <c:extLst>
              <c:ext xmlns:c16="http://schemas.microsoft.com/office/drawing/2014/chart" uri="{C3380CC4-5D6E-409C-BE32-E72D297353CC}">
                <c16:uniqueId val="{00000003-C399-9A48-A265-6ECBF94B0FC4}"/>
              </c:ext>
            </c:extLst>
          </c:dPt>
          <c:dPt>
            <c:idx val="2"/>
            <c:invertIfNegative val="1"/>
            <c:bubble3D val="0"/>
            <c:spPr>
              <a:solidFill>
                <a:srgbClr val="A3AAB8"/>
              </a:solidFill>
            </c:spPr>
            <c:extLst>
              <c:ext xmlns:c16="http://schemas.microsoft.com/office/drawing/2014/chart" uri="{C3380CC4-5D6E-409C-BE32-E72D297353CC}">
                <c16:uniqueId val="{00000005-C399-9A48-A265-6ECBF94B0FC4}"/>
              </c:ext>
            </c:extLst>
          </c:dPt>
          <c:dLbls>
            <c:numFmt formatCode="0%" sourceLinked="0"/>
            <c:spPr>
              <a:noFill/>
              <a:ln>
                <a:noFill/>
              </a:ln>
              <a:effectLst/>
            </c:spPr>
            <c:txPr>
              <a:bodyPr/>
              <a:lstStyle/>
              <a:p>
                <a:pPr>
                  <a:defRPr sz="16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Keyword rules</c:v>
                </c:pt>
                <c:pt idx="1">
                  <c:v>GPT-4o</c:v>
                </c:pt>
                <c:pt idx="2">
                  <c:v>GPT-4o-mini</c:v>
                </c:pt>
              </c:strCache>
            </c:strRef>
          </c:cat>
          <c:val>
            <c:numRef>
              <c:f>Sheet1!$B$2:$B$4</c:f>
              <c:numCache>
                <c:formatCode>General</c:formatCode>
                <c:ptCount val="3"/>
                <c:pt idx="0">
                  <c:v>0.81</c:v>
                </c:pt>
                <c:pt idx="1">
                  <c:v>0.25</c:v>
                </c:pt>
                <c:pt idx="2">
                  <c:v>0.06</c:v>
                </c:pt>
              </c:numCache>
            </c:numRef>
          </c:val>
          <c:extLst>
            <c:ext xmlns:c16="http://schemas.microsoft.com/office/drawing/2014/chart" uri="{C3380CC4-5D6E-409C-BE32-E72D297353CC}">
              <c16:uniqueId val="{00000006-C399-9A48-A265-6ECBF94B0FC4}"/>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5DAE5"/>
            </a:solidFill>
          </a:ln>
        </c:spPr>
        <c:txPr>
          <a:bodyPr/>
          <a:lstStyle/>
          <a:p>
            <a:pPr>
              <a:defRPr sz="14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1"/>
          <c:min val="0"/>
        </c:scaling>
        <c:delete val="1"/>
        <c:axPos val="t"/>
        <c:numFmt formatCode="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Keyword rules</c:v>
                </c:pt>
              </c:strCache>
            </c:strRef>
          </c:tx>
          <c:spPr>
            <a:solidFill>
              <a:srgbClr val="A3AAB8"/>
            </a:solidFill>
          </c:spPr>
          <c:invertIfNegative val="1"/>
          <c:dLbls>
            <c:numFmt formatCode="#,##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General
Discussion</c:v>
                </c:pt>
                <c:pt idx="1">
                  <c:v>Network
Quality</c:v>
                </c:pt>
                <c:pt idx="2">
                  <c:v>Devices</c:v>
                </c:pt>
                <c:pt idx="3">
                  <c:v>Mobile
Plans</c:v>
                </c:pt>
                <c:pt idx="4">
                  <c:v>Pricing &amp;
Promotions</c:v>
                </c:pt>
                <c:pt idx="5">
                  <c:v>Customer
Service</c:v>
                </c:pt>
              </c:strCache>
            </c:strRef>
          </c:cat>
          <c:val>
            <c:numRef>
              <c:f>Sheet1!$B$2:$B$7</c:f>
              <c:numCache>
                <c:formatCode>General</c:formatCode>
                <c:ptCount val="6"/>
                <c:pt idx="0">
                  <c:v>3229</c:v>
                </c:pt>
                <c:pt idx="1">
                  <c:v>2769</c:v>
                </c:pt>
                <c:pt idx="2">
                  <c:v>1611</c:v>
                </c:pt>
                <c:pt idx="3">
                  <c:v>2079</c:v>
                </c:pt>
                <c:pt idx="4">
                  <c:v>901</c:v>
                </c:pt>
                <c:pt idx="5">
                  <c:v>579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65A-364F-BF69-349480E46CD8}"/>
            </c:ext>
          </c:extLst>
        </c:ser>
        <c:ser>
          <c:idx val="1"/>
          <c:order val="1"/>
          <c:tx>
            <c:strRef>
              <c:f>Sheet1!$C$1</c:f>
              <c:strCache>
                <c:ptCount val="1"/>
                <c:pt idx="0">
                  <c:v>Rules + GPT-4o hybrid</c:v>
                </c:pt>
              </c:strCache>
            </c:strRef>
          </c:tx>
          <c:spPr>
            <a:solidFill>
              <a:srgbClr val="D29B08"/>
            </a:solidFill>
          </c:spPr>
          <c:invertIfNegative val="1"/>
          <c:dLbls>
            <c:numFmt formatCode="#,##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General
Discussion</c:v>
                </c:pt>
                <c:pt idx="1">
                  <c:v>Network
Quality</c:v>
                </c:pt>
                <c:pt idx="2">
                  <c:v>Devices</c:v>
                </c:pt>
                <c:pt idx="3">
                  <c:v>Mobile
Plans</c:v>
                </c:pt>
                <c:pt idx="4">
                  <c:v>Pricing &amp;
Promotions</c:v>
                </c:pt>
                <c:pt idx="5">
                  <c:v>Customer
Service</c:v>
                </c:pt>
              </c:strCache>
            </c:strRef>
          </c:cat>
          <c:val>
            <c:numRef>
              <c:f>Sheet1!$C$2:$C$7</c:f>
              <c:numCache>
                <c:formatCode>General</c:formatCode>
                <c:ptCount val="6"/>
                <c:pt idx="0">
                  <c:v>1342</c:v>
                </c:pt>
                <c:pt idx="1">
                  <c:v>3764</c:v>
                </c:pt>
                <c:pt idx="2">
                  <c:v>1691</c:v>
                </c:pt>
                <c:pt idx="3">
                  <c:v>2376</c:v>
                </c:pt>
                <c:pt idx="4">
                  <c:v>1144</c:v>
                </c:pt>
                <c:pt idx="5">
                  <c:v>748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65A-364F-BF69-349480E46CD8}"/>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4000"/>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1E293B"/>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VADER, all posts</c:v>
                </c:pt>
              </c:strCache>
            </c:strRef>
          </c:tx>
          <c:spPr>
            <a:solidFill>
              <a:srgbClr val="A3AAB8"/>
            </a:solidFill>
          </c:spPr>
          <c:invertIfNegative val="1"/>
          <c:dLbls>
            <c:numFmt formatCode="0&quot;%&quot;"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Happy</c:v>
                </c:pt>
                <c:pt idx="1">
                  <c:v>Not happy</c:v>
                </c:pt>
                <c:pt idx="2">
                  <c:v>Neutral</c:v>
                </c:pt>
              </c:strCache>
            </c:strRef>
          </c:cat>
          <c:val>
            <c:numRef>
              <c:f>Sheet1!$B$2:$B$4</c:f>
              <c:numCache>
                <c:formatCode>General</c:formatCode>
                <c:ptCount val="3"/>
                <c:pt idx="0">
                  <c:v>46</c:v>
                </c:pt>
                <c:pt idx="1">
                  <c:v>28</c:v>
                </c:pt>
                <c:pt idx="2">
                  <c:v>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FD4-1147-AE3E-AB329153A2BB}"/>
            </c:ext>
          </c:extLst>
        </c:ser>
        <c:ser>
          <c:idx val="1"/>
          <c:order val="1"/>
          <c:tx>
            <c:strRef>
              <c:f>Sheet1!$C$1</c:f>
              <c:strCache>
                <c:ptCount val="1"/>
                <c:pt idx="0">
                  <c:v>GPT-4o-mini, all posts</c:v>
                </c:pt>
              </c:strCache>
            </c:strRef>
          </c:tx>
          <c:spPr>
            <a:solidFill>
              <a:srgbClr val="D29B08"/>
            </a:solidFill>
          </c:spPr>
          <c:invertIfNegative val="1"/>
          <c:dLbls>
            <c:numFmt formatCode="0&quot;%&quot;"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Happy</c:v>
                </c:pt>
                <c:pt idx="1">
                  <c:v>Not happy</c:v>
                </c:pt>
                <c:pt idx="2">
                  <c:v>Neutral</c:v>
                </c:pt>
              </c:strCache>
            </c:strRef>
          </c:cat>
          <c:val>
            <c:numRef>
              <c:f>Sheet1!$C$2:$C$4</c:f>
              <c:numCache>
                <c:formatCode>General</c:formatCode>
                <c:ptCount val="3"/>
                <c:pt idx="0">
                  <c:v>19</c:v>
                </c:pt>
                <c:pt idx="1">
                  <c:v>44</c:v>
                </c:pt>
                <c:pt idx="2">
                  <c:v>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FD4-1147-AE3E-AB329153A2BB}"/>
            </c:ext>
          </c:extLst>
        </c:ser>
        <c:ser>
          <c:idx val="2"/>
          <c:order val="2"/>
          <c:tx>
            <c:strRef>
              <c:f>Sheet1!$D$1</c:f>
              <c:strCache>
                <c:ptCount val="1"/>
                <c:pt idx="0">
                  <c:v>Human labels, gold set</c:v>
                </c:pt>
              </c:strCache>
            </c:strRef>
          </c:tx>
          <c:spPr>
            <a:solidFill>
              <a:srgbClr val="1C2E6E"/>
            </a:solidFill>
          </c:spPr>
          <c:invertIfNegative val="1"/>
          <c:dLbls>
            <c:numFmt formatCode="0&quot;%&quot;"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Happy</c:v>
                </c:pt>
                <c:pt idx="1">
                  <c:v>Not happy</c:v>
                </c:pt>
                <c:pt idx="2">
                  <c:v>Neutral</c:v>
                </c:pt>
              </c:strCache>
            </c:strRef>
          </c:cat>
          <c:val>
            <c:numRef>
              <c:f>Sheet1!$D$2:$D$4</c:f>
              <c:numCache>
                <c:formatCode>General</c:formatCode>
                <c:ptCount val="3"/>
                <c:pt idx="0">
                  <c:v>18</c:v>
                </c:pt>
                <c:pt idx="1">
                  <c:v>50</c:v>
                </c:pt>
                <c:pt idx="2">
                  <c:v>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FD4-1147-AE3E-AB329153A2B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70"/>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1E293B"/>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omments/modernComment_10D_0.xml><?xml version="1.0" encoding="utf-8"?>
<p188:cmLst xmlns:a="http://schemas.openxmlformats.org/drawingml/2006/main" xmlns:r="http://schemas.openxmlformats.org/officeDocument/2006/relationships" xmlns:p188="http://schemas.microsoft.com/office/powerpoint/2018/8/main">
  <p188:cm id="{3AB4EA37-B5F2-D042-A708-2C7B6EB03DAD}" authorId="{3597BFC3-30C7-EE76-E08E-E243CF10A644}" created="2026-10-04T03:32:22.739">
    <pc:sldMkLst xmlns:pc="http://schemas.microsoft.com/office/powerpoint/2013/main/command">
      <pc:docMk/>
      <pc:sldMk cId="0" sldId="269"/>
    </pc:sldMkLst>
    <p188:replyLst>
      <p188:reply id="{CC3D9B1B-E558-154F-9428-10BF7E136BB3}" authorId="{3597BFC3-30C7-EE76-E08E-E243CF10A644}" created="2026-10-04T03:32:56.269">
        <p188:txBody>
          <a:bodyPr/>
          <a:lstStyle/>
          <a:p>
            <a:r>
              <a:rPr lang="en-US"/>
              <a:t>and why use hybrid</a:t>
            </a:r>
          </a:p>
        </p188:txBody>
      </p188:reply>
    </p188:replyLst>
    <p188:txBody>
      <a:bodyPr/>
      <a:lstStyle/>
      <a:p>
        <a:r>
          <a:rPr lang="en-US"/>
          <a:t>explain the chart: what  llm perform bad</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1DCCB7C9-E966-2D40-8531-69BCDCF0644B}" authorId="{3597BFC3-30C7-EE76-E08E-E243CF10A644}" created="2026-10-04T03:35:57.968">
    <pc:sldMkLst xmlns:pc="http://schemas.microsoft.com/office/powerpoint/2013/main/command">
      <pc:docMk/>
      <pc:sldMk cId="0" sldId="270"/>
    </pc:sldMkLst>
    <p188:txBody>
      <a:bodyPr/>
      <a:lstStyle/>
      <a:p>
        <a:r>
          <a:rPr lang="en-US"/>
          <a:t>need more understanding</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0FF2E62E-ED7F-B34E-8507-6EF35C98021E}" authorId="{3597BFC3-30C7-EE76-E08E-E243CF10A644}" created="2026-10-04T03:41:42.354">
    <pc:sldMkLst xmlns:pc="http://schemas.microsoft.com/office/powerpoint/2013/main/command">
      <pc:docMk/>
      <pc:sldMk cId="0" sldId="274"/>
    </pc:sldMkLst>
    <p188:txBody>
      <a:bodyPr/>
      <a:lstStyle/>
      <a:p>
        <a:r>
          <a:rPr lang="en-US"/>
          <a:t>why highlight $0.28</a:t>
        </a:r>
      </a:p>
    </p188:txBody>
  </p188:cm>
</p188:cmLst>
</file>

<file path=ppt/comments/modernComment_126_A7261203.xml><?xml version="1.0" encoding="utf-8"?>
<p188:cmLst xmlns:a="http://schemas.openxmlformats.org/drawingml/2006/main" xmlns:r="http://schemas.openxmlformats.org/officeDocument/2006/relationships" xmlns:p188="http://schemas.microsoft.com/office/powerpoint/2018/8/main">
  <p188:cm id="{BB079D3E-C32F-B74B-82E5-E5774CF8B5F0}" authorId="{3597BFC3-30C7-EE76-E08E-E243CF10A644}" created="2026-10-04T04:00:14.683">
    <ac:txMkLst xmlns:ac="http://schemas.microsoft.com/office/drawing/2013/main/command">
      <pc:docMk xmlns:pc="http://schemas.microsoft.com/office/powerpoint/2013/main/command"/>
      <pc:sldMk xmlns:pc="http://schemas.microsoft.com/office/powerpoint/2013/main/command" cId="2804290051" sldId="294"/>
      <ac:spMk id="9" creationId="{00000000-0000-0000-0000-000000000000}"/>
      <ac:txMk cp="68" len="45">
        <ac:context len="175" hash="1609762481"/>
      </ac:txMk>
    </ac:txMkLst>
    <p188:pos x="4862525" y="1108855"/>
    <p188:txBody>
      <a:bodyPr/>
      <a:lstStyle/>
      <a:p>
        <a:r>
          <a:rPr lang="en-US"/>
          <a:t>understand these points better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7B7642-B353-2B4B-B2B1-5200A78C1ED7}"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DB06B-229C-144D-A3B7-AAAA8C5554AE}" type="slidenum">
              <a:rPr lang="en-US" smtClean="0"/>
              <a:t>‹#›</a:t>
            </a:fld>
            <a:endParaRPr lang="en-US"/>
          </a:p>
        </p:txBody>
      </p:sp>
    </p:spTree>
    <p:extLst>
      <p:ext uri="{BB962C8B-B14F-4D97-AF65-F5344CB8AC3E}">
        <p14:creationId xmlns:p14="http://schemas.microsoft.com/office/powerpoint/2010/main" val="40580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afternoon, Professor. Today I'll walk you through my capstone from the start: the problem, the data and pipeline, how I evaluated the models, what the data shows, and what I'd recommend.</a:t>
            </a:r>
            <a:endParaRPr lang="en-US" dirty="0"/>
          </a:p>
          <a:p>
            <a:endParaRPr/>
          </a:p>
          <a:p>
            <a:endParaRPr dirty="0"/>
          </a:p>
          <a:p>
            <a:r>
              <a:rPr dirty="0"/>
              <a:t>One-sentence summary: I built a pipeline that turns Reddit and </a:t>
            </a:r>
            <a:r>
              <a:rPr dirty="0" err="1"/>
              <a:t>HardwareZone</a:t>
            </a:r>
            <a:r>
              <a:rPr dirty="0"/>
              <a:t> posts about Singapore telcos into routed issue queues. My evaluation shows an LLM should label sentiment; for issues, keyword rules plus a targeted GPT-4o pass win on typical posts but not on hard 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I've split the talk into five parts. Most of the time goes to evaluation, because that's where the project's main finding is. I'll show the live dashboard in part D, and I've kept backup slides with the detailed tables and answers to questions I expect.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A: why this problem matters and the four research questions that shape the rest of the talk.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Singapore customers talk about plans, coverage, roaming and porting on Reddit and HardwareZone every day. That's unsolicited feedback an operator doesn't have to pay for, but it's messy: Singlish, sarcasm, quoted replies, several brands in one post.</a:t>
            </a:r>
          </a:p>
          <a:p>
            <a:endParaRPr/>
          </a:p>
          <a:p>
            <a:r>
              <a:t>I framed the goal as an early-warning screen. It tells a team what to look at this week. It is not a satisfaction score or NPS, and I'm careful about that throughout. These four research questions structure the evaluation and findings.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B: the data sources, the six pipeline stages, and two data problems I had to solve.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the whole system. Scrapers pull Reddit through its public JSON interface and </a:t>
            </a:r>
            <a:r>
              <a:rPr dirty="0" err="1"/>
              <a:t>HardwareZone</a:t>
            </a:r>
            <a:r>
              <a:rPr dirty="0"/>
              <a:t> threads from its forums. Preprocessing maps both into one schema. The telco labeler detects brands and scores sentiment with VADER. Issue extraction applies ten </a:t>
            </a:r>
            <a:r>
              <a:rPr lang="en-US" dirty="0"/>
              <a:t>keyword-rule labels</a:t>
            </a:r>
            <a:r>
              <a:rPr dirty="0"/>
              <a:t>, then GPT-4o on the posts the rules couldn't place. The evaluation script scores every method against blind human labels, and the dashboard generator writes a static HTML report.</a:t>
            </a:r>
          </a:p>
          <a:p>
            <a:endParaRPr dirty="0"/>
          </a:p>
          <a:p>
            <a:r>
              <a:rPr dirty="0"/>
              <a:t>Each stage writes a CSV to data/processed, so I can trace any number in the report back to a file.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Data cleaning numbers: </a:t>
            </a:r>
            <a:r>
              <a:rPr dirty="0"/>
              <a:t>The raw scrapes looked large: 24,690 rows. But they held only 11,643 unique posts, because the scrapers saved the same comments again on repeated runs. I removed duplicates by post ID, then dropped 96 off-topic threads, such as cost-of-living threads where nobody names a telco. That leaves 9,162 posts in 349 threads: 5,711 from Reddit and 3,451 from </a:t>
            </a:r>
            <a:r>
              <a:rPr dirty="0" err="1"/>
              <a:t>HardwareZone</a:t>
            </a:r>
            <a:r>
              <a:rPr dirty="0"/>
              <a:t>.</a:t>
            </a:r>
          </a:p>
          <a:p>
            <a:endParaRPr dirty="0"/>
          </a:p>
          <a:p>
            <a:r>
              <a:rPr dirty="0"/>
              <a:t>Recent Reddit posts and replies come from the Arctic Shift research archive, because Reddit now blocks unauthenticated access. Only 12% of posts sit in outage threads, so the corpus is mostly ordinary discussion of plans, coverage and prices.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highlights in data cleansing: </a:t>
            </a:r>
            <a:r>
              <a:rPr dirty="0"/>
              <a:t>One problem that looks trivial but wasn't: Eight is a telco brand and an ordinary word. A naive match turned 'I took eight buses' into an Eight Telecom mention. So </a:t>
            </a:r>
            <a:r>
              <a:rPr dirty="0" err="1"/>
              <a:t>is_eight_telco_reference</a:t>
            </a:r>
            <a:r>
              <a:rPr dirty="0"/>
              <a:t>() first blocks number phrases like 'eight buses' or 'eight people', then accepts strong patterns like 'Eight Telecom', and otherwise needs telco context within 60 characters. Posts that fail are marked not telco-relevant, and get no sentiment or issue label, instead of polluting the brand chart.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designed the taxonomy around who would act on it. Each label maps to a team, so a spike becomes a routed task rather than a chart. Every quote here is a real post that I labelled in the blind gold sets, trimmed only where marked. The percentage is the share of the 9,162 posts with that label as their main issue, so the ten add to 100; a post can still carry several labels. Network is two in five posts; the next slide explains why I kept labels as small as Porting at 3%.</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The slide 9 shares</a:t>
            </a:r>
            <a:r>
              <a:rPr lang="en-US" sz="1200" b="0" i="0" kern="1200" dirty="0">
                <a:solidFill>
                  <a:schemeClr val="tx1"/>
                </a:solidFill>
                <a:effectLst/>
                <a:latin typeface="+mn-lt"/>
                <a:ea typeface="+mn-ea"/>
                <a:cs typeface="+mn-cs"/>
              </a:rPr>
              <a:t> (Network 41% and so on) count each post once, by its main issue, so they add to 100%. A post's secondary topics don't appear there.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rule behind the taxonomy: if two problems are fixed by different teams, they get different labels. My first draft used coarser labels, and you can still see them in the representative gold set: Mobile Plans &amp; Pricing, Customer Service &amp; Account, Network Outage &amp; Connectivity. The scorer maps those old names onto the new ones. I split them because a price rise goes to Commercial while a plan allowance goes to Product, and a hotline complaint goes to service operations while a login failure goes to the digital team. Small labels stay when they are sharp: Customer Service is only 4% of posts but the angriest label at 59% not happy. General Discussion is deliberately a residual, which is what made the hybrid possible: GPT-4o re-reads only those posts. The honest cost is the bottom line: finer labels are harder for humans to agree 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C is the core of the project: how I built trustworthy gold labels and what they say about VADER, keyword rules, GPT-4o-mini and GPT-4o.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I labelled posts without seeing any model's answer, kept threads separate, and kept the hard set apart. 295 typical · 100 hard · 100 double-labelled</a:t>
            </a:r>
          </a:p>
          <a:p>
            <a:endParaRPr lang="en-US" dirty="0"/>
          </a:p>
          <a:p>
            <a:endParaRPr lang="en-US" dirty="0"/>
          </a:p>
          <a:p>
            <a:r>
              <a:rPr lang="en-US" dirty="0"/>
              <a:t>//</a:t>
            </a:r>
            <a:r>
              <a:rPr dirty="0"/>
              <a:t>The annotation package hides every model column, so my labels can't lean on VADER or the LLMs. Threads are split so the representative and challenge sets never share a thread, with at most five comments per thread. I labelled 300 representative posts (295 telco-relevant, used for headline metrics) and 100 challenge posts chosen for sarcasm, Singlish, mixed brands and long text. Challenge results are reported separately, never pooled. A second annotator has since labelled 100 overlap posts.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evaluation in one slide. Every share in my findings comes from machine labels nobody read, so I first checked them against my own blind labels. I labelled three sets without seeing any model output: 300 representative posts for the headline scores, 100 hard posts from separate threads as a held-out test, and 100 posts from April to September because the first two only cover posts up to early April. A second annotator relabelled 100 overlap posts so I can say how much two humans agree. I compared VADER and the two GPT models for sentiment, and rules, the LLMs and the hybrid for issues. Scores are macro F1, and every difference gets a bootstrap interval: if it excludes zero, the gap is real.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8861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1.GPT-4o-mini labels sentiment far better than VADER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VADER misses complaints; mini wins clearly, and the bigger GPT-4o is only a tie.</a:t>
            </a:r>
          </a:p>
          <a:p>
            <a:r>
              <a:rPr lang="en-US" dirty="0"/>
              <a:t>2.Bar: </a:t>
            </a:r>
            <a:r>
              <a:rPr dirty="0"/>
              <a:t>On the 295 representative posts, VADER's macro F1 is 0.360; GPT-4o-mini reaches 0.631. The clearest failure: of 147 posts I labelled not happy, VADER called 61 of them happy. </a:t>
            </a:r>
            <a:endParaRPr lang="en-US" dirty="0"/>
          </a:p>
          <a:p>
            <a:r>
              <a:rPr lang="en-US" dirty="0"/>
              <a:t>Example later: </a:t>
            </a:r>
            <a:r>
              <a:rPr dirty="0"/>
              <a:t>Its sees words like 'better' and '$12' and misses that the person just switched away.</a:t>
            </a:r>
          </a:p>
          <a:p>
            <a:r>
              <a:rPr lang="en-US" dirty="0"/>
              <a:t>3. </a:t>
            </a:r>
            <a:r>
              <a:rPr dirty="0"/>
              <a:t>I bootstrapped the difference: mini beats VADER by 0.27, 95% interval 0.19 to 0.35, so this is not noise. GPT-4o is statistically tied with mini (interval −0.04 to +0.06) at about 17 times the cost, so mini is the right choice for sentiment. It also holds on the hard challenge posts: mini 0.773, GPT-4o 0.712, VADER 0.491. And a second mini run reproduced 292 of 295 labels, so it's stable.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For issues, rules first and GPT-4o only on the leftovers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Chart: Rules beat all-post LLMs; The </a:t>
            </a:r>
            <a:r>
              <a:rPr lang="en-US" dirty="0" err="1"/>
              <a:t>Hybrid:rules</a:t>
            </a:r>
            <a:r>
              <a:rPr lang="en-US" dirty="0"/>
              <a:t> plus GPT-4o on the leftovers is best on this set.</a:t>
            </a:r>
          </a:p>
          <a:p>
            <a:r>
              <a:rPr lang="en-US" b="1" dirty="0"/>
              <a:t>Why hybrid: </a:t>
            </a:r>
          </a:p>
          <a:p>
            <a:r>
              <a:rPr dirty="0"/>
              <a:t>Issues surprised me. Keyword rules score 0.639 macro F1. Running GPT-4o-mini on every post scores only 0.504, and GPT-4o 0.600, which is statistically a tie with rules. </a:t>
            </a:r>
            <a:endParaRPr lang="en-US" dirty="0"/>
          </a:p>
          <a:p>
            <a:r>
              <a:rPr dirty="0"/>
              <a:t>The LLMs are precise but incomplete: </a:t>
            </a:r>
            <a:r>
              <a:rPr b="1" dirty="0"/>
              <a:t>they return one or two topics when the post has several.</a:t>
            </a:r>
          </a:p>
          <a:p>
            <a:r>
              <a:rPr lang="en-US" dirty="0"/>
              <a:t> </a:t>
            </a:r>
            <a:endParaRPr dirty="0"/>
          </a:p>
          <a:p>
            <a:r>
              <a:rPr dirty="0"/>
              <a:t>So I built a hybrid. Rules label everything; the 98 gold posts that rules left as General Discussion go to GPT-4o, which reassigned 70 of them. That scores 0.680, the only method that beats rules on this set, with a </a:t>
            </a:r>
            <a:r>
              <a:rPr b="1" dirty="0"/>
              <a:t>bootstrap interval of +0.011 to +0.072</a:t>
            </a:r>
            <a:r>
              <a:rPr lang="en-US" b="1" dirty="0"/>
              <a:t> means it is not </a:t>
            </a:r>
            <a:r>
              <a:rPr dirty="0"/>
              <a:t>. But I designed it after seeing these results, so the next slide tests it on posts it wasn't designed 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indent="-228600">
              <a:buAutoNum type="arabicPeriod"/>
            </a:pPr>
            <a:r>
              <a:rPr dirty="0"/>
              <a:t>This is the result I'm most careful about. On the 100 </a:t>
            </a:r>
            <a:r>
              <a:rPr b="1" dirty="0"/>
              <a:t>challenge</a:t>
            </a:r>
            <a:r>
              <a:rPr dirty="0"/>
              <a:t> posts, which the hybrid never saw, its gain over rules shrinks to 0.01, the interval is −0.04 to +0.07. </a:t>
            </a:r>
            <a:endParaRPr lang="en-US" dirty="0"/>
          </a:p>
          <a:p>
            <a:r>
              <a:rPr lang="en-US" sz="1200" b="0" i="0" kern="1200" dirty="0">
                <a:solidFill>
                  <a:schemeClr val="tx1"/>
                </a:solidFill>
                <a:effectLst/>
                <a:latin typeface="+mn-lt"/>
                <a:ea typeface="+mn-ea"/>
                <a:cs typeface="+mn-cs"/>
              </a:rPr>
              <a:t>Table: Each row compares two issue-tagging methods on the 100 challenge posts</a:t>
            </a:r>
            <a:r>
              <a:rPr lang="en-US" sz="1200" b="1" i="0" kern="1200" dirty="0">
                <a:solidFill>
                  <a:schemeClr val="tx1"/>
                </a:solidFill>
                <a:effectLst/>
                <a:latin typeface="+mn-lt"/>
                <a:ea typeface="+mn-ea"/>
                <a:cs typeface="+mn-cs"/>
              </a:rPr>
              <a:t>. The range </a:t>
            </a:r>
            <a:r>
              <a:rPr lang="en-US" sz="1200" b="0" i="0" kern="1200" dirty="0">
                <a:solidFill>
                  <a:schemeClr val="tx1"/>
                </a:solidFill>
                <a:effectLst/>
                <a:latin typeface="+mn-lt"/>
                <a:ea typeface="+mn-ea"/>
                <a:cs typeface="+mn-cs"/>
              </a:rPr>
              <a:t>is the 95% confidence interval for how much higher the first method's macro F1 is than the second's.</a:t>
            </a:r>
          </a:p>
          <a:p>
            <a:r>
              <a:rPr lang="en-US" sz="1200" b="0" i="0" kern="1200" dirty="0">
                <a:solidFill>
                  <a:schemeClr val="tx1"/>
                </a:solidFill>
                <a:effectLst/>
                <a:latin typeface="+mn-lt"/>
                <a:ea typeface="+mn-ea"/>
                <a:cs typeface="+mn-cs"/>
              </a:rPr>
              <a:t>I got it by resampling the same 100 posts 2,000 times and recomputing the difference each time; 95% of those differences fall inside the range. To read it:</a:t>
            </a:r>
          </a:p>
          <a:p>
            <a:endParaRPr lang="en-US" dirty="0"/>
          </a:p>
          <a:p>
            <a:pPr marL="228600" indent="-228600">
              <a:buAutoNum type="arabicPeriod"/>
            </a:pPr>
            <a:r>
              <a:rPr dirty="0"/>
              <a:t>GPT-4o labelling every post wins there instead, </a:t>
            </a:r>
            <a:r>
              <a:rPr b="1" dirty="0"/>
              <a:t>0.596</a:t>
            </a:r>
            <a:r>
              <a:rPr dirty="0"/>
              <a:t>, </a:t>
            </a:r>
            <a:r>
              <a:rPr b="1" dirty="0"/>
              <a:t>beating both rules and the hybr</a:t>
            </a:r>
            <a:r>
              <a:rPr dirty="0"/>
              <a:t>id. </a:t>
            </a:r>
            <a:r>
              <a:rPr b="1" dirty="0"/>
              <a:t>It does better on customer service, roaming and billing, while rules still catch more device posts.</a:t>
            </a:r>
            <a:endParaRPr lang="en-US" b="1" dirty="0"/>
          </a:p>
          <a:p>
            <a:pPr marL="228600" indent="-228600">
              <a:buAutoNum type="arabicPeriod"/>
            </a:pPr>
            <a:endParaRPr b="1" dirty="0"/>
          </a:p>
          <a:p>
            <a:endParaRPr dirty="0"/>
          </a:p>
          <a:p>
            <a:r>
              <a:rPr dirty="0"/>
              <a:t>So the honest reading is split. On typical posts, which is what the corpus looks like, the hybrid is best, but its 0.680 is optimistic. On hard posts, GPT-4o on every post is best. Sentiment, by contrast, held up on both sets.</a:t>
            </a:r>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representative and challenge gold sets were drawn from posts up to early April. So I labelled a third blind set of 100 posts from April to September, 97 of them telco-relevant, and scored the labels already in the corpus against it. No new API calls.</a:t>
            </a:r>
          </a:p>
          <a:p>
            <a:endParaRPr/>
          </a:p>
          <a:p>
            <a:r>
              <a:t>Sentiment carries over: GPT-4o-mini 0.637 against VADER 0.428, the same as on the representative set, on both Reddit and HWZ. But the error has a direction: of 39 posts I called not happy, mini called 15 neutral. So the corpus not-happy share is probably an underestimate. Issues are harder on recent posts for every method; the hybrid still beats rules, but only reaches 0.477.</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r>
              <a:rPr lang="en-US" sz="1200" b="1" i="0" dirty="0">
                <a:solidFill>
                  <a:srgbClr val="1C2E6E"/>
                </a:solidFill>
                <a:latin typeface="Calibri"/>
              </a:rPr>
              <a:t> Why hybrids? LLMs miss the equipment jargon that rules catch</a:t>
            </a:r>
          </a:p>
          <a:p>
            <a:r>
              <a:rPr lang="en-US" dirty="0"/>
              <a:t>Bar Take </a:t>
            </a:r>
            <a:r>
              <a:rPr b="1" dirty="0"/>
              <a:t>Devices</a:t>
            </a:r>
            <a:r>
              <a:rPr dirty="0"/>
              <a:t> is the clearest case. Rules recall 81% of device posts; GPT-4o recalls 25% and GPT-4o-mini 6%. Posts like 'Starhub, no ONR, no CGNAT' are pure equipment jargon: an optical network router and carrier-grade NAT. The rules have those terms; the LLM reads the post as general chat, and mini even flips its sentiment to happy.</a:t>
            </a:r>
          </a:p>
          <a:p>
            <a:endParaRPr b="1" dirty="0"/>
          </a:p>
          <a:p>
            <a:r>
              <a:rPr b="1" dirty="0"/>
              <a:t>This is why the hybrid keeps rule hits and only uses the LLM where rules have nothing. The gap holds on the challenge set too: rules 75%, GPT-4o 33%.</a:t>
            </a:r>
            <a:endParaRPr lang="en-US" b="1" dirty="0"/>
          </a:p>
          <a:p>
            <a:endParaRPr lang="en-US" b="1" dirty="0"/>
          </a:p>
          <a:p>
            <a:endParaRPr b="1"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real examples, paraphrased. A short status update like '</a:t>
            </a:r>
            <a:r>
              <a:rPr dirty="0" err="1"/>
              <a:t>eSIM</a:t>
            </a:r>
            <a:r>
              <a:rPr dirty="0"/>
              <a:t> still down' has no sentiment words, so VADER says neutral. A switching story with 'better' and 'just $12' reads as happy to VADER, but it's a complaint about 5G drops. Elongated slang is outside the lexicon. And a user ready to port out after an outage is unhappy, whatever words they use. </a:t>
            </a:r>
            <a:r>
              <a:rPr b="1" dirty="0"/>
              <a:t>The LLM gets all four right.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Cost was a design constraint; mini on every post cost less than a coffee.</a:t>
            </a:r>
          </a:p>
          <a:p>
            <a:endParaRPr lang="en-US" dirty="0"/>
          </a:p>
          <a:p>
            <a:r>
              <a:rPr dirty="0"/>
              <a:t>Evaluating mini on 295 posts cost under one cent; GPT-4o on the same posts cost 15 cents. </a:t>
            </a:r>
            <a:r>
              <a:rPr b="1" dirty="0"/>
              <a:t>The biggest job </a:t>
            </a:r>
            <a:r>
              <a:rPr dirty="0"/>
              <a:t>sent 12,497 unresolved rows to GPT-4o: about 41 minutes, zero failed batches, $4.80. Sentiment on all 9,162 posts cost 28 cents. The finished jobs total about $5.30; a first pass I discarded, because it sent Reddit posts without their thread titles, added about $1.15. VADER and the rules label the same posts in a fraction of a second </a:t>
            </a:r>
            <a:r>
              <a:rPr b="1" dirty="0"/>
              <a:t>for free</a:t>
            </a:r>
            <a:r>
              <a:rPr dirty="0"/>
              <a:t>.</a:t>
            </a: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D: what GPT-4o-mini sentiment and the hybrid issue labels show on the 9,162-post corpus, the March outage as a case study, then a short dashboard demo.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GPT-4o moved 1,887 posts out of General Discussion. Rules left a third of posts unplaced; GPT-4o placed most of them, mainly into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Not yet human-checked.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t>
            </a:r>
          </a:p>
          <a:p>
            <a:r>
              <a:rPr dirty="0"/>
              <a:t>Rules alone left 3,229 of the 9,162 posts, 35%, in General Discussion. After GPT-4o </a:t>
            </a:r>
            <a:r>
              <a:rPr dirty="0" err="1"/>
              <a:t>relabelled</a:t>
            </a:r>
            <a:r>
              <a:rPr dirty="0"/>
              <a:t> them, that dropped to 1,342, or 15%. Most of the reassigned posts became Network Quality, which gained 995. Devices barely moved, which matches the gold result: rules already catch device posts.</a:t>
            </a:r>
          </a:p>
          <a:p>
            <a:endParaRPr dirty="0"/>
          </a:p>
          <a:p>
            <a:r>
              <a:rPr dirty="0"/>
              <a:t>These corpus reassignments have no human check yet. Before they drive an alert, I'd sample them.</a:t>
            </a:r>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 Two in five posts are not happy, and VADER hides it.  44% not happy, holding under every weighting; VADER would have said 46% happy.</a:t>
            </a:r>
          </a:p>
          <a:p>
            <a:endParaRPr lang="en-US" dirty="0"/>
          </a:p>
          <a:p>
            <a:endParaRPr lang="en-US" dirty="0"/>
          </a:p>
          <a:p>
            <a:r>
              <a:rPr dirty="0"/>
              <a:t>On the full corpus, GPT-4o-mini labels 44% of posts not happy and 19% happy. With every thread weighted equally it's 42%, and outside outage threads 40%, so this holds across weightings. VADER on the same posts says the opposite: 46% happy. Of the 4,180 posts VADER calls happy, mini reads 1,480 as not happy.</a:t>
            </a:r>
          </a:p>
          <a:p>
            <a:endParaRPr dirty="0"/>
          </a:p>
          <a:p>
            <a:r>
              <a:rPr dirty="0"/>
              <a:t>Neutral is higher than in my gold set, 37% against 32%. The recent-posts gold set explains it: on April–September posts mini reads some complaints as neutral, so if anything the true not-happy share is higher.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 </a:t>
            </a:r>
            <a:r>
              <a:rPr dirty="0"/>
              <a:t>Outage threads, led by the 16 March Singtel mobile outage, fill 45 threads and 1,102 posts, 12% of the corpus. Inside them 71% of posts are not happy, against 40% everywhere else. And 1,099 of those 1,102 posts are on Reddit.</a:t>
            </a:r>
          </a:p>
          <a:p>
            <a:endParaRPr dirty="0"/>
          </a:p>
          <a:p>
            <a:r>
              <a:rPr b="1" dirty="0"/>
              <a:t>So one event creates most of the Reddit–HWZ gap and much of Singtel's lead</a:t>
            </a:r>
            <a:r>
              <a:rPr dirty="0"/>
              <a:t>. </a:t>
            </a:r>
            <a:endParaRPr lang="en-US" dirty="0"/>
          </a:p>
          <a:p>
            <a:r>
              <a:rPr dirty="0"/>
              <a:t>Remove the outage threads and Reddit falls from 48% to 42% not happy, and Singtel from 48% to 42%, next to StarHub at 40</a:t>
            </a:r>
            <a:r>
              <a:rPr b="1" dirty="0"/>
              <a:t>%. That's why every finding in this deck is checked with and without them.</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Network quality is still first, 37 to 41% of posts and 46% of the not-happy discussion. Mobile plans are second and pricing third. App and account is small per post but spread across 115 threads.</a:t>
            </a:r>
          </a:p>
          <a:p>
            <a:endParaRPr dirty="0"/>
          </a:p>
          <a:p>
            <a:r>
              <a:rPr dirty="0"/>
              <a:t>Reddit is 48% not happy against HWZ 37% per post, 42 against 37 outside outages. The rest is topic: HWZ is mostly plan </a:t>
            </a:r>
            <a:r>
              <a:rPr dirty="0" err="1"/>
              <a:t>megathreads</a:t>
            </a:r>
            <a:r>
              <a:rPr dirty="0"/>
              <a:t>. Brands outside outages sit within three points, 40 to 43%, except Eight, the least negative at 35% under every weighting. So no league table.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dashboard is built around one meeting. Step one, the queue: not-happy posts in Network Quality, App &amp; Account or Porting, but only act when the week is unusual. Step two, open ten source posts and drop sarcasm and mislabels. Step three, match what's left to tickets or outages. Step four, one owner and a date. Step five, next week, check whether that issue's share fell.</a:t>
            </a:r>
          </a:p>
          <a:p>
            <a:endParaRPr/>
          </a:p>
          <a:p>
            <a:r>
              <a:t>A fixed threshold of 20 posts fired almost every week once I had more data, so the threshold is now twice the median week, 115 posts. Only two weeks qualify: the March Singtel outage, 352 posts, and 14 September, 149 posts, a multi-brand week with StarHub broadband down and SIMBA app OTP failures. That's the alert working.</a:t>
            </a:r>
          </a:p>
          <a:p>
            <a:endParaRPr/>
          </a:p>
          <a:p>
            <a:r>
              <a:t>[Demo] Open dashboard/index.html. Walk through: executive summary, the weekly queue chart, the tone chart next to VADER and human labels, issue shares per post and per thread, and the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E: recommendations for operators, the points I found most interesting, limitations and next steps.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comes from the data: each issue's share of not-happy discussion in the corpus. Network is first by far, and the huddle flagged two incident weeks, so the first action is incident communication, then proving local fixes. Plans and pricing come next: terms people discover late, like fair-use limits and Caller ID charges. Devices and the app are small but steady.</a:t>
            </a:r>
          </a:p>
          <a:p>
            <a:endParaRPr/>
          </a:p>
          <a:p>
            <a:r>
              <a:t>Billing and customer service are the most negative by rate but small, and in the outage case study they were aftercare, so that's a plan for incidents rather than a standing priority. My earlier App &amp; Account priority, from the 158-post sample, is withdrawn.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things surprised me.</a:t>
            </a:r>
          </a:p>
          <a:p>
            <a:endParaRPr dirty="0"/>
          </a:p>
          <a:p>
            <a:r>
              <a:rPr dirty="0"/>
              <a:t>First, the bigger model didn't win on sentiment. GPT-4o ties mini at 17 times the cost, on typical and hard posts.</a:t>
            </a:r>
          </a:p>
          <a:p>
            <a:endParaRPr dirty="0"/>
          </a:p>
          <a:p>
            <a:r>
              <a:rPr dirty="0"/>
              <a:t>Second, my best issue method didn't survive a held-out test. That's exactly why you keep a test set you don't tune on.</a:t>
            </a:r>
          </a:p>
          <a:p>
            <a:endParaRPr dirty="0"/>
          </a:p>
          <a:p>
            <a:r>
              <a:rPr dirty="0"/>
              <a:t>Third, two gaps that looked like insights, Reddit versus HWZ and Singtel versus everyone, were one outage.</a:t>
            </a:r>
          </a:p>
          <a:p>
            <a:endParaRPr dirty="0"/>
          </a:p>
          <a:p>
            <a:r>
              <a:rPr dirty="0"/>
              <a:t>Fourth, the data itself had bugs: 24,690 scraped rows held only 11,643 unique posts, and the HWZ scraper had only ever read page one of each thread until I fixed its page counter.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the data side: forum users choose to post, so they aren't Singapore subscribers at large; replies cluster by thread; 95% of posts are from 2026; recent Reddit posts come from a research archive, which can miss deleted posts; and I have no tickets or NPS to validate against.</a:t>
            </a:r>
          </a:p>
          <a:p>
            <a:endParaRPr dirty="0"/>
          </a:p>
          <a:p>
            <a:r>
              <a:rPr dirty="0"/>
              <a:t>On the method side: mini matches my labels on about two-thirds of posts, and two humans only agree at kappa 0.39; the hybrid's 0.680 is optimistic; and a multi-brand post gives its one sentiment to every brand.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next steps. One: improve issue tagging on recent posts, which scores well below the representative set, starting with customer service, and have a second annotator label part of the recent-posts gold set. Two: adjudicate the remaining disagreements between the two annotators. Three: settle hybrid versus GPT-4o on every post with a fresh held-out sample, since my gold sets disagree. Four: brand-level sentiment, so a post praising StarHub and </a:t>
            </a:r>
            <a:r>
              <a:rPr dirty="0" err="1"/>
              <a:t>criticising</a:t>
            </a:r>
            <a:r>
              <a:rPr dirty="0"/>
              <a:t> Singtel gets two labels, and validation against real tickets.</a:t>
            </a:r>
            <a:endParaRPr lang="en-US" dirty="0"/>
          </a:p>
          <a:p>
            <a:endParaRPr lang="en-US" dirty="0"/>
          </a:p>
          <a:p>
            <a:pPr lvl="0"/>
            <a:r>
              <a:rPr lang="en-US" dirty="0"/>
              <a:t>4.</a:t>
            </a:r>
            <a:r>
              <a:rPr lang="en-US" sz="1200" b="1" i="0" kern="1200" dirty="0">
                <a:solidFill>
                  <a:schemeClr val="tx1"/>
                </a:solidFill>
                <a:effectLst/>
                <a:latin typeface="+mn-lt"/>
                <a:ea typeface="+mn-ea"/>
                <a:cs typeface="+mn-cs"/>
              </a:rPr>
              <a:t> Per-issue and per-brand not-happy rates get blurred.</a:t>
            </a:r>
            <a:r>
              <a:rPr lang="en-US" sz="1200" b="0" i="0" kern="1200" dirty="0">
                <a:solidFill>
                  <a:schemeClr val="tx1"/>
                </a:solidFill>
                <a:effectLst/>
                <a:latin typeface="+mn-lt"/>
                <a:ea typeface="+mn-ea"/>
                <a:cs typeface="+mn-cs"/>
              </a:rPr>
              <a:t> A complaint about one topic leaks into the other topics in the same post. That's part of why you don't publish a brand league table.</a:t>
            </a:r>
          </a:p>
          <a:p>
            <a:r>
              <a:rPr lang="en-US" sz="1200" b="0" i="0" kern="1200" dirty="0">
                <a:solidFill>
                  <a:schemeClr val="tx1"/>
                </a:solidFill>
                <a:effectLst/>
                <a:latin typeface="+mn-lt"/>
                <a:ea typeface="+mn-ea"/>
                <a:cs typeface="+mn-cs"/>
              </a:rPr>
              <a:t>The fix is target-aware sentiment: one sentiment per issue or brand within a post. You haven't built it, and it's already listed in your limitations and next steps ("Brand-level sentiment"). If you're asked, say it's a known simplification. Most posts raise one topic, so the effect is mostly on mixed posts, and it's the first thing you'd change.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an LLM for sentiment, keyword rules plus a targeted GPT-4o pass for issues, and a weekly human huddle before anyone acts. Thank you, Professor. I'm happy to take questions, and I have backup slides with the detailed tables and agreement numbers.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slides. I'll only show these if the question comes up.</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 Why not use GPT-4o for everything?</a:t>
            </a:r>
          </a:p>
          <a:p>
            <a:r>
              <a:rPr dirty="0"/>
              <a:t>A: On typical posts GPT-4o on every post ties rules (0.600 vs 0.639) and costs ~17× mini. On hard posts it wins (0.596 vs 0.499). At ~$0.0005 a post it’s affordable on a deduplicated feed; I’d settle it on fresh held-out data.</a:t>
            </a:r>
          </a:p>
          <a:p>
            <a:r>
              <a:rPr dirty="0"/>
              <a:t>If pushed on cost: the whole clean corpus with GPT-4o on every post would be about $0.85.</a:t>
            </a:r>
          </a:p>
          <a:p>
            <a:endParaRPr dirty="0"/>
          </a:p>
          <a:p>
            <a:r>
              <a:rPr dirty="0"/>
              <a:t>Q: Is the hybrid’s gain real?</a:t>
            </a:r>
          </a:p>
          <a:p>
            <a:r>
              <a:rPr dirty="0"/>
              <a:t>A: On the set I tuned it on, yes: +0.041, 95% CI +0.011 to +0.072. On the held-out challenge set, no: +0.010, CI −0.04 to +0.07. So I report 0.680 as optimistic.</a:t>
            </a:r>
          </a:p>
          <a:p>
            <a:r>
              <a:rPr dirty="0"/>
              <a:t>Paired bootstrap, 2,000 resamples of posts. Challenge-set gain of GPT-4o over the hybrid: +0.087, CI +0.017 to +0.151.</a:t>
            </a:r>
          </a:p>
          <a:p>
            <a:endParaRPr dirty="0"/>
          </a:p>
          <a:p>
            <a:r>
              <a:rPr dirty="0"/>
              <a:t>Q: How reliable are your labels?</a:t>
            </a:r>
          </a:p>
          <a:p>
            <a:r>
              <a:rPr dirty="0"/>
              <a:t>A: Two annotators agree at </a:t>
            </a:r>
            <a:r>
              <a:rPr dirty="0" err="1"/>
              <a:t>κ</a:t>
            </a:r>
            <a:r>
              <a:rPr dirty="0"/>
              <a:t> 0.39 on typical posts and 0.59 on hard ones, mostly split on complaint vs neutral. The guide now has an explicit rule for failure reports.</a:t>
            </a:r>
          </a:p>
          <a:p>
            <a:r>
              <a:rPr dirty="0"/>
              <a:t>Per-label issue </a:t>
            </a:r>
            <a:r>
              <a:rPr dirty="0" err="1"/>
              <a:t>κ</a:t>
            </a:r>
            <a:r>
              <a:rPr dirty="0"/>
              <a:t> on the representative overlap: Network Quality 0.79, but Devices 0.16, App &amp; Account 0.17 and Customer Service 0.28. Two earlier versions of B's sheet were superseded because they copied my labels; the one used was </a:t>
            </a:r>
            <a:r>
              <a:rPr dirty="0" err="1"/>
              <a:t>relabelled</a:t>
            </a:r>
            <a:r>
              <a:rPr dirty="0"/>
              <a:t> with B's own notes.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 How good is GPT-4o-mini on the corpus?</a:t>
            </a:r>
          </a:p>
          <a:p>
            <a:r>
              <a:rPr dirty="0"/>
              <a:t>A: F1 0.631 on the representative set and 0.637 on the recent-posts set; a rerun reproduced 292 of 295 labels. On recent posts it under-calls complaints, so not-happy is likely understated.</a:t>
            </a:r>
          </a:p>
          <a:p>
            <a:r>
              <a:rPr dirty="0"/>
              <a:t>Mini's weakest class is happy (F1 0.54). Corpus shares are estimates, not measurements.</a:t>
            </a:r>
          </a:p>
          <a:p>
            <a:endParaRPr dirty="0"/>
          </a:p>
          <a:p>
            <a:r>
              <a:rPr dirty="0"/>
              <a:t>Q: How do you handle sarcasm and Singlish?</a:t>
            </a:r>
          </a:p>
          <a:p>
            <a:r>
              <a:rPr dirty="0"/>
              <a:t>A: VADER can’t; the challenge set targets these cases. There GPT-4o-mini reaches 0.773 macro F1 vs VADER 0.491 and GPT-4o 0.712.</a:t>
            </a:r>
          </a:p>
          <a:p>
            <a:endParaRPr dirty="0"/>
          </a:p>
          <a:p>
            <a:r>
              <a:rPr dirty="0"/>
              <a:t>Q: Why keep VADER at all?</a:t>
            </a:r>
          </a:p>
          <a:p>
            <a:r>
              <a:rPr dirty="0"/>
              <a:t>A: It’s free, local and deterministic: a baseline to beat. I no longer use it for any headline share.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 Is Reddit more negative than HWZ? Is Singtel worst?</a:t>
            </a:r>
          </a:p>
          <a:p>
            <a:r>
              <a:t>A: Outside outage threads, Reddit 42% vs HWZ 37%, mostly topic mix; brands sit within 3 points (Singtel 42%, StarHub 40%), with Eight lowest at 35%.</a:t>
            </a:r>
          </a:p>
          <a:p>
            <a:endParaRPr/>
          </a:p>
          <a:p>
            <a:r>
              <a:t>Q: What about privacy and ethics?</a:t>
            </a:r>
          </a:p>
          <a:p>
            <a:r>
              <a:t>A: Public posts only, no usernames in outputs, no identifiers sent to the API, and API keys kept in environment variables, never in code.</a:t>
            </a:r>
          </a:p>
          <a:p>
            <a:endParaRPr/>
          </a:p>
          <a:p>
            <a:r>
              <a:t>Q: Can this estimate NPS or market share?</a:t>
            </a:r>
          </a:p>
          <a:p>
            <a:r>
              <a:t>A: No. Posters self-select, replies cluster by thread, and 95% of posts are from 2026. It’s a triage queue, not a population measure.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Inter-annotator agreement on the 100 overlap posts, per set. Representative sentiment kappa is 0.39, fair; challenge is 0.59. Most disagreements are one pattern: posts I labelled not happy that the second annotator labelled neutral, typically questions about compensation, troubleshooting tips or second-hand reports. My guide never said whether a failure report is a complaint or a fact; it now does, and the second annotator's final pass applied that rule.</a:t>
            </a:r>
          </a:p>
          <a:p>
            <a:endParaRPr/>
          </a:p>
          <a:p>
            <a:r>
              <a:t>Two earlier versions of the second annotator's sheet are superseded: the first contradicted their own notes and matched mine, the second only revised sentiment. The version used was relabelled with their own notes throughout; no notes match mine and 9 of 40 challenge rows match on every field. Issue agreement is high for network quality, 0.79, but low for devices, app and customer service.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Per-class detail. VADER's weakness is not-happy recall: 0.34. GPT-4o-mini recovers 79% of complaints. GPT-4o is more conservative on happy, with recall 0.38, which is why it doesn't beat mini overall.</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rPr lang="en-US" dirty="0"/>
              <a:t>A</a:t>
            </a:r>
            <a:r>
              <a:rPr lang="en-US" sz="1200" b="0" i="0" dirty="0">
                <a:solidFill>
                  <a:schemeClr val="tx1"/>
                </a:solidFill>
                <a:effectLst/>
                <a:latin typeface="+mn-lt"/>
              </a:rPr>
              <a:t> post can carry several issue labels. How many it actually gets depends on the method:</a:t>
            </a:r>
          </a:p>
          <a:p>
            <a:pPr marL="342900" lvl="0" indent="-342900" algn="l">
              <a:buFont typeface="Arial" panose="020B0604020202020204" pitchFamily="34" charset="0"/>
              <a:buChar char="•"/>
            </a:pPr>
            <a:r>
              <a:rPr lang="en-US" sz="1200" b="1" i="0" dirty="0">
                <a:solidFill>
                  <a:schemeClr val="tx1"/>
                </a:solidFill>
                <a:effectLst/>
                <a:latin typeface="+mn-lt"/>
              </a:rPr>
              <a:t>Keyword rules</a:t>
            </a:r>
            <a:r>
              <a:rPr lang="en-US" sz="1200" b="0" i="0" dirty="0">
                <a:solidFill>
                  <a:schemeClr val="tx1"/>
                </a:solidFill>
                <a:effectLst/>
                <a:latin typeface="+mn-lt"/>
              </a:rPr>
              <a:t> tag every label whose keywords appear. A post mentioning roaming charges and a wrong bill gets both Roaming and Billing &amp; Payment.</a:t>
            </a:r>
          </a:p>
          <a:p>
            <a:pPr marL="342900" lvl="0" indent="-342900" algn="l">
              <a:buFont typeface="Arial" panose="020B0604020202020204" pitchFamily="34" charset="0"/>
              <a:buChar char="•"/>
            </a:pPr>
            <a:r>
              <a:rPr lang="en-US" sz="1200" b="1" i="0" dirty="0">
                <a:solidFill>
                  <a:schemeClr val="tx1"/>
                </a:solidFill>
                <a:effectLst/>
                <a:latin typeface="+mn-lt"/>
              </a:rPr>
              <a:t>LLMs</a:t>
            </a:r>
            <a:r>
              <a:rPr lang="en-US" sz="1200" b="0" i="0" dirty="0">
                <a:solidFill>
                  <a:schemeClr val="tx1"/>
                </a:solidFill>
                <a:effectLst/>
                <a:latin typeface="+mn-lt"/>
              </a:rPr>
              <a:t> are allowed to return several labels, but they usually return one or two. That's the "incomplete" part: they miss the secondary topics, which lowers their recall and is a big reason they scored below the rules.</a:t>
            </a:r>
          </a:p>
          <a:p>
            <a:pPr marL="342900" lvl="0" indent="-342900" algn="l">
              <a:buFont typeface="Arial" panose="020B0604020202020204" pitchFamily="34" charset="0"/>
              <a:buChar char="•"/>
            </a:pPr>
            <a:r>
              <a:rPr lang="en-US" sz="1200" b="1" i="0" dirty="0">
                <a:solidFill>
                  <a:schemeClr val="tx1"/>
                </a:solidFill>
                <a:effectLst/>
                <a:latin typeface="+mn-lt"/>
              </a:rPr>
              <a:t>The hybrid</a:t>
            </a:r>
            <a:r>
              <a:rPr lang="en-US" sz="1200" b="0" i="0" dirty="0">
                <a:solidFill>
                  <a:schemeClr val="tx1"/>
                </a:solidFill>
                <a:effectLst/>
                <a:latin typeface="+mn-lt"/>
              </a:rPr>
              <a:t> keeps the rule labels and only sends posts with no rule match to GPT-4o. So the LLM's habit of returning one topic only affects posts the rules couldn't place at all, which limits the damage.</a:t>
            </a:r>
          </a:p>
          <a:p>
            <a:pPr indent="0" algn="l">
              <a:buNone/>
            </a:pPr>
            <a:r>
              <a:rPr lang="en-US" sz="1200" b="0" i="0" dirty="0">
                <a:solidFill>
                  <a:schemeClr val="tx1"/>
                </a:solidFill>
                <a:effectLst/>
                <a:latin typeface="+mn-lt"/>
              </a:rPr>
              <a:t>That has three effects on your numbers:</a:t>
            </a:r>
          </a:p>
          <a:p>
            <a:pPr marL="342900" lvl="0" indent="-342900" algn="l">
              <a:buFont typeface="Arial" panose="020B0604020202020204" pitchFamily="34" charset="0"/>
              <a:buChar char="•"/>
            </a:pPr>
            <a:r>
              <a:rPr lang="en-US" sz="1200" b="1" i="0" dirty="0">
                <a:solidFill>
                  <a:schemeClr val="tx1"/>
                </a:solidFill>
                <a:effectLst/>
                <a:latin typeface="+mn-lt"/>
              </a:rPr>
              <a:t>The slide 9 shares</a:t>
            </a:r>
            <a:r>
              <a:rPr lang="en-US" sz="1200" b="0" i="0" dirty="0">
                <a:solidFill>
                  <a:schemeClr val="tx1"/>
                </a:solidFill>
                <a:effectLst/>
                <a:latin typeface="+mn-lt"/>
              </a:rPr>
              <a:t> (Network 41% and so on) count each post once, by its main issue, so they add to 100%. A post's secondary topics don't appear there.</a:t>
            </a:r>
          </a:p>
          <a:p>
            <a:pPr marL="342900" lvl="0" indent="-342900" algn="l">
              <a:buFont typeface="Arial" panose="020B0604020202020204" pitchFamily="34" charset="0"/>
              <a:buChar char="•"/>
            </a:pPr>
            <a:r>
              <a:rPr lang="en-US" sz="1200" b="1" i="0" dirty="0">
                <a:solidFill>
                  <a:schemeClr val="tx1"/>
                </a:solidFill>
                <a:effectLst/>
                <a:latin typeface="+mn-lt"/>
              </a:rPr>
              <a:t>Label counts</a:t>
            </a:r>
            <a:r>
              <a:rPr lang="en-US" sz="1200" b="0" i="0" dirty="0">
                <a:solidFill>
                  <a:schemeClr val="tx1"/>
                </a:solidFill>
                <a:effectLst/>
                <a:latin typeface="+mn-lt"/>
              </a:rPr>
              <a:t>, like the General Discussion chart, count every label a post has, so one post can add to several bars.</a:t>
            </a:r>
          </a:p>
          <a:p>
            <a:pPr marL="342900" lvl="0" indent="-342900" algn="l">
              <a:buFont typeface="Arial" panose="020B0604020202020204" pitchFamily="34" charset="0"/>
              <a:buChar char="•"/>
            </a:pPr>
            <a:r>
              <a:rPr lang="en-US" sz="1200" b="1" i="0" dirty="0">
                <a:solidFill>
                  <a:schemeClr val="tx1"/>
                </a:solidFill>
                <a:effectLst/>
                <a:latin typeface="+mn-lt"/>
              </a:rPr>
              <a:t>Sentiment</a:t>
            </a:r>
            <a:r>
              <a:rPr lang="en-US" sz="1200" b="0" i="0" dirty="0">
                <a:solidFill>
                  <a:schemeClr val="tx1"/>
                </a:solidFill>
                <a:effectLst/>
                <a:latin typeface="+mn-lt"/>
              </a:rPr>
              <a:t> is one label per post. A post that's angry about billing but neutral about roaming gives the same "not happy" to both issues, which can blur which issue is driving the complaint. That's the issue-level version of your "one sentiment copied to every brand" limitation.</a:t>
            </a:r>
          </a:p>
          <a:p>
            <a:pPr indent="0" algn="l">
              <a:buNone/>
            </a:pPr>
            <a:r>
              <a:rPr lang="en-US" sz="800" b="0" i="0" dirty="0">
                <a:solidFill>
                  <a:schemeClr val="tx1"/>
                </a:solidFill>
                <a:effectLst/>
                <a:latin typeface="+mn-lt"/>
              </a:rPr>
              <a:t>Your gold labels often give a post two or three topics. An LLM that returns only one of them is right about that one, which is the "precise" part. But it misses the others, so its recall drops, and F1 is the balance of precision and recall. The keyword rules tag every topic whose keywords appear. That catches more of the real topics, at the price of some false tags.</a:t>
            </a:r>
          </a:p>
          <a:p>
            <a:pPr indent="0" algn="l">
              <a:buNone/>
            </a:pPr>
            <a:r>
              <a:rPr lang="en-US" sz="800" b="0" i="0" dirty="0">
                <a:solidFill>
                  <a:schemeClr val="tx1"/>
                </a:solidFill>
                <a:effectLst/>
                <a:latin typeface="+mn-lt"/>
              </a:rPr>
              <a:t>Equipment jargon adds to it. Rules know terms like "ONR" and "CGNAT". The LLMs read those posts as general chat, so on Devices the rules found 81% of posts and GPT-4o 25%.</a:t>
            </a:r>
            <a:endParaRPr lang="en-US" sz="300" b="0" i="0" dirty="0">
              <a:solidFill>
                <a:srgbClr val="BFBFBF"/>
              </a:solidFill>
              <a:effectLst/>
              <a:latin typeface="-apple-system"/>
            </a:endParaRPr>
          </a:p>
          <a:p>
            <a:pPr marL="342900" lvl="0" indent="-342900" algn="l">
              <a:buFont typeface="Arial" panose="020B0604020202020204" pitchFamily="34" charset="0"/>
              <a:buChar char="•"/>
            </a:pPr>
            <a:endParaRPr lang="en-US" sz="800" b="0" i="0" dirty="0">
              <a:solidFill>
                <a:srgbClr val="3B3B3B"/>
              </a:solidFill>
              <a:effectLst/>
              <a:latin typeface="-apple-system"/>
            </a:endParaRPr>
          </a:p>
        </p:txBody>
      </p:sp>
      <p:sp>
        <p:nvSpPr>
          <p:cNvPr id="4" name="Slide Number Placeholder 3"/>
          <p:cNvSpPr>
            <a:spLocks noGrp="1"/>
          </p:cNvSpPr>
          <p:nvPr>
            <p:ph type="sldNum" sz="quarter" idx="5"/>
          </p:nvPr>
        </p:nvSpPr>
        <p:spPr/>
        <p:txBody>
          <a:bodyPr/>
          <a:lstStyle/>
          <a:p>
            <a:fld id="{720DB06B-229C-144D-A3B7-AAAA8C5554AE}" type="slidenum">
              <a:rPr lang="en-US" smtClean="0"/>
              <a:t>40</a:t>
            </a:fld>
            <a:endParaRPr lang="en-US"/>
          </a:p>
        </p:txBody>
      </p:sp>
    </p:spTree>
    <p:extLst>
      <p:ext uri="{BB962C8B-B14F-4D97-AF65-F5344CB8AC3E}">
        <p14:creationId xmlns:p14="http://schemas.microsoft.com/office/powerpoint/2010/main" val="954429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the evaluation found. For sentiment, GPT-4o-mini beats VADER clearly on all three sets, GPT-4o ties it at about 17 times the cost, and a rerun reproduced 292 of 295 labels. For issues, the hybrid is best on the representative set, but I designed it on that set, so 0.680 is optimistic: on the held-out hard posts its lead over rules disappears and GPT-4o on every post wins. Two humans only agree at kappa 0.39 on typical posts, so the labels themselves are debatable. That decided the production setup: mini for sentiment, the hybrid for issues, with two caveats on the findings. The 44% not happy is a floor, because mini misses some complaints, and issue shares are a ranking rather than exact percentages.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D93A-A78D-456C-F1BA-C5BF20B8D4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A78692F-B32A-169A-745A-C3A71CBDB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0808EA3-7C93-10F3-146A-44FFC8D82DFA}"/>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5" name="Footer Placeholder 4">
            <a:extLst>
              <a:ext uri="{FF2B5EF4-FFF2-40B4-BE49-F238E27FC236}">
                <a16:creationId xmlns:a16="http://schemas.microsoft.com/office/drawing/2014/main" id="{183EE075-8833-3C5C-C71C-BE8CB66F9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93EC6-D01C-BFF2-3749-9CD174CCA84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677055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7E07-11EA-F563-1F9C-0AE786CF12E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D98740D-D49C-40BC-4390-2249BC1583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023ED43-67BA-16A3-A7F3-C3D0A98E25B2}"/>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5" name="Footer Placeholder 4">
            <a:extLst>
              <a:ext uri="{FF2B5EF4-FFF2-40B4-BE49-F238E27FC236}">
                <a16:creationId xmlns:a16="http://schemas.microsoft.com/office/drawing/2014/main" id="{8B722EB8-E5BF-463E-F3FE-18471E2970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0D48C-AD49-50E4-82CF-D1A68C52AEE8}"/>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1945207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72EF-75C9-2E16-0370-7750DB5C649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963D0E5-3F98-571A-907B-1BE411D23B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13AC597-EFF4-69FF-D84C-F9FE4370DA99}"/>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5" name="Footer Placeholder 4">
            <a:extLst>
              <a:ext uri="{FF2B5EF4-FFF2-40B4-BE49-F238E27FC236}">
                <a16:creationId xmlns:a16="http://schemas.microsoft.com/office/drawing/2014/main" id="{05F943EC-46E5-AE54-23D0-82DB81903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F4554-8AE4-8312-F8E2-FDB1F9967BFE}"/>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684756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5B14E-EC1A-CEB7-3DD9-FC55628A9C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2CFC9A5-B5E6-C23B-3DAF-851168FB7F1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9E52D71-CE41-A530-E2A9-8A34AE6A57F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EF3C509-125D-EFFE-7A85-3D82B6446203}"/>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6" name="Footer Placeholder 5">
            <a:extLst>
              <a:ext uri="{FF2B5EF4-FFF2-40B4-BE49-F238E27FC236}">
                <a16:creationId xmlns:a16="http://schemas.microsoft.com/office/drawing/2014/main" id="{E70C51B3-076F-63FC-7BB1-985DF75617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63FD6E-B166-5C00-0CB4-9FC2570FBAE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250015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A6DF-0F05-E6C7-2805-9C9C995D8DE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CED22C-3A89-A029-AB65-907D88E562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372B57E-C6AC-E68E-61CB-DD1707A4A6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9E59FC8-F21E-CA83-82B3-0127A97F6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45968AB-CA15-E8FE-4FBF-19E9A51FF1E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82BED5E-115E-4FB1-E015-7843EAF3A505}"/>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8" name="Footer Placeholder 7">
            <a:extLst>
              <a:ext uri="{FF2B5EF4-FFF2-40B4-BE49-F238E27FC236}">
                <a16:creationId xmlns:a16="http://schemas.microsoft.com/office/drawing/2014/main" id="{2AE0651A-B93D-949B-46F6-F962BB566A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81BCBC-FF65-6343-4349-4C9E35E2A35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614080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7C978-B833-9211-A322-1907EE2B33F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B7869B-0DA1-1A4F-B73F-D49D0BEE0A9A}"/>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4" name="Footer Placeholder 3">
            <a:extLst>
              <a:ext uri="{FF2B5EF4-FFF2-40B4-BE49-F238E27FC236}">
                <a16:creationId xmlns:a16="http://schemas.microsoft.com/office/drawing/2014/main" id="{C1B1C5F0-293E-1718-606A-4C5A6A305A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397E27-3F50-3DFC-04E7-DC7823E0D83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90693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3F74F-D7A7-9C62-7E6C-E902134E7761}"/>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3" name="Footer Placeholder 2">
            <a:extLst>
              <a:ext uri="{FF2B5EF4-FFF2-40B4-BE49-F238E27FC236}">
                <a16:creationId xmlns:a16="http://schemas.microsoft.com/office/drawing/2014/main" id="{ED4DF2B7-8126-E8F1-B5B8-AC75F60817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D22276-0EA4-C769-712B-96406B40DE8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49927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73AD2-9D3C-5150-D437-15D421F1B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D13E28F-87A5-40AC-B60D-9489BA2325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3A44B67-8155-7EC9-1A06-8BA387F34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4F341F-50F0-5397-23A0-8117B6EDB456}"/>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6" name="Footer Placeholder 5">
            <a:extLst>
              <a:ext uri="{FF2B5EF4-FFF2-40B4-BE49-F238E27FC236}">
                <a16:creationId xmlns:a16="http://schemas.microsoft.com/office/drawing/2014/main" id="{A07862B8-8739-0123-8D80-D1AB6AF71D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4B092-2DAD-4C07-BD9E-31DB7CDCBA03}"/>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3234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2020-6A6C-B368-D46A-1C98B40EFF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A29D2D6-51AF-B2CF-15D0-95666FB7A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06F60A-1702-A309-3FEC-7B39FE5AB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AD23A4-0EB1-3CF3-B6AA-38A9C6629B57}"/>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6" name="Footer Placeholder 5">
            <a:extLst>
              <a:ext uri="{FF2B5EF4-FFF2-40B4-BE49-F238E27FC236}">
                <a16:creationId xmlns:a16="http://schemas.microsoft.com/office/drawing/2014/main" id="{F59A9EDD-8DA4-073C-FE48-7F932F9731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303D31-F6FC-8FA6-B178-73DE5416729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40269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A48DD-BAD4-AAEE-CB1A-8586FAFEA20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EBBFBC6-D2A8-42C7-CD7F-D4D1E58086A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5CEE1B-FE4D-B5A9-D7C0-2B4D01E584A2}"/>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5" name="Footer Placeholder 4">
            <a:extLst>
              <a:ext uri="{FF2B5EF4-FFF2-40B4-BE49-F238E27FC236}">
                <a16:creationId xmlns:a16="http://schemas.microsoft.com/office/drawing/2014/main" id="{645C7891-942A-46F2-66C2-0A86A8188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BA9B9F-0006-FD0C-BAEA-9C3C96E7E9EE}"/>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89993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AFCF34-E3EC-5BDA-2554-C980D8244C8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329B9C-D8B0-5BD1-55CF-5ADD9945D4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9A80F5-A5FB-FFBB-9F51-3F12C4FBD532}"/>
              </a:ext>
            </a:extLst>
          </p:cNvPr>
          <p:cNvSpPr>
            <a:spLocks noGrp="1"/>
          </p:cNvSpPr>
          <p:nvPr>
            <p:ph type="dt" sz="half" idx="10"/>
          </p:nvPr>
        </p:nvSpPr>
        <p:spPr/>
        <p:txBody>
          <a:bodyPr/>
          <a:lstStyle/>
          <a:p>
            <a:fld id="{E19AD244-9817-3047-A477-01BB4324E821}" type="datetimeFigureOut">
              <a:rPr lang="en-US" smtClean="0"/>
              <a:t>10/6/26</a:t>
            </a:fld>
            <a:endParaRPr lang="en-US"/>
          </a:p>
        </p:txBody>
      </p:sp>
      <p:sp>
        <p:nvSpPr>
          <p:cNvPr id="5" name="Footer Placeholder 4">
            <a:extLst>
              <a:ext uri="{FF2B5EF4-FFF2-40B4-BE49-F238E27FC236}">
                <a16:creationId xmlns:a16="http://schemas.microsoft.com/office/drawing/2014/main" id="{01703F68-56C9-33AC-BF47-969C054B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D6FEE-5CE8-9322-DBFC-1CA839332647}"/>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05565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5"/>
        <p:cNvGrpSpPr/>
        <p:nvPr/>
      </p:nvGrpSpPr>
      <p:grpSpPr>
        <a:xfrm>
          <a:off x="0" y="0"/>
          <a:ext cx="0" cy="0"/>
          <a:chOff x="0" y="0"/>
          <a:chExt cx="0" cy="0"/>
        </a:xfrm>
      </p:grpSpPr>
      <p:pic>
        <p:nvPicPr>
          <p:cNvPr id="16" name="Google Shape;16;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17" name="Google Shape;17;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extLst>
      <p:ext uri="{BB962C8B-B14F-4D97-AF65-F5344CB8AC3E}">
        <p14:creationId xmlns:p14="http://schemas.microsoft.com/office/powerpoint/2010/main" val="2954208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26"/>
        <p:cNvGrpSpPr/>
        <p:nvPr/>
      </p:nvGrpSpPr>
      <p:grpSpPr>
        <a:xfrm>
          <a:off x="0" y="0"/>
          <a:ext cx="0" cy="0"/>
          <a:chOff x="0" y="0"/>
          <a:chExt cx="0" cy="0"/>
        </a:xfrm>
      </p:grpSpPr>
      <p:pic>
        <p:nvPicPr>
          <p:cNvPr id="27" name="Google Shape;27;p8"/>
          <p:cNvPicPr preferRelativeResize="0"/>
          <p:nvPr/>
        </p:nvPicPr>
        <p:blipFill rotWithShape="1">
          <a:blip r:embed="rId2">
            <a:alphaModFix/>
          </a:blip>
          <a:srcRect/>
          <a:stretch/>
        </p:blipFill>
        <p:spPr>
          <a:xfrm>
            <a:off x="0" y="-4761"/>
            <a:ext cx="12192000" cy="685800"/>
          </a:xfrm>
          <a:prstGeom prst="rect">
            <a:avLst/>
          </a:prstGeom>
          <a:noFill/>
          <a:ln>
            <a:noFill/>
          </a:ln>
        </p:spPr>
      </p:pic>
    </p:spTree>
    <p:extLst>
      <p:ext uri="{BB962C8B-B14F-4D97-AF65-F5344CB8AC3E}">
        <p14:creationId xmlns:p14="http://schemas.microsoft.com/office/powerpoint/2010/main" val="201389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86BB02-548D-7AC0-FD1C-85568EC083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2FE936F-5919-04F5-1F76-730552028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097F57-260C-C8C2-904E-8DCCA2FBAF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9AD244-9817-3047-A477-01BB4324E821}" type="datetimeFigureOut">
              <a:rPr lang="en-US" smtClean="0"/>
              <a:t>10/6/26</a:t>
            </a:fld>
            <a:endParaRPr lang="en-US"/>
          </a:p>
        </p:txBody>
      </p:sp>
      <p:sp>
        <p:nvSpPr>
          <p:cNvPr id="5" name="Footer Placeholder 4">
            <a:extLst>
              <a:ext uri="{FF2B5EF4-FFF2-40B4-BE49-F238E27FC236}">
                <a16:creationId xmlns:a16="http://schemas.microsoft.com/office/drawing/2014/main" id="{0D763691-8C8F-D460-C5C9-01D86DBE76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247E2E-EA0A-5DEA-BE96-30CB532606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FB5B2-ACED-4C4A-A8C8-EE412B7C9949}" type="slidenum">
              <a:rPr lang="en-US" smtClean="0"/>
              <a:t>‹#›</a:t>
            </a:fld>
            <a:endParaRPr lang="en-US"/>
          </a:p>
        </p:txBody>
      </p:sp>
    </p:spTree>
    <p:extLst>
      <p:ext uri="{BB962C8B-B14F-4D97-AF65-F5344CB8AC3E}">
        <p14:creationId xmlns:p14="http://schemas.microsoft.com/office/powerpoint/2010/main" val="16724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26_A7261203.xml"/><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a:t>
            </a:r>
          </a:p>
        </p:txBody>
      </p:sp>
      <p:sp>
        <p:nvSpPr>
          <p:cNvPr id="3" name="TextBox 2"/>
          <p:cNvSpPr txBox="1"/>
          <p:nvPr/>
        </p:nvSpPr>
        <p:spPr>
          <a:xfrm>
            <a:off x="822959" y="1417320"/>
            <a:ext cx="6949440" cy="1737360"/>
          </a:xfrm>
          <a:prstGeom prst="rect">
            <a:avLst/>
          </a:prstGeom>
          <a:noFill/>
        </p:spPr>
        <p:txBody>
          <a:bodyPr wrap="square" lIns="0" tIns="0" rIns="0" bIns="0" anchor="t">
            <a:spAutoFit/>
          </a:bodyPr>
          <a:lstStyle/>
          <a:p>
            <a:pPr algn="l">
              <a:spcAft>
                <a:spcPts val="0"/>
              </a:spcAft>
            </a:pPr>
            <a:r>
              <a:rPr sz="4400" b="1" i="0">
                <a:solidFill>
                  <a:srgbClr val="1C2E6E"/>
                </a:solidFill>
                <a:latin typeface="Calibri"/>
              </a:rPr>
              <a:t>From Forum Posts</a:t>
            </a:r>
          </a:p>
          <a:p>
            <a:pPr algn="l">
              <a:spcAft>
                <a:spcPts val="0"/>
              </a:spcAft>
            </a:pPr>
            <a:r>
              <a:rPr sz="4400" b="1" i="0">
                <a:solidFill>
                  <a:srgbClr val="1C2E6E"/>
                </a:solidFill>
                <a:latin typeface="Calibri"/>
              </a:rPr>
              <a:t>to Telco Actions</a:t>
            </a:r>
          </a:p>
        </p:txBody>
      </p:sp>
      <p:sp>
        <p:nvSpPr>
          <p:cNvPr id="4" name="TextBox 3"/>
          <p:cNvSpPr txBox="1"/>
          <p:nvPr/>
        </p:nvSpPr>
        <p:spPr>
          <a:xfrm>
            <a:off x="822959" y="3246120"/>
            <a:ext cx="6766560" cy="109728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Public sentiment analysis of Singapore mobile-plan discussions with LLM-powered issue extraction</a:t>
            </a:r>
          </a:p>
        </p:txBody>
      </p:sp>
      <p:sp>
        <p:nvSpPr>
          <p:cNvPr id="5" name="TextBox 4"/>
          <p:cNvSpPr txBox="1"/>
          <p:nvPr/>
        </p:nvSpPr>
        <p:spPr>
          <a:xfrm>
            <a:off x="822959" y="4983480"/>
            <a:ext cx="6766560" cy="822960"/>
          </a:xfrm>
          <a:prstGeom prst="rect">
            <a:avLst/>
          </a:prstGeom>
          <a:noFill/>
        </p:spPr>
        <p:txBody>
          <a:bodyPr wrap="square" lIns="0" tIns="0" rIns="0" bIns="0" anchor="t">
            <a:spAutoFit/>
          </a:bodyPr>
          <a:lstStyle/>
          <a:p>
            <a:pPr algn="l">
              <a:spcAft>
                <a:spcPts val="200"/>
              </a:spcAft>
            </a:pPr>
            <a:r>
              <a:rPr sz="1400" b="0" i="0">
                <a:solidFill>
                  <a:srgbClr val="1E293B"/>
                </a:solidFill>
                <a:latin typeface="Calibri"/>
              </a:rPr>
              <a:t>Zixin  ·  Capstone project walkthrough</a:t>
            </a:r>
          </a:p>
          <a:p>
            <a:pPr algn="l">
              <a:spcAft>
                <a:spcPts val="200"/>
              </a:spcAft>
            </a:pPr>
            <a:r>
              <a:rPr sz="1400" b="0" i="0">
                <a:solidFill>
                  <a:srgbClr val="1E293B"/>
                </a:solidFill>
                <a:latin typeface="Calibri"/>
              </a:rPr>
              <a:t>SMU School of Computing and Information Systems  ·  September 2026</a:t>
            </a:r>
          </a:p>
        </p:txBody>
      </p:sp>
      <p:sp>
        <p:nvSpPr>
          <p:cNvPr id="6" name="Rounded Rectangle 5"/>
          <p:cNvSpPr/>
          <p:nvPr/>
        </p:nvSpPr>
        <p:spPr>
          <a:xfrm>
            <a:off x="8001000" y="1234440"/>
            <a:ext cx="3611880" cy="4892040"/>
          </a:xfrm>
          <a:prstGeom prst="roundRect">
            <a:avLst>
              <a:gd name="adj" fmla="val 5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463040"/>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9,162</a:t>
            </a:r>
          </a:p>
        </p:txBody>
      </p:sp>
      <p:sp>
        <p:nvSpPr>
          <p:cNvPr id="8" name="TextBox 7"/>
          <p:cNvSpPr txBox="1"/>
          <p:nvPr/>
        </p:nvSpPr>
        <p:spPr>
          <a:xfrm>
            <a:off x="8321040" y="1965960"/>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unique posts in 349 telco threads</a:t>
            </a:r>
          </a:p>
        </p:txBody>
      </p:sp>
      <p:sp>
        <p:nvSpPr>
          <p:cNvPr id="9" name="TextBox 8"/>
          <p:cNvSpPr txBox="1"/>
          <p:nvPr/>
        </p:nvSpPr>
        <p:spPr>
          <a:xfrm>
            <a:off x="8321040" y="2606040"/>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395</a:t>
            </a:r>
          </a:p>
        </p:txBody>
      </p:sp>
      <p:sp>
        <p:nvSpPr>
          <p:cNvPr id="10" name="TextBox 9"/>
          <p:cNvSpPr txBox="1"/>
          <p:nvPr/>
        </p:nvSpPr>
        <p:spPr>
          <a:xfrm>
            <a:off x="8321040" y="3108960"/>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posts hand-labelled for evaluation</a:t>
            </a:r>
          </a:p>
        </p:txBody>
      </p:sp>
      <p:sp>
        <p:nvSpPr>
          <p:cNvPr id="11" name="TextBox 10"/>
          <p:cNvSpPr txBox="1"/>
          <p:nvPr/>
        </p:nvSpPr>
        <p:spPr>
          <a:xfrm>
            <a:off x="8321040" y="3749039"/>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0.631</a:t>
            </a:r>
          </a:p>
        </p:txBody>
      </p:sp>
      <p:sp>
        <p:nvSpPr>
          <p:cNvPr id="12" name="TextBox 11"/>
          <p:cNvSpPr txBox="1"/>
          <p:nvPr/>
        </p:nvSpPr>
        <p:spPr>
          <a:xfrm>
            <a:off x="8321040" y="4251959"/>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sentiment macro F1, GPT-4o-mini (VADER 0.360)</a:t>
            </a:r>
          </a:p>
        </p:txBody>
      </p:sp>
      <p:sp>
        <p:nvSpPr>
          <p:cNvPr id="13" name="TextBox 12"/>
          <p:cNvSpPr txBox="1"/>
          <p:nvPr/>
        </p:nvSpPr>
        <p:spPr>
          <a:xfrm>
            <a:off x="8321040" y="4892040"/>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 $6.50</a:t>
            </a:r>
          </a:p>
        </p:txBody>
      </p:sp>
      <p:sp>
        <p:nvSpPr>
          <p:cNvPr id="14" name="TextBox 13"/>
          <p:cNvSpPr txBox="1"/>
          <p:nvPr/>
        </p:nvSpPr>
        <p:spPr>
          <a:xfrm>
            <a:off x="8321040" y="5394959"/>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for all LLM work combined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Roadmap for the </a:t>
            </a:r>
            <a:r>
              <a:rPr sz="2400" b="1" i="0">
                <a:solidFill>
                  <a:srgbClr val="1C2E6E"/>
                </a:solidFill>
                <a:latin typeface="Calibri"/>
              </a:rPr>
              <a:t>next </a:t>
            </a:r>
            <a:r>
              <a:rPr lang="en-US" sz="2400" b="1" i="0" dirty="0">
                <a:solidFill>
                  <a:srgbClr val="1C2E6E"/>
                </a:solidFill>
                <a:latin typeface="Calibri"/>
              </a:rPr>
              <a:t>5</a:t>
            </a:r>
            <a:r>
              <a:rPr lang="en-US" sz="2400" b="1">
                <a:solidFill>
                  <a:srgbClr val="1C2E6E"/>
                </a:solidFill>
                <a:latin typeface="Calibri"/>
              </a:rPr>
              <a:t>0</a:t>
            </a:r>
            <a:r>
              <a:rPr sz="2400" b="1" i="0">
                <a:solidFill>
                  <a:srgbClr val="1C2E6E"/>
                </a:solidFill>
                <a:latin typeface="Calibri"/>
              </a:rPr>
              <a:t> </a:t>
            </a:r>
            <a:r>
              <a:rPr lang="en-US" sz="2400" b="1" i="0" dirty="0">
                <a:solidFill>
                  <a:srgbClr val="1C2E6E"/>
                </a:solidFill>
                <a:latin typeface="Calibri"/>
              </a:rPr>
              <a:t>minutes</a:t>
            </a:r>
            <a:endParaRPr sz="2400"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a:t>
            </a:r>
          </a:p>
        </p:txBody>
      </p:sp>
      <p:sp>
        <p:nvSpPr>
          <p:cNvPr id="4" name="Pentagon 3"/>
          <p:cNvSpPr/>
          <p:nvPr/>
        </p:nvSpPr>
        <p:spPr>
          <a:xfrm>
            <a:off x="548640" y="1920240"/>
            <a:ext cx="2159812" cy="114300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A  Problem</a:t>
            </a:r>
          </a:p>
          <a:p>
            <a:pPr algn="ctr"/>
            <a:r>
              <a:rPr sz="1300" b="0">
                <a:solidFill>
                  <a:srgbClr val="FFFFFF"/>
                </a:solidFill>
                <a:latin typeface="Calibri"/>
              </a:rPr>
              <a:t>2 min</a:t>
            </a:r>
          </a:p>
        </p:txBody>
      </p:sp>
      <p:sp>
        <p:nvSpPr>
          <p:cNvPr id="5" name="Chevron 4"/>
          <p:cNvSpPr/>
          <p:nvPr/>
        </p:nvSpPr>
        <p:spPr>
          <a:xfrm>
            <a:off x="2781604"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B  Data &amp; pipeline</a:t>
            </a:r>
          </a:p>
          <a:p>
            <a:pPr algn="ctr"/>
            <a:r>
              <a:rPr sz="1300" b="0">
                <a:solidFill>
                  <a:srgbClr val="FFFFFF"/>
                </a:solidFill>
                <a:latin typeface="Calibri"/>
              </a:rPr>
              <a:t>4 min</a:t>
            </a:r>
          </a:p>
        </p:txBody>
      </p:sp>
      <p:sp>
        <p:nvSpPr>
          <p:cNvPr id="6" name="Chevron 5"/>
          <p:cNvSpPr/>
          <p:nvPr/>
        </p:nvSpPr>
        <p:spPr>
          <a:xfrm>
            <a:off x="5014569"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C  Evaluation</a:t>
            </a:r>
          </a:p>
          <a:p>
            <a:pPr algn="ctr"/>
            <a:r>
              <a:rPr sz="1300" b="0">
                <a:solidFill>
                  <a:srgbClr val="FFFFFF"/>
                </a:solidFill>
                <a:latin typeface="Calibri"/>
              </a:rPr>
              <a:t>7 min</a:t>
            </a:r>
          </a:p>
        </p:txBody>
      </p:sp>
      <p:sp>
        <p:nvSpPr>
          <p:cNvPr id="7" name="Chevron 6"/>
          <p:cNvSpPr/>
          <p:nvPr/>
        </p:nvSpPr>
        <p:spPr>
          <a:xfrm>
            <a:off x="7247534"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D  Findings</a:t>
            </a:r>
          </a:p>
          <a:p>
            <a:pPr algn="ctr"/>
            <a:r>
              <a:rPr sz="1300" b="0">
                <a:solidFill>
                  <a:srgbClr val="FFFFFF"/>
                </a:solidFill>
                <a:latin typeface="Calibri"/>
              </a:rPr>
              <a:t>5 min</a:t>
            </a:r>
          </a:p>
        </p:txBody>
      </p:sp>
      <p:sp>
        <p:nvSpPr>
          <p:cNvPr id="8" name="Chevron 7"/>
          <p:cNvSpPr/>
          <p:nvPr/>
        </p:nvSpPr>
        <p:spPr>
          <a:xfrm>
            <a:off x="9480499"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E  Actions</a:t>
            </a:r>
          </a:p>
          <a:p>
            <a:pPr algn="ctr"/>
            <a:r>
              <a:rPr sz="1300" b="0">
                <a:solidFill>
                  <a:srgbClr val="FFFFFF"/>
                </a:solidFill>
                <a:latin typeface="Calibri"/>
              </a:rPr>
              <a:t>4 min</a:t>
            </a:r>
          </a:p>
        </p:txBody>
      </p:sp>
      <p:sp>
        <p:nvSpPr>
          <p:cNvPr id="9" name="Rounded Rectangle 8"/>
          <p:cNvSpPr/>
          <p:nvPr/>
        </p:nvSpPr>
        <p:spPr>
          <a:xfrm>
            <a:off x="548640" y="3657600"/>
            <a:ext cx="11091672" cy="16002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840480"/>
            <a:ext cx="10634472" cy="365760"/>
          </a:xfrm>
          <a:prstGeom prst="rect">
            <a:avLst/>
          </a:prstGeom>
          <a:noFill/>
        </p:spPr>
        <p:txBody>
          <a:bodyPr wrap="square" lIns="0" tIns="0" rIns="0" bIns="0" anchor="t">
            <a:spAutoFit/>
          </a:bodyPr>
          <a:lstStyle/>
          <a:p>
            <a:pPr algn="l">
              <a:spcAft>
                <a:spcPts val="600"/>
              </a:spcAft>
            </a:pPr>
            <a:r>
              <a:rPr sz="2000" b="1" i="0">
                <a:solidFill>
                  <a:srgbClr val="1C2E6E"/>
                </a:solidFill>
                <a:latin typeface="Calibri"/>
              </a:rPr>
              <a:t>The claim I'll defend</a:t>
            </a:r>
          </a:p>
        </p:txBody>
      </p:sp>
      <p:sp>
        <p:nvSpPr>
          <p:cNvPr id="11" name="TextBox 10"/>
          <p:cNvSpPr txBox="1"/>
          <p:nvPr/>
        </p:nvSpPr>
        <p:spPr>
          <a:xfrm>
            <a:off x="777240" y="4224528"/>
            <a:ext cx="10634472" cy="553998"/>
          </a:xfrm>
          <a:prstGeom prst="rect">
            <a:avLst/>
          </a:prstGeom>
          <a:noFill/>
        </p:spPr>
        <p:txBody>
          <a:bodyPr wrap="square" lIns="0" tIns="0" rIns="0" bIns="0" anchor="t">
            <a:spAutoFit/>
          </a:bodyPr>
          <a:lstStyle/>
          <a:p>
            <a:pPr algn="l">
              <a:spcAft>
                <a:spcPts val="600"/>
              </a:spcAft>
            </a:pPr>
            <a:r>
              <a:rPr sz="1800" b="1" i="0" dirty="0">
                <a:solidFill>
                  <a:srgbClr val="1E293B"/>
                </a:solidFill>
                <a:latin typeface="Calibri"/>
              </a:rPr>
              <a:t>Use an LLM for sentiment. </a:t>
            </a:r>
            <a:r>
              <a:rPr sz="1800" b="0" i="0" dirty="0">
                <a:solidFill>
                  <a:srgbClr val="1E293B"/>
                </a:solidFill>
                <a:latin typeface="Calibri"/>
              </a:rPr>
              <a:t>For issues, use keyword rules plus a targeted GPT-4o pass, and report honestly where that fails</a:t>
            </a:r>
            <a:r>
              <a:rPr sz="1800" b="1" i="0" dirty="0">
                <a:solidFill>
                  <a:srgbClr val="1E293B"/>
                </a:solidFill>
                <a:latin typeface="Calibri"/>
              </a:rPr>
              <a:t>. </a:t>
            </a:r>
            <a:r>
              <a:rPr sz="1800" b="0" i="0" dirty="0">
                <a:solidFill>
                  <a:srgbClr val="1E293B"/>
                </a:solidFill>
                <a:latin typeface="Calibri"/>
              </a:rPr>
              <a:t>Every number in this deck traces to a file in the repository.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A</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Problem and research questions</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Why forum posts, and what I set out to answer</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2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Forums surface pain points before surveys do</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4</a:t>
            </a:r>
          </a:p>
        </p:txBody>
      </p:sp>
      <p:sp>
        <p:nvSpPr>
          <p:cNvPr id="4" name="TextBox 3"/>
          <p:cNvSpPr txBox="1"/>
          <p:nvPr/>
        </p:nvSpPr>
        <p:spPr>
          <a:xfrm>
            <a:off x="548640" y="1737360"/>
            <a:ext cx="4937760" cy="4206240"/>
          </a:xfrm>
          <a:prstGeom prst="rect">
            <a:avLst/>
          </a:prstGeom>
          <a:noFill/>
        </p:spPr>
        <p:txBody>
          <a:bodyPr wrap="square" lIns="0" tIns="0" rIns="0" bIns="0" anchor="t">
            <a:spAutoFit/>
          </a:bodyPr>
          <a:lstStyle/>
          <a:p>
            <a:pPr marL="256032" indent="-256032" algn="l">
              <a:spcAft>
                <a:spcPts val="1400"/>
              </a:spcAft>
              <a:buClr>
                <a:srgbClr val="D29B08"/>
              </a:buClr>
              <a:buFont typeface="Arial"/>
              <a:buChar char="•"/>
            </a:pPr>
            <a:r>
              <a:rPr sz="1700" b="0" i="0" dirty="0">
                <a:solidFill>
                  <a:srgbClr val="1E293B"/>
                </a:solidFill>
                <a:latin typeface="Calibri"/>
              </a:rPr>
              <a:t>Customers discuss plans, coverage, roaming and porting in public, unprompted</a:t>
            </a:r>
          </a:p>
          <a:p>
            <a:pPr marL="256032" indent="-256032" algn="l">
              <a:spcAft>
                <a:spcPts val="1400"/>
              </a:spcAft>
              <a:buClr>
                <a:srgbClr val="D29B08"/>
              </a:buClr>
              <a:buFont typeface="Arial"/>
              <a:buChar char="•"/>
            </a:pPr>
            <a:r>
              <a:rPr sz="1700" b="0" i="0" dirty="0">
                <a:solidFill>
                  <a:srgbClr val="1E293B"/>
                </a:solidFill>
                <a:latin typeface="Calibri"/>
              </a:rPr>
              <a:t>The text is hard: Singlish, sarcasm, quoted replies, several brands in one post</a:t>
            </a:r>
          </a:p>
          <a:p>
            <a:pPr marL="256032" indent="-256032" algn="l">
              <a:spcAft>
                <a:spcPts val="1400"/>
              </a:spcAft>
              <a:buClr>
                <a:srgbClr val="D29B08"/>
              </a:buClr>
              <a:buFont typeface="Arial"/>
              <a:buChar char="•"/>
            </a:pPr>
            <a:r>
              <a:rPr sz="1700" b="0" i="0" dirty="0">
                <a:solidFill>
                  <a:srgbClr val="1E293B"/>
                </a:solidFill>
                <a:latin typeface="Calibri"/>
              </a:rPr>
              <a:t>Brand names collide with ordinary words: “Eight”, “M1”, “Giga”</a:t>
            </a:r>
          </a:p>
          <a:p>
            <a:pPr marL="256032" indent="-256032" algn="l">
              <a:spcAft>
                <a:spcPts val="1400"/>
              </a:spcAft>
              <a:buClr>
                <a:srgbClr val="D29B08"/>
              </a:buClr>
              <a:buFont typeface="Arial"/>
              <a:buChar char="•"/>
            </a:pPr>
            <a:r>
              <a:rPr sz="1700" b="0" i="0" dirty="0">
                <a:solidFill>
                  <a:srgbClr val="1E293B"/>
                </a:solidFill>
                <a:latin typeface="Calibri"/>
              </a:rPr>
              <a:t>Goal: an early-warning screen that routes issues to owners, not a CSAT or NPS score</a:t>
            </a:r>
          </a:p>
        </p:txBody>
      </p:sp>
      <p:sp>
        <p:nvSpPr>
          <p:cNvPr id="5" name="Rounded Rectangle 4"/>
          <p:cNvSpPr/>
          <p:nvPr/>
        </p:nvSpPr>
        <p:spPr>
          <a:xfrm>
            <a:off x="5943600" y="173736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72200" y="173736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RQ1</a:t>
            </a:r>
          </a:p>
        </p:txBody>
      </p:sp>
      <p:sp>
        <p:nvSpPr>
          <p:cNvPr id="7" name="TextBox 6"/>
          <p:cNvSpPr txBox="1"/>
          <p:nvPr/>
        </p:nvSpPr>
        <p:spPr>
          <a:xfrm>
            <a:off x="6995160" y="1737360"/>
            <a:ext cx="4480560" cy="932688"/>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Which sentiment and issue themes appear most often?</a:t>
            </a:r>
          </a:p>
        </p:txBody>
      </p:sp>
      <p:sp>
        <p:nvSpPr>
          <p:cNvPr id="8" name="Rounded Rectangle 7"/>
          <p:cNvSpPr/>
          <p:nvPr/>
        </p:nvSpPr>
        <p:spPr>
          <a:xfrm>
            <a:off x="5943600" y="283464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283464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RQ2</a:t>
            </a:r>
          </a:p>
        </p:txBody>
      </p:sp>
      <p:sp>
        <p:nvSpPr>
          <p:cNvPr id="10" name="TextBox 9"/>
          <p:cNvSpPr txBox="1"/>
          <p:nvPr/>
        </p:nvSpPr>
        <p:spPr>
          <a:xfrm>
            <a:off x="6995160" y="2834640"/>
            <a:ext cx="4480560" cy="932688"/>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How do Reddit and HWZ, and the brands, differ?</a:t>
            </a:r>
          </a:p>
        </p:txBody>
      </p:sp>
      <p:sp>
        <p:nvSpPr>
          <p:cNvPr id="11" name="Rounded Rectangle 10"/>
          <p:cNvSpPr/>
          <p:nvPr/>
        </p:nvSpPr>
        <p:spPr>
          <a:xfrm>
            <a:off x="5943600" y="393192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93192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RQ3</a:t>
            </a:r>
          </a:p>
        </p:txBody>
      </p:sp>
      <p:sp>
        <p:nvSpPr>
          <p:cNvPr id="13" name="TextBox 12"/>
          <p:cNvSpPr txBox="1"/>
          <p:nvPr/>
        </p:nvSpPr>
        <p:spPr>
          <a:xfrm>
            <a:off x="6995160" y="3931920"/>
            <a:ext cx="4480560" cy="932688"/>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What does an LLM add over VADER and keyword rules?</a:t>
            </a:r>
          </a:p>
        </p:txBody>
      </p:sp>
      <p:sp>
        <p:nvSpPr>
          <p:cNvPr id="14" name="Rounded Rectangle 13"/>
          <p:cNvSpPr/>
          <p:nvPr/>
        </p:nvSpPr>
        <p:spPr>
          <a:xfrm>
            <a:off x="5943600" y="502920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502920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RQ4</a:t>
            </a:r>
          </a:p>
        </p:txBody>
      </p:sp>
      <p:sp>
        <p:nvSpPr>
          <p:cNvPr id="16" name="TextBox 15"/>
          <p:cNvSpPr txBox="1"/>
          <p:nvPr/>
        </p:nvSpPr>
        <p:spPr>
          <a:xfrm>
            <a:off x="6995160" y="5029200"/>
            <a:ext cx="4480560" cy="932688"/>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How can the signals drive operator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B</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Data and pipeline</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What I collected and how it flows</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4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One reproducible pipeline in six stages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6</a:t>
            </a:r>
          </a:p>
        </p:txBody>
      </p:sp>
      <p:sp>
        <p:nvSpPr>
          <p:cNvPr id="4" name="Pentagon 3"/>
          <p:cNvSpPr/>
          <p:nvPr/>
        </p:nvSpPr>
        <p:spPr>
          <a:xfrm>
            <a:off x="548640" y="1828800"/>
            <a:ext cx="1787652" cy="118872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Scrape</a:t>
            </a:r>
          </a:p>
        </p:txBody>
      </p:sp>
      <p:sp>
        <p:nvSpPr>
          <p:cNvPr id="5" name="Chevron 4"/>
          <p:cNvSpPr/>
          <p:nvPr/>
        </p:nvSpPr>
        <p:spPr>
          <a:xfrm>
            <a:off x="2409444"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Clean</a:t>
            </a:r>
          </a:p>
        </p:txBody>
      </p:sp>
      <p:sp>
        <p:nvSpPr>
          <p:cNvPr id="6" name="Chevron 5"/>
          <p:cNvSpPr/>
          <p:nvPr/>
        </p:nvSpPr>
        <p:spPr>
          <a:xfrm>
            <a:off x="4270248"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Label</a:t>
            </a:r>
          </a:p>
        </p:txBody>
      </p:sp>
      <p:sp>
        <p:nvSpPr>
          <p:cNvPr id="7" name="Chevron 6"/>
          <p:cNvSpPr/>
          <p:nvPr/>
        </p:nvSpPr>
        <p:spPr>
          <a:xfrm>
            <a:off x="6131052"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Issues</a:t>
            </a:r>
          </a:p>
        </p:txBody>
      </p:sp>
      <p:sp>
        <p:nvSpPr>
          <p:cNvPr id="8" name="Chevron 7"/>
          <p:cNvSpPr/>
          <p:nvPr/>
        </p:nvSpPr>
        <p:spPr>
          <a:xfrm>
            <a:off x="7991856"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Evaluate</a:t>
            </a:r>
          </a:p>
        </p:txBody>
      </p:sp>
      <p:sp>
        <p:nvSpPr>
          <p:cNvPr id="9" name="Chevron 8"/>
          <p:cNvSpPr/>
          <p:nvPr/>
        </p:nvSpPr>
        <p:spPr>
          <a:xfrm>
            <a:off x="9852660"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Dashboard</a:t>
            </a:r>
          </a:p>
        </p:txBody>
      </p:sp>
      <p:sp>
        <p:nvSpPr>
          <p:cNvPr id="10" name="TextBox 9"/>
          <p:cNvSpPr txBox="1"/>
          <p:nvPr/>
        </p:nvSpPr>
        <p:spPr>
          <a:xfrm>
            <a:off x="594360"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scrapers/</a:t>
            </a:r>
          </a:p>
        </p:txBody>
      </p:sp>
      <p:sp>
        <p:nvSpPr>
          <p:cNvPr id="11" name="TextBox 10"/>
          <p:cNvSpPr txBox="1"/>
          <p:nvPr/>
        </p:nvSpPr>
        <p:spPr>
          <a:xfrm>
            <a:off x="594360" y="3657600"/>
            <a:ext cx="1696212" cy="118872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Reddit JSON API, HWZ XenForo threads</a:t>
            </a:r>
          </a:p>
        </p:txBody>
      </p:sp>
      <p:sp>
        <p:nvSpPr>
          <p:cNvPr id="12" name="TextBox 11"/>
          <p:cNvSpPr txBox="1"/>
          <p:nvPr/>
        </p:nvSpPr>
        <p:spPr>
          <a:xfrm>
            <a:off x="2455164"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preprocess.py</a:t>
            </a:r>
          </a:p>
        </p:txBody>
      </p:sp>
      <p:sp>
        <p:nvSpPr>
          <p:cNvPr id="13" name="TextBox 12"/>
          <p:cNvSpPr txBox="1"/>
          <p:nvPr/>
        </p:nvSpPr>
        <p:spPr>
          <a:xfrm>
            <a:off x="2455164" y="3657600"/>
            <a:ext cx="1696212" cy="1188720"/>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One schema, drop empty and short posts</a:t>
            </a:r>
          </a:p>
        </p:txBody>
      </p:sp>
      <p:sp>
        <p:nvSpPr>
          <p:cNvPr id="14" name="TextBox 13"/>
          <p:cNvSpPr txBox="1"/>
          <p:nvPr/>
        </p:nvSpPr>
        <p:spPr>
          <a:xfrm>
            <a:off x="4315968"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telco_labeler.py</a:t>
            </a:r>
          </a:p>
        </p:txBody>
      </p:sp>
      <p:sp>
        <p:nvSpPr>
          <p:cNvPr id="15" name="TextBox 14"/>
          <p:cNvSpPr txBox="1"/>
          <p:nvPr/>
        </p:nvSpPr>
        <p:spPr>
          <a:xfrm>
            <a:off x="4315968" y="3657600"/>
            <a:ext cx="1696212" cy="1188720"/>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Brand regex with context, VADER score</a:t>
            </a:r>
          </a:p>
        </p:txBody>
      </p:sp>
      <p:sp>
        <p:nvSpPr>
          <p:cNvPr id="16" name="TextBox 15"/>
          <p:cNvSpPr txBox="1"/>
          <p:nvPr/>
        </p:nvSpPr>
        <p:spPr>
          <a:xfrm>
            <a:off x="6176772"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issue_extraction.py</a:t>
            </a:r>
          </a:p>
        </p:txBody>
      </p:sp>
      <p:sp>
        <p:nvSpPr>
          <p:cNvPr id="17" name="TextBox 16"/>
          <p:cNvSpPr txBox="1"/>
          <p:nvPr/>
        </p:nvSpPr>
        <p:spPr>
          <a:xfrm>
            <a:off x="6165197" y="3657600"/>
            <a:ext cx="1696212" cy="861774"/>
          </a:xfrm>
          <a:prstGeom prst="rect">
            <a:avLst/>
          </a:prstGeom>
          <a:noFill/>
        </p:spPr>
        <p:txBody>
          <a:bodyPr wrap="square" lIns="0" tIns="0" rIns="0" bIns="0" anchor="t">
            <a:spAutoFit/>
          </a:bodyPr>
          <a:lstStyle/>
          <a:p>
            <a:pPr>
              <a:spcAft>
                <a:spcPts val="600"/>
              </a:spcAft>
            </a:pPr>
            <a:r>
              <a:rPr sz="1400" b="0" i="0" dirty="0">
                <a:solidFill>
                  <a:srgbClr val="1E293B"/>
                </a:solidFill>
                <a:latin typeface="Calibri"/>
              </a:rPr>
              <a:t>10 keyword </a:t>
            </a:r>
            <a:r>
              <a:rPr lang="en-US" sz="1400" dirty="0"/>
              <a:t>keyword-rule </a:t>
            </a:r>
            <a:r>
              <a:rPr sz="1400" b="0" i="0" dirty="0">
                <a:solidFill>
                  <a:srgbClr val="1E293B"/>
                </a:solidFill>
                <a:latin typeface="Calibri"/>
              </a:rPr>
              <a:t>labels, then GPT-4o on leftovers</a:t>
            </a:r>
            <a:r>
              <a:rPr lang="en-US" sz="1400" b="0" i="0" dirty="0">
                <a:solidFill>
                  <a:srgbClr val="1E293B"/>
                </a:solidFill>
                <a:latin typeface="Calibri"/>
              </a:rPr>
              <a:t> that the rules cannot pick</a:t>
            </a:r>
            <a:endParaRPr sz="1400" b="0" i="0" dirty="0">
              <a:solidFill>
                <a:srgbClr val="1E293B"/>
              </a:solidFill>
              <a:latin typeface="Calibri"/>
            </a:endParaRPr>
          </a:p>
        </p:txBody>
      </p:sp>
      <p:sp>
        <p:nvSpPr>
          <p:cNvPr id="18" name="TextBox 17"/>
          <p:cNvSpPr txBox="1"/>
          <p:nvPr/>
        </p:nvSpPr>
        <p:spPr>
          <a:xfrm>
            <a:off x="8037576"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llm_evaluation.py</a:t>
            </a:r>
          </a:p>
        </p:txBody>
      </p:sp>
      <p:sp>
        <p:nvSpPr>
          <p:cNvPr id="19" name="TextBox 18"/>
          <p:cNvSpPr txBox="1"/>
          <p:nvPr/>
        </p:nvSpPr>
        <p:spPr>
          <a:xfrm>
            <a:off x="8037576" y="3657600"/>
            <a:ext cx="1696212" cy="118872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VADER, rules, GPT-4o-mini, GPT-4o vs humans</a:t>
            </a:r>
          </a:p>
        </p:txBody>
      </p:sp>
      <p:sp>
        <p:nvSpPr>
          <p:cNvPr id="20" name="TextBox 19"/>
          <p:cNvSpPr txBox="1"/>
          <p:nvPr/>
        </p:nvSpPr>
        <p:spPr>
          <a:xfrm>
            <a:off x="9898380"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generate_dashboard.py</a:t>
            </a:r>
          </a:p>
        </p:txBody>
      </p:sp>
      <p:sp>
        <p:nvSpPr>
          <p:cNvPr id="21" name="TextBox 20"/>
          <p:cNvSpPr txBox="1"/>
          <p:nvPr/>
        </p:nvSpPr>
        <p:spPr>
          <a:xfrm>
            <a:off x="9898380" y="3657600"/>
            <a:ext cx="1696212" cy="118872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Static Chart.js HTML, no server</a:t>
            </a:r>
          </a:p>
        </p:txBody>
      </p:sp>
      <p:sp>
        <p:nvSpPr>
          <p:cNvPr id="22" name="Rounded Rectangle 21"/>
          <p:cNvSpPr/>
          <p:nvPr/>
        </p:nvSpPr>
        <p:spPr>
          <a:xfrm>
            <a:off x="548640" y="5074920"/>
            <a:ext cx="11091672" cy="868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074920"/>
            <a:ext cx="10634472" cy="86868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Every stage writes a CSV to data/processed/, so every number in the report traces to a file.</a:t>
            </a:r>
          </a:p>
        </p:txBody>
      </p:sp>
      <p:sp>
        <p:nvSpPr>
          <p:cNvPr id="25" name="TextBox 24">
            <a:extLst>
              <a:ext uri="{FF2B5EF4-FFF2-40B4-BE49-F238E27FC236}">
                <a16:creationId xmlns:a16="http://schemas.microsoft.com/office/drawing/2014/main" id="{C7E10F6C-90F1-DEC5-22B5-205EAC14AFCB}"/>
              </a:ext>
            </a:extLst>
          </p:cNvPr>
          <p:cNvSpPr txBox="1"/>
          <p:nvPr/>
        </p:nvSpPr>
        <p:spPr>
          <a:xfrm>
            <a:off x="4319867" y="4135902"/>
            <a:ext cx="1696212" cy="1015663"/>
          </a:xfrm>
          <a:prstGeom prst="rect">
            <a:avLst/>
          </a:prstGeom>
          <a:noFill/>
        </p:spPr>
        <p:txBody>
          <a:bodyPr wrap="square">
            <a:spAutoFit/>
          </a:bodyPr>
          <a:lstStyle/>
          <a:p>
            <a:r>
              <a:rPr lang="en-US" sz="2000" b="1" i="0" dirty="0">
                <a:solidFill>
                  <a:srgbClr val="1C2E6E"/>
                </a:solidFill>
                <a:latin typeface="Calibri"/>
              </a:rPr>
              <a:t>Happy</a:t>
            </a:r>
          </a:p>
          <a:p>
            <a:r>
              <a:rPr lang="en-US" sz="2000" b="1" i="0" dirty="0">
                <a:solidFill>
                  <a:srgbClr val="1C2E6E"/>
                </a:solidFill>
                <a:latin typeface="Calibri"/>
              </a:rPr>
              <a:t>Not Happy Neutral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38333"/>
            <a:ext cx="6840000" cy="701731"/>
          </a:xfrm>
          <a:prstGeom prst="rect">
            <a:avLst/>
          </a:prstGeom>
          <a:noFill/>
        </p:spPr>
        <p:txBody>
          <a:bodyPr wrap="square" lIns="0" tIns="0" rIns="0" bIns="0" anchor="ctr">
            <a:spAutoFit/>
          </a:bodyPr>
          <a:lstStyle/>
          <a:p>
            <a:pPr algn="l">
              <a:lnSpc>
                <a:spcPct val="95000"/>
              </a:lnSpc>
              <a:spcAft>
                <a:spcPts val="0"/>
              </a:spcAft>
            </a:pPr>
            <a:r>
              <a:rPr lang="en-US" sz="2400" b="1" i="0" dirty="0">
                <a:solidFill>
                  <a:srgbClr val="1C2E6E"/>
                </a:solidFill>
                <a:latin typeface="Calibri"/>
              </a:rPr>
              <a:t>Clean numbers: </a:t>
            </a:r>
            <a:r>
              <a:rPr sz="2400" b="1" i="0" dirty="0">
                <a:solidFill>
                  <a:srgbClr val="1C2E6E"/>
                </a:solidFill>
                <a:latin typeface="Calibri"/>
              </a:rPr>
              <a:t>9,162 unique posts in 349 telco threads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7</a:t>
            </a:r>
          </a:p>
        </p:txBody>
      </p:sp>
      <p:sp>
        <p:nvSpPr>
          <p:cNvPr id="4" name="Rounded Rectangle 3"/>
          <p:cNvSpPr/>
          <p:nvPr/>
        </p:nvSpPr>
        <p:spPr>
          <a:xfrm>
            <a:off x="54864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24,690</a:t>
            </a:r>
          </a:p>
        </p:txBody>
      </p:sp>
      <p:sp>
        <p:nvSpPr>
          <p:cNvPr id="6" name="TextBox 5"/>
          <p:cNvSpPr txBox="1"/>
          <p:nvPr/>
        </p:nvSpPr>
        <p:spPr>
          <a:xfrm>
            <a:off x="777240" y="2682240"/>
            <a:ext cx="2194560" cy="822960"/>
          </a:xfrm>
          <a:prstGeom prst="rect">
            <a:avLst/>
          </a:prstGeom>
          <a:noFill/>
        </p:spPr>
        <p:txBody>
          <a:bodyPr wrap="square" lIns="0" tIns="0" rIns="0" bIns="0" anchor="t">
            <a:spAutoFit/>
          </a:bodyPr>
          <a:lstStyle/>
          <a:p>
            <a:pPr algn="l">
              <a:spcAft>
                <a:spcPts val="600"/>
              </a:spcAft>
            </a:pPr>
            <a:r>
              <a:rPr sz="1500" b="0" i="0">
                <a:solidFill>
                  <a:srgbClr val="5B6475"/>
                </a:solidFill>
                <a:latin typeface="Calibri"/>
              </a:rPr>
              <a:t>raw rows scraped</a:t>
            </a:r>
          </a:p>
        </p:txBody>
      </p:sp>
      <p:sp>
        <p:nvSpPr>
          <p:cNvPr id="7" name="Rounded Rectangle 6"/>
          <p:cNvSpPr/>
          <p:nvPr/>
        </p:nvSpPr>
        <p:spPr>
          <a:xfrm>
            <a:off x="338328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11,643</a:t>
            </a:r>
          </a:p>
        </p:txBody>
      </p:sp>
      <p:sp>
        <p:nvSpPr>
          <p:cNvPr id="9" name="TextBox 8"/>
          <p:cNvSpPr txBox="1"/>
          <p:nvPr/>
        </p:nvSpPr>
        <p:spPr>
          <a:xfrm>
            <a:off x="3611880" y="2682240"/>
            <a:ext cx="2194560" cy="822960"/>
          </a:xfrm>
          <a:prstGeom prst="rect">
            <a:avLst/>
          </a:prstGeom>
          <a:noFill/>
        </p:spPr>
        <p:txBody>
          <a:bodyPr wrap="square" lIns="0" tIns="0" rIns="0" bIns="0" anchor="t">
            <a:spAutoFit/>
          </a:bodyPr>
          <a:lstStyle/>
          <a:p>
            <a:pPr algn="l">
              <a:spcAft>
                <a:spcPts val="600"/>
              </a:spcAft>
            </a:pPr>
            <a:r>
              <a:rPr sz="1500" b="0" i="0">
                <a:solidFill>
                  <a:srgbClr val="5B6475"/>
                </a:solidFill>
                <a:latin typeface="Calibri"/>
              </a:rPr>
              <a:t>unique posts after removing repeat copies</a:t>
            </a:r>
          </a:p>
        </p:txBody>
      </p:sp>
      <p:sp>
        <p:nvSpPr>
          <p:cNvPr id="10" name="Rounded Rectangle 9"/>
          <p:cNvSpPr/>
          <p:nvPr/>
        </p:nvSpPr>
        <p:spPr>
          <a:xfrm>
            <a:off x="6217920" y="1828800"/>
            <a:ext cx="260604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9,162</a:t>
            </a:r>
          </a:p>
        </p:txBody>
      </p:sp>
      <p:sp>
        <p:nvSpPr>
          <p:cNvPr id="12" name="TextBox 11"/>
          <p:cNvSpPr txBox="1"/>
          <p:nvPr/>
        </p:nvSpPr>
        <p:spPr>
          <a:xfrm>
            <a:off x="6446520" y="2682240"/>
            <a:ext cx="2194560" cy="822960"/>
          </a:xfrm>
          <a:prstGeom prst="rect">
            <a:avLst/>
          </a:prstGeom>
          <a:noFill/>
        </p:spPr>
        <p:txBody>
          <a:bodyPr wrap="square" lIns="0" tIns="0" rIns="0" bIns="0" anchor="t">
            <a:spAutoFit/>
          </a:bodyPr>
          <a:lstStyle/>
          <a:p>
            <a:pPr algn="l">
              <a:spcAft>
                <a:spcPts val="600"/>
              </a:spcAft>
            </a:pPr>
            <a:r>
              <a:rPr sz="1500" b="0" i="0">
                <a:solidFill>
                  <a:srgbClr val="5B6475"/>
                </a:solidFill>
                <a:latin typeface="Calibri"/>
              </a:rPr>
              <a:t>posts in 349 telco threads</a:t>
            </a:r>
          </a:p>
        </p:txBody>
      </p:sp>
      <p:sp>
        <p:nvSpPr>
          <p:cNvPr id="13" name="Rounded Rectangle 12"/>
          <p:cNvSpPr/>
          <p:nvPr/>
        </p:nvSpPr>
        <p:spPr>
          <a:xfrm>
            <a:off x="905256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8116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12%</a:t>
            </a:r>
          </a:p>
        </p:txBody>
      </p:sp>
      <p:sp>
        <p:nvSpPr>
          <p:cNvPr id="15" name="TextBox 14"/>
          <p:cNvSpPr txBox="1"/>
          <p:nvPr/>
        </p:nvSpPr>
        <p:spPr>
          <a:xfrm>
            <a:off x="9281160" y="2682240"/>
            <a:ext cx="2194560" cy="822960"/>
          </a:xfrm>
          <a:prstGeom prst="rect">
            <a:avLst/>
          </a:prstGeom>
          <a:noFill/>
        </p:spPr>
        <p:txBody>
          <a:bodyPr wrap="square" lIns="0" tIns="0" rIns="0" bIns="0" anchor="t">
            <a:spAutoFit/>
          </a:bodyPr>
          <a:lstStyle/>
          <a:p>
            <a:pPr algn="l">
              <a:spcAft>
                <a:spcPts val="600"/>
              </a:spcAft>
            </a:pPr>
            <a:r>
              <a:rPr sz="1500" b="0" i="0">
                <a:solidFill>
                  <a:srgbClr val="5B6475"/>
                </a:solidFill>
                <a:latin typeface="Calibri"/>
              </a:rPr>
              <a:t>in outage threads</a:t>
            </a:r>
          </a:p>
        </p:txBody>
      </p:sp>
      <p:sp>
        <p:nvSpPr>
          <p:cNvPr id="16" name="Rounded Rectangle 15"/>
          <p:cNvSpPr/>
          <p:nvPr/>
        </p:nvSpPr>
        <p:spPr>
          <a:xfrm>
            <a:off x="548640" y="4160520"/>
            <a:ext cx="11091672" cy="16916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343400"/>
            <a:ext cx="10634472" cy="36576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Why it matters</a:t>
            </a:r>
          </a:p>
        </p:txBody>
      </p:sp>
      <p:sp>
        <p:nvSpPr>
          <p:cNvPr id="18" name="TextBox 17"/>
          <p:cNvSpPr txBox="1"/>
          <p:nvPr/>
        </p:nvSpPr>
        <p:spPr>
          <a:xfrm>
            <a:off x="777240" y="4727448"/>
            <a:ext cx="10634472" cy="960120"/>
          </a:xfrm>
          <a:prstGeom prst="rect">
            <a:avLst/>
          </a:prstGeom>
          <a:noFill/>
        </p:spPr>
        <p:txBody>
          <a:bodyPr wrap="square" lIns="0" tIns="0" rIns="0" bIns="0" anchor="t">
            <a:spAutoFit/>
          </a:bodyPr>
          <a:lstStyle/>
          <a:p>
            <a:pPr algn="l">
              <a:spcAft>
                <a:spcPts val="600"/>
              </a:spcAft>
            </a:pPr>
            <a:r>
              <a:rPr sz="1600" b="0" i="0" dirty="0">
                <a:solidFill>
                  <a:srgbClr val="1E293B"/>
                </a:solidFill>
                <a:latin typeface="Calibri"/>
              </a:rPr>
              <a:t>Raw row counts overstate the data more than twofold. Every share in this deck is per unique post, and checked again with every thread weighted equally.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“Eight” is a telco and a number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8</a:t>
            </a:r>
          </a:p>
        </p:txBody>
      </p:sp>
      <p:sp>
        <p:nvSpPr>
          <p:cNvPr id="4" name="Rounded Rectangle 3"/>
          <p:cNvSpPr/>
          <p:nvPr/>
        </p:nvSpPr>
        <p:spPr>
          <a:xfrm>
            <a:off x="548640" y="1737360"/>
            <a:ext cx="5422392" cy="25146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920240"/>
            <a:ext cx="4846320"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Rejected as a brand</a:t>
            </a:r>
          </a:p>
        </p:txBody>
      </p:sp>
      <p:sp>
        <p:nvSpPr>
          <p:cNvPr id="6" name="TextBox 5"/>
          <p:cNvSpPr txBox="1"/>
          <p:nvPr/>
        </p:nvSpPr>
        <p:spPr>
          <a:xfrm>
            <a:off x="822959" y="2468880"/>
            <a:ext cx="4846320" cy="1737360"/>
          </a:xfrm>
          <a:prstGeom prst="rect">
            <a:avLst/>
          </a:prstGeom>
          <a:noFill/>
        </p:spPr>
        <p:txBody>
          <a:bodyPr wrap="square" lIns="0" tIns="0" rIns="0" bIns="0" anchor="t">
            <a:spAutoFit/>
          </a:bodyPr>
          <a:lstStyle/>
          <a:p>
            <a:pPr marL="256032" indent="-256032" algn="l">
              <a:spcAft>
                <a:spcPts val="800"/>
              </a:spcAft>
              <a:buClr>
                <a:srgbClr val="D29B08"/>
              </a:buClr>
              <a:buFont typeface="Arial"/>
              <a:buChar char="•"/>
            </a:pPr>
            <a:r>
              <a:rPr sz="1600" b="0" i="0">
                <a:solidFill>
                  <a:srgbClr val="1E293B"/>
                </a:solidFill>
                <a:latin typeface="Calibri"/>
              </a:rPr>
              <a:t>“took eight buses to get home”</a:t>
            </a:r>
          </a:p>
          <a:p>
            <a:pPr marL="256032" indent="-256032" algn="l">
              <a:spcAft>
                <a:spcPts val="800"/>
              </a:spcAft>
              <a:buClr>
                <a:srgbClr val="D29B08"/>
              </a:buClr>
              <a:buFont typeface="Arial"/>
              <a:buChar char="•"/>
            </a:pPr>
            <a:r>
              <a:rPr sz="1600" b="0" i="0">
                <a:solidFill>
                  <a:srgbClr val="1E293B"/>
                </a:solidFill>
                <a:latin typeface="Calibri"/>
              </a:rPr>
              <a:t>“eight people in my team”</a:t>
            </a:r>
          </a:p>
          <a:p>
            <a:pPr marL="256032" indent="-256032" algn="l">
              <a:spcAft>
                <a:spcPts val="800"/>
              </a:spcAft>
              <a:buClr>
                <a:srgbClr val="D29B08"/>
              </a:buClr>
              <a:buFont typeface="Arial"/>
              <a:buChar char="•"/>
            </a:pPr>
            <a:r>
              <a:rPr sz="1600" b="0" i="0">
                <a:solidFill>
                  <a:srgbClr val="1E293B"/>
                </a:solidFill>
                <a:latin typeface="Calibri"/>
              </a:rPr>
              <a:t>“eight years with the same phone”</a:t>
            </a:r>
          </a:p>
        </p:txBody>
      </p:sp>
      <p:sp>
        <p:nvSpPr>
          <p:cNvPr id="7" name="Rounded Rectangle 6"/>
          <p:cNvSpPr/>
          <p:nvPr/>
        </p:nvSpPr>
        <p:spPr>
          <a:xfrm>
            <a:off x="6217920" y="1737360"/>
            <a:ext cx="5422392" cy="25146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920240"/>
            <a:ext cx="4846320"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Accepted as Eight Telecom</a:t>
            </a:r>
          </a:p>
        </p:txBody>
      </p:sp>
      <p:sp>
        <p:nvSpPr>
          <p:cNvPr id="9" name="TextBox 8"/>
          <p:cNvSpPr txBox="1"/>
          <p:nvPr/>
        </p:nvSpPr>
        <p:spPr>
          <a:xfrm>
            <a:off x="6492240" y="2468880"/>
            <a:ext cx="4846320" cy="1737360"/>
          </a:xfrm>
          <a:prstGeom prst="rect">
            <a:avLst/>
          </a:prstGeom>
          <a:noFill/>
        </p:spPr>
        <p:txBody>
          <a:bodyPr wrap="square" lIns="0" tIns="0" rIns="0" bIns="0" anchor="t">
            <a:spAutoFit/>
          </a:bodyPr>
          <a:lstStyle/>
          <a:p>
            <a:pPr marL="256032" indent="-256032" algn="l">
              <a:spcAft>
                <a:spcPts val="800"/>
              </a:spcAft>
              <a:buClr>
                <a:srgbClr val="D29B08"/>
              </a:buClr>
              <a:buFont typeface="Arial"/>
              <a:buChar char="•"/>
            </a:pPr>
            <a:r>
              <a:rPr sz="1600" b="0" i="0">
                <a:solidFill>
                  <a:srgbClr val="1E293B"/>
                </a:solidFill>
                <a:latin typeface="Calibri"/>
              </a:rPr>
              <a:t>“Eight Telecom’s new SIM-only plan”</a:t>
            </a:r>
          </a:p>
          <a:p>
            <a:pPr marL="256032" indent="-256032" algn="l">
              <a:spcAft>
                <a:spcPts val="800"/>
              </a:spcAft>
              <a:buClr>
                <a:srgbClr val="D29B08"/>
              </a:buClr>
              <a:buFont typeface="Arial"/>
              <a:buChar char="•"/>
            </a:pPr>
            <a:r>
              <a:rPr sz="1600" b="0" i="0">
                <a:solidFill>
                  <a:srgbClr val="1E293B"/>
                </a:solidFill>
                <a:latin typeface="Calibri"/>
              </a:rPr>
              <a:t>“ported to eight, it runs on StarHub’s network”</a:t>
            </a:r>
          </a:p>
          <a:p>
            <a:pPr marL="256032" indent="-256032" algn="l">
              <a:spcAft>
                <a:spcPts val="800"/>
              </a:spcAft>
              <a:buClr>
                <a:srgbClr val="D29B08"/>
              </a:buClr>
              <a:buFont typeface="Arial"/>
              <a:buChar char="•"/>
            </a:pPr>
            <a:r>
              <a:rPr sz="1600" b="0" i="0">
                <a:solidFill>
                  <a:srgbClr val="1E293B"/>
                </a:solidFill>
                <a:latin typeface="Calibri"/>
              </a:rPr>
              <a:t>“eight.sg promo for 5G”</a:t>
            </a:r>
          </a:p>
        </p:txBody>
      </p:sp>
      <p:sp>
        <p:nvSpPr>
          <p:cNvPr id="10" name="TextBox 9"/>
          <p:cNvSpPr txBox="1"/>
          <p:nvPr/>
        </p:nvSpPr>
        <p:spPr>
          <a:xfrm>
            <a:off x="548640" y="4526280"/>
            <a:ext cx="11091672" cy="146304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How it works: </a:t>
            </a:r>
            <a:r>
              <a:rPr sz="1600" b="0" i="0">
                <a:solidFill>
                  <a:srgbClr val="1E293B"/>
                </a:solidFill>
                <a:latin typeface="Calibri"/>
              </a:rPr>
              <a:t>block number phrases first, accept strong patterns (“Eight Telecom”, “eight.sg”), otherwise require a telco word within 60 characters. Failed matches are marked not telco-relevant and get no sentiment or issue label.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Ten issue labels, each mapped to an owner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9</a:t>
            </a:r>
          </a:p>
        </p:txBody>
      </p:sp>
      <p:sp>
        <p:nvSpPr>
          <p:cNvPr id="4" name="Rounded Rectangle 3"/>
          <p:cNvSpPr/>
          <p:nvPr/>
        </p:nvSpPr>
        <p:spPr>
          <a:xfrm>
            <a:off x="548640" y="1737360"/>
            <a:ext cx="2072030" cy="1874519"/>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Network Quality</a:t>
            </a:r>
          </a:p>
        </p:txBody>
      </p:sp>
      <p:sp>
        <p:nvSpPr>
          <p:cNvPr id="6" name="TextBox 5"/>
          <p:cNvSpPr txBox="1"/>
          <p:nvPr/>
        </p:nvSpPr>
        <p:spPr>
          <a:xfrm>
            <a:off x="1998878"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41%</a:t>
            </a:r>
          </a:p>
        </p:txBody>
      </p:sp>
      <p:sp>
        <p:nvSpPr>
          <p:cNvPr id="7" name="TextBox 6"/>
          <p:cNvSpPr txBox="1"/>
          <p:nvPr/>
        </p:nvSpPr>
        <p:spPr>
          <a:xfrm>
            <a:off x="713232"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Network team</a:t>
            </a:r>
          </a:p>
        </p:txBody>
      </p:sp>
      <p:sp>
        <p:nvSpPr>
          <p:cNvPr id="8" name="TextBox 7"/>
          <p:cNvSpPr txBox="1"/>
          <p:nvPr/>
        </p:nvSpPr>
        <p:spPr>
          <a:xfrm>
            <a:off x="713232"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“Connection go from 5G to zero then back up multiple times a day.”</a:t>
            </a:r>
          </a:p>
        </p:txBody>
      </p:sp>
      <p:sp>
        <p:nvSpPr>
          <p:cNvPr id="9" name="Rounded Rectangle 8"/>
          <p:cNvSpPr/>
          <p:nvPr/>
        </p:nvSpPr>
        <p:spPr>
          <a:xfrm>
            <a:off x="2803550" y="17373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68142"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Pricing &amp; Promotions</a:t>
            </a:r>
          </a:p>
        </p:txBody>
      </p:sp>
      <p:sp>
        <p:nvSpPr>
          <p:cNvPr id="11" name="TextBox 10"/>
          <p:cNvSpPr txBox="1"/>
          <p:nvPr/>
        </p:nvSpPr>
        <p:spPr>
          <a:xfrm>
            <a:off x="4253788"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8%</a:t>
            </a:r>
          </a:p>
        </p:txBody>
      </p:sp>
      <p:sp>
        <p:nvSpPr>
          <p:cNvPr id="12" name="TextBox 11"/>
          <p:cNvSpPr txBox="1"/>
          <p:nvPr/>
        </p:nvSpPr>
        <p:spPr>
          <a:xfrm>
            <a:off x="2968142"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Commercial</a:t>
            </a:r>
          </a:p>
        </p:txBody>
      </p:sp>
      <p:sp>
        <p:nvSpPr>
          <p:cNvPr id="13" name="TextBox 12"/>
          <p:cNvSpPr txBox="1"/>
          <p:nvPr/>
        </p:nvSpPr>
        <p:spPr>
          <a:xfrm>
            <a:off x="2968142"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“$60 is yours even if you use $7? I’ll go zero1.”</a:t>
            </a:r>
          </a:p>
        </p:txBody>
      </p:sp>
      <p:sp>
        <p:nvSpPr>
          <p:cNvPr id="14" name="Rounded Rectangle 13"/>
          <p:cNvSpPr/>
          <p:nvPr/>
        </p:nvSpPr>
        <p:spPr>
          <a:xfrm>
            <a:off x="5058460" y="1737360"/>
            <a:ext cx="2072030" cy="1874519"/>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23052"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Mobile Plans</a:t>
            </a:r>
          </a:p>
        </p:txBody>
      </p:sp>
      <p:sp>
        <p:nvSpPr>
          <p:cNvPr id="16" name="TextBox 15"/>
          <p:cNvSpPr txBox="1"/>
          <p:nvPr/>
        </p:nvSpPr>
        <p:spPr>
          <a:xfrm>
            <a:off x="6508699"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14%</a:t>
            </a:r>
          </a:p>
        </p:txBody>
      </p:sp>
      <p:sp>
        <p:nvSpPr>
          <p:cNvPr id="17" name="TextBox 16"/>
          <p:cNvSpPr txBox="1"/>
          <p:nvPr/>
        </p:nvSpPr>
        <p:spPr>
          <a:xfrm>
            <a:off x="5223052"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Product</a:t>
            </a:r>
          </a:p>
        </p:txBody>
      </p:sp>
      <p:sp>
        <p:nvSpPr>
          <p:cNvPr id="18" name="TextBox 17"/>
          <p:cNvSpPr txBox="1"/>
          <p:nvPr/>
        </p:nvSpPr>
        <p:spPr>
          <a:xfrm>
            <a:off x="5223052"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“My Star Plan got renewed on Nov 3 and I got only 50GB for local data.”</a:t>
            </a:r>
          </a:p>
        </p:txBody>
      </p:sp>
      <p:sp>
        <p:nvSpPr>
          <p:cNvPr id="19" name="Rounded Rectangle 18"/>
          <p:cNvSpPr/>
          <p:nvPr/>
        </p:nvSpPr>
        <p:spPr>
          <a:xfrm>
            <a:off x="7313371" y="17373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77963"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Roaming</a:t>
            </a:r>
          </a:p>
        </p:txBody>
      </p:sp>
      <p:sp>
        <p:nvSpPr>
          <p:cNvPr id="21" name="TextBox 20"/>
          <p:cNvSpPr txBox="1"/>
          <p:nvPr/>
        </p:nvSpPr>
        <p:spPr>
          <a:xfrm>
            <a:off x="8763609"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a:t>
            </a:r>
          </a:p>
        </p:txBody>
      </p:sp>
      <p:sp>
        <p:nvSpPr>
          <p:cNvPr id="22" name="TextBox 21"/>
          <p:cNvSpPr txBox="1"/>
          <p:nvPr/>
        </p:nvSpPr>
        <p:spPr>
          <a:xfrm>
            <a:off x="7477963"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Roaming product</a:t>
            </a:r>
          </a:p>
        </p:txBody>
      </p:sp>
      <p:sp>
        <p:nvSpPr>
          <p:cNvPr id="23" name="TextBox 22"/>
          <p:cNvSpPr txBox="1"/>
          <p:nvPr/>
        </p:nvSpPr>
        <p:spPr>
          <a:xfrm>
            <a:off x="7477963"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“Tried it in KL to Ipoh no problem. Tested in Hokkaido lately, very nice.”</a:t>
            </a:r>
          </a:p>
        </p:txBody>
      </p:sp>
      <p:sp>
        <p:nvSpPr>
          <p:cNvPr id="24" name="Rounded Rectangle 23"/>
          <p:cNvSpPr/>
          <p:nvPr/>
        </p:nvSpPr>
        <p:spPr>
          <a:xfrm>
            <a:off x="9568281" y="17373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32873"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Porting</a:t>
            </a:r>
          </a:p>
        </p:txBody>
      </p:sp>
      <p:sp>
        <p:nvSpPr>
          <p:cNvPr id="26" name="TextBox 25"/>
          <p:cNvSpPr txBox="1"/>
          <p:nvPr/>
        </p:nvSpPr>
        <p:spPr>
          <a:xfrm>
            <a:off x="11018520"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3%</a:t>
            </a:r>
          </a:p>
        </p:txBody>
      </p:sp>
      <p:sp>
        <p:nvSpPr>
          <p:cNvPr id="27" name="TextBox 26"/>
          <p:cNvSpPr txBox="1"/>
          <p:nvPr/>
        </p:nvSpPr>
        <p:spPr>
          <a:xfrm>
            <a:off x="9732873"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MNP operations</a:t>
            </a:r>
          </a:p>
        </p:txBody>
      </p:sp>
      <p:sp>
        <p:nvSpPr>
          <p:cNvPr id="28" name="TextBox 27"/>
          <p:cNvSpPr txBox="1"/>
          <p:nvPr/>
        </p:nvSpPr>
        <p:spPr>
          <a:xfrm>
            <a:off x="9732873"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“Probably too many people porting out of m1.”</a:t>
            </a:r>
          </a:p>
        </p:txBody>
      </p:sp>
      <p:sp>
        <p:nvSpPr>
          <p:cNvPr id="29" name="Rounded Rectangle 28"/>
          <p:cNvSpPr/>
          <p:nvPr/>
        </p:nvSpPr>
        <p:spPr>
          <a:xfrm>
            <a:off x="548640"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Customer Service</a:t>
            </a:r>
          </a:p>
        </p:txBody>
      </p:sp>
      <p:sp>
        <p:nvSpPr>
          <p:cNvPr id="31" name="TextBox 30"/>
          <p:cNvSpPr txBox="1"/>
          <p:nvPr/>
        </p:nvSpPr>
        <p:spPr>
          <a:xfrm>
            <a:off x="1998878"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a:t>
            </a:r>
          </a:p>
        </p:txBody>
      </p:sp>
      <p:sp>
        <p:nvSpPr>
          <p:cNvPr id="32" name="TextBox 31"/>
          <p:cNvSpPr txBox="1"/>
          <p:nvPr/>
        </p:nvSpPr>
        <p:spPr>
          <a:xfrm>
            <a:off x="713232"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Service operations</a:t>
            </a:r>
          </a:p>
        </p:txBody>
      </p:sp>
      <p:sp>
        <p:nvSpPr>
          <p:cNvPr id="33" name="TextBox 32"/>
          <p:cNvSpPr txBox="1"/>
          <p:nvPr/>
        </p:nvSpPr>
        <p:spPr>
          <a:xfrm>
            <a:off x="713232"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“Tried. U know that they say? Backend team will update u”</a:t>
            </a:r>
          </a:p>
        </p:txBody>
      </p:sp>
      <p:sp>
        <p:nvSpPr>
          <p:cNvPr id="34" name="Rounded Rectangle 33"/>
          <p:cNvSpPr/>
          <p:nvPr/>
        </p:nvSpPr>
        <p:spPr>
          <a:xfrm>
            <a:off x="2803550"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68142"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Billing &amp; Payment</a:t>
            </a:r>
          </a:p>
        </p:txBody>
      </p:sp>
      <p:sp>
        <p:nvSpPr>
          <p:cNvPr id="36" name="TextBox 35"/>
          <p:cNvSpPr txBox="1"/>
          <p:nvPr/>
        </p:nvSpPr>
        <p:spPr>
          <a:xfrm>
            <a:off x="4253788"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3%</a:t>
            </a:r>
          </a:p>
        </p:txBody>
      </p:sp>
      <p:sp>
        <p:nvSpPr>
          <p:cNvPr id="37" name="TextBox 36"/>
          <p:cNvSpPr txBox="1"/>
          <p:nvPr/>
        </p:nvSpPr>
        <p:spPr>
          <a:xfrm>
            <a:off x="2968142"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Billing</a:t>
            </a:r>
          </a:p>
        </p:txBody>
      </p:sp>
      <p:sp>
        <p:nvSpPr>
          <p:cNvPr id="38" name="TextBox 37"/>
          <p:cNvSpPr txBox="1"/>
          <p:nvPr/>
        </p:nvSpPr>
        <p:spPr>
          <a:xfrm>
            <a:off x="2968142"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“…you cannot have any outstanding bill in M1 or they will reject the letter.”</a:t>
            </a:r>
          </a:p>
        </p:txBody>
      </p:sp>
      <p:sp>
        <p:nvSpPr>
          <p:cNvPr id="39" name="Rounded Rectangle 38"/>
          <p:cNvSpPr/>
          <p:nvPr/>
        </p:nvSpPr>
        <p:spPr>
          <a:xfrm>
            <a:off x="5058460"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223052"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App &amp; Account</a:t>
            </a:r>
          </a:p>
        </p:txBody>
      </p:sp>
      <p:sp>
        <p:nvSpPr>
          <p:cNvPr id="41" name="TextBox 40"/>
          <p:cNvSpPr txBox="1"/>
          <p:nvPr/>
        </p:nvSpPr>
        <p:spPr>
          <a:xfrm>
            <a:off x="6508699"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a:t>
            </a:r>
          </a:p>
        </p:txBody>
      </p:sp>
      <p:sp>
        <p:nvSpPr>
          <p:cNvPr id="42" name="TextBox 41"/>
          <p:cNvSpPr txBox="1"/>
          <p:nvPr/>
        </p:nvSpPr>
        <p:spPr>
          <a:xfrm>
            <a:off x="5223052"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Digital CX</a:t>
            </a:r>
          </a:p>
        </p:txBody>
      </p:sp>
      <p:sp>
        <p:nvSpPr>
          <p:cNvPr id="43" name="TextBox 42"/>
          <p:cNvSpPr txBox="1"/>
          <p:nvPr/>
        </p:nvSpPr>
        <p:spPr>
          <a:xfrm>
            <a:off x="5223052"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“pretty sure you can only use the ai in the giga app which kinda sucks”</a:t>
            </a:r>
          </a:p>
        </p:txBody>
      </p:sp>
      <p:sp>
        <p:nvSpPr>
          <p:cNvPr id="44" name="Rounded Rectangle 43"/>
          <p:cNvSpPr/>
          <p:nvPr/>
        </p:nvSpPr>
        <p:spPr>
          <a:xfrm>
            <a:off x="7313371"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477963"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Devices</a:t>
            </a:r>
          </a:p>
        </p:txBody>
      </p:sp>
      <p:sp>
        <p:nvSpPr>
          <p:cNvPr id="46" name="TextBox 45"/>
          <p:cNvSpPr txBox="1"/>
          <p:nvPr/>
        </p:nvSpPr>
        <p:spPr>
          <a:xfrm>
            <a:off x="8763609"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6%</a:t>
            </a:r>
          </a:p>
        </p:txBody>
      </p:sp>
      <p:sp>
        <p:nvSpPr>
          <p:cNvPr id="47" name="TextBox 46"/>
          <p:cNvSpPr txBox="1"/>
          <p:nvPr/>
        </p:nvSpPr>
        <p:spPr>
          <a:xfrm>
            <a:off x="7477963"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Device support</a:t>
            </a:r>
          </a:p>
        </p:txBody>
      </p:sp>
      <p:sp>
        <p:nvSpPr>
          <p:cNvPr id="48" name="TextBox 47"/>
          <p:cNvSpPr txBox="1"/>
          <p:nvPr/>
        </p:nvSpPr>
        <p:spPr>
          <a:xfrm>
            <a:off x="7477963"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“Anything but Singtel. Singtel are the only one known to use ONR.”</a:t>
            </a:r>
          </a:p>
        </p:txBody>
      </p:sp>
      <p:sp>
        <p:nvSpPr>
          <p:cNvPr id="49" name="Rounded Rectangle 48"/>
          <p:cNvSpPr/>
          <p:nvPr/>
        </p:nvSpPr>
        <p:spPr>
          <a:xfrm>
            <a:off x="9568281" y="3794760"/>
            <a:ext cx="2072030" cy="1874519"/>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732873"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General Discussion</a:t>
            </a:r>
          </a:p>
        </p:txBody>
      </p:sp>
      <p:sp>
        <p:nvSpPr>
          <p:cNvPr id="51" name="TextBox 50"/>
          <p:cNvSpPr txBox="1"/>
          <p:nvPr/>
        </p:nvSpPr>
        <p:spPr>
          <a:xfrm>
            <a:off x="11018520"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15%</a:t>
            </a:r>
          </a:p>
        </p:txBody>
      </p:sp>
      <p:sp>
        <p:nvSpPr>
          <p:cNvPr id="52" name="TextBox 51"/>
          <p:cNvSpPr txBox="1"/>
          <p:nvPr/>
        </p:nvSpPr>
        <p:spPr>
          <a:xfrm>
            <a:off x="9732873"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Analyst review</a:t>
            </a:r>
          </a:p>
        </p:txBody>
      </p:sp>
      <p:sp>
        <p:nvSpPr>
          <p:cNvPr id="53" name="TextBox 52"/>
          <p:cNvSpPr txBox="1"/>
          <p:nvPr/>
        </p:nvSpPr>
        <p:spPr>
          <a:xfrm>
            <a:off x="9732873"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“…KKR and Singtel will own stakes of 75 per cent and 25 per cent, respectively”</a:t>
            </a:r>
          </a:p>
        </p:txBody>
      </p:sp>
      <p:sp>
        <p:nvSpPr>
          <p:cNvPr id="54" name="TextBox 53"/>
          <p:cNvSpPr txBox="1"/>
          <p:nvPr/>
        </p:nvSpPr>
        <p:spPr>
          <a:xfrm>
            <a:off x="548640" y="5870448"/>
            <a:ext cx="11091672" cy="4572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Gold figure = share of the 9,162 posts with this as the main issue. Quotes are real posts from my blind gold sets. Issues are multi-label; sentiment is one label per post.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I split labels wherever a different team fixes it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10</a:t>
            </a:r>
          </a:p>
        </p:txBody>
      </p:sp>
      <p:sp>
        <p:nvSpPr>
          <p:cNvPr id="4" name="TextBox 3"/>
          <p:cNvSpPr txBox="1"/>
          <p:nvPr/>
        </p:nvSpPr>
        <p:spPr>
          <a:xfrm>
            <a:off x="548640" y="1737360"/>
            <a:ext cx="5486400" cy="365760"/>
          </a:xfrm>
          <a:prstGeom prst="rect">
            <a:avLst/>
          </a:prstGeom>
          <a:noFill/>
        </p:spPr>
        <p:txBody>
          <a:bodyPr wrap="square" lIns="0" tIns="0" rIns="0" bIns="0" anchor="t">
            <a:spAutoFit/>
          </a:bodyPr>
          <a:lstStyle/>
          <a:p>
            <a:pPr algn="l">
              <a:spcAft>
                <a:spcPts val="600"/>
              </a:spcAft>
            </a:pPr>
            <a:r>
              <a:rPr sz="1800" b="1" i="0" dirty="0">
                <a:solidFill>
                  <a:srgbClr val="1C2E6E"/>
                </a:solidFill>
                <a:latin typeface="Calibri"/>
              </a:rPr>
              <a:t>How my draft labels changed</a:t>
            </a:r>
          </a:p>
        </p:txBody>
      </p:sp>
      <p:sp>
        <p:nvSpPr>
          <p:cNvPr id="5" name="Rounded Rectangle 4"/>
          <p:cNvSpPr/>
          <p:nvPr/>
        </p:nvSpPr>
        <p:spPr>
          <a:xfrm>
            <a:off x="548640" y="2286000"/>
            <a:ext cx="2103120" cy="914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Mobile Plans &amp; Pricing</a:t>
            </a:r>
          </a:p>
        </p:txBody>
      </p:sp>
      <p:sp>
        <p:nvSpPr>
          <p:cNvPr id="6" name="TextBox 5"/>
          <p:cNvSpPr txBox="1"/>
          <p:nvPr/>
        </p:nvSpPr>
        <p:spPr>
          <a:xfrm>
            <a:off x="2651760" y="2286000"/>
            <a:ext cx="457200" cy="914400"/>
          </a:xfrm>
          <a:prstGeom prst="rect">
            <a:avLst/>
          </a:prstGeom>
          <a:noFill/>
        </p:spPr>
        <p:txBody>
          <a:bodyPr wrap="square" lIns="0" tIns="0" rIns="0" bIns="0" anchor="ctr">
            <a:spAutoFit/>
          </a:bodyPr>
          <a:lstStyle/>
          <a:p>
            <a:pPr algn="ctr">
              <a:spcAft>
                <a:spcPts val="600"/>
              </a:spcAft>
            </a:pPr>
            <a:r>
              <a:rPr sz="2400" b="1" i="0">
                <a:solidFill>
                  <a:srgbClr val="D29B08"/>
                </a:solidFill>
                <a:latin typeface="Calibri"/>
              </a:rPr>
              <a:t>→</a:t>
            </a:r>
          </a:p>
        </p:txBody>
      </p:sp>
      <p:sp>
        <p:nvSpPr>
          <p:cNvPr id="7" name="Rounded Rectangle 6"/>
          <p:cNvSpPr/>
          <p:nvPr/>
        </p:nvSpPr>
        <p:spPr>
          <a:xfrm>
            <a:off x="3108960" y="2286000"/>
            <a:ext cx="3108960" cy="9144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Mobile Plans  +  Pricing &amp; Promotions</a:t>
            </a:r>
          </a:p>
          <a:p>
            <a:pPr algn="ctr"/>
            <a:r>
              <a:rPr sz="1100" b="0">
                <a:solidFill>
                  <a:srgbClr val="1C2E6E"/>
                </a:solidFill>
                <a:latin typeface="Calibri"/>
              </a:rPr>
              <a:t>Product  /  Commercial</a:t>
            </a:r>
          </a:p>
        </p:txBody>
      </p:sp>
      <p:sp>
        <p:nvSpPr>
          <p:cNvPr id="8" name="Rounded Rectangle 7"/>
          <p:cNvSpPr/>
          <p:nvPr/>
        </p:nvSpPr>
        <p:spPr>
          <a:xfrm>
            <a:off x="548640" y="3383280"/>
            <a:ext cx="2103120" cy="914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Customer Service &amp; Account</a:t>
            </a:r>
          </a:p>
        </p:txBody>
      </p:sp>
      <p:sp>
        <p:nvSpPr>
          <p:cNvPr id="9" name="TextBox 8"/>
          <p:cNvSpPr txBox="1"/>
          <p:nvPr/>
        </p:nvSpPr>
        <p:spPr>
          <a:xfrm>
            <a:off x="2651760" y="3383280"/>
            <a:ext cx="457200" cy="914400"/>
          </a:xfrm>
          <a:prstGeom prst="rect">
            <a:avLst/>
          </a:prstGeom>
          <a:noFill/>
        </p:spPr>
        <p:txBody>
          <a:bodyPr wrap="square" lIns="0" tIns="0" rIns="0" bIns="0" anchor="ctr">
            <a:spAutoFit/>
          </a:bodyPr>
          <a:lstStyle/>
          <a:p>
            <a:pPr algn="ctr">
              <a:spcAft>
                <a:spcPts val="600"/>
              </a:spcAft>
            </a:pPr>
            <a:r>
              <a:rPr sz="2400" b="1" i="0">
                <a:solidFill>
                  <a:srgbClr val="D29B08"/>
                </a:solidFill>
                <a:latin typeface="Calibri"/>
              </a:rPr>
              <a:t>→</a:t>
            </a:r>
          </a:p>
        </p:txBody>
      </p:sp>
      <p:sp>
        <p:nvSpPr>
          <p:cNvPr id="10" name="Rounded Rectangle 9"/>
          <p:cNvSpPr/>
          <p:nvPr/>
        </p:nvSpPr>
        <p:spPr>
          <a:xfrm>
            <a:off x="3108960" y="3383280"/>
            <a:ext cx="3108960" cy="9144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Customer Service  +  App &amp; Account</a:t>
            </a:r>
          </a:p>
          <a:p>
            <a:pPr algn="ctr"/>
            <a:r>
              <a:rPr sz="1100" b="0">
                <a:solidFill>
                  <a:srgbClr val="1C2E6E"/>
                </a:solidFill>
                <a:latin typeface="Calibri"/>
              </a:rPr>
              <a:t>Service operations  /  Digital CX</a:t>
            </a:r>
          </a:p>
        </p:txBody>
      </p:sp>
      <p:sp>
        <p:nvSpPr>
          <p:cNvPr id="11" name="Rounded Rectangle 10"/>
          <p:cNvSpPr/>
          <p:nvPr/>
        </p:nvSpPr>
        <p:spPr>
          <a:xfrm>
            <a:off x="548640" y="4480560"/>
            <a:ext cx="2103120" cy="914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Network Outage &amp; Connectivity</a:t>
            </a:r>
          </a:p>
        </p:txBody>
      </p:sp>
      <p:sp>
        <p:nvSpPr>
          <p:cNvPr id="12" name="TextBox 11"/>
          <p:cNvSpPr txBox="1"/>
          <p:nvPr/>
        </p:nvSpPr>
        <p:spPr>
          <a:xfrm>
            <a:off x="2651760" y="4480560"/>
            <a:ext cx="457200" cy="914400"/>
          </a:xfrm>
          <a:prstGeom prst="rect">
            <a:avLst/>
          </a:prstGeom>
          <a:noFill/>
        </p:spPr>
        <p:txBody>
          <a:bodyPr wrap="square" lIns="0" tIns="0" rIns="0" bIns="0" anchor="ctr">
            <a:spAutoFit/>
          </a:bodyPr>
          <a:lstStyle/>
          <a:p>
            <a:pPr algn="ctr">
              <a:spcAft>
                <a:spcPts val="600"/>
              </a:spcAft>
            </a:pPr>
            <a:r>
              <a:rPr sz="2400" b="1" i="0">
                <a:solidFill>
                  <a:srgbClr val="D29B08"/>
                </a:solidFill>
                <a:latin typeface="Calibri"/>
              </a:rPr>
              <a:t>→</a:t>
            </a:r>
          </a:p>
        </p:txBody>
      </p:sp>
      <p:sp>
        <p:nvSpPr>
          <p:cNvPr id="13" name="Rounded Rectangle 12"/>
          <p:cNvSpPr/>
          <p:nvPr/>
        </p:nvSpPr>
        <p:spPr>
          <a:xfrm>
            <a:off x="3108960" y="4480560"/>
            <a:ext cx="3108960" cy="9144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Network Quality</a:t>
            </a:r>
          </a:p>
          <a:p>
            <a:pPr algn="ctr"/>
            <a:r>
              <a:rPr sz="1100" b="0">
                <a:solidFill>
                  <a:srgbClr val="1C2E6E"/>
                </a:solidFill>
                <a:latin typeface="Calibri"/>
              </a:rPr>
              <a:t>Also slow speeds and dead spots, not only outages</a:t>
            </a:r>
          </a:p>
        </p:txBody>
      </p:sp>
      <p:sp>
        <p:nvSpPr>
          <p:cNvPr id="14" name="TextBox 13"/>
          <p:cNvSpPr txBox="1"/>
          <p:nvPr/>
        </p:nvSpPr>
        <p:spPr>
          <a:xfrm>
            <a:off x="6492240" y="1737360"/>
            <a:ext cx="5148072" cy="32004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Small labels stay when the pain is sharp</a:t>
            </a:r>
          </a:p>
        </p:txBody>
      </p:sp>
      <p:sp>
        <p:nvSpPr>
          <p:cNvPr id="15" name="TextBox 14"/>
          <p:cNvSpPr txBox="1"/>
          <p:nvPr/>
        </p:nvSpPr>
        <p:spPr>
          <a:xfrm>
            <a:off x="6492240" y="2103120"/>
            <a:ext cx="5148072" cy="646331"/>
          </a:xfrm>
          <a:prstGeom prst="rect">
            <a:avLst/>
          </a:prstGeom>
          <a:noFill/>
        </p:spPr>
        <p:txBody>
          <a:bodyPr wrap="square" lIns="0" tIns="0" rIns="0" bIns="0" anchor="t">
            <a:spAutoFit/>
          </a:bodyPr>
          <a:lstStyle/>
          <a:p>
            <a:pPr algn="l">
              <a:spcAft>
                <a:spcPts val="600"/>
              </a:spcAft>
            </a:pPr>
            <a:r>
              <a:rPr sz="1400" b="1" i="0" dirty="0">
                <a:solidFill>
                  <a:srgbClr val="1E293B"/>
                </a:solidFill>
                <a:latin typeface="Calibri"/>
              </a:rPr>
              <a:t>Customer Service </a:t>
            </a:r>
            <a:r>
              <a:rPr sz="1400" b="0" i="0" dirty="0">
                <a:solidFill>
                  <a:srgbClr val="1E293B"/>
                </a:solidFill>
                <a:latin typeface="Calibri"/>
              </a:rPr>
              <a:t>is 4% of posts but the most negative label (59% not happy). Roaming and Porting each have their own team; merging them would bury their spikes.</a:t>
            </a:r>
          </a:p>
        </p:txBody>
      </p:sp>
      <p:sp>
        <p:nvSpPr>
          <p:cNvPr id="16" name="TextBox 15"/>
          <p:cNvSpPr txBox="1"/>
          <p:nvPr/>
        </p:nvSpPr>
        <p:spPr>
          <a:xfrm>
            <a:off x="6492240" y="3017520"/>
            <a:ext cx="5148072" cy="320040"/>
          </a:xfrm>
          <a:prstGeom prst="rect">
            <a:avLst/>
          </a:prstGeom>
          <a:noFill/>
        </p:spPr>
        <p:txBody>
          <a:bodyPr wrap="square" lIns="0" tIns="0" rIns="0" bIns="0" anchor="t">
            <a:spAutoFit/>
          </a:bodyPr>
          <a:lstStyle/>
          <a:p>
            <a:pPr algn="l">
              <a:spcAft>
                <a:spcPts val="600"/>
              </a:spcAft>
            </a:pPr>
            <a:r>
              <a:rPr sz="1600" b="1" i="0" dirty="0">
                <a:solidFill>
                  <a:srgbClr val="1C2E6E"/>
                </a:solidFill>
                <a:latin typeface="Calibri"/>
              </a:rPr>
              <a:t>General Discussion is the residual</a:t>
            </a:r>
          </a:p>
        </p:txBody>
      </p:sp>
      <p:sp>
        <p:nvSpPr>
          <p:cNvPr id="17" name="TextBox 16"/>
          <p:cNvSpPr txBox="1"/>
          <p:nvPr/>
        </p:nvSpPr>
        <p:spPr>
          <a:xfrm>
            <a:off x="6492240" y="3383279"/>
            <a:ext cx="5148072" cy="8229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Used only when nothing specific fits, never beside a label (15% of posts). That makes it the queue the hybrid sends to GPT-4o.</a:t>
            </a:r>
          </a:p>
        </p:txBody>
      </p:sp>
      <p:sp>
        <p:nvSpPr>
          <p:cNvPr id="18" name="TextBox 17"/>
          <p:cNvSpPr txBox="1"/>
          <p:nvPr/>
        </p:nvSpPr>
        <p:spPr>
          <a:xfrm>
            <a:off x="6492240" y="4297680"/>
            <a:ext cx="5148072" cy="32004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Many issues per post, one sentiment</a:t>
            </a:r>
          </a:p>
        </p:txBody>
      </p:sp>
      <p:sp>
        <p:nvSpPr>
          <p:cNvPr id="19" name="TextBox 18"/>
          <p:cNvSpPr txBox="1"/>
          <p:nvPr/>
        </p:nvSpPr>
        <p:spPr>
          <a:xfrm>
            <a:off x="6492240" y="4663440"/>
            <a:ext cx="5148072" cy="822960"/>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One post can raise roaming and billing at once, so issues are multi-label; sentiment stays one label per post.</a:t>
            </a:r>
          </a:p>
        </p:txBody>
      </p:sp>
      <p:sp>
        <p:nvSpPr>
          <p:cNvPr id="20" name="TextBox 19"/>
          <p:cNvSpPr txBox="1"/>
          <p:nvPr/>
        </p:nvSpPr>
        <p:spPr>
          <a:xfrm>
            <a:off x="548640" y="5760720"/>
            <a:ext cx="11091672" cy="548640"/>
          </a:xfrm>
          <a:prstGeom prst="rect">
            <a:avLst/>
          </a:prstGeom>
          <a:noFill/>
        </p:spPr>
        <p:txBody>
          <a:bodyPr wrap="square" lIns="0" tIns="0" rIns="0" bIns="0" anchor="t">
            <a:spAutoFit/>
          </a:bodyPr>
          <a:lstStyle/>
          <a:p>
            <a:pPr algn="l">
              <a:spcAft>
                <a:spcPts val="600"/>
              </a:spcAft>
            </a:pPr>
            <a:r>
              <a:rPr sz="1400" b="1" i="0">
                <a:solidFill>
                  <a:srgbClr val="1C2E6E"/>
                </a:solidFill>
                <a:latin typeface="Calibri"/>
              </a:rPr>
              <a:t>The cost of finer labels: </a:t>
            </a:r>
            <a:r>
              <a:rPr sz="1400" b="0" i="0">
                <a:solidFill>
                  <a:srgbClr val="1E293B"/>
                </a:solidFill>
                <a:latin typeface="Calibri"/>
              </a:rPr>
              <a:t>two humans agreed on Network (κ 0.79) but not on Devices (0.16), App &amp; Account (0.17) or Customer Service (0.28).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C</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Evaluation</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Which method should label what?</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7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5495" y="384641"/>
            <a:ext cx="6840000" cy="643253"/>
          </a:xfrm>
          <a:prstGeom prst="rect">
            <a:avLst/>
          </a:prstGeom>
          <a:noFill/>
        </p:spPr>
        <p:txBody>
          <a:bodyPr wrap="square" lIns="0" tIns="0" rIns="0" bIns="0" anchor="ctr">
            <a:spAutoFit/>
          </a:bodyPr>
          <a:lstStyle/>
          <a:p>
            <a:pPr>
              <a:lnSpc>
                <a:spcPct val="95000"/>
              </a:lnSpc>
            </a:pPr>
            <a:r>
              <a:rPr lang="en-US" sz="2400" b="1" i="0" dirty="0">
                <a:solidFill>
                  <a:srgbClr val="1C2E6E"/>
                </a:solidFill>
                <a:latin typeface="Calibri"/>
              </a:rPr>
              <a:t>RQ3 What does an LLM add over VADER and rules?</a:t>
            </a:r>
          </a:p>
          <a:p>
            <a:pPr algn="l">
              <a:lnSpc>
                <a:spcPct val="95000"/>
              </a:lnSpc>
              <a:spcAft>
                <a:spcPts val="0"/>
              </a:spcAft>
            </a:pPr>
            <a:r>
              <a:rPr sz="2000" b="1" i="0" dirty="0">
                <a:solidFill>
                  <a:schemeClr val="tx1">
                    <a:lumMod val="95000"/>
                    <a:lumOff val="5000"/>
                  </a:schemeClr>
                </a:solidFill>
                <a:latin typeface="Calibri"/>
              </a:rPr>
              <a:t>Blind gold sets: I labelled without seeing any model</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12</a:t>
            </a:r>
          </a:p>
        </p:txBody>
      </p:sp>
      <p:sp>
        <p:nvSpPr>
          <p:cNvPr id="4" name="Rounded Rectangle 3"/>
          <p:cNvSpPr/>
          <p:nvPr/>
        </p:nvSpPr>
        <p:spPr>
          <a:xfrm>
            <a:off x="548640" y="1691640"/>
            <a:ext cx="5577840" cy="129844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91640"/>
            <a:ext cx="1280160" cy="1298448"/>
          </a:xfrm>
          <a:prstGeom prst="rect">
            <a:avLst/>
          </a:prstGeom>
          <a:noFill/>
        </p:spPr>
        <p:txBody>
          <a:bodyPr wrap="square" lIns="0" tIns="0" rIns="0" bIns="0" anchor="ctr">
            <a:spAutoFit/>
          </a:bodyPr>
          <a:lstStyle/>
          <a:p>
            <a:pPr algn="l">
              <a:spcAft>
                <a:spcPts val="600"/>
              </a:spcAft>
            </a:pPr>
            <a:r>
              <a:rPr sz="3400" b="1" i="0">
                <a:solidFill>
                  <a:srgbClr val="1C2E6E"/>
                </a:solidFill>
                <a:latin typeface="Calibri"/>
              </a:rPr>
              <a:t>300</a:t>
            </a:r>
          </a:p>
        </p:txBody>
      </p:sp>
      <p:sp>
        <p:nvSpPr>
          <p:cNvPr id="6" name="TextBox 5"/>
          <p:cNvSpPr txBox="1"/>
          <p:nvPr/>
        </p:nvSpPr>
        <p:spPr>
          <a:xfrm>
            <a:off x="2148840" y="2110031"/>
            <a:ext cx="3794760" cy="461665"/>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representative posts, </a:t>
            </a:r>
            <a:r>
              <a:rPr sz="1500" b="1" i="0" dirty="0">
                <a:solidFill>
                  <a:srgbClr val="1E293B"/>
                </a:solidFill>
                <a:latin typeface="Calibri"/>
              </a:rPr>
              <a:t>295</a:t>
            </a:r>
            <a:r>
              <a:rPr sz="1500" b="0" i="0" dirty="0">
                <a:solidFill>
                  <a:srgbClr val="1E293B"/>
                </a:solidFill>
                <a:latin typeface="Calibri"/>
              </a:rPr>
              <a:t> telco-relevant: headline metrics</a:t>
            </a:r>
          </a:p>
        </p:txBody>
      </p:sp>
      <p:sp>
        <p:nvSpPr>
          <p:cNvPr id="7" name="Rounded Rectangle 6"/>
          <p:cNvSpPr/>
          <p:nvPr/>
        </p:nvSpPr>
        <p:spPr>
          <a:xfrm>
            <a:off x="548640" y="3154680"/>
            <a:ext cx="5577840" cy="129844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154680"/>
            <a:ext cx="1280160" cy="1298448"/>
          </a:xfrm>
          <a:prstGeom prst="rect">
            <a:avLst/>
          </a:prstGeom>
          <a:noFill/>
        </p:spPr>
        <p:txBody>
          <a:bodyPr wrap="square" lIns="0" tIns="0" rIns="0" bIns="0" anchor="ctr">
            <a:spAutoFit/>
          </a:bodyPr>
          <a:lstStyle/>
          <a:p>
            <a:pPr algn="l">
              <a:spcAft>
                <a:spcPts val="600"/>
              </a:spcAft>
            </a:pPr>
            <a:r>
              <a:rPr sz="3400" b="1" i="0">
                <a:solidFill>
                  <a:srgbClr val="1C2E6E"/>
                </a:solidFill>
                <a:latin typeface="Calibri"/>
              </a:rPr>
              <a:t>100</a:t>
            </a:r>
          </a:p>
        </p:txBody>
      </p:sp>
      <p:sp>
        <p:nvSpPr>
          <p:cNvPr id="9" name="TextBox 8"/>
          <p:cNvSpPr txBox="1"/>
          <p:nvPr/>
        </p:nvSpPr>
        <p:spPr>
          <a:xfrm>
            <a:off x="2148840" y="3154680"/>
            <a:ext cx="3794760" cy="1298448"/>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challenge posts: sarcasm, Singlish, mixed brands, long text</a:t>
            </a:r>
          </a:p>
        </p:txBody>
      </p:sp>
      <p:sp>
        <p:nvSpPr>
          <p:cNvPr id="10" name="Rounded Rectangle 9"/>
          <p:cNvSpPr/>
          <p:nvPr/>
        </p:nvSpPr>
        <p:spPr>
          <a:xfrm>
            <a:off x="548640" y="4617720"/>
            <a:ext cx="5577840" cy="129844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617720"/>
            <a:ext cx="1280160" cy="1298448"/>
          </a:xfrm>
          <a:prstGeom prst="rect">
            <a:avLst/>
          </a:prstGeom>
          <a:noFill/>
        </p:spPr>
        <p:txBody>
          <a:bodyPr wrap="square" lIns="0" tIns="0" rIns="0" bIns="0" anchor="ctr">
            <a:spAutoFit/>
          </a:bodyPr>
          <a:lstStyle/>
          <a:p>
            <a:pPr algn="l">
              <a:spcAft>
                <a:spcPts val="600"/>
              </a:spcAft>
            </a:pPr>
            <a:r>
              <a:rPr sz="3400" b="1" i="0">
                <a:solidFill>
                  <a:srgbClr val="1C2E6E"/>
                </a:solidFill>
                <a:latin typeface="Calibri"/>
              </a:rPr>
              <a:t>100</a:t>
            </a:r>
          </a:p>
        </p:txBody>
      </p:sp>
      <p:sp>
        <p:nvSpPr>
          <p:cNvPr id="12" name="TextBox 11"/>
          <p:cNvSpPr txBox="1"/>
          <p:nvPr/>
        </p:nvSpPr>
        <p:spPr>
          <a:xfrm>
            <a:off x="2148840" y="4617720"/>
            <a:ext cx="3794760" cy="1298448"/>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second-annotator overlap: 60 representative + 40 challenge</a:t>
            </a:r>
          </a:p>
        </p:txBody>
      </p:sp>
      <p:sp>
        <p:nvSpPr>
          <p:cNvPr id="13" name="Rounded Rectangle 12"/>
          <p:cNvSpPr/>
          <p:nvPr/>
        </p:nvSpPr>
        <p:spPr>
          <a:xfrm>
            <a:off x="6400800" y="1691640"/>
            <a:ext cx="5239512" cy="4224528"/>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6629400" y="1874520"/>
            <a:ext cx="4782312" cy="36576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What keeps it blind and fair</a:t>
            </a:r>
          </a:p>
        </p:txBody>
      </p:sp>
      <p:sp>
        <p:nvSpPr>
          <p:cNvPr id="15" name="TextBox 14"/>
          <p:cNvSpPr txBox="1"/>
          <p:nvPr/>
        </p:nvSpPr>
        <p:spPr>
          <a:xfrm>
            <a:off x="6629400" y="2258568"/>
            <a:ext cx="4782312" cy="1631216"/>
          </a:xfrm>
          <a:prstGeom prst="rect">
            <a:avLst/>
          </a:prstGeom>
          <a:noFill/>
        </p:spPr>
        <p:txBody>
          <a:bodyPr wrap="square" lIns="0" tIns="0" rIns="0" bIns="0" anchor="t">
            <a:spAutoFit/>
          </a:bodyPr>
          <a:lstStyle/>
          <a:p>
            <a:pPr algn="l">
              <a:spcAft>
                <a:spcPts val="600"/>
              </a:spcAft>
            </a:pPr>
            <a:r>
              <a:rPr sz="1600" b="0" i="0" dirty="0">
                <a:solidFill>
                  <a:srgbClr val="1E293B"/>
                </a:solidFill>
                <a:latin typeface="Calibri"/>
              </a:rPr>
              <a:t>The sheets </a:t>
            </a:r>
            <a:r>
              <a:rPr sz="1600" b="1" i="0" dirty="0">
                <a:solidFill>
                  <a:srgbClr val="1E293B"/>
                </a:solidFill>
                <a:latin typeface="Calibri"/>
              </a:rPr>
              <a:t>hide every model label and score</a:t>
            </a:r>
            <a:r>
              <a:rPr sz="1600" b="0" i="0" dirty="0">
                <a:solidFill>
                  <a:srgbClr val="1E293B"/>
                </a:solidFill>
                <a:latin typeface="Calibri"/>
              </a:rPr>
              <a:t>, so no answer can be copied.</a:t>
            </a:r>
          </a:p>
          <a:p>
            <a:pPr algn="l">
              <a:spcAft>
                <a:spcPts val="600"/>
              </a:spcAft>
            </a:pPr>
            <a:r>
              <a:rPr sz="1600" b="0" i="0" dirty="0">
                <a:solidFill>
                  <a:srgbClr val="1E293B"/>
                </a:solidFill>
                <a:latin typeface="Calibri"/>
              </a:rPr>
              <a:t>Representative and challenge </a:t>
            </a:r>
            <a:r>
              <a:rPr sz="1600" b="1" i="0" dirty="0">
                <a:solidFill>
                  <a:srgbClr val="1E293B"/>
                </a:solidFill>
                <a:latin typeface="Calibri"/>
              </a:rPr>
              <a:t>sets never share a thread</a:t>
            </a:r>
            <a:r>
              <a:rPr sz="1600" b="0" i="0" dirty="0">
                <a:solidFill>
                  <a:srgbClr val="1E293B"/>
                </a:solidFill>
                <a:latin typeface="Calibri"/>
              </a:rPr>
              <a:t>, and each thread</a:t>
            </a:r>
            <a:r>
              <a:rPr sz="1600" b="1" i="0" dirty="0">
                <a:solidFill>
                  <a:srgbClr val="1E293B"/>
                </a:solidFill>
                <a:latin typeface="Calibri"/>
              </a:rPr>
              <a:t> gives at most five comments.</a:t>
            </a:r>
          </a:p>
          <a:p>
            <a:pPr algn="l">
              <a:spcAft>
                <a:spcPts val="600"/>
              </a:spcAft>
            </a:pPr>
            <a:r>
              <a:rPr sz="1600" b="0" i="0" dirty="0">
                <a:solidFill>
                  <a:srgbClr val="1E293B"/>
                </a:solidFill>
                <a:latin typeface="Calibri"/>
              </a:rPr>
              <a:t>Challenge results are reported separately, never pooled with the headline set.</a:t>
            </a:r>
          </a:p>
        </p:txBody>
      </p:sp>
      <p:sp>
        <p:nvSpPr>
          <p:cNvPr id="17" name="TextBox 16">
            <a:extLst>
              <a:ext uri="{FF2B5EF4-FFF2-40B4-BE49-F238E27FC236}">
                <a16:creationId xmlns:a16="http://schemas.microsoft.com/office/drawing/2014/main" id="{6FA3F306-57E6-0E1B-4BD0-C82204E2B6A7}"/>
              </a:ext>
            </a:extLst>
          </p:cNvPr>
          <p:cNvSpPr txBox="1"/>
          <p:nvPr/>
        </p:nvSpPr>
        <p:spPr>
          <a:xfrm>
            <a:off x="6583680" y="4118146"/>
            <a:ext cx="4572000" cy="723275"/>
          </a:xfrm>
          <a:prstGeom prst="rect">
            <a:avLst/>
          </a:prstGeom>
          <a:noFill/>
        </p:spPr>
        <p:txBody>
          <a:bodyPr wrap="square">
            <a:spAutoFit/>
          </a:bodyPr>
          <a:lstStyle/>
          <a:p>
            <a:pPr algn="l">
              <a:spcAft>
                <a:spcPts val="600"/>
              </a:spcAft>
            </a:pPr>
            <a:r>
              <a:rPr lang="en-US" b="1" i="0" dirty="0">
                <a:solidFill>
                  <a:srgbClr val="1C2E6E"/>
                </a:solidFill>
                <a:latin typeface="Calibri"/>
              </a:rPr>
              <a:t>Sentiment: Happy, Not Happy, Neutral</a:t>
            </a:r>
          </a:p>
          <a:p>
            <a:pPr algn="l">
              <a:spcAft>
                <a:spcPts val="600"/>
              </a:spcAft>
            </a:pPr>
            <a:r>
              <a:rPr lang="en-US" b="1" dirty="0">
                <a:solidFill>
                  <a:srgbClr val="1C2E6E"/>
                </a:solidFill>
                <a:latin typeface="Calibri"/>
              </a:rPr>
              <a:t>10 Labels</a:t>
            </a:r>
            <a:endParaRPr lang="en-US" b="1" i="0" dirty="0">
              <a:solidFill>
                <a:srgbClr val="1C2E6E"/>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Evaluation summary: how it works</a:t>
            </a:r>
          </a:p>
        </p:txBody>
      </p:sp>
      <p:sp>
        <p:nvSpPr>
          <p:cNvPr id="3" name="TextBox 2"/>
          <p:cNvSpPr txBox="1"/>
          <p:nvPr/>
        </p:nvSpPr>
        <p:spPr>
          <a:xfrm>
            <a:off x="548640" y="1691640"/>
            <a:ext cx="6766560" cy="36576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Three blind gold sets, labelled by me</a:t>
            </a:r>
          </a:p>
        </p:txBody>
      </p:sp>
      <p:graphicFrame>
        <p:nvGraphicFramePr>
          <p:cNvPr id="4" name="Table 3"/>
          <p:cNvGraphicFramePr>
            <a:graphicFrameLocks noGrp="1"/>
          </p:cNvGraphicFramePr>
          <p:nvPr/>
        </p:nvGraphicFramePr>
        <p:xfrm>
          <a:off x="548640" y="2148840"/>
          <a:ext cx="6766560" cy="20116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02920">
                <a:tc>
                  <a:txBody>
                    <a:bodyPr/>
                    <a:lstStyle/>
                    <a:p>
                      <a:pPr algn="l"/>
                      <a:r>
                        <a:rPr sz="1400" b="1">
                          <a:solidFill>
                            <a:srgbClr val="FFFFFF"/>
                          </a:solidFill>
                          <a:latin typeface="Calibri"/>
                        </a:rPr>
                        <a:t>Set</a:t>
                      </a:r>
                    </a:p>
                  </a:txBody>
                  <a:tcPr marT="36576" marB="36576" anchor="ctr">
                    <a:solidFill>
                      <a:srgbClr val="1C2E6E"/>
                    </a:solidFill>
                  </a:tcPr>
                </a:tc>
                <a:tc>
                  <a:txBody>
                    <a:bodyPr/>
                    <a:lstStyle/>
                    <a:p>
                      <a:pPr algn="l"/>
                      <a:r>
                        <a:rPr sz="1400" b="1">
                          <a:solidFill>
                            <a:srgbClr val="FFFFFF"/>
                          </a:solidFill>
                          <a:latin typeface="Calibri"/>
                        </a:rPr>
                        <a:t>Posts</a:t>
                      </a:r>
                    </a:p>
                  </a:txBody>
                  <a:tcPr marT="36576" marB="36576" anchor="ctr">
                    <a:solidFill>
                      <a:srgbClr val="1C2E6E"/>
                    </a:solidFill>
                  </a:tcPr>
                </a:tc>
                <a:tc>
                  <a:txBody>
                    <a:bodyPr/>
                    <a:lstStyle/>
                    <a:p>
                      <a:pPr algn="l"/>
                      <a:r>
                        <a:rPr sz="1400" b="1">
                          <a:solidFill>
                            <a:srgbClr val="FFFFFF"/>
                          </a:solidFill>
                          <a:latin typeface="Calibri"/>
                        </a:rPr>
                        <a:t>Used for</a:t>
                      </a:r>
                    </a:p>
                  </a:txBody>
                  <a:tcPr marT="36576" marB="36576" anchor="ctr">
                    <a:solidFill>
                      <a:srgbClr val="1C2E6E"/>
                    </a:solidFill>
                  </a:tcPr>
                </a:tc>
                <a:extLst>
                  <a:ext uri="{0D108BD9-81ED-4DB2-BD59-A6C34878D82A}">
                    <a16:rowId xmlns:a16="http://schemas.microsoft.com/office/drawing/2014/main" val="10000"/>
                  </a:ext>
                </a:extLst>
              </a:tr>
              <a:tr h="502920">
                <a:tc>
                  <a:txBody>
                    <a:bodyPr/>
                    <a:lstStyle/>
                    <a:p>
                      <a:pPr algn="l"/>
                      <a:r>
                        <a:rPr sz="1400" b="0">
                          <a:solidFill>
                            <a:srgbClr val="1E293B"/>
                          </a:solidFill>
                          <a:latin typeface="Calibri"/>
                        </a:rPr>
                        <a:t>Representative</a:t>
                      </a:r>
                    </a:p>
                  </a:txBody>
                  <a:tcPr marT="36576" marB="36576" anchor="ctr">
                    <a:solidFill>
                      <a:srgbClr val="FFFFFF"/>
                    </a:solidFill>
                  </a:tcPr>
                </a:tc>
                <a:tc>
                  <a:txBody>
                    <a:bodyPr/>
                    <a:lstStyle/>
                    <a:p>
                      <a:pPr algn="l"/>
                      <a:r>
                        <a:rPr sz="1400" b="0">
                          <a:solidFill>
                            <a:srgbClr val="1E293B"/>
                          </a:solidFill>
                          <a:latin typeface="Calibri"/>
                        </a:rPr>
                        <a:t>300 random (295 relevant)</a:t>
                      </a:r>
                    </a:p>
                  </a:txBody>
                  <a:tcPr marT="36576" marB="36576" anchor="ctr">
                    <a:solidFill>
                      <a:srgbClr val="FFFFFF"/>
                    </a:solidFill>
                  </a:tcPr>
                </a:tc>
                <a:tc>
                  <a:txBody>
                    <a:bodyPr/>
                    <a:lstStyle/>
                    <a:p>
                      <a:pPr algn="l"/>
                      <a:r>
                        <a:rPr sz="1400" b="0">
                          <a:solidFill>
                            <a:srgbClr val="1E293B"/>
                          </a:solidFill>
                          <a:latin typeface="Calibri"/>
                        </a:rPr>
                        <a:t>Headline scores</a:t>
                      </a:r>
                    </a:p>
                  </a:txBody>
                  <a:tcPr marT="36576" marB="36576" anchor="ctr">
                    <a:solidFill>
                      <a:srgbClr val="FFFFFF"/>
                    </a:solidFill>
                  </a:tcPr>
                </a:tc>
                <a:extLst>
                  <a:ext uri="{0D108BD9-81ED-4DB2-BD59-A6C34878D82A}">
                    <a16:rowId xmlns:a16="http://schemas.microsoft.com/office/drawing/2014/main" val="10001"/>
                  </a:ext>
                </a:extLst>
              </a:tr>
              <a:tr h="502920">
                <a:tc>
                  <a:txBody>
                    <a:bodyPr/>
                    <a:lstStyle/>
                    <a:p>
                      <a:pPr algn="l"/>
                      <a:r>
                        <a:rPr sz="1400" b="0" dirty="0">
                          <a:solidFill>
                            <a:srgbClr val="1E293B"/>
                          </a:solidFill>
                          <a:latin typeface="Calibri"/>
                        </a:rPr>
                        <a:t>Challenge</a:t>
                      </a:r>
                    </a:p>
                  </a:txBody>
                  <a:tcPr marT="36576" marB="36576" anchor="ctr">
                    <a:solidFill>
                      <a:srgbClr val="F2F4F9"/>
                    </a:solidFill>
                  </a:tcPr>
                </a:tc>
                <a:tc>
                  <a:txBody>
                    <a:bodyPr/>
                    <a:lstStyle/>
                    <a:p>
                      <a:pPr algn="l"/>
                      <a:r>
                        <a:rPr sz="1400" b="0">
                          <a:solidFill>
                            <a:srgbClr val="1E293B"/>
                          </a:solidFill>
                          <a:latin typeface="Calibri"/>
                        </a:rPr>
                        <a:t>100 hard, separate threads</a:t>
                      </a:r>
                    </a:p>
                  </a:txBody>
                  <a:tcPr marT="36576" marB="36576" anchor="ctr">
                    <a:solidFill>
                      <a:srgbClr val="F2F4F9"/>
                    </a:solidFill>
                  </a:tcPr>
                </a:tc>
                <a:tc>
                  <a:txBody>
                    <a:bodyPr/>
                    <a:lstStyle/>
                    <a:p>
                      <a:pPr algn="l"/>
                      <a:r>
                        <a:rPr sz="1400" b="0">
                          <a:solidFill>
                            <a:srgbClr val="1E293B"/>
                          </a:solidFill>
                          <a:latin typeface="Calibri"/>
                        </a:rPr>
                        <a:t>Held-out test</a:t>
                      </a:r>
                    </a:p>
                  </a:txBody>
                  <a:tcPr marT="36576" marB="36576" anchor="ctr">
                    <a:solidFill>
                      <a:srgbClr val="F2F4F9"/>
                    </a:solidFill>
                  </a:tcPr>
                </a:tc>
                <a:extLst>
                  <a:ext uri="{0D108BD9-81ED-4DB2-BD59-A6C34878D82A}">
                    <a16:rowId xmlns:a16="http://schemas.microsoft.com/office/drawing/2014/main" val="10002"/>
                  </a:ext>
                </a:extLst>
              </a:tr>
              <a:tr h="502920">
                <a:tc>
                  <a:txBody>
                    <a:bodyPr/>
                    <a:lstStyle/>
                    <a:p>
                      <a:pPr algn="l"/>
                      <a:r>
                        <a:rPr sz="1400" b="0">
                          <a:solidFill>
                            <a:srgbClr val="1E293B"/>
                          </a:solidFill>
                          <a:latin typeface="Calibri"/>
                        </a:rPr>
                        <a:t>Recent</a:t>
                      </a:r>
                    </a:p>
                  </a:txBody>
                  <a:tcPr marT="36576" marB="36576" anchor="ctr">
                    <a:solidFill>
                      <a:srgbClr val="FFFFFF"/>
                    </a:solidFill>
                  </a:tcPr>
                </a:tc>
                <a:tc>
                  <a:txBody>
                    <a:bodyPr/>
                    <a:lstStyle/>
                    <a:p>
                      <a:pPr algn="l"/>
                      <a:r>
                        <a:rPr sz="1400" b="0">
                          <a:solidFill>
                            <a:srgbClr val="1E293B"/>
                          </a:solidFill>
                          <a:latin typeface="Calibri"/>
                        </a:rPr>
                        <a:t>100 from Apr–Sep 2026 (97)</a:t>
                      </a:r>
                    </a:p>
                  </a:txBody>
                  <a:tcPr marT="36576" marB="36576" anchor="ctr">
                    <a:solidFill>
                      <a:srgbClr val="FFFFFF"/>
                    </a:solidFill>
                  </a:tcPr>
                </a:tc>
                <a:tc>
                  <a:txBody>
                    <a:bodyPr/>
                    <a:lstStyle/>
                    <a:p>
                      <a:pPr algn="l"/>
                      <a:r>
                        <a:rPr sz="1400" b="0" dirty="0">
                          <a:solidFill>
                            <a:srgbClr val="1E293B"/>
                          </a:solidFill>
                          <a:latin typeface="Calibri"/>
                        </a:rPr>
                        <a:t>Newer 80% of corpus</a:t>
                      </a: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4389120"/>
            <a:ext cx="6766560" cy="1463040"/>
          </a:xfrm>
          <a:prstGeom prst="rect">
            <a:avLst/>
          </a:prstGeom>
          <a:noFill/>
        </p:spPr>
        <p:txBody>
          <a:bodyPr wrap="square" lIns="0" tIns="0" rIns="0" bIns="0" anchor="t">
            <a:spAutoFit/>
          </a:bodyPr>
          <a:lstStyle/>
          <a:p>
            <a:pPr marL="256032" indent="-256032" algn="l">
              <a:spcAft>
                <a:spcPts val="600"/>
              </a:spcAft>
              <a:buClr>
                <a:srgbClr val="D29B08"/>
              </a:buClr>
              <a:buFont typeface="Arial"/>
              <a:buChar char="•"/>
            </a:pPr>
            <a:r>
              <a:rPr sz="1500" b="0" i="0">
                <a:solidFill>
                  <a:srgbClr val="1E293B"/>
                </a:solidFill>
                <a:latin typeface="Calibri"/>
              </a:rPr>
              <a:t>No model output was visible while labelling.</a:t>
            </a:r>
          </a:p>
          <a:p>
            <a:pPr marL="256032" indent="-256032" algn="l">
              <a:spcAft>
                <a:spcPts val="600"/>
              </a:spcAft>
              <a:buClr>
                <a:srgbClr val="D29B08"/>
              </a:buClr>
              <a:buFont typeface="Arial"/>
              <a:buChar char="•"/>
            </a:pPr>
            <a:r>
              <a:rPr sz="1500" b="0" i="0">
                <a:solidFill>
                  <a:srgbClr val="1E293B"/>
                </a:solidFill>
                <a:latin typeface="Calibri"/>
              </a:rPr>
              <a:t>Annotator B relabelled 100 overlap posts to measure human agreement.</a:t>
            </a:r>
          </a:p>
          <a:p>
            <a:pPr marL="256032" indent="-256032" algn="l">
              <a:spcAft>
                <a:spcPts val="600"/>
              </a:spcAft>
              <a:buClr>
                <a:srgbClr val="D29B08"/>
              </a:buClr>
              <a:buFont typeface="Arial"/>
              <a:buChar char="•"/>
            </a:pPr>
            <a:r>
              <a:rPr sz="1500" b="0" i="0">
                <a:solidFill>
                  <a:srgbClr val="1E293B"/>
                </a:solidFill>
                <a:latin typeface="Calibri"/>
              </a:rPr>
              <a:t>Each set is scored on its own, never pooled.</a:t>
            </a:r>
          </a:p>
        </p:txBody>
      </p:sp>
      <p:sp>
        <p:nvSpPr>
          <p:cNvPr id="6" name="Rounded Rectangle 5"/>
          <p:cNvSpPr/>
          <p:nvPr/>
        </p:nvSpPr>
        <p:spPr>
          <a:xfrm>
            <a:off x="7680960" y="1691640"/>
            <a:ext cx="3959352" cy="2057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74520"/>
            <a:ext cx="3502152" cy="36576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What was compared</a:t>
            </a:r>
          </a:p>
        </p:txBody>
      </p:sp>
      <p:sp>
        <p:nvSpPr>
          <p:cNvPr id="8" name="TextBox 7"/>
          <p:cNvSpPr txBox="1"/>
          <p:nvPr/>
        </p:nvSpPr>
        <p:spPr>
          <a:xfrm>
            <a:off x="7909560" y="2258568"/>
            <a:ext cx="3502152" cy="13258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Sentiment: VADER vs GPT-4o-mini vs GPT-4o</a:t>
            </a:r>
          </a:p>
          <a:p>
            <a:pPr algn="l">
              <a:spcAft>
                <a:spcPts val="600"/>
              </a:spcAft>
            </a:pPr>
            <a:r>
              <a:rPr sz="1400" b="0" i="0">
                <a:solidFill>
                  <a:srgbClr val="1E293B"/>
                </a:solidFill>
                <a:latin typeface="Calibri"/>
              </a:rPr>
              <a:t>Issues: keyword rules, GPT-4o-mini and GPT-4o on every post, and the hybrid</a:t>
            </a:r>
          </a:p>
        </p:txBody>
      </p:sp>
      <p:sp>
        <p:nvSpPr>
          <p:cNvPr id="9" name="Rounded Rectangle 8"/>
          <p:cNvSpPr/>
          <p:nvPr/>
        </p:nvSpPr>
        <p:spPr>
          <a:xfrm>
            <a:off x="7680960" y="3886200"/>
            <a:ext cx="3959352"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60" y="4069080"/>
            <a:ext cx="3502152" cy="36576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How it was scored</a:t>
            </a:r>
          </a:p>
        </p:txBody>
      </p:sp>
      <p:sp>
        <p:nvSpPr>
          <p:cNvPr id="11" name="TextBox 10"/>
          <p:cNvSpPr txBox="1"/>
          <p:nvPr/>
        </p:nvSpPr>
        <p:spPr>
          <a:xfrm>
            <a:off x="7909560" y="4453128"/>
            <a:ext cx="3502152" cy="1371599"/>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Macro F1, per-class recall, confusion matrices</a:t>
            </a:r>
          </a:p>
          <a:p>
            <a:pPr algn="l">
              <a:spcAft>
                <a:spcPts val="600"/>
              </a:spcAft>
            </a:pPr>
            <a:r>
              <a:rPr sz="1400" b="0" i="0">
                <a:solidFill>
                  <a:srgbClr val="1E293B"/>
                </a:solidFill>
                <a:latin typeface="Calibri"/>
              </a:rPr>
              <a:t>Paired bootstrap 95% CIs: a range that excludes 0 is a real gap</a:t>
            </a:r>
          </a:p>
          <a:p>
            <a:pPr algn="l">
              <a:spcAft>
                <a:spcPts val="600"/>
              </a:spcAft>
            </a:pPr>
            <a:r>
              <a:rPr sz="1400" b="0" i="0">
                <a:solidFill>
                  <a:srgbClr val="1E293B"/>
                </a:solidFill>
                <a:latin typeface="Calibri"/>
              </a:rPr>
              <a:t>Cohen's κ between humans; a rerun for stability</a:t>
            </a:r>
          </a:p>
        </p:txBody>
      </p:sp>
      <p:sp>
        <p:nvSpPr>
          <p:cNvPr id="12" name="TextBox 11"/>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40</a:t>
            </a:r>
          </a:p>
        </p:txBody>
      </p:sp>
    </p:spTree>
    <p:extLst>
      <p:ext uri="{BB962C8B-B14F-4D97-AF65-F5344CB8AC3E}">
        <p14:creationId xmlns:p14="http://schemas.microsoft.com/office/powerpoint/2010/main" val="27861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98748" y="413100"/>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endParaRPr lang="en-US" sz="2400" b="1" i="0" dirty="0">
              <a:solidFill>
                <a:srgbClr val="1C2E6E"/>
              </a:solidFill>
              <a:latin typeface="Calibri"/>
            </a:endParaRPr>
          </a:p>
          <a:p>
            <a:pPr algn="l">
              <a:lnSpc>
                <a:spcPct val="95000"/>
              </a:lnSpc>
              <a:spcAft>
                <a:spcPts val="0"/>
              </a:spcAft>
            </a:pPr>
            <a:r>
              <a:rPr sz="2000" b="1" i="0" dirty="0">
                <a:solidFill>
                  <a:schemeClr val="tx1">
                    <a:lumMod val="95000"/>
                    <a:lumOff val="5000"/>
                  </a:schemeClr>
                </a:solidFill>
                <a:latin typeface="Calibri"/>
              </a:rPr>
              <a:t>GPT-4o-mini labels sentiment far better than VADER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13</a:t>
            </a:r>
          </a:p>
        </p:txBody>
      </p:sp>
      <p:graphicFrame>
        <p:nvGraphicFramePr>
          <p:cNvPr id="4" name="Chart 3"/>
          <p:cNvGraphicFramePr>
            <a:graphicFrameLocks noGrp="1"/>
          </p:cNvGraphicFramePr>
          <p:nvPr/>
        </p:nvGraphicFramePr>
        <p:xfrm>
          <a:off x="548640" y="1645920"/>
          <a:ext cx="60350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6053328"/>
            <a:ext cx="6035040" cy="184666"/>
          </a:xfrm>
          <a:prstGeom prst="rect">
            <a:avLst/>
          </a:prstGeom>
          <a:noFill/>
        </p:spPr>
        <p:txBody>
          <a:bodyPr wrap="square" lIns="0" tIns="0" rIns="0" bIns="0" anchor="t">
            <a:spAutoFit/>
          </a:bodyPr>
          <a:lstStyle/>
          <a:p>
            <a:pPr algn="l">
              <a:spcAft>
                <a:spcPts val="600"/>
              </a:spcAft>
            </a:pPr>
            <a:r>
              <a:rPr sz="1200" b="1" i="0" dirty="0">
                <a:solidFill>
                  <a:srgbClr val="5B6475"/>
                </a:solidFill>
                <a:latin typeface="Calibri"/>
              </a:rPr>
              <a:t>Sentiment macro F1, representative set (n = 295)</a:t>
            </a:r>
          </a:p>
        </p:txBody>
      </p:sp>
      <p:sp>
        <p:nvSpPr>
          <p:cNvPr id="6" name="TextBox 5"/>
          <p:cNvSpPr txBox="1"/>
          <p:nvPr/>
        </p:nvSpPr>
        <p:spPr>
          <a:xfrm>
            <a:off x="7040880" y="1737360"/>
            <a:ext cx="4572000" cy="548640"/>
          </a:xfrm>
          <a:prstGeom prst="rect">
            <a:avLst/>
          </a:prstGeom>
          <a:noFill/>
        </p:spPr>
        <p:txBody>
          <a:bodyPr wrap="square" lIns="0" tIns="0" rIns="0" bIns="0" anchor="t">
            <a:spAutoFit/>
          </a:bodyPr>
          <a:lstStyle/>
          <a:p>
            <a:pPr algn="l">
              <a:spcAft>
                <a:spcPts val="600"/>
              </a:spcAft>
            </a:pPr>
            <a:r>
              <a:rPr sz="3600" b="1" i="0" dirty="0">
                <a:solidFill>
                  <a:srgbClr val="1C2E6E"/>
                </a:solidFill>
                <a:latin typeface="Calibri"/>
              </a:rPr>
              <a:t>61 of 147</a:t>
            </a:r>
          </a:p>
        </p:txBody>
      </p:sp>
      <p:sp>
        <p:nvSpPr>
          <p:cNvPr id="7" name="TextBox 6"/>
          <p:cNvSpPr txBox="1"/>
          <p:nvPr/>
        </p:nvSpPr>
        <p:spPr>
          <a:xfrm>
            <a:off x="7040880" y="2331720"/>
            <a:ext cx="4572000" cy="822960"/>
          </a:xfrm>
          <a:prstGeom prst="rect">
            <a:avLst/>
          </a:prstGeom>
          <a:noFill/>
        </p:spPr>
        <p:txBody>
          <a:bodyPr wrap="square" lIns="0" tIns="0" rIns="0" bIns="0" anchor="t">
            <a:spAutoFit/>
          </a:bodyPr>
          <a:lstStyle/>
          <a:p>
            <a:pPr algn="l">
              <a:spcAft>
                <a:spcPts val="600"/>
              </a:spcAft>
            </a:pPr>
            <a:r>
              <a:rPr sz="1500" b="0" i="0" dirty="0">
                <a:solidFill>
                  <a:srgbClr val="5B6475"/>
                </a:solidFill>
                <a:latin typeface="Calibri"/>
              </a:rPr>
              <a:t>posts I labelled not happy that VADER called happy</a:t>
            </a:r>
          </a:p>
        </p:txBody>
      </p:sp>
      <p:sp>
        <p:nvSpPr>
          <p:cNvPr id="8" name="TextBox 7"/>
          <p:cNvSpPr txBox="1"/>
          <p:nvPr/>
        </p:nvSpPr>
        <p:spPr>
          <a:xfrm>
            <a:off x="7040880" y="3429000"/>
            <a:ext cx="4572000" cy="1538883"/>
          </a:xfrm>
          <a:prstGeom prst="rect">
            <a:avLst/>
          </a:prstGeom>
          <a:noFill/>
        </p:spPr>
        <p:txBody>
          <a:bodyPr wrap="square" lIns="0" tIns="0" rIns="0" bIns="0" anchor="t">
            <a:spAutoFit/>
          </a:bodyPr>
          <a:lstStyle/>
          <a:p>
            <a:pPr marL="256032" indent="-256032" algn="l">
              <a:spcAft>
                <a:spcPts val="1200"/>
              </a:spcAft>
              <a:buClr>
                <a:srgbClr val="D29B08"/>
              </a:buClr>
              <a:buFont typeface="Arial"/>
              <a:buChar char="•"/>
            </a:pPr>
            <a:r>
              <a:rPr sz="1600" b="1" i="0" dirty="0">
                <a:solidFill>
                  <a:srgbClr val="1C2E6E"/>
                </a:solidFill>
                <a:latin typeface="Calibri"/>
              </a:rPr>
              <a:t>+0.27 </a:t>
            </a:r>
            <a:r>
              <a:rPr sz="1600" b="0" i="0" dirty="0">
                <a:solidFill>
                  <a:srgbClr val="1E293B"/>
                </a:solidFill>
                <a:latin typeface="Calibri"/>
              </a:rPr>
              <a:t>macro F1 for mini over VADER (95% CI +0.19 to +0.35)</a:t>
            </a:r>
          </a:p>
          <a:p>
            <a:pPr marL="256032" indent="-256032" algn="l">
              <a:spcAft>
                <a:spcPts val="1200"/>
              </a:spcAft>
              <a:buClr>
                <a:srgbClr val="D29B08"/>
              </a:buClr>
              <a:buFont typeface="Arial"/>
              <a:buChar char="•"/>
            </a:pPr>
            <a:r>
              <a:rPr sz="1600" b="1" i="0" dirty="0">
                <a:solidFill>
                  <a:srgbClr val="1C2E6E"/>
                </a:solidFill>
                <a:latin typeface="Calibri"/>
              </a:rPr>
              <a:t>Tie </a:t>
            </a:r>
            <a:r>
              <a:rPr sz="1600" b="0" i="0" dirty="0">
                <a:solidFill>
                  <a:srgbClr val="1E293B"/>
                </a:solidFill>
                <a:latin typeface="Calibri"/>
              </a:rPr>
              <a:t>between mini and GPT-4o (95% CI −0.0</a:t>
            </a:r>
            <a:r>
              <a:rPr lang="en-US" sz="1600" b="0" i="0" dirty="0">
                <a:solidFill>
                  <a:srgbClr val="1E293B"/>
                </a:solidFill>
                <a:latin typeface="Calibri"/>
              </a:rPr>
              <a:t>4</a:t>
            </a:r>
            <a:r>
              <a:rPr sz="1600" b="0" i="0" dirty="0">
                <a:solidFill>
                  <a:srgbClr val="1E293B"/>
                </a:solidFill>
                <a:latin typeface="Calibri"/>
              </a:rPr>
              <a:t> to +0.06)</a:t>
            </a:r>
          </a:p>
          <a:p>
            <a:pPr marL="256032" indent="-256032" algn="l">
              <a:spcAft>
                <a:spcPts val="1200"/>
              </a:spcAft>
              <a:buClr>
                <a:srgbClr val="D29B08"/>
              </a:buClr>
              <a:buFont typeface="Arial"/>
              <a:buChar char="•"/>
            </a:pPr>
            <a:r>
              <a:rPr sz="1600" b="1" i="0" dirty="0">
                <a:solidFill>
                  <a:srgbClr val="1C2E6E"/>
                </a:solidFill>
                <a:latin typeface="Calibri"/>
              </a:rPr>
              <a:t>~17× </a:t>
            </a:r>
            <a:r>
              <a:rPr sz="1600" b="0" i="0" dirty="0">
                <a:solidFill>
                  <a:srgbClr val="1E293B"/>
                </a:solidFill>
                <a:latin typeface="Calibri"/>
              </a:rPr>
              <a:t>GPT-4o’s </a:t>
            </a:r>
            <a:r>
              <a:rPr sz="1600" b="1" i="0" dirty="0">
                <a:solidFill>
                  <a:srgbClr val="1E293B"/>
                </a:solidFill>
                <a:latin typeface="Calibri"/>
              </a:rPr>
              <a:t>cost</a:t>
            </a:r>
            <a:r>
              <a:rPr sz="1600" b="0" i="0" dirty="0">
                <a:solidFill>
                  <a:srgbClr val="1E293B"/>
                </a:solidFill>
                <a:latin typeface="Calibri"/>
              </a:rPr>
              <a:t> over mini for the same run</a:t>
            </a:r>
          </a:p>
        </p:txBody>
      </p:sp>
      <p:sp>
        <p:nvSpPr>
          <p:cNvPr id="10" name="TextBox 9">
            <a:extLst>
              <a:ext uri="{FF2B5EF4-FFF2-40B4-BE49-F238E27FC236}">
                <a16:creationId xmlns:a16="http://schemas.microsoft.com/office/drawing/2014/main" id="{0C1E2391-CB01-6120-CD99-300CD1CFD731}"/>
              </a:ext>
            </a:extLst>
          </p:cNvPr>
          <p:cNvSpPr txBox="1"/>
          <p:nvPr/>
        </p:nvSpPr>
        <p:spPr>
          <a:xfrm>
            <a:off x="6942495" y="1368028"/>
            <a:ext cx="4572000" cy="369332"/>
          </a:xfrm>
          <a:prstGeom prst="rect">
            <a:avLst/>
          </a:prstGeom>
          <a:noFill/>
        </p:spPr>
        <p:txBody>
          <a:bodyPr wrap="square">
            <a:spAutoFit/>
          </a:bodyPr>
          <a:lstStyle/>
          <a:p>
            <a:pPr algn="l">
              <a:spcAft>
                <a:spcPts val="600"/>
              </a:spcAft>
            </a:pPr>
            <a:r>
              <a:rPr lang="en-US" b="1" i="0" dirty="0">
                <a:solidFill>
                  <a:srgbClr val="1C2E6E"/>
                </a:solidFill>
                <a:latin typeface="Calibri"/>
              </a:rPr>
              <a:t>Sentiment: Happy, Not Happy, Neutral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247219"/>
            <a:ext cx="6840000" cy="87716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endParaRPr lang="en-US" sz="2400" b="1" i="0" dirty="0">
              <a:solidFill>
                <a:srgbClr val="1C2E6E"/>
              </a:solidFill>
              <a:latin typeface="Calibri"/>
            </a:endParaRPr>
          </a:p>
          <a:p>
            <a:pPr>
              <a:lnSpc>
                <a:spcPct val="95000"/>
              </a:lnSpc>
            </a:pPr>
            <a:r>
              <a:rPr lang="en-US" b="1" i="0" dirty="0">
                <a:solidFill>
                  <a:schemeClr val="tx1">
                    <a:lumMod val="95000"/>
                    <a:lumOff val="5000"/>
                  </a:schemeClr>
                </a:solidFill>
                <a:latin typeface="Calibri"/>
              </a:rPr>
              <a:t>295 representative posts: </a:t>
            </a:r>
            <a:r>
              <a:rPr lang="en-US" b="1" dirty="0">
                <a:solidFill>
                  <a:schemeClr val="tx1">
                    <a:lumMod val="95000"/>
                    <a:lumOff val="5000"/>
                  </a:schemeClr>
                </a:solidFill>
                <a:latin typeface="Calibri"/>
              </a:rPr>
              <a:t>f</a:t>
            </a:r>
            <a:r>
              <a:rPr b="1" i="0" dirty="0">
                <a:solidFill>
                  <a:schemeClr val="tx1">
                    <a:lumMod val="95000"/>
                    <a:lumOff val="5000"/>
                  </a:schemeClr>
                </a:solidFill>
                <a:latin typeface="Calibri"/>
              </a:rPr>
              <a:t>or issues, rules first and GPT-4o only on the leftovers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14</a:t>
            </a:r>
          </a:p>
        </p:txBody>
      </p:sp>
      <p:graphicFrame>
        <p:nvGraphicFramePr>
          <p:cNvPr id="4" name="Chart 3"/>
          <p:cNvGraphicFramePr>
            <a:graphicFrameLocks noGrp="1"/>
          </p:cNvGraphicFramePr>
          <p:nvPr/>
        </p:nvGraphicFramePr>
        <p:xfrm>
          <a:off x="548640" y="1645920"/>
          <a:ext cx="6400800" cy="438912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548640" y="6053328"/>
            <a:ext cx="6400800" cy="184666"/>
          </a:xfrm>
          <a:prstGeom prst="rect">
            <a:avLst/>
          </a:prstGeom>
          <a:noFill/>
        </p:spPr>
        <p:txBody>
          <a:bodyPr wrap="square" lIns="0" tIns="0" rIns="0" bIns="0" anchor="t">
            <a:spAutoFit/>
          </a:bodyPr>
          <a:lstStyle/>
          <a:p>
            <a:pPr algn="l">
              <a:spcAft>
                <a:spcPts val="600"/>
              </a:spcAft>
            </a:pPr>
            <a:r>
              <a:rPr sz="1200" b="1" i="0" dirty="0">
                <a:solidFill>
                  <a:srgbClr val="5B6475"/>
                </a:solidFill>
                <a:latin typeface="Calibri"/>
              </a:rPr>
              <a:t>Issue macro F1, multi-label, representative set (n = 295)</a:t>
            </a:r>
          </a:p>
        </p:txBody>
      </p:sp>
      <p:sp>
        <p:nvSpPr>
          <p:cNvPr id="6" name="Oval 5"/>
          <p:cNvSpPr/>
          <p:nvPr/>
        </p:nvSpPr>
        <p:spPr>
          <a:xfrm>
            <a:off x="7315200" y="173736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1</a:t>
            </a:r>
          </a:p>
        </p:txBody>
      </p:sp>
      <p:sp>
        <p:nvSpPr>
          <p:cNvPr id="7" name="TextBox 6"/>
          <p:cNvSpPr txBox="1"/>
          <p:nvPr/>
        </p:nvSpPr>
        <p:spPr>
          <a:xfrm>
            <a:off x="8046720" y="1737360"/>
            <a:ext cx="3566160" cy="54864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Rules label every post</a:t>
            </a:r>
          </a:p>
        </p:txBody>
      </p:sp>
      <p:sp>
        <p:nvSpPr>
          <p:cNvPr id="8" name="Oval 7"/>
          <p:cNvSpPr/>
          <p:nvPr/>
        </p:nvSpPr>
        <p:spPr>
          <a:xfrm>
            <a:off x="7315200" y="260604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2</a:t>
            </a:r>
          </a:p>
        </p:txBody>
      </p:sp>
      <p:sp>
        <p:nvSpPr>
          <p:cNvPr id="9" name="TextBox 8"/>
          <p:cNvSpPr txBox="1"/>
          <p:nvPr/>
        </p:nvSpPr>
        <p:spPr>
          <a:xfrm>
            <a:off x="8046720" y="2757249"/>
            <a:ext cx="3566160" cy="246221"/>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98 of 295 left as </a:t>
            </a:r>
            <a:r>
              <a:rPr sz="1600" b="1" i="0" dirty="0">
                <a:solidFill>
                  <a:srgbClr val="1E293B"/>
                </a:solidFill>
                <a:latin typeface="Calibri"/>
              </a:rPr>
              <a:t>General Discussion</a:t>
            </a:r>
          </a:p>
        </p:txBody>
      </p:sp>
      <p:sp>
        <p:nvSpPr>
          <p:cNvPr id="10" name="Oval 9"/>
          <p:cNvSpPr/>
          <p:nvPr/>
        </p:nvSpPr>
        <p:spPr>
          <a:xfrm>
            <a:off x="7315200" y="347472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3</a:t>
            </a:r>
          </a:p>
        </p:txBody>
      </p:sp>
      <p:sp>
        <p:nvSpPr>
          <p:cNvPr id="11" name="TextBox 10"/>
          <p:cNvSpPr txBox="1"/>
          <p:nvPr/>
        </p:nvSpPr>
        <p:spPr>
          <a:xfrm>
            <a:off x="8046720" y="3625929"/>
            <a:ext cx="3566160" cy="246221"/>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GPT-4o relabels those 98</a:t>
            </a:r>
            <a:r>
              <a:rPr sz="1600" b="1" i="0" dirty="0">
                <a:solidFill>
                  <a:srgbClr val="1E293B"/>
                </a:solidFill>
                <a:latin typeface="Calibri"/>
              </a:rPr>
              <a:t>, </a:t>
            </a:r>
            <a:r>
              <a:rPr lang="en-US" sz="1600" b="1" i="0" dirty="0">
                <a:solidFill>
                  <a:srgbClr val="1E293B"/>
                </a:solidFill>
                <a:latin typeface="Calibri"/>
              </a:rPr>
              <a:t>reassign</a:t>
            </a:r>
            <a:r>
              <a:rPr sz="1600" b="1" i="0" dirty="0">
                <a:solidFill>
                  <a:srgbClr val="1E293B"/>
                </a:solidFill>
                <a:latin typeface="Calibri"/>
              </a:rPr>
              <a:t> 70</a:t>
            </a:r>
          </a:p>
        </p:txBody>
      </p:sp>
      <p:sp>
        <p:nvSpPr>
          <p:cNvPr id="12" name="Rounded Rectangle 11"/>
          <p:cNvSpPr/>
          <p:nvPr/>
        </p:nvSpPr>
        <p:spPr>
          <a:xfrm>
            <a:off x="7315200" y="4389120"/>
            <a:ext cx="4325112" cy="16002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4572000"/>
            <a:ext cx="3867912" cy="36576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Gain over rules: +0.041</a:t>
            </a:r>
          </a:p>
        </p:txBody>
      </p:sp>
      <p:sp>
        <p:nvSpPr>
          <p:cNvPr id="14" name="TextBox 13"/>
          <p:cNvSpPr txBox="1"/>
          <p:nvPr/>
        </p:nvSpPr>
        <p:spPr>
          <a:xfrm>
            <a:off x="7543800" y="4956048"/>
            <a:ext cx="3867912" cy="1015663"/>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95% CI +0.011 to +0.072. Chosen on this set, so it needs a held-out test.</a:t>
            </a:r>
            <a:endParaRPr lang="en-US" sz="1400" b="0" i="0" dirty="0">
              <a:solidFill>
                <a:srgbClr val="1E293B"/>
              </a:solidFill>
              <a:latin typeface="Calibri"/>
            </a:endParaRPr>
          </a:p>
          <a:p>
            <a:pPr algn="l">
              <a:spcAft>
                <a:spcPts val="600"/>
              </a:spcAft>
            </a:pPr>
            <a:endParaRPr lang="en-US" sz="1400" dirty="0">
              <a:solidFill>
                <a:srgbClr val="1E293B"/>
              </a:solidFill>
              <a:latin typeface="Calibri"/>
            </a:endParaRPr>
          </a:p>
          <a:p>
            <a:pPr algn="l">
              <a:spcAft>
                <a:spcPts val="600"/>
              </a:spcAft>
            </a:pPr>
            <a:endParaRPr sz="1400" b="0" i="0" dirty="0">
              <a:solidFill>
                <a:srgbClr val="1E293B"/>
              </a:solidFill>
              <a:latin typeface="Calibri"/>
            </a:endParaRP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5252" y="287684"/>
            <a:ext cx="6840000" cy="87716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p>
          <a:p>
            <a:pPr algn="l">
              <a:lnSpc>
                <a:spcPct val="95000"/>
              </a:lnSpc>
              <a:spcAft>
                <a:spcPts val="0"/>
              </a:spcAft>
            </a:pPr>
            <a:r>
              <a:rPr lang="en-US" b="1" dirty="0"/>
              <a:t>100 challenge post: The hybrid wins on familiar posts, not on new ones</a:t>
            </a:r>
            <a:endParaRPr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15</a:t>
            </a:r>
          </a:p>
        </p:txBody>
      </p:sp>
      <p:graphicFrame>
        <p:nvGraphicFramePr>
          <p:cNvPr id="4" name="Chart 3"/>
          <p:cNvGraphicFramePr>
            <a:graphicFrameLocks noGrp="1"/>
          </p:cNvGraphicFramePr>
          <p:nvPr>
            <p:extLst>
              <p:ext uri="{D42A27DB-BD31-4B8C-83A1-F6EECF244321}">
                <p14:modId xmlns:p14="http://schemas.microsoft.com/office/powerpoint/2010/main" val="610189143"/>
              </p:ext>
            </p:extLst>
          </p:nvPr>
        </p:nvGraphicFramePr>
        <p:xfrm>
          <a:off x="548640" y="1600200"/>
          <a:ext cx="554736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548640" y="6053328"/>
            <a:ext cx="6766560" cy="32004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Issue macro F1 against human labels</a:t>
            </a:r>
          </a:p>
        </p:txBody>
      </p:sp>
      <p:graphicFrame>
        <p:nvGraphicFramePr>
          <p:cNvPr id="6" name="Table 5"/>
          <p:cNvGraphicFramePr>
            <a:graphicFrameLocks noGrp="1"/>
          </p:cNvGraphicFramePr>
          <p:nvPr>
            <p:extLst>
              <p:ext uri="{D42A27DB-BD31-4B8C-83A1-F6EECF244321}">
                <p14:modId xmlns:p14="http://schemas.microsoft.com/office/powerpoint/2010/main" val="2790724598"/>
              </p:ext>
            </p:extLst>
          </p:nvPr>
        </p:nvGraphicFramePr>
        <p:xfrm>
          <a:off x="6096000" y="1860082"/>
          <a:ext cx="5869251" cy="2242686"/>
        </p:xfrm>
        <a:graphic>
          <a:graphicData uri="http://schemas.openxmlformats.org/drawingml/2006/table">
            <a:tbl>
              <a:tblPr firstRow="1" bandRow="1">
                <a:tableStyleId>{5C22544A-7EE6-4342-B048-85BDC9FD1C3A}</a:tableStyleId>
              </a:tblPr>
              <a:tblGrid>
                <a:gridCol w="1195137">
                  <a:extLst>
                    <a:ext uri="{9D8B030D-6E8A-4147-A177-3AD203B41FA5}">
                      <a16:colId xmlns:a16="http://schemas.microsoft.com/office/drawing/2014/main" val="20000"/>
                    </a:ext>
                  </a:extLst>
                </a:gridCol>
                <a:gridCol w="1744579">
                  <a:extLst>
                    <a:ext uri="{9D8B030D-6E8A-4147-A177-3AD203B41FA5}">
                      <a16:colId xmlns:a16="http://schemas.microsoft.com/office/drawing/2014/main" val="20001"/>
                    </a:ext>
                  </a:extLst>
                </a:gridCol>
                <a:gridCol w="941041">
                  <a:extLst>
                    <a:ext uri="{9D8B030D-6E8A-4147-A177-3AD203B41FA5}">
                      <a16:colId xmlns:a16="http://schemas.microsoft.com/office/drawing/2014/main" val="3580793636"/>
                    </a:ext>
                  </a:extLst>
                </a:gridCol>
                <a:gridCol w="1988494">
                  <a:extLst>
                    <a:ext uri="{9D8B030D-6E8A-4147-A177-3AD203B41FA5}">
                      <a16:colId xmlns:a16="http://schemas.microsoft.com/office/drawing/2014/main" val="1284023758"/>
                    </a:ext>
                  </a:extLst>
                </a:gridCol>
              </a:tblGrid>
              <a:tr h="462175">
                <a:tc>
                  <a:txBody>
                    <a:bodyPr/>
                    <a:lstStyle/>
                    <a:p>
                      <a:pPr algn="l"/>
                      <a:r>
                        <a:rPr sz="1400" b="1" dirty="0">
                          <a:solidFill>
                            <a:srgbClr val="FFFFFF"/>
                          </a:solidFill>
                          <a:latin typeface="Calibri"/>
                        </a:rPr>
                        <a:t>Challenge set</a:t>
                      </a:r>
                    </a:p>
                  </a:txBody>
                  <a:tcPr marT="36576" marB="36576" anchor="ctr">
                    <a:solidFill>
                      <a:srgbClr val="1C2E6E"/>
                    </a:solidFill>
                  </a:tcPr>
                </a:tc>
                <a:tc>
                  <a:txBody>
                    <a:bodyPr/>
                    <a:lstStyle/>
                    <a:p>
                      <a:pPr lvl="0" algn="l">
                        <a:buNone/>
                      </a:pPr>
                      <a:r>
                        <a:rPr lang="en-US" sz="1200" b="1" dirty="0">
                          <a:solidFill>
                            <a:srgbClr val="FFFFFF"/>
                          </a:solidFill>
                          <a:latin typeface="Calibri"/>
                        </a:rPr>
                        <a:t>95% CI Actual difference</a:t>
                      </a:r>
                    </a:p>
                  </a:txBody>
                  <a:tcPr marL="19050" marR="19050" marT="19050" marB="19050" anchor="ctr">
                    <a:solidFill>
                      <a:srgbClr val="1C2E6E"/>
                    </a:solidFill>
                  </a:tcPr>
                </a:tc>
                <a:tc>
                  <a:txBody>
                    <a:bodyPr/>
                    <a:lstStyle/>
                    <a:p>
                      <a:pPr lvl="0" algn="l">
                        <a:buNone/>
                      </a:pPr>
                      <a:r>
                        <a:rPr lang="en-US" sz="1400" b="1">
                          <a:solidFill>
                            <a:srgbClr val="FFFFFF"/>
                          </a:solidFill>
                          <a:latin typeface="Calibri"/>
                        </a:rPr>
                        <a:t>Range</a:t>
                      </a:r>
                    </a:p>
                  </a:txBody>
                  <a:tcPr marL="19050" marR="19050" marT="19050" marB="19050" anchor="ctr">
                    <a:solidFill>
                      <a:srgbClr val="1C2E6E"/>
                    </a:solidFill>
                  </a:tcPr>
                </a:tc>
                <a:tc>
                  <a:txBody>
                    <a:bodyPr/>
                    <a:lstStyle/>
                    <a:p>
                      <a:pPr lvl="0" algn="l">
                        <a:buNone/>
                      </a:pPr>
                      <a:r>
                        <a:rPr lang="en-US" sz="1400" b="1" dirty="0">
                          <a:solidFill>
                            <a:srgbClr val="FFFFFF"/>
                          </a:solidFill>
                          <a:latin typeface="Calibri"/>
                        </a:rPr>
                        <a:t>Meaning</a:t>
                      </a:r>
                    </a:p>
                  </a:txBody>
                  <a:tcPr marL="19050" marR="19050" marT="19050" marB="19050" anchor="ctr">
                    <a:solidFill>
                      <a:srgbClr val="1C2E6E"/>
                    </a:solidFill>
                  </a:tcPr>
                </a:tc>
                <a:extLst>
                  <a:ext uri="{0D108BD9-81ED-4DB2-BD59-A6C34878D82A}">
                    <a16:rowId xmlns:a16="http://schemas.microsoft.com/office/drawing/2014/main" val="10000"/>
                  </a:ext>
                </a:extLst>
              </a:tr>
              <a:tr h="795547">
                <a:tc>
                  <a:txBody>
                    <a:bodyPr/>
                    <a:lstStyle/>
                    <a:p>
                      <a:pPr lvl="0" algn="l">
                        <a:buNone/>
                      </a:pPr>
                      <a:r>
                        <a:rPr lang="en-US" sz="1000" b="0" i="0" dirty="0">
                          <a:solidFill>
                            <a:schemeClr val="tx1">
                              <a:lumMod val="95000"/>
                              <a:lumOff val="5000"/>
                            </a:schemeClr>
                          </a:solidFill>
                          <a:effectLst/>
                          <a:latin typeface="+mj-lt"/>
                        </a:rPr>
                        <a:t>Hybrid − rules</a:t>
                      </a:r>
                    </a:p>
                  </a:txBody>
                  <a:tcPr marL="19050" marR="19050" marT="19050" marB="19050" anchor="ctr">
                    <a:solidFill>
                      <a:srgbClr val="FFFFFF"/>
                    </a:solidFill>
                  </a:tcPr>
                </a:tc>
                <a:tc>
                  <a:txBody>
                    <a:bodyPr/>
                    <a:lstStyle/>
                    <a:p>
                      <a:pPr lvl="0" algn="l">
                        <a:buNone/>
                      </a:pPr>
                      <a:r>
                        <a:rPr lang="en-US" sz="1000" b="0" i="0" dirty="0">
                          <a:solidFill>
                            <a:schemeClr val="tx1">
                              <a:lumMod val="95000"/>
                              <a:lumOff val="5000"/>
                            </a:schemeClr>
                          </a:solidFill>
                          <a:effectLst/>
                          <a:latin typeface="+mj-lt"/>
                        </a:rPr>
                        <a:t>0.509 − 0.499 = +0.010</a:t>
                      </a:r>
                    </a:p>
                  </a:txBody>
                  <a:tcPr marL="19050" marR="19050" marT="19050" marB="19050" anchor="ctr">
                    <a:solidFill>
                      <a:srgbClr val="FFFFFF"/>
                    </a:solidFill>
                  </a:tcPr>
                </a:tc>
                <a:tc>
                  <a:txBody>
                    <a:bodyPr/>
                    <a:lstStyle/>
                    <a:p>
                      <a:pPr lvl="0" algn="l">
                        <a:buNone/>
                      </a:pPr>
                      <a:r>
                        <a:rPr lang="en-US" sz="1000" b="0" i="0" dirty="0">
                          <a:solidFill>
                            <a:schemeClr val="tx1">
                              <a:lumMod val="95000"/>
                              <a:lumOff val="5000"/>
                            </a:schemeClr>
                          </a:solidFill>
                          <a:effectLst/>
                          <a:latin typeface="+mj-lt"/>
                        </a:rPr>
                        <a:t>−0.04 to +0.07</a:t>
                      </a:r>
                    </a:p>
                  </a:txBody>
                  <a:tcPr marL="19050" marR="19050" marT="19050" marB="19050" anchor="ctr">
                    <a:solidFill>
                      <a:srgbClr val="FFFFFF"/>
                    </a:solidFill>
                  </a:tcPr>
                </a:tc>
                <a:tc>
                  <a:txBody>
                    <a:bodyPr/>
                    <a:lstStyle/>
                    <a:p>
                      <a:pPr lvl="0" algn="l">
                        <a:buNone/>
                      </a:pPr>
                      <a:r>
                        <a:rPr lang="en-US" sz="1000" b="1" i="0" dirty="0">
                          <a:solidFill>
                            <a:schemeClr val="tx1">
                              <a:lumMod val="95000"/>
                              <a:lumOff val="5000"/>
                            </a:schemeClr>
                          </a:solidFill>
                          <a:effectLst/>
                          <a:latin typeface="+mj-lt"/>
                        </a:rPr>
                        <a:t>Crosses 0</a:t>
                      </a:r>
                      <a:r>
                        <a:rPr lang="en-US" sz="1000" b="0" i="0" dirty="0">
                          <a:solidFill>
                            <a:schemeClr val="tx1">
                              <a:lumMod val="95000"/>
                              <a:lumOff val="5000"/>
                            </a:schemeClr>
                          </a:solidFill>
                          <a:effectLst/>
                          <a:latin typeface="+mj-lt"/>
                        </a:rPr>
                        <a:t>, so a tie: the hybrid's advantage disappears on held-out posts</a:t>
                      </a:r>
                    </a:p>
                  </a:txBody>
                  <a:tcPr marL="19050" marR="19050" marT="19050" marB="19050" anchor="ctr">
                    <a:solidFill>
                      <a:srgbClr val="FFFFFF"/>
                    </a:solidFill>
                  </a:tcPr>
                </a:tc>
                <a:extLst>
                  <a:ext uri="{0D108BD9-81ED-4DB2-BD59-A6C34878D82A}">
                    <a16:rowId xmlns:a16="http://schemas.microsoft.com/office/drawing/2014/main" val="10001"/>
                  </a:ext>
                </a:extLst>
              </a:tr>
              <a:tr h="492482">
                <a:tc>
                  <a:txBody>
                    <a:bodyPr/>
                    <a:lstStyle/>
                    <a:p>
                      <a:pPr lvl="0" algn="l">
                        <a:buNone/>
                      </a:pPr>
                      <a:r>
                        <a:rPr lang="en-US" sz="1000" b="0" i="0">
                          <a:solidFill>
                            <a:schemeClr val="tx1">
                              <a:lumMod val="95000"/>
                              <a:lumOff val="5000"/>
                            </a:schemeClr>
                          </a:solidFill>
                          <a:effectLst/>
                          <a:latin typeface="+mj-lt"/>
                        </a:rPr>
                        <a:t>GPT-4o − rules</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0.596 − 0.499 = +0.097</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+0.01 to +0.18</a:t>
                      </a:r>
                    </a:p>
                  </a:txBody>
                  <a:tcPr marL="19050" marR="19050" marT="19050" marB="19050" anchor="ctr">
                    <a:solidFill>
                      <a:srgbClr val="FBF3DF"/>
                    </a:solidFill>
                  </a:tcPr>
                </a:tc>
                <a:tc>
                  <a:txBody>
                    <a:bodyPr/>
                    <a:lstStyle/>
                    <a:p>
                      <a:pPr lvl="0" algn="l">
                        <a:buNone/>
                      </a:pPr>
                      <a:r>
                        <a:rPr lang="en-US" sz="1000" b="1" i="0" dirty="0">
                          <a:solidFill>
                            <a:schemeClr val="tx1">
                              <a:lumMod val="95000"/>
                              <a:lumOff val="5000"/>
                            </a:schemeClr>
                          </a:solidFill>
                          <a:effectLst/>
                          <a:latin typeface="+mj-lt"/>
                        </a:rPr>
                        <a:t>Above 0</a:t>
                      </a:r>
                      <a:r>
                        <a:rPr lang="en-US" sz="1000" b="0" i="0" dirty="0">
                          <a:solidFill>
                            <a:schemeClr val="tx1">
                              <a:lumMod val="95000"/>
                              <a:lumOff val="5000"/>
                            </a:schemeClr>
                          </a:solidFill>
                          <a:effectLst/>
                          <a:latin typeface="+mj-lt"/>
                        </a:rPr>
                        <a:t>: GPT-4o on every post really beats rules</a:t>
                      </a:r>
                    </a:p>
                  </a:txBody>
                  <a:tcPr marL="19050" marR="19050" marT="19050" marB="19050" anchor="ctr">
                    <a:solidFill>
                      <a:srgbClr val="FBF3DF"/>
                    </a:solidFill>
                  </a:tcPr>
                </a:tc>
                <a:extLst>
                  <a:ext uri="{0D108BD9-81ED-4DB2-BD59-A6C34878D82A}">
                    <a16:rowId xmlns:a16="http://schemas.microsoft.com/office/drawing/2014/main" val="10002"/>
                  </a:ext>
                </a:extLst>
              </a:tr>
              <a:tr h="492482">
                <a:tc>
                  <a:txBody>
                    <a:bodyPr/>
                    <a:lstStyle/>
                    <a:p>
                      <a:pPr lvl="0" algn="l">
                        <a:buNone/>
                      </a:pPr>
                      <a:r>
                        <a:rPr lang="en-US" sz="1000" b="0" i="0">
                          <a:solidFill>
                            <a:schemeClr val="tx1">
                              <a:lumMod val="95000"/>
                              <a:lumOff val="5000"/>
                            </a:schemeClr>
                          </a:solidFill>
                          <a:effectLst/>
                          <a:latin typeface="+mj-lt"/>
                        </a:rPr>
                        <a:t>GPT-4o − hybrid</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0.596 − 0.509 = +0.087</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+0.02 to +0.15</a:t>
                      </a:r>
                    </a:p>
                  </a:txBody>
                  <a:tcPr marL="19050" marR="19050" marT="19050" marB="19050" anchor="ctr">
                    <a:solidFill>
                      <a:srgbClr val="FBF3DF"/>
                    </a:solidFill>
                  </a:tcPr>
                </a:tc>
                <a:tc>
                  <a:txBody>
                    <a:bodyPr/>
                    <a:lstStyle/>
                    <a:p>
                      <a:pPr lvl="0" algn="l">
                        <a:buNone/>
                      </a:pPr>
                      <a:r>
                        <a:rPr lang="en-US" sz="1000" b="1" i="0" dirty="0">
                          <a:solidFill>
                            <a:schemeClr val="tx1">
                              <a:lumMod val="95000"/>
                              <a:lumOff val="5000"/>
                            </a:schemeClr>
                          </a:solidFill>
                          <a:effectLst/>
                          <a:latin typeface="+mj-lt"/>
                        </a:rPr>
                        <a:t>Above 0</a:t>
                      </a:r>
                      <a:r>
                        <a:rPr lang="en-US" sz="1000" b="0" i="0" dirty="0">
                          <a:solidFill>
                            <a:schemeClr val="tx1">
                              <a:lumMod val="95000"/>
                              <a:lumOff val="5000"/>
                            </a:schemeClr>
                          </a:solidFill>
                          <a:effectLst/>
                          <a:latin typeface="+mj-lt"/>
                        </a:rPr>
                        <a:t>: GPT-4o on every post really beats the hybrid</a:t>
                      </a:r>
                    </a:p>
                  </a:txBody>
                  <a:tcPr marL="19050" marR="19050" marT="19050" marB="19050" anchor="ctr">
                    <a:solidFill>
                      <a:srgbClr val="FBF3D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721708" y="5793076"/>
            <a:ext cx="4050791" cy="777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21708" y="5459672"/>
            <a:ext cx="3593591" cy="365760"/>
          </a:xfrm>
          <a:prstGeom prst="rect">
            <a:avLst/>
          </a:prstGeom>
          <a:noFill/>
        </p:spPr>
        <p:txBody>
          <a:bodyPr wrap="square" lIns="0" tIns="0" rIns="0" bIns="0" anchor="t">
            <a:spAutoFit/>
          </a:bodyPr>
          <a:lstStyle/>
          <a:p>
            <a:pPr algn="l">
              <a:spcAft>
                <a:spcPts val="600"/>
              </a:spcAft>
            </a:pPr>
            <a:r>
              <a:rPr sz="1600" b="1" i="0" dirty="0">
                <a:solidFill>
                  <a:srgbClr val="1C2E6E"/>
                </a:solidFill>
                <a:latin typeface="Calibri"/>
              </a:rPr>
              <a:t>What I conclude</a:t>
            </a:r>
          </a:p>
        </p:txBody>
      </p:sp>
      <p:sp>
        <p:nvSpPr>
          <p:cNvPr id="9" name="TextBox 8"/>
          <p:cNvSpPr txBox="1"/>
          <p:nvPr/>
        </p:nvSpPr>
        <p:spPr>
          <a:xfrm>
            <a:off x="7950307" y="5890182"/>
            <a:ext cx="3593591" cy="646331"/>
          </a:xfrm>
          <a:prstGeom prst="rect">
            <a:avLst/>
          </a:prstGeom>
          <a:noFill/>
        </p:spPr>
        <p:txBody>
          <a:bodyPr wrap="square" lIns="0" tIns="0" rIns="0" bIns="0" anchor="t">
            <a:spAutoFit/>
          </a:bodyPr>
          <a:lstStyle/>
          <a:p>
            <a:pPr algn="l">
              <a:spcAft>
                <a:spcPts val="600"/>
              </a:spcAft>
            </a:pPr>
            <a:r>
              <a:rPr lang="en-US" sz="1400" b="1" i="0" dirty="0">
                <a:solidFill>
                  <a:srgbClr val="1E293B"/>
                </a:solidFill>
                <a:latin typeface="Calibri"/>
              </a:rPr>
              <a:t>Keep the hybrid for typical posts, but report 0.680 as optimistic</a:t>
            </a:r>
            <a:r>
              <a:rPr sz="1400" b="1" i="0" dirty="0">
                <a:solidFill>
                  <a:srgbClr val="1E293B"/>
                </a:solidFill>
                <a:latin typeface="Calibri"/>
              </a:rPr>
              <a:t>. </a:t>
            </a:r>
            <a:r>
              <a:rPr sz="1400" b="0" i="0" dirty="0">
                <a:solidFill>
                  <a:srgbClr val="1E293B"/>
                </a:solidFill>
                <a:latin typeface="Calibri"/>
              </a:rPr>
              <a:t>On hard posts, GPT-4o on every post is worth its cost.</a:t>
            </a:r>
          </a:p>
        </p:txBody>
      </p:sp>
      <p:sp>
        <p:nvSpPr>
          <p:cNvPr id="11" name="TextBox 10">
            <a:extLst>
              <a:ext uri="{FF2B5EF4-FFF2-40B4-BE49-F238E27FC236}">
                <a16:creationId xmlns:a16="http://schemas.microsoft.com/office/drawing/2014/main" id="{6C6C03F7-E191-411E-A222-4943C8E19C12}"/>
              </a:ext>
            </a:extLst>
          </p:cNvPr>
          <p:cNvSpPr txBox="1"/>
          <p:nvPr/>
        </p:nvSpPr>
        <p:spPr>
          <a:xfrm>
            <a:off x="5980621" y="4116924"/>
            <a:ext cx="6100010" cy="830997"/>
          </a:xfrm>
          <a:prstGeom prst="rect">
            <a:avLst/>
          </a:prstGeom>
          <a:noFill/>
        </p:spPr>
        <p:txBody>
          <a:bodyPr wrap="square">
            <a:spAutoFit/>
          </a:bodyPr>
          <a:lstStyle/>
          <a:p>
            <a:pPr indent="0" algn="l">
              <a:buNone/>
            </a:pPr>
            <a:r>
              <a:rPr lang="en-US" sz="1600" b="0" i="0" dirty="0">
                <a:solidFill>
                  <a:schemeClr val="tx1"/>
                </a:solidFill>
                <a:effectLst/>
                <a:latin typeface="+mn-lt"/>
              </a:rPr>
              <a:t>To read it:</a:t>
            </a:r>
          </a:p>
          <a:p>
            <a:pPr marL="342900" lvl="0" indent="-342900" algn="l">
              <a:buFont typeface="Arial" panose="020B0604020202020204" pitchFamily="34" charset="0"/>
              <a:buChar char="•"/>
            </a:pPr>
            <a:r>
              <a:rPr lang="en-US" sz="1600" b="1" i="0" dirty="0">
                <a:solidFill>
                  <a:schemeClr val="tx1"/>
                </a:solidFill>
                <a:effectLst/>
                <a:latin typeface="+mn-lt"/>
              </a:rPr>
              <a:t>Range includes 0:</a:t>
            </a:r>
            <a:r>
              <a:rPr lang="en-US" sz="1600" b="0" i="0" dirty="0">
                <a:solidFill>
                  <a:schemeClr val="tx1"/>
                </a:solidFill>
                <a:effectLst/>
                <a:latin typeface="+mn-lt"/>
              </a:rPr>
              <a:t> no real difference; it could be luck.</a:t>
            </a:r>
          </a:p>
          <a:p>
            <a:pPr marL="342900" lvl="0" indent="-342900" algn="l">
              <a:buFont typeface="Arial" panose="020B0604020202020204" pitchFamily="34" charset="0"/>
              <a:buChar char="•"/>
            </a:pPr>
            <a:r>
              <a:rPr lang="en-US" sz="1600" b="1" i="0" dirty="0">
                <a:solidFill>
                  <a:schemeClr val="tx1"/>
                </a:solidFill>
                <a:effectLst/>
                <a:latin typeface="+mn-lt"/>
              </a:rPr>
              <a:t>Range entirely above 0:</a:t>
            </a:r>
            <a:r>
              <a:rPr lang="en-US" sz="1600" b="0" i="0" dirty="0">
                <a:solidFill>
                  <a:schemeClr val="tx1"/>
                </a:solidFill>
                <a:effectLst/>
                <a:latin typeface="+mn-lt"/>
              </a:rPr>
              <a:t> the first method is genuinely better.</a:t>
            </a:r>
            <a:endParaRPr lang="en-US" sz="900" b="0" i="0" dirty="0">
              <a:solidFill>
                <a:srgbClr val="BFBFBF"/>
              </a:solidFill>
              <a:effectLst/>
              <a:latin typeface="-apple-system"/>
            </a:endParaRPr>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The sentiment result holds on recent posts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16</a:t>
            </a:r>
          </a:p>
        </p:txBody>
      </p:sp>
      <p:graphicFrame>
        <p:nvGraphicFramePr>
          <p:cNvPr id="4" name="Chart 3"/>
          <p:cNvGraphicFramePr>
            <a:graphicFrameLocks noGrp="1"/>
          </p:cNvGraphicFramePr>
          <p:nvPr/>
        </p:nvGraphicFramePr>
        <p:xfrm>
          <a:off x="548640" y="1645920"/>
          <a:ext cx="67665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6053328"/>
            <a:ext cx="6766560" cy="32004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Macro F1 on 97 recent gold posts (Apr–Sep 2026), production labels</a:t>
            </a:r>
          </a:p>
        </p:txBody>
      </p:sp>
      <p:graphicFrame>
        <p:nvGraphicFramePr>
          <p:cNvPr id="6" name="Table 5"/>
          <p:cNvGraphicFramePr>
            <a:graphicFrameLocks noGrp="1"/>
          </p:cNvGraphicFramePr>
          <p:nvPr/>
        </p:nvGraphicFramePr>
        <p:xfrm>
          <a:off x="7589520" y="1691640"/>
          <a:ext cx="4050792" cy="1828800"/>
        </p:xfrm>
        <a:graphic>
          <a:graphicData uri="http://schemas.openxmlformats.org/drawingml/2006/table">
            <a:tbl>
              <a:tblPr firstRow="1" bandRow="1">
                <a:tableStyleId>{5C22544A-7EE6-4342-B048-85BDC9FD1C3A}</a:tableStyleId>
              </a:tblPr>
              <a:tblGrid>
                <a:gridCol w="2404872">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457200">
                <a:tc>
                  <a:txBody>
                    <a:bodyPr/>
                    <a:lstStyle/>
                    <a:p>
                      <a:pPr algn="l"/>
                      <a:r>
                        <a:rPr sz="1400" b="1">
                          <a:solidFill>
                            <a:srgbClr val="FFFFFF"/>
                          </a:solidFill>
                          <a:latin typeface="Calibri"/>
                        </a:rPr>
                        <a:t>Share of posts</a:t>
                      </a:r>
                    </a:p>
                  </a:txBody>
                  <a:tcPr marT="36576" marB="36576" anchor="ctr">
                    <a:solidFill>
                      <a:srgbClr val="1C2E6E"/>
                    </a:solidFill>
                  </a:tcPr>
                </a:tc>
                <a:tc>
                  <a:txBody>
                    <a:bodyPr/>
                    <a:lstStyle/>
                    <a:p>
                      <a:pPr algn="l"/>
                      <a:r>
                        <a:rPr sz="1400" b="1">
                          <a:solidFill>
                            <a:srgbClr val="FFFFFF"/>
                          </a:solidFill>
                          <a:latin typeface="Calibri"/>
                        </a:rPr>
                        <a:t>Human</a:t>
                      </a:r>
                    </a:p>
                  </a:txBody>
                  <a:tcPr marT="36576" marB="36576" anchor="ctr">
                    <a:solidFill>
                      <a:srgbClr val="1C2E6E"/>
                    </a:solidFill>
                  </a:tcPr>
                </a:tc>
                <a:tc>
                  <a:txBody>
                    <a:bodyPr/>
                    <a:lstStyle/>
                    <a:p>
                      <a:pPr algn="l"/>
                      <a:r>
                        <a:rPr sz="1400" b="1">
                          <a:solidFill>
                            <a:srgbClr val="FFFFFF"/>
                          </a:solidFill>
                          <a:latin typeface="Calibri"/>
                        </a:rPr>
                        <a:t>Mini</a:t>
                      </a:r>
                    </a:p>
                  </a:txBody>
                  <a:tcPr marT="36576" marB="36576" anchor="ctr">
                    <a:solidFill>
                      <a:srgbClr val="1C2E6E"/>
                    </a:solidFill>
                  </a:tcPr>
                </a:tc>
                <a:extLst>
                  <a:ext uri="{0D108BD9-81ED-4DB2-BD59-A6C34878D82A}">
                    <a16:rowId xmlns:a16="http://schemas.microsoft.com/office/drawing/2014/main" val="10000"/>
                  </a:ext>
                </a:extLst>
              </a:tr>
              <a:tr h="457200">
                <a:tc>
                  <a:txBody>
                    <a:bodyPr/>
                    <a:lstStyle/>
                    <a:p>
                      <a:pPr algn="l"/>
                      <a:r>
                        <a:rPr sz="1400" b="0">
                          <a:solidFill>
                            <a:srgbClr val="1E293B"/>
                          </a:solidFill>
                          <a:latin typeface="Calibri"/>
                        </a:rPr>
                        <a:t>Happy</a:t>
                      </a:r>
                    </a:p>
                  </a:txBody>
                  <a:tcPr marT="36576" marB="36576" anchor="ctr">
                    <a:solidFill>
                      <a:srgbClr val="FFFFFF"/>
                    </a:solidFill>
                  </a:tcPr>
                </a:tc>
                <a:tc>
                  <a:txBody>
                    <a:bodyPr/>
                    <a:lstStyle/>
                    <a:p>
                      <a:pPr algn="l"/>
                      <a:r>
                        <a:rPr sz="1400" b="0">
                          <a:solidFill>
                            <a:srgbClr val="1E293B"/>
                          </a:solidFill>
                          <a:latin typeface="Calibri"/>
                        </a:rPr>
                        <a:t>30%</a:t>
                      </a:r>
                    </a:p>
                  </a:txBody>
                  <a:tcPr marT="36576" marB="36576" anchor="ctr">
                    <a:solidFill>
                      <a:srgbClr val="FFFFFF"/>
                    </a:solidFill>
                  </a:tcPr>
                </a:tc>
                <a:tc>
                  <a:txBody>
                    <a:bodyPr/>
                    <a:lstStyle/>
                    <a:p>
                      <a:pPr algn="l"/>
                      <a:r>
                        <a:rPr sz="1400" b="0">
                          <a:solidFill>
                            <a:srgbClr val="1E293B"/>
                          </a:solidFill>
                          <a:latin typeface="Calibri"/>
                        </a:rPr>
                        <a:t>26%</a:t>
                      </a:r>
                    </a:p>
                  </a:txBody>
                  <a:tcPr marT="36576" marB="36576" anchor="ctr">
                    <a:solidFill>
                      <a:srgbClr val="FFFFFF"/>
                    </a:solidFill>
                  </a:tcPr>
                </a:tc>
                <a:extLst>
                  <a:ext uri="{0D108BD9-81ED-4DB2-BD59-A6C34878D82A}">
                    <a16:rowId xmlns:a16="http://schemas.microsoft.com/office/drawing/2014/main" val="10001"/>
                  </a:ext>
                </a:extLst>
              </a:tr>
              <a:tr h="457200">
                <a:tc>
                  <a:txBody>
                    <a:bodyPr/>
                    <a:lstStyle/>
                    <a:p>
                      <a:pPr algn="l"/>
                      <a:r>
                        <a:rPr sz="1400" b="1">
                          <a:solidFill>
                            <a:srgbClr val="1E293B"/>
                          </a:solidFill>
                          <a:latin typeface="Calibri"/>
                        </a:rPr>
                        <a:t>Not happy</a:t>
                      </a:r>
                    </a:p>
                  </a:txBody>
                  <a:tcPr marT="36576" marB="36576" anchor="ctr">
                    <a:solidFill>
                      <a:srgbClr val="FBF3DF"/>
                    </a:solidFill>
                  </a:tcPr>
                </a:tc>
                <a:tc>
                  <a:txBody>
                    <a:bodyPr/>
                    <a:lstStyle/>
                    <a:p>
                      <a:pPr algn="l"/>
                      <a:r>
                        <a:rPr sz="1400" b="0">
                          <a:solidFill>
                            <a:srgbClr val="1E293B"/>
                          </a:solidFill>
                          <a:latin typeface="Calibri"/>
                        </a:rPr>
                        <a:t>40%</a:t>
                      </a:r>
                    </a:p>
                  </a:txBody>
                  <a:tcPr marT="36576" marB="36576" anchor="ctr">
                    <a:solidFill>
                      <a:srgbClr val="FBF3DF"/>
                    </a:solidFill>
                  </a:tcPr>
                </a:tc>
                <a:tc>
                  <a:txBody>
                    <a:bodyPr/>
                    <a:lstStyle/>
                    <a:p>
                      <a:pPr algn="l"/>
                      <a:r>
                        <a:rPr sz="1400" b="0">
                          <a:solidFill>
                            <a:srgbClr val="1E293B"/>
                          </a:solidFill>
                          <a:latin typeface="Calibri"/>
                        </a:rPr>
                        <a:t>33%</a:t>
                      </a:r>
                    </a:p>
                  </a:txBody>
                  <a:tcPr marT="36576" marB="36576" anchor="ctr">
                    <a:solidFill>
                      <a:srgbClr val="FBF3DF"/>
                    </a:solidFill>
                  </a:tcPr>
                </a:tc>
                <a:extLst>
                  <a:ext uri="{0D108BD9-81ED-4DB2-BD59-A6C34878D82A}">
                    <a16:rowId xmlns:a16="http://schemas.microsoft.com/office/drawing/2014/main" val="10002"/>
                  </a:ext>
                </a:extLst>
              </a:tr>
              <a:tr h="457200">
                <a:tc>
                  <a:txBody>
                    <a:bodyPr/>
                    <a:lstStyle/>
                    <a:p>
                      <a:pPr algn="l"/>
                      <a:r>
                        <a:rPr sz="1400" b="1">
                          <a:solidFill>
                            <a:srgbClr val="1E293B"/>
                          </a:solidFill>
                          <a:latin typeface="Calibri"/>
                        </a:rPr>
                        <a:t>Neutral</a:t>
                      </a:r>
                    </a:p>
                  </a:txBody>
                  <a:tcPr marT="36576" marB="36576" anchor="ctr">
                    <a:solidFill>
                      <a:srgbClr val="FBF3DF"/>
                    </a:solidFill>
                  </a:tcPr>
                </a:tc>
                <a:tc>
                  <a:txBody>
                    <a:bodyPr/>
                    <a:lstStyle/>
                    <a:p>
                      <a:pPr algn="l"/>
                      <a:r>
                        <a:rPr sz="1400" b="0">
                          <a:solidFill>
                            <a:srgbClr val="1E293B"/>
                          </a:solidFill>
                          <a:latin typeface="Calibri"/>
                        </a:rPr>
                        <a:t>30%</a:t>
                      </a:r>
                    </a:p>
                  </a:txBody>
                  <a:tcPr marT="36576" marB="36576" anchor="ctr">
                    <a:solidFill>
                      <a:srgbClr val="FBF3DF"/>
                    </a:solidFill>
                  </a:tcPr>
                </a:tc>
                <a:tc>
                  <a:txBody>
                    <a:bodyPr/>
                    <a:lstStyle/>
                    <a:p>
                      <a:pPr algn="l"/>
                      <a:r>
                        <a:rPr sz="1400" b="0">
                          <a:solidFill>
                            <a:srgbClr val="1E293B"/>
                          </a:solidFill>
                          <a:latin typeface="Calibri"/>
                        </a:rPr>
                        <a:t>41%</a:t>
                      </a:r>
                    </a:p>
                  </a:txBody>
                  <a:tcPr marT="36576" marB="36576" anchor="ctr">
                    <a:solidFill>
                      <a:srgbClr val="FBF3D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589520" y="3840480"/>
            <a:ext cx="4050791" cy="21488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18120" y="4023360"/>
            <a:ext cx="3593591" cy="36576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What it means</a:t>
            </a:r>
          </a:p>
        </p:txBody>
      </p:sp>
      <p:sp>
        <p:nvSpPr>
          <p:cNvPr id="9" name="TextBox 8"/>
          <p:cNvSpPr txBox="1"/>
          <p:nvPr/>
        </p:nvSpPr>
        <p:spPr>
          <a:xfrm>
            <a:off x="7818120" y="4407408"/>
            <a:ext cx="3593591" cy="141732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Mini reads complaints as neutral, so the corpus not-happy share is likely understated, not inflated.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51756" y="331487"/>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p>
          <a:p>
            <a:pPr algn="l">
              <a:lnSpc>
                <a:spcPct val="95000"/>
              </a:lnSpc>
              <a:spcAft>
                <a:spcPts val="0"/>
              </a:spcAft>
            </a:pPr>
            <a:r>
              <a:rPr lang="en-US" sz="2000" b="1" i="0" dirty="0">
                <a:solidFill>
                  <a:srgbClr val="1C2E6E"/>
                </a:solidFill>
                <a:latin typeface="Calibri"/>
              </a:rPr>
              <a:t>Why hybrids? </a:t>
            </a:r>
            <a:r>
              <a:rPr sz="2000" b="1" i="0" dirty="0">
                <a:solidFill>
                  <a:srgbClr val="1C2E6E"/>
                </a:solidFill>
                <a:latin typeface="Calibri"/>
              </a:rPr>
              <a:t>LLMs miss the equipment jargon that rules catch</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17</a:t>
            </a:r>
          </a:p>
        </p:txBody>
      </p:sp>
      <p:graphicFrame>
        <p:nvGraphicFramePr>
          <p:cNvPr id="4" name="Chart 3"/>
          <p:cNvGraphicFramePr>
            <a:graphicFrameLocks noGrp="1"/>
          </p:cNvGraphicFramePr>
          <p:nvPr/>
        </p:nvGraphicFramePr>
        <p:xfrm>
          <a:off x="548640" y="1645920"/>
          <a:ext cx="60350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1496088"/>
            <a:ext cx="6035040" cy="184666"/>
          </a:xfrm>
          <a:prstGeom prst="rect">
            <a:avLst/>
          </a:prstGeom>
          <a:noFill/>
        </p:spPr>
        <p:txBody>
          <a:bodyPr wrap="square" lIns="0" tIns="0" rIns="0" bIns="0" anchor="t">
            <a:spAutoFit/>
          </a:bodyPr>
          <a:lstStyle/>
          <a:p>
            <a:pPr algn="l">
              <a:spcAft>
                <a:spcPts val="600"/>
              </a:spcAft>
            </a:pPr>
            <a:r>
              <a:rPr sz="1200" b="1" i="0" dirty="0">
                <a:solidFill>
                  <a:srgbClr val="5B6475"/>
                </a:solidFill>
                <a:latin typeface="Calibri"/>
              </a:rPr>
              <a:t>Devices</a:t>
            </a:r>
            <a:r>
              <a:rPr sz="1200" b="0" i="0" dirty="0">
                <a:solidFill>
                  <a:srgbClr val="5B6475"/>
                </a:solidFill>
                <a:latin typeface="Calibri"/>
              </a:rPr>
              <a:t> recall, representative set (52 device posts)</a:t>
            </a:r>
          </a:p>
        </p:txBody>
      </p:sp>
      <p:sp>
        <p:nvSpPr>
          <p:cNvPr id="6" name="TextBox 5"/>
          <p:cNvSpPr txBox="1"/>
          <p:nvPr/>
        </p:nvSpPr>
        <p:spPr>
          <a:xfrm>
            <a:off x="548640" y="5120640"/>
            <a:ext cx="6035040" cy="914400"/>
          </a:xfrm>
          <a:prstGeom prst="rect">
            <a:avLst/>
          </a:prstGeom>
          <a:noFill/>
        </p:spPr>
        <p:txBody>
          <a:bodyPr wrap="square" lIns="0" tIns="0" rIns="0" bIns="0" anchor="t">
            <a:spAutoFit/>
          </a:bodyPr>
          <a:lstStyle/>
          <a:p>
            <a:pPr algn="l">
              <a:spcAft>
                <a:spcPts val="600"/>
              </a:spcAft>
            </a:pPr>
            <a:r>
              <a:rPr sz="1500" b="0" i="0" dirty="0">
                <a:solidFill>
                  <a:srgbClr val="1E293B"/>
                </a:solidFill>
                <a:latin typeface="Calibri"/>
              </a:rPr>
              <a:t>All-row LLMs return one or two topics when a post has several. On the challenge set rules still recall 75% of device posts vs GPT-4o’s 33%.</a:t>
            </a:r>
          </a:p>
        </p:txBody>
      </p:sp>
      <p:sp>
        <p:nvSpPr>
          <p:cNvPr id="7" name="Rounded Rectangle 6"/>
          <p:cNvSpPr/>
          <p:nvPr/>
        </p:nvSpPr>
        <p:spPr>
          <a:xfrm>
            <a:off x="6949440" y="1737360"/>
            <a:ext cx="4690872" cy="4206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60" y="1965960"/>
            <a:ext cx="4206240" cy="822960"/>
          </a:xfrm>
          <a:prstGeom prst="rect">
            <a:avLst/>
          </a:prstGeom>
          <a:noFill/>
        </p:spPr>
        <p:txBody>
          <a:bodyPr wrap="square" lIns="0" tIns="0" rIns="0" bIns="0" anchor="t">
            <a:spAutoFit/>
          </a:bodyPr>
          <a:lstStyle/>
          <a:p>
            <a:pPr algn="l">
              <a:spcAft>
                <a:spcPts val="600"/>
              </a:spcAft>
            </a:pPr>
            <a:r>
              <a:rPr sz="2400" b="1" i="1" dirty="0">
                <a:solidFill>
                  <a:srgbClr val="1C2E6E"/>
                </a:solidFill>
                <a:latin typeface="Calibri"/>
              </a:rPr>
              <a:t>“Starhub, no ONR, no CGNAT”</a:t>
            </a:r>
          </a:p>
        </p:txBody>
      </p:sp>
      <p:graphicFrame>
        <p:nvGraphicFramePr>
          <p:cNvPr id="9" name="Table 8"/>
          <p:cNvGraphicFramePr>
            <a:graphicFrameLocks noGrp="1"/>
          </p:cNvGraphicFramePr>
          <p:nvPr/>
        </p:nvGraphicFramePr>
        <p:xfrm>
          <a:off x="7223760" y="2926080"/>
          <a:ext cx="4160520" cy="1682496"/>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20624">
                <a:tc>
                  <a:txBody>
                    <a:bodyPr/>
                    <a:lstStyle/>
                    <a:p>
                      <a:pPr algn="l"/>
                      <a:r>
                        <a:rPr sz="1400" b="1">
                          <a:solidFill>
                            <a:srgbClr val="FFFFFF"/>
                          </a:solidFill>
                          <a:latin typeface="Calibri"/>
                        </a:rPr>
                        <a:t>Labeller</a:t>
                      </a:r>
                    </a:p>
                  </a:txBody>
                  <a:tcPr marT="36576" marB="36576" anchor="ctr">
                    <a:solidFill>
                      <a:srgbClr val="1C2E6E"/>
                    </a:solidFill>
                  </a:tcPr>
                </a:tc>
                <a:tc>
                  <a:txBody>
                    <a:bodyPr/>
                    <a:lstStyle/>
                    <a:p>
                      <a:pPr algn="l"/>
                      <a:r>
                        <a:rPr sz="1400" b="1">
                          <a:solidFill>
                            <a:srgbClr val="FFFFFF"/>
                          </a:solidFill>
                          <a:latin typeface="Calibri"/>
                        </a:rPr>
                        <a:t>Issue label</a:t>
                      </a:r>
                    </a:p>
                  </a:txBody>
                  <a:tcPr marT="36576" marB="36576" anchor="ctr">
                    <a:solidFill>
                      <a:srgbClr val="1C2E6E"/>
                    </a:solidFill>
                  </a:tcPr>
                </a:tc>
                <a:extLst>
                  <a:ext uri="{0D108BD9-81ED-4DB2-BD59-A6C34878D82A}">
                    <a16:rowId xmlns:a16="http://schemas.microsoft.com/office/drawing/2014/main" val="10000"/>
                  </a:ext>
                </a:extLst>
              </a:tr>
              <a:tr h="420624">
                <a:tc>
                  <a:txBody>
                    <a:bodyPr/>
                    <a:lstStyle/>
                    <a:p>
                      <a:pPr algn="l"/>
                      <a:r>
                        <a:rPr sz="1400" b="0">
                          <a:solidFill>
                            <a:srgbClr val="1E293B"/>
                          </a:solidFill>
                          <a:latin typeface="Calibri"/>
                        </a:rPr>
                        <a:t>Human</a:t>
                      </a:r>
                    </a:p>
                  </a:txBody>
                  <a:tcPr marT="36576" marB="36576" anchor="ctr">
                    <a:solidFill>
                      <a:srgbClr val="FFFFFF"/>
                    </a:solidFill>
                  </a:tcPr>
                </a:tc>
                <a:tc>
                  <a:txBody>
                    <a:bodyPr/>
                    <a:lstStyle/>
                    <a:p>
                      <a:pPr algn="l"/>
                      <a:r>
                        <a:rPr sz="1400" b="0">
                          <a:solidFill>
                            <a:srgbClr val="1E293B"/>
                          </a:solidFill>
                          <a:latin typeface="Calibri"/>
                        </a:rPr>
                        <a:t>Devices</a:t>
                      </a:r>
                    </a:p>
                  </a:txBody>
                  <a:tcPr marT="36576" marB="36576" anchor="ctr">
                    <a:solidFill>
                      <a:srgbClr val="FFFFFF"/>
                    </a:solidFill>
                  </a:tcPr>
                </a:tc>
                <a:extLst>
                  <a:ext uri="{0D108BD9-81ED-4DB2-BD59-A6C34878D82A}">
                    <a16:rowId xmlns:a16="http://schemas.microsoft.com/office/drawing/2014/main" val="10001"/>
                  </a:ext>
                </a:extLst>
              </a:tr>
              <a:tr h="420624">
                <a:tc>
                  <a:txBody>
                    <a:bodyPr/>
                    <a:lstStyle/>
                    <a:p>
                      <a:pPr algn="l"/>
                      <a:r>
                        <a:rPr sz="1400" b="0">
                          <a:solidFill>
                            <a:srgbClr val="1E293B"/>
                          </a:solidFill>
                          <a:latin typeface="Calibri"/>
                        </a:rPr>
                        <a:t>Keyword rules</a:t>
                      </a:r>
                    </a:p>
                  </a:txBody>
                  <a:tcPr marT="36576" marB="36576" anchor="ctr">
                    <a:solidFill>
                      <a:srgbClr val="F2F4F9"/>
                    </a:solidFill>
                  </a:tcPr>
                </a:tc>
                <a:tc>
                  <a:txBody>
                    <a:bodyPr/>
                    <a:lstStyle/>
                    <a:p>
                      <a:pPr algn="l"/>
                      <a:r>
                        <a:rPr sz="1400" b="0">
                          <a:solidFill>
                            <a:srgbClr val="1E293B"/>
                          </a:solidFill>
                          <a:latin typeface="Calibri"/>
                        </a:rPr>
                        <a:t>Devices</a:t>
                      </a:r>
                    </a:p>
                  </a:txBody>
                  <a:tcPr marT="36576" marB="36576" anchor="ctr">
                    <a:solidFill>
                      <a:srgbClr val="F2F4F9"/>
                    </a:solidFill>
                  </a:tcPr>
                </a:tc>
                <a:extLst>
                  <a:ext uri="{0D108BD9-81ED-4DB2-BD59-A6C34878D82A}">
                    <a16:rowId xmlns:a16="http://schemas.microsoft.com/office/drawing/2014/main" val="10002"/>
                  </a:ext>
                </a:extLst>
              </a:tr>
              <a:tr h="420624">
                <a:tc>
                  <a:txBody>
                    <a:bodyPr/>
                    <a:lstStyle/>
                    <a:p>
                      <a:pPr algn="l"/>
                      <a:r>
                        <a:rPr sz="1400" b="1">
                          <a:solidFill>
                            <a:srgbClr val="1E293B"/>
                          </a:solidFill>
                          <a:latin typeface="Calibri"/>
                        </a:rPr>
                        <a:t>GPT-4o-mini</a:t>
                      </a:r>
                    </a:p>
                  </a:txBody>
                  <a:tcPr marT="36576" marB="36576" anchor="ctr">
                    <a:solidFill>
                      <a:srgbClr val="FBF3DF"/>
                    </a:solidFill>
                  </a:tcPr>
                </a:tc>
                <a:tc>
                  <a:txBody>
                    <a:bodyPr/>
                    <a:lstStyle/>
                    <a:p>
                      <a:pPr algn="l"/>
                      <a:r>
                        <a:rPr sz="1400" b="0">
                          <a:solidFill>
                            <a:srgbClr val="1E293B"/>
                          </a:solidFill>
                          <a:latin typeface="Calibri"/>
                        </a:rPr>
                        <a:t>General Discussion</a:t>
                      </a:r>
                    </a:p>
                  </a:txBody>
                  <a:tcPr marT="36576" marB="36576" anchor="ctr">
                    <a:solidFill>
                      <a:srgbClr val="FBF3D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7223760" y="4800600"/>
            <a:ext cx="4206240" cy="600164"/>
          </a:xfrm>
          <a:prstGeom prst="rect">
            <a:avLst/>
          </a:prstGeom>
          <a:noFill/>
        </p:spPr>
        <p:txBody>
          <a:bodyPr wrap="square" lIns="0" tIns="0" rIns="0" bIns="0" anchor="t">
            <a:spAutoFit/>
          </a:bodyPr>
          <a:lstStyle/>
          <a:p>
            <a:pPr algn="l">
              <a:spcAft>
                <a:spcPts val="600"/>
              </a:spcAft>
            </a:pPr>
            <a:r>
              <a:rPr sz="1300" b="0" i="0" dirty="0">
                <a:solidFill>
                  <a:srgbClr val="5B6475"/>
                </a:solidFill>
                <a:latin typeface="Calibri"/>
              </a:rPr>
              <a:t>ONR = optical network router; CGNAT = carrier-grade </a:t>
            </a:r>
            <a:r>
              <a:rPr lang="en-US" sz="1300" b="0" i="0" dirty="0">
                <a:solidFill>
                  <a:srgbClr val="5B6475"/>
                </a:solidFill>
                <a:latin typeface="Calibri"/>
              </a:rPr>
              <a:t>Network Address Translation </a:t>
            </a:r>
            <a:r>
              <a:rPr sz="1300" b="0" i="0" dirty="0">
                <a:solidFill>
                  <a:srgbClr val="5B6475"/>
                </a:solidFill>
                <a:latin typeface="Calibri"/>
              </a:rPr>
              <a:t>. Mini also flipped this post’s sentiment to happy.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5252" y="395294"/>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p>
          <a:p>
            <a:pPr algn="l">
              <a:lnSpc>
                <a:spcPct val="95000"/>
              </a:lnSpc>
              <a:spcAft>
                <a:spcPts val="0"/>
              </a:spcAft>
            </a:pPr>
            <a:r>
              <a:rPr sz="2000" b="1" i="0" dirty="0">
                <a:solidFill>
                  <a:schemeClr val="tx1">
                    <a:lumMod val="95000"/>
                    <a:lumOff val="5000"/>
                  </a:schemeClr>
                </a:solidFill>
                <a:latin typeface="Calibri"/>
              </a:rPr>
              <a:t>Four posts that show where VADER break</a:t>
            </a:r>
            <a:r>
              <a:rPr lang="en-US" sz="2000" b="1" i="0" dirty="0">
                <a:solidFill>
                  <a:schemeClr val="tx1">
                    <a:lumMod val="95000"/>
                    <a:lumOff val="5000"/>
                  </a:schemeClr>
                </a:solidFill>
                <a:latin typeface="Calibri"/>
              </a:rPr>
              <a:t>s</a:t>
            </a:r>
            <a:endParaRPr sz="2000" b="1" i="0" dirty="0">
              <a:solidFill>
                <a:schemeClr val="tx1">
                  <a:lumMod val="95000"/>
                  <a:lumOff val="5000"/>
                </a:schemeClr>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18</a:t>
            </a:r>
          </a:p>
        </p:txBody>
      </p:sp>
      <p:graphicFrame>
        <p:nvGraphicFramePr>
          <p:cNvPr id="4" name="Table 3"/>
          <p:cNvGraphicFramePr>
            <a:graphicFrameLocks noGrp="1"/>
          </p:cNvGraphicFramePr>
          <p:nvPr>
            <p:extLst>
              <p:ext uri="{D42A27DB-BD31-4B8C-83A1-F6EECF244321}">
                <p14:modId xmlns:p14="http://schemas.microsoft.com/office/powerpoint/2010/main" val="1877729095"/>
              </p:ext>
            </p:extLst>
          </p:nvPr>
        </p:nvGraphicFramePr>
        <p:xfrm>
          <a:off x="548640" y="1737360"/>
          <a:ext cx="11091672" cy="365760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27632">
                  <a:extLst>
                    <a:ext uri="{9D8B030D-6E8A-4147-A177-3AD203B41FA5}">
                      <a16:colId xmlns:a16="http://schemas.microsoft.com/office/drawing/2014/main" val="20004"/>
                    </a:ext>
                  </a:extLst>
                </a:gridCol>
              </a:tblGrid>
              <a:tr h="731520">
                <a:tc>
                  <a:txBody>
                    <a:bodyPr/>
                    <a:lstStyle/>
                    <a:p>
                      <a:pPr algn="l"/>
                      <a:r>
                        <a:rPr sz="1700" b="1">
                          <a:solidFill>
                            <a:srgbClr val="FFFFFF"/>
                          </a:solidFill>
                          <a:latin typeface="Calibri"/>
                        </a:rPr>
                        <a:t>Post</a:t>
                      </a:r>
                    </a:p>
                  </a:txBody>
                  <a:tcPr marT="36576" marB="36576" anchor="ctr">
                    <a:solidFill>
                      <a:srgbClr val="1C2E6E"/>
                    </a:solidFill>
                  </a:tcPr>
                </a:tc>
                <a:tc>
                  <a:txBody>
                    <a:bodyPr/>
                    <a:lstStyle/>
                    <a:p>
                      <a:pPr algn="l"/>
                      <a:r>
                        <a:rPr sz="1700" b="1">
                          <a:solidFill>
                            <a:srgbClr val="FFFFFF"/>
                          </a:solidFill>
                          <a:latin typeface="Calibri"/>
                        </a:rPr>
                        <a:t>What it says (paraphrased)</a:t>
                      </a:r>
                    </a:p>
                  </a:txBody>
                  <a:tcPr marT="36576" marB="36576" anchor="ctr">
                    <a:solidFill>
                      <a:srgbClr val="1C2E6E"/>
                    </a:solidFill>
                  </a:tcPr>
                </a:tc>
                <a:tc>
                  <a:txBody>
                    <a:bodyPr/>
                    <a:lstStyle/>
                    <a:p>
                      <a:pPr algn="l"/>
                      <a:r>
                        <a:rPr sz="1700" b="1">
                          <a:solidFill>
                            <a:srgbClr val="FFFFFF"/>
                          </a:solidFill>
                          <a:latin typeface="Calibri"/>
                        </a:rPr>
                        <a:t>Human</a:t>
                      </a:r>
                    </a:p>
                  </a:txBody>
                  <a:tcPr marT="36576" marB="36576" anchor="ctr">
                    <a:solidFill>
                      <a:srgbClr val="1C2E6E"/>
                    </a:solidFill>
                  </a:tcPr>
                </a:tc>
                <a:tc>
                  <a:txBody>
                    <a:bodyPr/>
                    <a:lstStyle/>
                    <a:p>
                      <a:pPr algn="l"/>
                      <a:r>
                        <a:rPr sz="1700" b="1">
                          <a:solidFill>
                            <a:srgbClr val="FFFFFF"/>
                          </a:solidFill>
                          <a:latin typeface="Calibri"/>
                        </a:rPr>
                        <a:t>VADER</a:t>
                      </a:r>
                    </a:p>
                  </a:txBody>
                  <a:tcPr marT="36576" marB="36576" anchor="ctr">
                    <a:solidFill>
                      <a:srgbClr val="1C2E6E"/>
                    </a:solidFill>
                  </a:tcPr>
                </a:tc>
                <a:tc>
                  <a:txBody>
                    <a:bodyPr/>
                    <a:lstStyle/>
                    <a:p>
                      <a:pPr algn="l"/>
                      <a:r>
                        <a:rPr sz="1700" b="1">
                          <a:solidFill>
                            <a:srgbClr val="FFFFFF"/>
                          </a:solidFill>
                          <a:latin typeface="Calibri"/>
                        </a:rPr>
                        <a:t>GPT-4o-mini</a:t>
                      </a:r>
                    </a:p>
                  </a:txBody>
                  <a:tcPr marT="36576" marB="36576" anchor="ctr">
                    <a:solidFill>
                      <a:srgbClr val="1C2E6E"/>
                    </a:solidFill>
                  </a:tcPr>
                </a:tc>
                <a:extLst>
                  <a:ext uri="{0D108BD9-81ED-4DB2-BD59-A6C34878D82A}">
                    <a16:rowId xmlns:a16="http://schemas.microsoft.com/office/drawing/2014/main" val="10000"/>
                  </a:ext>
                </a:extLst>
              </a:tr>
              <a:tr h="731520">
                <a:tc>
                  <a:txBody>
                    <a:bodyPr/>
                    <a:lstStyle/>
                    <a:p>
                      <a:pPr algn="l"/>
                      <a:r>
                        <a:rPr sz="1700" b="0">
                          <a:solidFill>
                            <a:srgbClr val="1E293B"/>
                          </a:solidFill>
                          <a:latin typeface="Calibri"/>
                        </a:rPr>
                        <a:t>REP-0003</a:t>
                      </a:r>
                    </a:p>
                  </a:txBody>
                  <a:tcPr marT="36576" marB="36576" anchor="ctr">
                    <a:solidFill>
                      <a:srgbClr val="FFFFFF"/>
                    </a:solidFill>
                  </a:tcPr>
                </a:tc>
                <a:tc>
                  <a:txBody>
                    <a:bodyPr/>
                    <a:lstStyle/>
                    <a:p>
                      <a:pPr algn="l"/>
                      <a:r>
                        <a:rPr sz="1700" b="0">
                          <a:solidFill>
                            <a:srgbClr val="1E293B"/>
                          </a:solidFill>
                          <a:latin typeface="Calibri"/>
                        </a:rPr>
                        <a:t>“SingTel eSIM still down”</a:t>
                      </a:r>
                    </a:p>
                  </a:txBody>
                  <a:tcPr marT="36576" marB="36576" anchor="ctr">
                    <a:solidFill>
                      <a:srgbClr val="FFFFFF"/>
                    </a:solidFill>
                  </a:tcPr>
                </a:tc>
                <a:tc>
                  <a:txBody>
                    <a:bodyPr/>
                    <a:lstStyle/>
                    <a:p>
                      <a:pPr algn="l"/>
                      <a:r>
                        <a:rPr sz="1700" b="0">
                          <a:solidFill>
                            <a:srgbClr val="1E293B"/>
                          </a:solidFill>
                          <a:latin typeface="Calibri"/>
                        </a:rPr>
                        <a:t>not happy</a:t>
                      </a:r>
                    </a:p>
                  </a:txBody>
                  <a:tcPr marT="36576" marB="36576" anchor="ctr">
                    <a:solidFill>
                      <a:srgbClr val="FFFFFF"/>
                    </a:solidFill>
                  </a:tcPr>
                </a:tc>
                <a:tc>
                  <a:txBody>
                    <a:bodyPr/>
                    <a:lstStyle/>
                    <a:p>
                      <a:pPr algn="l"/>
                      <a:r>
                        <a:rPr sz="1700" b="0">
                          <a:solidFill>
                            <a:srgbClr val="1E293B"/>
                          </a:solidFill>
                          <a:latin typeface="Calibri"/>
                        </a:rPr>
                        <a:t>neutral</a:t>
                      </a:r>
                    </a:p>
                  </a:txBody>
                  <a:tcPr marT="36576" marB="36576" anchor="ctr">
                    <a:solidFill>
                      <a:srgbClr val="FFFFFF"/>
                    </a:solidFill>
                  </a:tcPr>
                </a:tc>
                <a:tc>
                  <a:txBody>
                    <a:bodyPr/>
                    <a:lstStyle/>
                    <a:p>
                      <a:pPr algn="l"/>
                      <a:r>
                        <a:rPr sz="1700" b="0">
                          <a:solidFill>
                            <a:srgbClr val="1E293B"/>
                          </a:solidFill>
                          <a:latin typeface="Calibri"/>
                        </a:rPr>
                        <a:t>not happy</a:t>
                      </a:r>
                    </a:p>
                  </a:txBody>
                  <a:tcPr marT="36576" marB="36576" anchor="ctr">
                    <a:solidFill>
                      <a:srgbClr val="FFFFFF"/>
                    </a:solidFill>
                  </a:tcPr>
                </a:tc>
                <a:extLst>
                  <a:ext uri="{0D108BD9-81ED-4DB2-BD59-A6C34878D82A}">
                    <a16:rowId xmlns:a16="http://schemas.microsoft.com/office/drawing/2014/main" val="10001"/>
                  </a:ext>
                </a:extLst>
              </a:tr>
              <a:tr h="731520">
                <a:tc>
                  <a:txBody>
                    <a:bodyPr/>
                    <a:lstStyle/>
                    <a:p>
                      <a:pPr algn="l"/>
                      <a:r>
                        <a:rPr sz="1700" b="0">
                          <a:solidFill>
                            <a:srgbClr val="1E293B"/>
                          </a:solidFill>
                          <a:latin typeface="Calibri"/>
                        </a:rPr>
                        <a:t>REP-0014</a:t>
                      </a:r>
                    </a:p>
                  </a:txBody>
                  <a:tcPr marT="36576" marB="36576" anchor="ctr">
                    <a:solidFill>
                      <a:srgbClr val="F2F4F9"/>
                    </a:solidFill>
                  </a:tcPr>
                </a:tc>
                <a:tc>
                  <a:txBody>
                    <a:bodyPr/>
                    <a:lstStyle/>
                    <a:p>
                      <a:pPr algn="l"/>
                      <a:r>
                        <a:rPr sz="1700" b="0" dirty="0">
                          <a:solidFill>
                            <a:srgbClr val="1E293B"/>
                          </a:solidFill>
                          <a:latin typeface="Calibri"/>
                        </a:rPr>
                        <a:t>Left after 5G drops; new carrier “better… just $12”</a:t>
                      </a:r>
                    </a:p>
                  </a:txBody>
                  <a:tcPr marT="36576" marB="36576" anchor="ctr">
                    <a:solidFill>
                      <a:srgbClr val="F2F4F9"/>
                    </a:solidFill>
                  </a:tcPr>
                </a:tc>
                <a:tc>
                  <a:txBody>
                    <a:bodyPr/>
                    <a:lstStyle/>
                    <a:p>
                      <a:pPr algn="l"/>
                      <a:r>
                        <a:rPr sz="1700" b="0">
                          <a:solidFill>
                            <a:srgbClr val="1E293B"/>
                          </a:solidFill>
                          <a:latin typeface="Calibri"/>
                        </a:rPr>
                        <a:t>not happy</a:t>
                      </a:r>
                    </a:p>
                  </a:txBody>
                  <a:tcPr marT="36576" marB="36576" anchor="ctr">
                    <a:solidFill>
                      <a:srgbClr val="F2F4F9"/>
                    </a:solidFill>
                  </a:tcPr>
                </a:tc>
                <a:tc>
                  <a:txBody>
                    <a:bodyPr/>
                    <a:lstStyle/>
                    <a:p>
                      <a:pPr algn="l"/>
                      <a:r>
                        <a:rPr sz="1700" b="0">
                          <a:solidFill>
                            <a:srgbClr val="1E293B"/>
                          </a:solidFill>
                          <a:latin typeface="Calibri"/>
                        </a:rPr>
                        <a:t>happy</a:t>
                      </a:r>
                    </a:p>
                  </a:txBody>
                  <a:tcPr marT="36576" marB="36576" anchor="ctr">
                    <a:solidFill>
                      <a:srgbClr val="F2F4F9"/>
                    </a:solidFill>
                  </a:tcPr>
                </a:tc>
                <a:tc>
                  <a:txBody>
                    <a:bodyPr/>
                    <a:lstStyle/>
                    <a:p>
                      <a:pPr algn="l"/>
                      <a:r>
                        <a:rPr sz="1700" b="0">
                          <a:solidFill>
                            <a:srgbClr val="1E293B"/>
                          </a:solidFill>
                          <a:latin typeface="Calibri"/>
                        </a:rPr>
                        <a:t>not happy</a:t>
                      </a:r>
                    </a:p>
                  </a:txBody>
                  <a:tcPr marT="36576" marB="36576" anchor="ctr">
                    <a:solidFill>
                      <a:srgbClr val="F2F4F9"/>
                    </a:solidFill>
                  </a:tcPr>
                </a:tc>
                <a:extLst>
                  <a:ext uri="{0D108BD9-81ED-4DB2-BD59-A6C34878D82A}">
                    <a16:rowId xmlns:a16="http://schemas.microsoft.com/office/drawing/2014/main" val="10002"/>
                  </a:ext>
                </a:extLst>
              </a:tr>
              <a:tr h="731520">
                <a:tc>
                  <a:txBody>
                    <a:bodyPr/>
                    <a:lstStyle/>
                    <a:p>
                      <a:pPr algn="l"/>
                      <a:r>
                        <a:rPr sz="1700" b="0">
                          <a:solidFill>
                            <a:srgbClr val="1E293B"/>
                          </a:solidFill>
                          <a:latin typeface="Calibri"/>
                        </a:rPr>
                        <a:t>CHL-0005</a:t>
                      </a:r>
                    </a:p>
                  </a:txBody>
                  <a:tcPr marT="36576" marB="36576" anchor="ctr">
                    <a:solidFill>
                      <a:srgbClr val="FFFFFF"/>
                    </a:solidFill>
                  </a:tcPr>
                </a:tc>
                <a:tc>
                  <a:txBody>
                    <a:bodyPr/>
                    <a:lstStyle/>
                    <a:p>
                      <a:pPr algn="l"/>
                      <a:r>
                        <a:rPr sz="1700" b="0">
                          <a:solidFill>
                            <a:srgbClr val="1E293B"/>
                          </a:solidFill>
                          <a:latin typeface="Calibri"/>
                        </a:rPr>
                        <a:t>“Smoooooooth as baby butttttt”</a:t>
                      </a:r>
                    </a:p>
                  </a:txBody>
                  <a:tcPr marT="36576" marB="36576" anchor="ctr">
                    <a:solidFill>
                      <a:srgbClr val="FFFFFF"/>
                    </a:solidFill>
                  </a:tcPr>
                </a:tc>
                <a:tc>
                  <a:txBody>
                    <a:bodyPr/>
                    <a:lstStyle/>
                    <a:p>
                      <a:pPr algn="l"/>
                      <a:r>
                        <a:rPr sz="1700" b="0">
                          <a:solidFill>
                            <a:srgbClr val="1E293B"/>
                          </a:solidFill>
                          <a:latin typeface="Calibri"/>
                        </a:rPr>
                        <a:t>happy</a:t>
                      </a:r>
                    </a:p>
                  </a:txBody>
                  <a:tcPr marT="36576" marB="36576" anchor="ctr">
                    <a:solidFill>
                      <a:srgbClr val="FFFFFF"/>
                    </a:solidFill>
                  </a:tcPr>
                </a:tc>
                <a:tc>
                  <a:txBody>
                    <a:bodyPr/>
                    <a:lstStyle/>
                    <a:p>
                      <a:pPr algn="l"/>
                      <a:r>
                        <a:rPr sz="1700" b="0">
                          <a:solidFill>
                            <a:srgbClr val="1E293B"/>
                          </a:solidFill>
                          <a:latin typeface="Calibri"/>
                        </a:rPr>
                        <a:t>neutral</a:t>
                      </a:r>
                    </a:p>
                  </a:txBody>
                  <a:tcPr marT="36576" marB="36576" anchor="ctr">
                    <a:solidFill>
                      <a:srgbClr val="FFFFFF"/>
                    </a:solidFill>
                  </a:tcPr>
                </a:tc>
                <a:tc>
                  <a:txBody>
                    <a:bodyPr/>
                    <a:lstStyle/>
                    <a:p>
                      <a:pPr algn="l"/>
                      <a:r>
                        <a:rPr sz="1700" b="0">
                          <a:solidFill>
                            <a:srgbClr val="1E293B"/>
                          </a:solidFill>
                          <a:latin typeface="Calibri"/>
                        </a:rPr>
                        <a:t>happy</a:t>
                      </a:r>
                    </a:p>
                  </a:txBody>
                  <a:tcPr marT="36576" marB="36576" anchor="ctr">
                    <a:solidFill>
                      <a:srgbClr val="FFFFFF"/>
                    </a:solidFill>
                  </a:tcPr>
                </a:tc>
                <a:extLst>
                  <a:ext uri="{0D108BD9-81ED-4DB2-BD59-A6C34878D82A}">
                    <a16:rowId xmlns:a16="http://schemas.microsoft.com/office/drawing/2014/main" val="10003"/>
                  </a:ext>
                </a:extLst>
              </a:tr>
              <a:tr h="731520">
                <a:tc>
                  <a:txBody>
                    <a:bodyPr/>
                    <a:lstStyle/>
                    <a:p>
                      <a:pPr algn="l"/>
                      <a:r>
                        <a:rPr sz="1700" b="0">
                          <a:solidFill>
                            <a:srgbClr val="1E293B"/>
                          </a:solidFill>
                          <a:latin typeface="Calibri"/>
                        </a:rPr>
                        <a:t>CHL-0029</a:t>
                      </a:r>
                    </a:p>
                  </a:txBody>
                  <a:tcPr marT="36576" marB="36576" anchor="ctr">
                    <a:solidFill>
                      <a:srgbClr val="F2F4F9"/>
                    </a:solidFill>
                  </a:tcPr>
                </a:tc>
                <a:tc>
                  <a:txBody>
                    <a:bodyPr/>
                    <a:lstStyle/>
                    <a:p>
                      <a:pPr algn="l"/>
                      <a:r>
                        <a:rPr sz="1700" b="0">
                          <a:solidFill>
                            <a:srgbClr val="1E293B"/>
                          </a:solidFill>
                          <a:latin typeface="Calibri"/>
                        </a:rPr>
                        <a:t>Nationwide outage, ready to port out</a:t>
                      </a:r>
                    </a:p>
                  </a:txBody>
                  <a:tcPr marT="36576" marB="36576" anchor="ctr">
                    <a:solidFill>
                      <a:srgbClr val="F2F4F9"/>
                    </a:solidFill>
                  </a:tcPr>
                </a:tc>
                <a:tc>
                  <a:txBody>
                    <a:bodyPr/>
                    <a:lstStyle/>
                    <a:p>
                      <a:pPr algn="l"/>
                      <a:r>
                        <a:rPr sz="1700" b="0">
                          <a:solidFill>
                            <a:srgbClr val="1E293B"/>
                          </a:solidFill>
                          <a:latin typeface="Calibri"/>
                        </a:rPr>
                        <a:t>not happy</a:t>
                      </a:r>
                    </a:p>
                  </a:txBody>
                  <a:tcPr marT="36576" marB="36576" anchor="ctr">
                    <a:solidFill>
                      <a:srgbClr val="F2F4F9"/>
                    </a:solidFill>
                  </a:tcPr>
                </a:tc>
                <a:tc>
                  <a:txBody>
                    <a:bodyPr/>
                    <a:lstStyle/>
                    <a:p>
                      <a:pPr algn="l"/>
                      <a:r>
                        <a:rPr sz="1700" b="0">
                          <a:solidFill>
                            <a:srgbClr val="1E293B"/>
                          </a:solidFill>
                          <a:latin typeface="Calibri"/>
                        </a:rPr>
                        <a:t>happy</a:t>
                      </a:r>
                    </a:p>
                  </a:txBody>
                  <a:tcPr marT="36576" marB="36576" anchor="ctr">
                    <a:solidFill>
                      <a:srgbClr val="F2F4F9"/>
                    </a:solidFill>
                  </a:tcPr>
                </a:tc>
                <a:tc>
                  <a:txBody>
                    <a:bodyPr/>
                    <a:lstStyle/>
                    <a:p>
                      <a:pPr algn="l"/>
                      <a:r>
                        <a:rPr sz="1700" b="0" dirty="0">
                          <a:solidFill>
                            <a:srgbClr val="1E293B"/>
                          </a:solidFill>
                          <a:latin typeface="Calibri"/>
                        </a:rPr>
                        <a:t>not happy</a:t>
                      </a:r>
                    </a:p>
                  </a:txBody>
                  <a:tcPr marT="36576" marB="36576" anchor="ctr">
                    <a:solidFill>
                      <a:srgbClr val="F2F4F9"/>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5613400"/>
            <a:ext cx="11091672" cy="736600"/>
          </a:xfrm>
          <a:prstGeom prst="rect">
            <a:avLst/>
          </a:prstGeom>
          <a:noFill/>
        </p:spPr>
        <p:txBody>
          <a:bodyPr wrap="square" lIns="0" tIns="0" rIns="0" bIns="0" anchor="t">
            <a:spAutoFit/>
          </a:bodyPr>
          <a:lstStyle/>
          <a:p>
            <a:pPr algn="l">
              <a:spcAft>
                <a:spcPts val="600"/>
              </a:spcAft>
            </a:pPr>
            <a:r>
              <a:rPr sz="1600" b="0" i="0">
                <a:solidFill>
                  <a:srgbClr val="1E293B"/>
                </a:solidFill>
                <a:latin typeface="Calibri"/>
              </a:rPr>
              <a:t>Short status updates, price words and stretched slang fool a lexicon. Switching intent is a complaint, not praise.</a:t>
            </a:r>
          </a:p>
          <a:p>
            <a:pPr algn="l">
              <a:spcAft>
                <a:spcPts val="600"/>
              </a:spcAft>
            </a:pPr>
            <a:r>
              <a:rPr lang="en-US" sz="1600" b="1" i="0" dirty="0">
                <a:solidFill>
                  <a:srgbClr val="1E293B"/>
                </a:solidFill>
                <a:latin typeface="Calibri"/>
              </a:rPr>
              <a:t>REP-0014: </a:t>
            </a:r>
            <a:r>
              <a:rPr lang="en-US" sz="1600" b="0" i="0" dirty="0">
                <a:solidFill>
                  <a:srgbClr val="1E293B"/>
                </a:solidFill>
                <a:latin typeface="Calibri"/>
              </a:rPr>
              <a:t>the label scores the carrier the author left. The praise is for the new one; per-brand labels (slide 30) would record both.</a:t>
            </a:r>
          </a:p>
        </p:txBody>
      </p:sp>
    </p:spTree>
    <p:extLst>
      <p:ext uri="{BB962C8B-B14F-4D97-AF65-F5344CB8AC3E}">
        <p14:creationId xmlns:p14="http://schemas.microsoft.com/office/powerpoint/2010/main" val="2512312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308376"/>
            <a:ext cx="6840000" cy="828000"/>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All the LLM work cost about $6.50</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19</a:t>
            </a:r>
          </a:p>
        </p:txBody>
      </p:sp>
      <p:sp>
        <p:nvSpPr>
          <p:cNvPr id="4" name="TextBox 3"/>
          <p:cNvSpPr txBox="1"/>
          <p:nvPr/>
        </p:nvSpPr>
        <p:spPr>
          <a:xfrm>
            <a:off x="548640" y="1737360"/>
            <a:ext cx="3291840" cy="762000"/>
          </a:xfrm>
          <a:prstGeom prst="rect">
            <a:avLst/>
          </a:prstGeom>
          <a:noFill/>
        </p:spPr>
        <p:txBody>
          <a:bodyPr wrap="square" lIns="0" tIns="0" rIns="0" bIns="0" anchor="t">
            <a:spAutoFit/>
          </a:bodyPr>
          <a:lstStyle/>
          <a:p>
            <a:pPr algn="l">
              <a:spcAft>
                <a:spcPts val="600"/>
              </a:spcAft>
            </a:pPr>
            <a:r>
              <a:rPr sz="5000" b="1" i="0" dirty="0">
                <a:solidFill>
                  <a:srgbClr val="1C2E6E"/>
                </a:solidFill>
                <a:latin typeface="Calibri"/>
              </a:rPr>
              <a:t>$0.28</a:t>
            </a:r>
          </a:p>
        </p:txBody>
      </p:sp>
      <p:sp>
        <p:nvSpPr>
          <p:cNvPr id="5" name="TextBox 4"/>
          <p:cNvSpPr txBox="1"/>
          <p:nvPr/>
        </p:nvSpPr>
        <p:spPr>
          <a:xfrm>
            <a:off x="548640" y="2545080"/>
            <a:ext cx="3291840" cy="230832"/>
          </a:xfrm>
          <a:prstGeom prst="rect">
            <a:avLst/>
          </a:prstGeom>
          <a:noFill/>
        </p:spPr>
        <p:txBody>
          <a:bodyPr wrap="square" lIns="0" tIns="0" rIns="0" bIns="0" anchor="t">
            <a:spAutoFit/>
          </a:bodyPr>
          <a:lstStyle/>
          <a:p>
            <a:pPr algn="l">
              <a:spcAft>
                <a:spcPts val="600"/>
              </a:spcAft>
            </a:pPr>
            <a:r>
              <a:rPr sz="1500" b="1" i="0" dirty="0">
                <a:solidFill>
                  <a:srgbClr val="5B6475"/>
                </a:solidFill>
                <a:latin typeface="Calibri"/>
              </a:rPr>
              <a:t>GPT-4o-mini </a:t>
            </a:r>
            <a:r>
              <a:rPr sz="1500" b="0" i="0" dirty="0">
                <a:solidFill>
                  <a:srgbClr val="5B6475"/>
                </a:solidFill>
                <a:latin typeface="Calibri"/>
              </a:rPr>
              <a:t>sentiment on all 9,162 posts</a:t>
            </a:r>
          </a:p>
        </p:txBody>
      </p:sp>
      <p:graphicFrame>
        <p:nvGraphicFramePr>
          <p:cNvPr id="6" name="Table 5"/>
          <p:cNvGraphicFramePr>
            <a:graphicFrameLocks noGrp="1"/>
          </p:cNvGraphicFramePr>
          <p:nvPr>
            <p:extLst>
              <p:ext uri="{D42A27DB-BD31-4B8C-83A1-F6EECF244321}">
                <p14:modId xmlns:p14="http://schemas.microsoft.com/office/powerpoint/2010/main" val="4058543108"/>
              </p:ext>
            </p:extLst>
          </p:nvPr>
        </p:nvGraphicFramePr>
        <p:xfrm>
          <a:off x="4206240" y="1691640"/>
          <a:ext cx="7434072" cy="402336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tblGrid>
              <a:tr h="402336">
                <a:tc>
                  <a:txBody>
                    <a:bodyPr/>
                    <a:lstStyle/>
                    <a:p>
                      <a:pPr algn="l"/>
                      <a:r>
                        <a:rPr sz="1300" b="1">
                          <a:solidFill>
                            <a:srgbClr val="FFFFFF"/>
                          </a:solidFill>
                          <a:latin typeface="Calibri"/>
                        </a:rPr>
                        <a:t>Job</a:t>
                      </a:r>
                    </a:p>
                  </a:txBody>
                  <a:tcPr marT="36576" marB="36576" anchor="ctr">
                    <a:solidFill>
                      <a:srgbClr val="1C2E6E"/>
                    </a:solidFill>
                  </a:tcPr>
                </a:tc>
                <a:tc>
                  <a:txBody>
                    <a:bodyPr/>
                    <a:lstStyle/>
                    <a:p>
                      <a:pPr algn="l"/>
                      <a:r>
                        <a:rPr sz="1300" b="1">
                          <a:solidFill>
                            <a:srgbClr val="FFFFFF"/>
                          </a:solidFill>
                          <a:latin typeface="Calibri"/>
                        </a:rPr>
                        <a:t>Model</a:t>
                      </a:r>
                    </a:p>
                  </a:txBody>
                  <a:tcPr marT="36576" marB="36576" anchor="ctr">
                    <a:solidFill>
                      <a:srgbClr val="1C2E6E"/>
                    </a:solidFill>
                  </a:tcPr>
                </a:tc>
                <a:tc>
                  <a:txBody>
                    <a:bodyPr/>
                    <a:lstStyle/>
                    <a:p>
                      <a:pPr algn="l"/>
                      <a:r>
                        <a:rPr sz="1300" b="1">
                          <a:solidFill>
                            <a:srgbClr val="FFFFFF"/>
                          </a:solidFill>
                          <a:latin typeface="Calibri"/>
                        </a:rPr>
                        <a:t>Posts</a:t>
                      </a:r>
                    </a:p>
                  </a:txBody>
                  <a:tcPr marT="36576" marB="36576" anchor="ctr">
                    <a:solidFill>
                      <a:srgbClr val="1C2E6E"/>
                    </a:solidFill>
                  </a:tcPr>
                </a:tc>
                <a:tc>
                  <a:txBody>
                    <a:bodyPr/>
                    <a:lstStyle/>
                    <a:p>
                      <a:pPr algn="l"/>
                      <a:r>
                        <a:rPr sz="1300" b="1">
                          <a:solidFill>
                            <a:srgbClr val="FFFFFF"/>
                          </a:solidFill>
                          <a:latin typeface="Calibri"/>
                        </a:rPr>
                        <a:t>Seconds</a:t>
                      </a:r>
                    </a:p>
                  </a:txBody>
                  <a:tcPr marT="36576" marB="36576" anchor="ctr">
                    <a:solidFill>
                      <a:srgbClr val="1C2E6E"/>
                    </a:solidFill>
                  </a:tcPr>
                </a:tc>
                <a:tc>
                  <a:txBody>
                    <a:bodyPr/>
                    <a:lstStyle/>
                    <a:p>
                      <a:pPr algn="l"/>
                      <a:r>
                        <a:rPr sz="1300" b="1">
                          <a:solidFill>
                            <a:srgbClr val="FFFFFF"/>
                          </a:solidFill>
                          <a:latin typeface="Calibri"/>
                        </a:rPr>
                        <a:t>Est. USD</a:t>
                      </a:r>
                    </a:p>
                  </a:txBody>
                  <a:tcPr marT="36576" marB="36576" anchor="ctr">
                    <a:solidFill>
                      <a:srgbClr val="1C2E6E"/>
                    </a:solidFill>
                  </a:tcPr>
                </a:tc>
                <a:extLst>
                  <a:ext uri="{0D108BD9-81ED-4DB2-BD59-A6C34878D82A}">
                    <a16:rowId xmlns:a16="http://schemas.microsoft.com/office/drawing/2014/main" val="10000"/>
                  </a:ext>
                </a:extLst>
              </a:tr>
              <a:tr h="402336">
                <a:tc>
                  <a:txBody>
                    <a:bodyPr/>
                    <a:lstStyle/>
                    <a:p>
                      <a:pPr algn="l"/>
                      <a:r>
                        <a:rPr sz="1300" b="0">
                          <a:solidFill>
                            <a:srgbClr val="1E293B"/>
                          </a:solidFill>
                          <a:latin typeface="Calibri"/>
                        </a:rPr>
                        <a:t>Representative eval</a:t>
                      </a:r>
                    </a:p>
                  </a:txBody>
                  <a:tcPr marT="36576" marB="36576" anchor="ctr">
                    <a:solidFill>
                      <a:srgbClr val="FFFFFF"/>
                    </a:solidFill>
                  </a:tcPr>
                </a:tc>
                <a:tc>
                  <a:txBody>
                    <a:bodyPr/>
                    <a:lstStyle/>
                    <a:p>
                      <a:pPr algn="l"/>
                      <a:r>
                        <a:rPr sz="1300" b="0">
                          <a:solidFill>
                            <a:srgbClr val="1E293B"/>
                          </a:solidFill>
                          <a:latin typeface="Calibri"/>
                        </a:rPr>
                        <a:t>GPT-4o-mini</a:t>
                      </a:r>
                    </a:p>
                  </a:txBody>
                  <a:tcPr marT="36576" marB="36576" anchor="ctr">
                    <a:solidFill>
                      <a:srgbClr val="FFFFFF"/>
                    </a:solidFill>
                  </a:tcPr>
                </a:tc>
                <a:tc>
                  <a:txBody>
                    <a:bodyPr/>
                    <a:lstStyle/>
                    <a:p>
                      <a:pPr algn="l"/>
                      <a:r>
                        <a:rPr sz="1300" b="0" dirty="0">
                          <a:solidFill>
                            <a:srgbClr val="1E293B"/>
                          </a:solidFill>
                          <a:latin typeface="Calibri"/>
                        </a:rPr>
                        <a:t>295</a:t>
                      </a:r>
                    </a:p>
                  </a:txBody>
                  <a:tcPr marT="36576" marB="36576" anchor="ctr">
                    <a:solidFill>
                      <a:srgbClr val="FFFFFF"/>
                    </a:solidFill>
                  </a:tcPr>
                </a:tc>
                <a:tc>
                  <a:txBody>
                    <a:bodyPr/>
                    <a:lstStyle/>
                    <a:p>
                      <a:pPr algn="l"/>
                      <a:r>
                        <a:rPr sz="1300" b="0">
                          <a:solidFill>
                            <a:srgbClr val="1E293B"/>
                          </a:solidFill>
                          <a:latin typeface="Calibri"/>
                        </a:rPr>
                        <a:t>74</a:t>
                      </a:r>
                    </a:p>
                  </a:txBody>
                  <a:tcPr marT="36576" marB="36576" anchor="ctr">
                    <a:solidFill>
                      <a:srgbClr val="FFFFFF"/>
                    </a:solidFill>
                  </a:tcPr>
                </a:tc>
                <a:tc>
                  <a:txBody>
                    <a:bodyPr/>
                    <a:lstStyle/>
                    <a:p>
                      <a:pPr algn="l"/>
                      <a:r>
                        <a:rPr sz="1300" b="0">
                          <a:solidFill>
                            <a:srgbClr val="1E293B"/>
                          </a:solidFill>
                          <a:latin typeface="Calibri"/>
                        </a:rPr>
                        <a:t>0.0087</a:t>
                      </a:r>
                    </a:p>
                  </a:txBody>
                  <a:tcPr marT="36576" marB="36576" anchor="ctr">
                    <a:solidFill>
                      <a:srgbClr val="FFFFFF"/>
                    </a:solidFill>
                  </a:tcPr>
                </a:tc>
                <a:extLst>
                  <a:ext uri="{0D108BD9-81ED-4DB2-BD59-A6C34878D82A}">
                    <a16:rowId xmlns:a16="http://schemas.microsoft.com/office/drawing/2014/main" val="10001"/>
                  </a:ext>
                </a:extLst>
              </a:tr>
              <a:tr h="402336">
                <a:tc>
                  <a:txBody>
                    <a:bodyPr/>
                    <a:lstStyle/>
                    <a:p>
                      <a:pPr algn="l"/>
                      <a:r>
                        <a:rPr sz="1300" b="0">
                          <a:solidFill>
                            <a:srgbClr val="1E293B"/>
                          </a:solidFill>
                          <a:latin typeface="Calibri"/>
                        </a:rPr>
                        <a:t>Representative eval</a:t>
                      </a:r>
                    </a:p>
                  </a:txBody>
                  <a:tcPr marT="36576" marB="36576" anchor="ctr">
                    <a:solidFill>
                      <a:srgbClr val="F2F4F9"/>
                    </a:solidFill>
                  </a:tcPr>
                </a:tc>
                <a:tc>
                  <a:txBody>
                    <a:bodyPr/>
                    <a:lstStyle/>
                    <a:p>
                      <a:pPr algn="l"/>
                      <a:r>
                        <a:rPr sz="1300" b="0">
                          <a:solidFill>
                            <a:srgbClr val="1E293B"/>
                          </a:solidFill>
                          <a:latin typeface="Calibri"/>
                        </a:rPr>
                        <a:t>GPT-4o</a:t>
                      </a:r>
                    </a:p>
                  </a:txBody>
                  <a:tcPr marT="36576" marB="36576" anchor="ctr">
                    <a:solidFill>
                      <a:srgbClr val="F2F4F9"/>
                    </a:solidFill>
                  </a:tcPr>
                </a:tc>
                <a:tc>
                  <a:txBody>
                    <a:bodyPr/>
                    <a:lstStyle/>
                    <a:p>
                      <a:pPr algn="l"/>
                      <a:r>
                        <a:rPr sz="1300" b="0">
                          <a:solidFill>
                            <a:srgbClr val="1E293B"/>
                          </a:solidFill>
                          <a:latin typeface="Calibri"/>
                        </a:rPr>
                        <a:t>295</a:t>
                      </a:r>
                    </a:p>
                  </a:txBody>
                  <a:tcPr marT="36576" marB="36576" anchor="ctr">
                    <a:solidFill>
                      <a:srgbClr val="F2F4F9"/>
                    </a:solidFill>
                  </a:tcPr>
                </a:tc>
                <a:tc>
                  <a:txBody>
                    <a:bodyPr/>
                    <a:lstStyle/>
                    <a:p>
                      <a:pPr algn="l"/>
                      <a:r>
                        <a:rPr sz="1300" b="0">
                          <a:solidFill>
                            <a:srgbClr val="1E293B"/>
                          </a:solidFill>
                          <a:latin typeface="Calibri"/>
                        </a:rPr>
                        <a:t>73</a:t>
                      </a:r>
                    </a:p>
                  </a:txBody>
                  <a:tcPr marT="36576" marB="36576" anchor="ctr">
                    <a:solidFill>
                      <a:srgbClr val="F2F4F9"/>
                    </a:solidFill>
                  </a:tcPr>
                </a:tc>
                <a:tc>
                  <a:txBody>
                    <a:bodyPr/>
                    <a:lstStyle/>
                    <a:p>
                      <a:pPr algn="l"/>
                      <a:r>
                        <a:rPr sz="1300" b="0" dirty="0">
                          <a:solidFill>
                            <a:srgbClr val="1E293B"/>
                          </a:solidFill>
                          <a:latin typeface="Calibri"/>
                        </a:rPr>
                        <a:t>0.145</a:t>
                      </a:r>
                    </a:p>
                  </a:txBody>
                  <a:tcPr marT="36576" marB="36576" anchor="ctr">
                    <a:solidFill>
                      <a:srgbClr val="F2F4F9"/>
                    </a:solidFill>
                  </a:tcPr>
                </a:tc>
                <a:extLst>
                  <a:ext uri="{0D108BD9-81ED-4DB2-BD59-A6C34878D82A}">
                    <a16:rowId xmlns:a16="http://schemas.microsoft.com/office/drawing/2014/main" val="10002"/>
                  </a:ext>
                </a:extLst>
              </a:tr>
              <a:tr h="402336">
                <a:tc>
                  <a:txBody>
                    <a:bodyPr/>
                    <a:lstStyle/>
                    <a:p>
                      <a:pPr algn="l"/>
                      <a:r>
                        <a:rPr sz="1300" b="0">
                          <a:solidFill>
                            <a:srgbClr val="1E293B"/>
                          </a:solidFill>
                          <a:latin typeface="Calibri"/>
                        </a:rPr>
                        <a:t>Challenge eval</a:t>
                      </a:r>
                    </a:p>
                  </a:txBody>
                  <a:tcPr marT="36576" marB="36576" anchor="ctr">
                    <a:solidFill>
                      <a:srgbClr val="FFFFFF"/>
                    </a:solidFill>
                  </a:tcPr>
                </a:tc>
                <a:tc>
                  <a:txBody>
                    <a:bodyPr/>
                    <a:lstStyle/>
                    <a:p>
                      <a:pPr algn="l"/>
                      <a:r>
                        <a:rPr sz="1300" b="0">
                          <a:solidFill>
                            <a:srgbClr val="1E293B"/>
                          </a:solidFill>
                          <a:latin typeface="Calibri"/>
                        </a:rPr>
                        <a:t>GPT-4o-mini</a:t>
                      </a:r>
                    </a:p>
                  </a:txBody>
                  <a:tcPr marT="36576" marB="36576" anchor="ctr">
                    <a:solidFill>
                      <a:srgbClr val="FFFFFF"/>
                    </a:solidFill>
                  </a:tcPr>
                </a:tc>
                <a:tc>
                  <a:txBody>
                    <a:bodyPr/>
                    <a:lstStyle/>
                    <a:p>
                      <a:pPr algn="l"/>
                      <a:r>
                        <a:rPr sz="1300" b="0">
                          <a:solidFill>
                            <a:srgbClr val="1E293B"/>
                          </a:solidFill>
                          <a:latin typeface="Calibri"/>
                        </a:rPr>
                        <a:t>100</a:t>
                      </a:r>
                    </a:p>
                  </a:txBody>
                  <a:tcPr marT="36576" marB="36576" anchor="ctr">
                    <a:solidFill>
                      <a:srgbClr val="FFFFFF"/>
                    </a:solidFill>
                  </a:tcPr>
                </a:tc>
                <a:tc>
                  <a:txBody>
                    <a:bodyPr/>
                    <a:lstStyle/>
                    <a:p>
                      <a:pPr algn="l"/>
                      <a:r>
                        <a:rPr sz="1300" b="0">
                          <a:solidFill>
                            <a:srgbClr val="1E293B"/>
                          </a:solidFill>
                          <a:latin typeface="Calibri"/>
                        </a:rPr>
                        <a:t>28</a:t>
                      </a:r>
                    </a:p>
                  </a:txBody>
                  <a:tcPr marT="36576" marB="36576" anchor="ctr">
                    <a:solidFill>
                      <a:srgbClr val="FFFFFF"/>
                    </a:solidFill>
                  </a:tcPr>
                </a:tc>
                <a:tc>
                  <a:txBody>
                    <a:bodyPr/>
                    <a:lstStyle/>
                    <a:p>
                      <a:pPr algn="l"/>
                      <a:r>
                        <a:rPr sz="1300" b="0">
                          <a:solidFill>
                            <a:srgbClr val="1E293B"/>
                          </a:solidFill>
                          <a:latin typeface="Calibri"/>
                        </a:rPr>
                        <a:t>0.0030</a:t>
                      </a:r>
                    </a:p>
                  </a:txBody>
                  <a:tcPr marT="36576" marB="36576" anchor="ctr">
                    <a:solidFill>
                      <a:srgbClr val="FFFFFF"/>
                    </a:solidFill>
                  </a:tcPr>
                </a:tc>
                <a:extLst>
                  <a:ext uri="{0D108BD9-81ED-4DB2-BD59-A6C34878D82A}">
                    <a16:rowId xmlns:a16="http://schemas.microsoft.com/office/drawing/2014/main" val="10003"/>
                  </a:ext>
                </a:extLst>
              </a:tr>
              <a:tr h="402336">
                <a:tc>
                  <a:txBody>
                    <a:bodyPr/>
                    <a:lstStyle/>
                    <a:p>
                      <a:pPr algn="l"/>
                      <a:r>
                        <a:rPr sz="1300" b="0" dirty="0">
                          <a:solidFill>
                            <a:srgbClr val="1E293B"/>
                          </a:solidFill>
                          <a:latin typeface="Calibri"/>
                        </a:rPr>
                        <a:t>Challenge eval</a:t>
                      </a:r>
                    </a:p>
                  </a:txBody>
                  <a:tcPr marT="36576" marB="36576" anchor="ctr">
                    <a:solidFill>
                      <a:srgbClr val="F2F4F9"/>
                    </a:solidFill>
                  </a:tcPr>
                </a:tc>
                <a:tc>
                  <a:txBody>
                    <a:bodyPr/>
                    <a:lstStyle/>
                    <a:p>
                      <a:pPr algn="l"/>
                      <a:r>
                        <a:rPr sz="1300" b="0">
                          <a:solidFill>
                            <a:srgbClr val="1E293B"/>
                          </a:solidFill>
                          <a:latin typeface="Calibri"/>
                        </a:rPr>
                        <a:t>GPT-4o</a:t>
                      </a:r>
                    </a:p>
                  </a:txBody>
                  <a:tcPr marT="36576" marB="36576" anchor="ctr">
                    <a:solidFill>
                      <a:srgbClr val="F2F4F9"/>
                    </a:solidFill>
                  </a:tcPr>
                </a:tc>
                <a:tc>
                  <a:txBody>
                    <a:bodyPr/>
                    <a:lstStyle/>
                    <a:p>
                      <a:pPr algn="l"/>
                      <a:r>
                        <a:rPr sz="1300" b="0">
                          <a:solidFill>
                            <a:srgbClr val="1E293B"/>
                          </a:solidFill>
                          <a:latin typeface="Calibri"/>
                        </a:rPr>
                        <a:t>100</a:t>
                      </a:r>
                    </a:p>
                  </a:txBody>
                  <a:tcPr marT="36576" marB="36576" anchor="ctr">
                    <a:solidFill>
                      <a:srgbClr val="F2F4F9"/>
                    </a:solidFill>
                  </a:tcPr>
                </a:tc>
                <a:tc>
                  <a:txBody>
                    <a:bodyPr/>
                    <a:lstStyle/>
                    <a:p>
                      <a:pPr algn="l"/>
                      <a:r>
                        <a:rPr sz="1300" b="0" dirty="0">
                          <a:solidFill>
                            <a:srgbClr val="1E293B"/>
                          </a:solidFill>
                          <a:latin typeface="Calibri"/>
                        </a:rPr>
                        <a:t>20</a:t>
                      </a:r>
                    </a:p>
                  </a:txBody>
                  <a:tcPr marT="36576" marB="36576" anchor="ctr">
                    <a:solidFill>
                      <a:srgbClr val="F2F4F9"/>
                    </a:solidFill>
                  </a:tcPr>
                </a:tc>
                <a:tc>
                  <a:txBody>
                    <a:bodyPr/>
                    <a:lstStyle/>
                    <a:p>
                      <a:pPr algn="l"/>
                      <a:r>
                        <a:rPr sz="1300" b="0" dirty="0">
                          <a:solidFill>
                            <a:srgbClr val="1E293B"/>
                          </a:solidFill>
                          <a:latin typeface="Calibri"/>
                        </a:rPr>
                        <a:t>0.050</a:t>
                      </a:r>
                    </a:p>
                  </a:txBody>
                  <a:tcPr marT="36576" marB="36576" anchor="ctr">
                    <a:solidFill>
                      <a:srgbClr val="F2F4F9"/>
                    </a:solidFill>
                  </a:tcPr>
                </a:tc>
                <a:extLst>
                  <a:ext uri="{0D108BD9-81ED-4DB2-BD59-A6C34878D82A}">
                    <a16:rowId xmlns:a16="http://schemas.microsoft.com/office/drawing/2014/main" val="10004"/>
                  </a:ext>
                </a:extLst>
              </a:tr>
              <a:tr h="402336">
                <a:tc>
                  <a:txBody>
                    <a:bodyPr/>
                    <a:lstStyle/>
                    <a:p>
                      <a:pPr algn="l"/>
                      <a:r>
                        <a:rPr sz="1300" b="1" dirty="0">
                          <a:solidFill>
                            <a:srgbClr val="1E293B"/>
                          </a:solidFill>
                          <a:latin typeface="Calibri"/>
                        </a:rPr>
                        <a:t>Unresolved issue rows</a:t>
                      </a:r>
                    </a:p>
                  </a:txBody>
                  <a:tcPr marT="36576" marB="36576" anchor="ctr">
                    <a:solidFill>
                      <a:srgbClr val="FBF3DF"/>
                    </a:solidFill>
                  </a:tcPr>
                </a:tc>
                <a:tc>
                  <a:txBody>
                    <a:bodyPr/>
                    <a:lstStyle/>
                    <a:p>
                      <a:pPr algn="l"/>
                      <a:r>
                        <a:rPr sz="1300" b="0" dirty="0">
                          <a:solidFill>
                            <a:srgbClr val="1E293B"/>
                          </a:solidFill>
                          <a:latin typeface="Calibri"/>
                        </a:rPr>
                        <a:t>GPT-4o</a:t>
                      </a:r>
                    </a:p>
                  </a:txBody>
                  <a:tcPr marT="36576" marB="36576" anchor="ctr">
                    <a:solidFill>
                      <a:srgbClr val="FBF3DF"/>
                    </a:solidFill>
                  </a:tcPr>
                </a:tc>
                <a:tc>
                  <a:txBody>
                    <a:bodyPr/>
                    <a:lstStyle/>
                    <a:p>
                      <a:pPr algn="l"/>
                      <a:r>
                        <a:rPr sz="1300" b="0">
                          <a:solidFill>
                            <a:srgbClr val="1E293B"/>
                          </a:solidFill>
                          <a:latin typeface="Calibri"/>
                        </a:rPr>
                        <a:t>12,497</a:t>
                      </a:r>
                    </a:p>
                  </a:txBody>
                  <a:tcPr marT="36576" marB="36576" anchor="ctr">
                    <a:solidFill>
                      <a:srgbClr val="FBF3DF"/>
                    </a:solidFill>
                  </a:tcPr>
                </a:tc>
                <a:tc>
                  <a:txBody>
                    <a:bodyPr/>
                    <a:lstStyle/>
                    <a:p>
                      <a:pPr algn="l"/>
                      <a:r>
                        <a:rPr sz="1300" b="0">
                          <a:solidFill>
                            <a:srgbClr val="1E293B"/>
                          </a:solidFill>
                          <a:latin typeface="Calibri"/>
                        </a:rPr>
                        <a:t>2,445</a:t>
                      </a:r>
                    </a:p>
                  </a:txBody>
                  <a:tcPr marT="36576" marB="36576" anchor="ctr">
                    <a:solidFill>
                      <a:srgbClr val="FBF3DF"/>
                    </a:solidFill>
                  </a:tcPr>
                </a:tc>
                <a:tc>
                  <a:txBody>
                    <a:bodyPr/>
                    <a:lstStyle/>
                    <a:p>
                      <a:pPr algn="l"/>
                      <a:r>
                        <a:rPr sz="1300" b="0" dirty="0">
                          <a:solidFill>
                            <a:srgbClr val="1E293B"/>
                          </a:solidFill>
                          <a:latin typeface="Calibri"/>
                        </a:rPr>
                        <a:t>4.80</a:t>
                      </a:r>
                    </a:p>
                  </a:txBody>
                  <a:tcPr marT="36576" marB="36576" anchor="ctr">
                    <a:solidFill>
                      <a:srgbClr val="FBF3DF"/>
                    </a:solidFill>
                  </a:tcPr>
                </a:tc>
                <a:extLst>
                  <a:ext uri="{0D108BD9-81ED-4DB2-BD59-A6C34878D82A}">
                    <a16:rowId xmlns:a16="http://schemas.microsoft.com/office/drawing/2014/main" val="10005"/>
                  </a:ext>
                </a:extLst>
              </a:tr>
              <a:tr h="402336">
                <a:tc>
                  <a:txBody>
                    <a:bodyPr/>
                    <a:lstStyle/>
                    <a:p>
                      <a:pPr algn="l"/>
                      <a:r>
                        <a:rPr sz="1300" b="1" dirty="0">
                          <a:solidFill>
                            <a:srgbClr val="1E293B"/>
                          </a:solidFill>
                          <a:latin typeface="Calibri"/>
                        </a:rPr>
                        <a:t>All-post sentiment</a:t>
                      </a:r>
                    </a:p>
                  </a:txBody>
                  <a:tcPr marT="36576" marB="36576" anchor="ctr">
                    <a:solidFill>
                      <a:srgbClr val="FBF3DF"/>
                    </a:solidFill>
                  </a:tcPr>
                </a:tc>
                <a:tc>
                  <a:txBody>
                    <a:bodyPr/>
                    <a:lstStyle/>
                    <a:p>
                      <a:pPr algn="l"/>
                      <a:r>
                        <a:rPr sz="1300" b="0">
                          <a:solidFill>
                            <a:srgbClr val="1E293B"/>
                          </a:solidFill>
                          <a:latin typeface="Calibri"/>
                        </a:rPr>
                        <a:t>GPT-4o-mini</a:t>
                      </a:r>
                    </a:p>
                  </a:txBody>
                  <a:tcPr marT="36576" marB="36576" anchor="ctr">
                    <a:solidFill>
                      <a:srgbClr val="FBF3DF"/>
                    </a:solidFill>
                  </a:tcPr>
                </a:tc>
                <a:tc>
                  <a:txBody>
                    <a:bodyPr/>
                    <a:lstStyle/>
                    <a:p>
                      <a:pPr algn="l"/>
                      <a:r>
                        <a:rPr sz="1300" b="0">
                          <a:solidFill>
                            <a:srgbClr val="1E293B"/>
                          </a:solidFill>
                          <a:latin typeface="Calibri"/>
                        </a:rPr>
                        <a:t>9,162</a:t>
                      </a:r>
                    </a:p>
                  </a:txBody>
                  <a:tcPr marT="36576" marB="36576" anchor="ctr">
                    <a:solidFill>
                      <a:srgbClr val="FBF3DF"/>
                    </a:solidFill>
                  </a:tcPr>
                </a:tc>
                <a:tc>
                  <a:txBody>
                    <a:bodyPr/>
                    <a:lstStyle/>
                    <a:p>
                      <a:pPr algn="l"/>
                      <a:r>
                        <a:rPr sz="1300" b="0">
                          <a:solidFill>
                            <a:srgbClr val="1E293B"/>
                          </a:solidFill>
                          <a:latin typeface="Calibri"/>
                        </a:rPr>
                        <a:t>—</a:t>
                      </a:r>
                    </a:p>
                  </a:txBody>
                  <a:tcPr marT="36576" marB="36576" anchor="ctr">
                    <a:solidFill>
                      <a:srgbClr val="FBF3DF"/>
                    </a:solidFill>
                  </a:tcPr>
                </a:tc>
                <a:tc>
                  <a:txBody>
                    <a:bodyPr/>
                    <a:lstStyle/>
                    <a:p>
                      <a:pPr algn="l"/>
                      <a:r>
                        <a:rPr sz="1300" b="0" dirty="0">
                          <a:solidFill>
                            <a:srgbClr val="1E293B"/>
                          </a:solidFill>
                          <a:latin typeface="Calibri"/>
                        </a:rPr>
                        <a:t>0.28</a:t>
                      </a:r>
                    </a:p>
                  </a:txBody>
                  <a:tcPr marT="36576" marB="36576" anchor="ctr">
                    <a:solidFill>
                      <a:srgbClr val="FBF3DF"/>
                    </a:solidFill>
                  </a:tcPr>
                </a:tc>
                <a:extLst>
                  <a:ext uri="{0D108BD9-81ED-4DB2-BD59-A6C34878D82A}">
                    <a16:rowId xmlns:a16="http://schemas.microsoft.com/office/drawing/2014/main" val="10006"/>
                  </a:ext>
                </a:extLst>
              </a:tr>
              <a:tr h="402336">
                <a:tc>
                  <a:txBody>
                    <a:bodyPr/>
                    <a:lstStyle/>
                    <a:p>
                      <a:pPr algn="l">
                        <a:buNone/>
                      </a:pPr>
                      <a:r>
                        <a:rPr lang="en-US" sz="1300" b="1" dirty="0">
                          <a:solidFill>
                            <a:srgbClr val="1E293B"/>
                          </a:solidFill>
                          <a:latin typeface="Calibri"/>
                        </a:rPr>
                        <a:t>  Finished jobs</a:t>
                      </a:r>
                    </a:p>
                  </a:txBody>
                  <a:tcPr marL="19050" marR="19050" marT="19050" marB="19050" anchor="ctr">
                    <a:solidFill>
                      <a:schemeClr val="tx2">
                        <a:lumMod val="10000"/>
                        <a:lumOff val="90000"/>
                      </a:schemeClr>
                    </a:solidFill>
                  </a:tcPr>
                </a:tc>
                <a:tc>
                  <a:txBody>
                    <a:bodyPr/>
                    <a:lstStyle/>
                    <a:p>
                      <a:pPr algn="l">
                        <a:buNone/>
                      </a:pPr>
                      <a:endParaRPr lang="en-US" sz="1300" b="1" dirty="0">
                        <a:solidFill>
                          <a:srgbClr val="1E293B"/>
                        </a:solidFill>
                        <a:latin typeface="Calibri"/>
                      </a:endParaRPr>
                    </a:p>
                  </a:txBody>
                  <a:tcPr marL="19050" marR="19050" marT="19050" marB="19050" anchor="ctr">
                    <a:solidFill>
                      <a:schemeClr val="tx2">
                        <a:lumMod val="10000"/>
                        <a:lumOff val="90000"/>
                      </a:schemeClr>
                    </a:solidFill>
                  </a:tcPr>
                </a:tc>
                <a:tc>
                  <a:txBody>
                    <a:bodyPr/>
                    <a:lstStyle/>
                    <a:p>
                      <a:pPr algn="l"/>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buNone/>
                      </a:pPr>
                      <a:r>
                        <a:rPr lang="en-US" sz="1300" b="1" dirty="0">
                          <a:solidFill>
                            <a:srgbClr val="1E293B"/>
                          </a:solidFill>
                          <a:latin typeface="Calibri"/>
                        </a:rPr>
                        <a:t>≈ $5.30</a:t>
                      </a:r>
                    </a:p>
                  </a:txBody>
                  <a:tcPr marL="19050" marR="19050" marT="19050" marB="19050" anchor="ctr">
                    <a:solidFill>
                      <a:schemeClr val="tx2">
                        <a:lumMod val="10000"/>
                        <a:lumOff val="90000"/>
                      </a:schemeClr>
                    </a:solidFill>
                  </a:tcPr>
                </a:tc>
                <a:extLst>
                  <a:ext uri="{0D108BD9-81ED-4DB2-BD59-A6C34878D82A}">
                    <a16:rowId xmlns:a16="http://schemas.microsoft.com/office/drawing/2014/main" val="2175109135"/>
                  </a:ext>
                </a:extLst>
              </a:tr>
              <a:tr h="402336">
                <a:tc gridSpan="4">
                  <a:txBody>
                    <a:bodyPr/>
                    <a:lstStyle/>
                    <a:p>
                      <a:pPr algn="l">
                        <a:buNone/>
                      </a:pPr>
                      <a:r>
                        <a:rPr lang="en-US" sz="1300" b="0" dirty="0">
                          <a:solidFill>
                            <a:srgbClr val="1E293B"/>
                          </a:solidFill>
                          <a:latin typeface="Calibri"/>
                        </a:rPr>
                        <a:t>  Not in the table: discarded first pass that sent Reddit posts without thread titles</a:t>
                      </a:r>
                    </a:p>
                  </a:txBody>
                  <a:tcPr marL="19050" marR="19050" marT="19050" marB="19050" anchor="ctr">
                    <a:noFill/>
                  </a:tcPr>
                </a:tc>
                <a:tc hMerge="1">
                  <a:txBody>
                    <a:bodyPr/>
                    <a:lstStyle/>
                    <a:p>
                      <a:pPr algn="l">
                        <a:buNone/>
                      </a:pPr>
                      <a:endParaRPr lang="en-US" sz="1300" b="1" dirty="0">
                        <a:solidFill>
                          <a:srgbClr val="1E293B"/>
                        </a:solidFill>
                        <a:latin typeface="Calibri"/>
                      </a:endParaRPr>
                    </a:p>
                  </a:txBody>
                  <a:tcPr marL="19050" marR="19050" marT="19050" marB="19050" anchor="ctr">
                    <a:solidFill>
                      <a:srgbClr val="FBF3DF"/>
                    </a:solidFill>
                  </a:tcPr>
                </a:tc>
                <a:tc hMerge="1">
                  <a:txBody>
                    <a:bodyPr/>
                    <a:lstStyle/>
                    <a:p>
                      <a:pPr algn="l"/>
                      <a:endParaRPr sz="1300" b="1" dirty="0">
                        <a:solidFill>
                          <a:srgbClr val="1E293B"/>
                        </a:solidFill>
                        <a:latin typeface="Calibri"/>
                      </a:endParaRPr>
                    </a:p>
                  </a:txBody>
                  <a:tcPr marT="36576" marB="36576" anchor="ctr">
                    <a:solidFill>
                      <a:srgbClr val="FBF3DF"/>
                    </a:solidFill>
                  </a:tcPr>
                </a:tc>
                <a:tc hMerge="1">
                  <a:txBody>
                    <a:bodyPr/>
                    <a:lstStyle/>
                    <a:p>
                      <a:pPr algn="l"/>
                      <a:endParaRPr sz="1300" b="1" dirty="0">
                        <a:solidFill>
                          <a:srgbClr val="1E293B"/>
                        </a:solidFill>
                        <a:latin typeface="Calibri"/>
                      </a:endParaRPr>
                    </a:p>
                  </a:txBody>
                  <a:tcPr marT="36576" marB="36576" anchor="ctr">
                    <a:solidFill>
                      <a:srgbClr val="FBF3DF"/>
                    </a:solidFill>
                  </a:tcPr>
                </a:tc>
                <a:tc>
                  <a:txBody>
                    <a:bodyPr/>
                    <a:lstStyle/>
                    <a:p>
                      <a:pPr algn="l">
                        <a:buNone/>
                      </a:pPr>
                      <a:r>
                        <a:rPr lang="en-US" sz="1300" b="1" dirty="0">
                          <a:solidFill>
                            <a:srgbClr val="1E293B"/>
                          </a:solidFill>
                          <a:latin typeface="Calibri"/>
                        </a:rPr>
                        <a:t>1.15</a:t>
                      </a:r>
                    </a:p>
                  </a:txBody>
                  <a:tcPr marL="19050" marR="19050" marT="19050" marB="19050" anchor="ctr">
                    <a:noFill/>
                  </a:tcPr>
                </a:tc>
                <a:extLst>
                  <a:ext uri="{0D108BD9-81ED-4DB2-BD59-A6C34878D82A}">
                    <a16:rowId xmlns:a16="http://schemas.microsoft.com/office/drawing/2014/main" val="1362964514"/>
                  </a:ext>
                </a:extLst>
              </a:tr>
              <a:tr h="402336">
                <a:tc>
                  <a:txBody>
                    <a:bodyPr/>
                    <a:lstStyle/>
                    <a:p>
                      <a:pPr algn="l">
                        <a:buNone/>
                      </a:pPr>
                      <a:r>
                        <a:rPr lang="en-US" sz="1300" b="1" dirty="0">
                          <a:solidFill>
                            <a:srgbClr val="1E293B"/>
                          </a:solidFill>
                          <a:latin typeface="Calibri"/>
                        </a:rPr>
                        <a:t>  Total</a:t>
                      </a:r>
                    </a:p>
                  </a:txBody>
                  <a:tcPr marL="19050" marR="19050" marT="19050" marB="19050" anchor="ctr">
                    <a:solidFill>
                      <a:schemeClr val="tx2">
                        <a:lumMod val="10000"/>
                        <a:lumOff val="90000"/>
                      </a:schemeClr>
                    </a:solidFill>
                  </a:tcPr>
                </a:tc>
                <a:tc>
                  <a:txBody>
                    <a:bodyPr/>
                    <a:lstStyle/>
                    <a:p>
                      <a:pPr algn="l">
                        <a:buNone/>
                      </a:pPr>
                      <a:endParaRPr lang="en-US" sz="1300" b="1" dirty="0">
                        <a:solidFill>
                          <a:srgbClr val="1E293B"/>
                        </a:solidFill>
                        <a:latin typeface="Calibri"/>
                      </a:endParaRPr>
                    </a:p>
                  </a:txBody>
                  <a:tcPr marL="19050" marR="19050" marT="19050" marB="19050" anchor="ctr">
                    <a:solidFill>
                      <a:schemeClr val="tx2">
                        <a:lumMod val="10000"/>
                        <a:lumOff val="90000"/>
                      </a:schemeClr>
                    </a:solidFill>
                  </a:tcPr>
                </a:tc>
                <a:tc>
                  <a:txBody>
                    <a:bodyPr/>
                    <a:lstStyle/>
                    <a:p>
                      <a:pPr algn="l"/>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r>
                        <a:rPr lang="en-US" sz="1300" b="1" dirty="0">
                          <a:solidFill>
                            <a:srgbClr val="1E293B"/>
                          </a:solidFill>
                          <a:latin typeface="Calibri"/>
                        </a:rPr>
                        <a:t> </a:t>
                      </a:r>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buNone/>
                      </a:pPr>
                      <a:r>
                        <a:rPr lang="en-US" sz="1300" b="1" dirty="0">
                          <a:solidFill>
                            <a:srgbClr val="1E293B"/>
                          </a:solidFill>
                          <a:latin typeface="Calibri"/>
                        </a:rPr>
                        <a:t>≈ $6.50</a:t>
                      </a:r>
                    </a:p>
                  </a:txBody>
                  <a:tcPr marL="19050" marR="19050" marT="19050" marB="19050" anchor="ctr">
                    <a:solidFill>
                      <a:schemeClr val="tx2">
                        <a:lumMod val="10000"/>
                        <a:lumOff val="90000"/>
                      </a:schemeClr>
                    </a:solidFill>
                  </a:tcPr>
                </a:tc>
                <a:extLst>
                  <a:ext uri="{0D108BD9-81ED-4DB2-BD59-A6C34878D82A}">
                    <a16:rowId xmlns:a16="http://schemas.microsoft.com/office/drawing/2014/main" val="3714867580"/>
                  </a:ext>
                </a:extLst>
              </a:tr>
            </a:tbl>
          </a:graphicData>
        </a:graphic>
      </p:graphicFrame>
      <p:sp>
        <p:nvSpPr>
          <p:cNvPr id="7" name="TextBox 6"/>
          <p:cNvSpPr txBox="1"/>
          <p:nvPr/>
        </p:nvSpPr>
        <p:spPr>
          <a:xfrm>
            <a:off x="4206240" y="6126480"/>
            <a:ext cx="7434072" cy="73152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Per post: GPT-4o ≈ $0.0005, GPT-4o-mini ≈ $0.00003. VADER and rules: free, under 0.3 s.</a:t>
            </a:r>
          </a:p>
        </p:txBody>
      </p:sp>
      <p:sp>
        <p:nvSpPr>
          <p:cNvPr id="8" name="TextBox 7">
            <a:extLst>
              <a:ext uri="{FF2B5EF4-FFF2-40B4-BE49-F238E27FC236}">
                <a16:creationId xmlns:a16="http://schemas.microsoft.com/office/drawing/2014/main" id="{A18F848E-0CED-338A-7CB3-965123C2562B}"/>
              </a:ext>
            </a:extLst>
          </p:cNvPr>
          <p:cNvSpPr txBox="1"/>
          <p:nvPr/>
        </p:nvSpPr>
        <p:spPr>
          <a:xfrm>
            <a:off x="548640" y="2933392"/>
            <a:ext cx="3291840" cy="762000"/>
          </a:xfrm>
          <a:prstGeom prst="rect">
            <a:avLst/>
          </a:prstGeom>
          <a:noFill/>
        </p:spPr>
        <p:txBody>
          <a:bodyPr wrap="square" lIns="0" tIns="0" rIns="0" bIns="0" anchor="t">
            <a:spAutoFit/>
          </a:bodyPr>
          <a:lstStyle/>
          <a:p>
            <a:pPr algn="l">
              <a:spcAft>
                <a:spcPts val="600"/>
              </a:spcAft>
            </a:pPr>
            <a:r>
              <a:rPr sz="5000" b="1" i="0" dirty="0">
                <a:solidFill>
                  <a:srgbClr val="1C2E6E"/>
                </a:solidFill>
                <a:latin typeface="Calibri"/>
              </a:rPr>
              <a:t>$</a:t>
            </a:r>
            <a:r>
              <a:rPr lang="en-US" sz="5000" b="1" i="0" dirty="0">
                <a:solidFill>
                  <a:srgbClr val="1C2E6E"/>
                </a:solidFill>
                <a:latin typeface="Calibri"/>
              </a:rPr>
              <a:t>4.80</a:t>
            </a:r>
            <a:endParaRPr sz="5000" b="1" i="0" dirty="0">
              <a:solidFill>
                <a:srgbClr val="1C2E6E"/>
              </a:solidFill>
              <a:latin typeface="Calibri"/>
            </a:endParaRPr>
          </a:p>
        </p:txBody>
      </p:sp>
      <p:sp>
        <p:nvSpPr>
          <p:cNvPr id="9" name="TextBox 8">
            <a:extLst>
              <a:ext uri="{FF2B5EF4-FFF2-40B4-BE49-F238E27FC236}">
                <a16:creationId xmlns:a16="http://schemas.microsoft.com/office/drawing/2014/main" id="{AFAD9DA4-DB80-F2F4-F35E-9E39D5C074B9}"/>
              </a:ext>
            </a:extLst>
          </p:cNvPr>
          <p:cNvSpPr txBox="1"/>
          <p:nvPr/>
        </p:nvSpPr>
        <p:spPr>
          <a:xfrm>
            <a:off x="548640" y="3695392"/>
            <a:ext cx="3291840" cy="230832"/>
          </a:xfrm>
          <a:prstGeom prst="rect">
            <a:avLst/>
          </a:prstGeom>
          <a:noFill/>
        </p:spPr>
        <p:txBody>
          <a:bodyPr wrap="square" lIns="0" tIns="0" rIns="0" bIns="0" anchor="t">
            <a:spAutoFit/>
          </a:bodyPr>
          <a:lstStyle/>
          <a:p>
            <a:pPr algn="l">
              <a:spcAft>
                <a:spcPts val="600"/>
              </a:spcAft>
            </a:pPr>
            <a:r>
              <a:rPr sz="1500" b="1" i="0" dirty="0">
                <a:solidFill>
                  <a:srgbClr val="5B6475"/>
                </a:solidFill>
                <a:latin typeface="Calibri"/>
              </a:rPr>
              <a:t>GPT-4o</a:t>
            </a:r>
            <a:r>
              <a:rPr lang="en-US" sz="1500" b="1" i="0" dirty="0">
                <a:solidFill>
                  <a:srgbClr val="5B6475"/>
                </a:solidFill>
                <a:latin typeface="Calibri"/>
              </a:rPr>
              <a:t> </a:t>
            </a:r>
            <a:r>
              <a:rPr sz="1500" b="0" i="0" dirty="0">
                <a:solidFill>
                  <a:srgbClr val="5B6475"/>
                </a:solidFill>
                <a:latin typeface="Calibri"/>
              </a:rPr>
              <a:t>on </a:t>
            </a:r>
            <a:r>
              <a:rPr lang="en-US" sz="1500" b="0" i="0" dirty="0">
                <a:solidFill>
                  <a:srgbClr val="5B6475"/>
                </a:solidFill>
                <a:latin typeface="Calibri"/>
              </a:rPr>
              <a:t>unresolved issue rows</a:t>
            </a:r>
            <a:endParaRPr sz="1500" b="0" i="0" dirty="0">
              <a:solidFill>
                <a:srgbClr val="5B6475"/>
              </a:solidFill>
              <a:latin typeface="Calibri"/>
            </a:endParaRPr>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D</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Findings</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What the labelled data says</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5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82191"/>
            <a:ext cx="6840000" cy="614014"/>
          </a:xfrm>
          <a:prstGeom prst="rect">
            <a:avLst/>
          </a:prstGeom>
          <a:noFill/>
        </p:spPr>
        <p:txBody>
          <a:bodyPr wrap="square" lIns="0" tIns="0" rIns="0" bIns="0" anchor="ctr">
            <a:spAutoFit/>
          </a:bodyPr>
          <a:lstStyle/>
          <a:p>
            <a:pPr>
              <a:lnSpc>
                <a:spcPct val="95000"/>
              </a:lnSpc>
            </a:pPr>
            <a:r>
              <a:rPr lang="en-US" sz="2400" b="1" i="0" dirty="0">
                <a:solidFill>
                  <a:srgbClr val="1C2E6E"/>
                </a:solidFill>
                <a:latin typeface="Calibri"/>
              </a:rPr>
              <a:t>RQ1 Which sentiment and issue themes appear most?</a:t>
            </a:r>
          </a:p>
          <a:p>
            <a:pPr algn="l">
              <a:lnSpc>
                <a:spcPct val="95000"/>
              </a:lnSpc>
              <a:spcAft>
                <a:spcPts val="0"/>
              </a:spcAft>
            </a:pPr>
            <a:r>
              <a:rPr b="1" i="0" dirty="0">
                <a:solidFill>
                  <a:srgbClr val="1C2E6E"/>
                </a:solidFill>
                <a:latin typeface="Calibri"/>
              </a:rPr>
              <a:t>GPT-4o moved 1,887 posts out of General Discussion</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21</a:t>
            </a:r>
          </a:p>
        </p:txBody>
      </p:sp>
      <p:graphicFrame>
        <p:nvGraphicFramePr>
          <p:cNvPr id="4" name="Chart 3"/>
          <p:cNvGraphicFramePr>
            <a:graphicFrameLocks noGrp="1"/>
          </p:cNvGraphicFramePr>
          <p:nvPr/>
        </p:nvGraphicFramePr>
        <p:xfrm>
          <a:off x="548640" y="1600200"/>
          <a:ext cx="7498079"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8321040" y="1828800"/>
            <a:ext cx="3319272" cy="4206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49640" y="2011680"/>
            <a:ext cx="28620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Read with care</a:t>
            </a:r>
          </a:p>
        </p:txBody>
      </p:sp>
      <p:sp>
        <p:nvSpPr>
          <p:cNvPr id="7" name="TextBox 6"/>
          <p:cNvSpPr txBox="1"/>
          <p:nvPr/>
        </p:nvSpPr>
        <p:spPr>
          <a:xfrm>
            <a:off x="8549640" y="2395728"/>
            <a:ext cx="2862072" cy="769441"/>
          </a:xfrm>
          <a:prstGeom prst="rect">
            <a:avLst/>
          </a:prstGeom>
          <a:noFill/>
        </p:spPr>
        <p:txBody>
          <a:bodyPr wrap="square" lIns="0" tIns="0" rIns="0" bIns="0" anchor="t">
            <a:spAutoFit/>
          </a:bodyPr>
          <a:lstStyle/>
          <a:p>
            <a:pPr algn="l">
              <a:spcAft>
                <a:spcPts val="600"/>
              </a:spcAft>
            </a:pPr>
            <a:r>
              <a:rPr sz="1500" b="0" i="0" dirty="0">
                <a:solidFill>
                  <a:srgbClr val="1E293B"/>
                </a:solidFill>
                <a:latin typeface="Calibri"/>
              </a:rPr>
              <a:t>35% of posts had no rule match.</a:t>
            </a:r>
          </a:p>
          <a:p>
            <a:pPr algn="l">
              <a:spcAft>
                <a:spcPts val="600"/>
              </a:spcAft>
            </a:pPr>
            <a:r>
              <a:rPr sz="1500" b="0" i="0" dirty="0">
                <a:solidFill>
                  <a:srgbClr val="1E293B"/>
                </a:solidFill>
                <a:latin typeface="Calibri"/>
              </a:rPr>
              <a:t>Most reassigned posts became Network Quality (+995).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82191"/>
            <a:ext cx="6840000" cy="614014"/>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RQ1 Which sentiment and issue themes appear most?</a:t>
            </a:r>
            <a:endParaRPr lang="en-US" sz="2400" b="1" i="0" dirty="0">
              <a:solidFill>
                <a:srgbClr val="1C2E6E"/>
              </a:solidFill>
              <a:latin typeface="Calibri"/>
            </a:endParaRPr>
          </a:p>
          <a:p>
            <a:pPr algn="l">
              <a:lnSpc>
                <a:spcPct val="95000"/>
              </a:lnSpc>
              <a:spcAft>
                <a:spcPts val="0"/>
              </a:spcAft>
            </a:pPr>
            <a:r>
              <a:rPr b="1" i="0" dirty="0">
                <a:solidFill>
                  <a:srgbClr val="1C2E6E"/>
                </a:solidFill>
                <a:latin typeface="Calibri"/>
              </a:rPr>
              <a:t>Two in five posts are not happy, and VADER hides it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22</a:t>
            </a:r>
          </a:p>
        </p:txBody>
      </p:sp>
      <p:graphicFrame>
        <p:nvGraphicFramePr>
          <p:cNvPr id="4" name="Chart 3"/>
          <p:cNvGraphicFramePr>
            <a:graphicFrameLocks noGrp="1"/>
          </p:cNvGraphicFramePr>
          <p:nvPr/>
        </p:nvGraphicFramePr>
        <p:xfrm>
          <a:off x="548640" y="1600200"/>
          <a:ext cx="69494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6053328"/>
            <a:ext cx="6949440" cy="32004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Shares in %; corpus n = 9,162, gold n = 295 (representative set)</a:t>
            </a:r>
          </a:p>
        </p:txBody>
      </p:sp>
      <p:sp>
        <p:nvSpPr>
          <p:cNvPr id="6" name="TextBox 5"/>
          <p:cNvSpPr txBox="1"/>
          <p:nvPr/>
        </p:nvSpPr>
        <p:spPr>
          <a:xfrm>
            <a:off x="7863840" y="1737360"/>
            <a:ext cx="3749039" cy="457200"/>
          </a:xfrm>
          <a:prstGeom prst="rect">
            <a:avLst/>
          </a:prstGeom>
          <a:noFill/>
        </p:spPr>
        <p:txBody>
          <a:bodyPr wrap="square" lIns="0" tIns="0" rIns="0" bIns="0" anchor="t">
            <a:spAutoFit/>
          </a:bodyPr>
          <a:lstStyle/>
          <a:p>
            <a:pPr algn="l">
              <a:spcAft>
                <a:spcPts val="600"/>
              </a:spcAft>
            </a:pPr>
            <a:r>
              <a:rPr sz="3000" b="1" i="0">
                <a:solidFill>
                  <a:srgbClr val="1C2E6E"/>
                </a:solidFill>
                <a:latin typeface="Calibri"/>
              </a:rPr>
              <a:t>44% → 42% → 40%</a:t>
            </a:r>
          </a:p>
        </p:txBody>
      </p:sp>
      <p:sp>
        <p:nvSpPr>
          <p:cNvPr id="7" name="TextBox 6"/>
          <p:cNvSpPr txBox="1"/>
          <p:nvPr/>
        </p:nvSpPr>
        <p:spPr>
          <a:xfrm>
            <a:off x="7863840" y="2240280"/>
            <a:ext cx="3749039" cy="822960"/>
          </a:xfrm>
          <a:prstGeom prst="rect">
            <a:avLst/>
          </a:prstGeom>
          <a:noFill/>
        </p:spPr>
        <p:txBody>
          <a:bodyPr wrap="square" lIns="0" tIns="0" rIns="0" bIns="0" anchor="t">
            <a:spAutoFit/>
          </a:bodyPr>
          <a:lstStyle/>
          <a:p>
            <a:pPr algn="l">
              <a:spcAft>
                <a:spcPts val="600"/>
              </a:spcAft>
            </a:pPr>
            <a:r>
              <a:rPr sz="1500" b="0" i="0" dirty="0">
                <a:solidFill>
                  <a:srgbClr val="5B6475"/>
                </a:solidFill>
                <a:latin typeface="Calibri"/>
              </a:rPr>
              <a:t>not happy: per post, per thread, outside outages</a:t>
            </a:r>
          </a:p>
        </p:txBody>
      </p:sp>
      <p:sp>
        <p:nvSpPr>
          <p:cNvPr id="8" name="Rounded Rectangle 7"/>
          <p:cNvSpPr/>
          <p:nvPr/>
        </p:nvSpPr>
        <p:spPr>
          <a:xfrm>
            <a:off x="7863840" y="3657600"/>
            <a:ext cx="3776472" cy="23317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92440" y="3840480"/>
            <a:ext cx="33192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VADER reverses it</a:t>
            </a:r>
          </a:p>
        </p:txBody>
      </p:sp>
      <p:sp>
        <p:nvSpPr>
          <p:cNvPr id="10" name="TextBox 9"/>
          <p:cNvSpPr txBox="1"/>
          <p:nvPr/>
        </p:nvSpPr>
        <p:spPr>
          <a:xfrm>
            <a:off x="8092440" y="4224528"/>
            <a:ext cx="3319272" cy="1600199"/>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Of 4,180 posts VADER calls happy, GPT-4o-mini reads 1,480 as not happy and 1,538 as neutral.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5496" y="406721"/>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RQ2 How do Reddit vs HWZ and the brands differ?</a:t>
            </a:r>
            <a:endParaRPr lang="en-US" sz="2400" b="1" i="0" dirty="0">
              <a:solidFill>
                <a:srgbClr val="1C2E6E"/>
              </a:solidFill>
              <a:latin typeface="Calibri"/>
            </a:endParaRPr>
          </a:p>
          <a:p>
            <a:pPr algn="l">
              <a:lnSpc>
                <a:spcPct val="95000"/>
              </a:lnSpc>
              <a:spcAft>
                <a:spcPts val="0"/>
              </a:spcAft>
            </a:pPr>
            <a:r>
              <a:rPr sz="2000" b="1" i="0" dirty="0">
                <a:solidFill>
                  <a:srgbClr val="1C2E6E"/>
                </a:solidFill>
                <a:latin typeface="Calibri"/>
              </a:rPr>
              <a:t>Case study: one outage</a:t>
            </a:r>
            <a:r>
              <a:rPr lang="en-US" sz="2000" b="1" i="0" dirty="0">
                <a:solidFill>
                  <a:srgbClr val="1C2E6E"/>
                </a:solidFill>
                <a:latin typeface="Calibri"/>
              </a:rPr>
              <a:t>(Mar Singtel)</a:t>
            </a:r>
            <a:r>
              <a:rPr sz="2000" b="1" i="0" dirty="0">
                <a:solidFill>
                  <a:srgbClr val="1C2E6E"/>
                </a:solidFill>
                <a:latin typeface="Calibri"/>
              </a:rPr>
              <a:t> distorted every number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24</a:t>
            </a:r>
          </a:p>
        </p:txBody>
      </p:sp>
      <p:graphicFrame>
        <p:nvGraphicFramePr>
          <p:cNvPr id="4" name="Table 3"/>
          <p:cNvGraphicFramePr>
            <a:graphicFrameLocks noGrp="1"/>
          </p:cNvGraphicFramePr>
          <p:nvPr>
            <p:extLst>
              <p:ext uri="{D42A27DB-BD31-4B8C-83A1-F6EECF244321}">
                <p14:modId xmlns:p14="http://schemas.microsoft.com/office/powerpoint/2010/main" val="2255072012"/>
              </p:ext>
            </p:extLst>
          </p:nvPr>
        </p:nvGraphicFramePr>
        <p:xfrm>
          <a:off x="548640" y="1691640"/>
          <a:ext cx="6949440" cy="340156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566928">
                <a:tc>
                  <a:txBody>
                    <a:bodyPr/>
                    <a:lstStyle/>
                    <a:p>
                      <a:pPr algn="l"/>
                      <a:endParaRPr/>
                    </a:p>
                  </a:txBody>
                  <a:tcPr marT="36576" marB="36576" anchor="ctr">
                    <a:solidFill>
                      <a:srgbClr val="1C2E6E"/>
                    </a:solidFill>
                  </a:tcPr>
                </a:tc>
                <a:tc>
                  <a:txBody>
                    <a:bodyPr/>
                    <a:lstStyle/>
                    <a:p>
                      <a:pPr algn="l"/>
                      <a:r>
                        <a:rPr sz="1500" b="1">
                          <a:solidFill>
                            <a:srgbClr val="FFFFFF"/>
                          </a:solidFill>
                          <a:latin typeface="Calibri"/>
                        </a:rPr>
                        <a:t>Outage threads</a:t>
                      </a:r>
                    </a:p>
                  </a:txBody>
                  <a:tcPr marT="36576" marB="36576" anchor="ctr">
                    <a:solidFill>
                      <a:srgbClr val="1C2E6E"/>
                    </a:solidFill>
                  </a:tcPr>
                </a:tc>
                <a:tc>
                  <a:txBody>
                    <a:bodyPr/>
                    <a:lstStyle/>
                    <a:p>
                      <a:pPr algn="l"/>
                      <a:r>
                        <a:rPr sz="1500" b="1" dirty="0">
                          <a:solidFill>
                            <a:srgbClr val="FFFFFF"/>
                          </a:solidFill>
                          <a:latin typeface="Calibri"/>
                        </a:rPr>
                        <a:t>All other threads</a:t>
                      </a:r>
                      <a:r>
                        <a:rPr lang="en-US" sz="1500" b="1" dirty="0">
                          <a:solidFill>
                            <a:srgbClr val="FFFFFF"/>
                          </a:solidFill>
                          <a:latin typeface="Calibri"/>
                        </a:rPr>
                        <a:t>(BM)</a:t>
                      </a:r>
                      <a:endParaRPr sz="1500" b="1" dirty="0">
                        <a:solidFill>
                          <a:srgbClr val="FFFFFF"/>
                        </a:solidFill>
                        <a:latin typeface="Calibri"/>
                      </a:endParaRPr>
                    </a:p>
                  </a:txBody>
                  <a:tcPr marT="36576" marB="36576" anchor="ctr">
                    <a:solidFill>
                      <a:srgbClr val="1C2E6E"/>
                    </a:solidFill>
                  </a:tcPr>
                </a:tc>
                <a:extLst>
                  <a:ext uri="{0D108BD9-81ED-4DB2-BD59-A6C34878D82A}">
                    <a16:rowId xmlns:a16="http://schemas.microsoft.com/office/drawing/2014/main" val="10000"/>
                  </a:ext>
                </a:extLst>
              </a:tr>
              <a:tr h="566928">
                <a:tc>
                  <a:txBody>
                    <a:bodyPr/>
                    <a:lstStyle/>
                    <a:p>
                      <a:pPr algn="l"/>
                      <a:r>
                        <a:rPr sz="1500" b="0">
                          <a:solidFill>
                            <a:srgbClr val="1E293B"/>
                          </a:solidFill>
                          <a:latin typeface="Calibri"/>
                        </a:rPr>
                        <a:t>Posts</a:t>
                      </a:r>
                    </a:p>
                  </a:txBody>
                  <a:tcPr marT="36576" marB="36576" anchor="ctr">
                    <a:solidFill>
                      <a:srgbClr val="FFFFFF"/>
                    </a:solidFill>
                  </a:tcPr>
                </a:tc>
                <a:tc>
                  <a:txBody>
                    <a:bodyPr/>
                    <a:lstStyle/>
                    <a:p>
                      <a:pPr algn="l"/>
                      <a:r>
                        <a:rPr sz="1500" b="0">
                          <a:solidFill>
                            <a:srgbClr val="1E293B"/>
                          </a:solidFill>
                          <a:latin typeface="Calibri"/>
                        </a:rPr>
                        <a:t>1,102</a:t>
                      </a:r>
                    </a:p>
                  </a:txBody>
                  <a:tcPr marT="36576" marB="36576" anchor="ctr">
                    <a:solidFill>
                      <a:srgbClr val="FFFFFF"/>
                    </a:solidFill>
                  </a:tcPr>
                </a:tc>
                <a:tc>
                  <a:txBody>
                    <a:bodyPr/>
                    <a:lstStyle/>
                    <a:p>
                      <a:pPr algn="l"/>
                      <a:r>
                        <a:rPr sz="1500" b="0">
                          <a:solidFill>
                            <a:srgbClr val="1E293B"/>
                          </a:solidFill>
                          <a:latin typeface="Calibri"/>
                        </a:rPr>
                        <a:t>8,060</a:t>
                      </a:r>
                    </a:p>
                  </a:txBody>
                  <a:tcPr marT="36576" marB="36576" anchor="ctr">
                    <a:solidFill>
                      <a:srgbClr val="FFFFFF"/>
                    </a:solidFill>
                  </a:tcPr>
                </a:tc>
                <a:extLst>
                  <a:ext uri="{0D108BD9-81ED-4DB2-BD59-A6C34878D82A}">
                    <a16:rowId xmlns:a16="http://schemas.microsoft.com/office/drawing/2014/main" val="10001"/>
                  </a:ext>
                </a:extLst>
              </a:tr>
              <a:tr h="566928">
                <a:tc>
                  <a:txBody>
                    <a:bodyPr/>
                    <a:lstStyle/>
                    <a:p>
                      <a:pPr algn="l"/>
                      <a:r>
                        <a:rPr sz="1500" b="1">
                          <a:solidFill>
                            <a:srgbClr val="1E293B"/>
                          </a:solidFill>
                          <a:latin typeface="Calibri"/>
                        </a:rPr>
                        <a:t>Not happy</a:t>
                      </a:r>
                    </a:p>
                  </a:txBody>
                  <a:tcPr marT="36576" marB="36576" anchor="ctr">
                    <a:solidFill>
                      <a:srgbClr val="FBF3DF"/>
                    </a:solidFill>
                  </a:tcPr>
                </a:tc>
                <a:tc>
                  <a:txBody>
                    <a:bodyPr/>
                    <a:lstStyle/>
                    <a:p>
                      <a:pPr algn="l"/>
                      <a:r>
                        <a:rPr sz="1500" b="0">
                          <a:solidFill>
                            <a:srgbClr val="1E293B"/>
                          </a:solidFill>
                          <a:latin typeface="Calibri"/>
                        </a:rPr>
                        <a:t>71%</a:t>
                      </a:r>
                    </a:p>
                  </a:txBody>
                  <a:tcPr marT="36576" marB="36576" anchor="ctr">
                    <a:solidFill>
                      <a:srgbClr val="FBF3DF"/>
                    </a:solidFill>
                  </a:tcPr>
                </a:tc>
                <a:tc>
                  <a:txBody>
                    <a:bodyPr/>
                    <a:lstStyle/>
                    <a:p>
                      <a:pPr algn="l"/>
                      <a:r>
                        <a:rPr sz="1500" b="0">
                          <a:solidFill>
                            <a:srgbClr val="1E293B"/>
                          </a:solidFill>
                          <a:latin typeface="Calibri"/>
                        </a:rPr>
                        <a:t>40%</a:t>
                      </a:r>
                    </a:p>
                  </a:txBody>
                  <a:tcPr marT="36576" marB="36576" anchor="ctr">
                    <a:solidFill>
                      <a:srgbClr val="FBF3DF"/>
                    </a:solidFill>
                  </a:tcPr>
                </a:tc>
                <a:extLst>
                  <a:ext uri="{0D108BD9-81ED-4DB2-BD59-A6C34878D82A}">
                    <a16:rowId xmlns:a16="http://schemas.microsoft.com/office/drawing/2014/main" val="10002"/>
                  </a:ext>
                </a:extLst>
              </a:tr>
              <a:tr h="566928">
                <a:tc>
                  <a:txBody>
                    <a:bodyPr/>
                    <a:lstStyle/>
                    <a:p>
                      <a:pPr algn="l"/>
                      <a:r>
                        <a:rPr sz="1500" b="0">
                          <a:solidFill>
                            <a:srgbClr val="1E293B"/>
                          </a:solidFill>
                          <a:latin typeface="Calibri"/>
                        </a:rPr>
                        <a:t>Singtel not happy</a:t>
                      </a:r>
                    </a:p>
                  </a:txBody>
                  <a:tcPr marT="36576" marB="36576" anchor="ctr">
                    <a:solidFill>
                      <a:srgbClr val="FFFFFF"/>
                    </a:solidFill>
                  </a:tcPr>
                </a:tc>
                <a:tc>
                  <a:txBody>
                    <a:bodyPr/>
                    <a:lstStyle/>
                    <a:p>
                      <a:pPr algn="l"/>
                      <a:r>
                        <a:rPr sz="1500" b="0">
                          <a:solidFill>
                            <a:srgbClr val="1E293B"/>
                          </a:solidFill>
                          <a:latin typeface="Calibri"/>
                        </a:rPr>
                        <a:t>73%</a:t>
                      </a:r>
                    </a:p>
                  </a:txBody>
                  <a:tcPr marT="36576" marB="36576" anchor="ctr">
                    <a:solidFill>
                      <a:srgbClr val="FFFFFF"/>
                    </a:solidFill>
                  </a:tcPr>
                </a:tc>
                <a:tc>
                  <a:txBody>
                    <a:bodyPr/>
                    <a:lstStyle/>
                    <a:p>
                      <a:pPr algn="l"/>
                      <a:r>
                        <a:rPr sz="1500" b="0">
                          <a:solidFill>
                            <a:srgbClr val="1E293B"/>
                          </a:solidFill>
                          <a:latin typeface="Calibri"/>
                        </a:rPr>
                        <a:t>42%</a:t>
                      </a:r>
                    </a:p>
                  </a:txBody>
                  <a:tcPr marT="36576" marB="36576" anchor="ctr">
                    <a:solidFill>
                      <a:srgbClr val="FFFFFF"/>
                    </a:solidFill>
                  </a:tcPr>
                </a:tc>
                <a:extLst>
                  <a:ext uri="{0D108BD9-81ED-4DB2-BD59-A6C34878D82A}">
                    <a16:rowId xmlns:a16="http://schemas.microsoft.com/office/drawing/2014/main" val="10003"/>
                  </a:ext>
                </a:extLst>
              </a:tr>
              <a:tr h="566928">
                <a:tc>
                  <a:txBody>
                    <a:bodyPr/>
                    <a:lstStyle/>
                    <a:p>
                      <a:pPr algn="l"/>
                      <a:r>
                        <a:rPr sz="1500" b="0">
                          <a:solidFill>
                            <a:srgbClr val="1E293B"/>
                          </a:solidFill>
                          <a:latin typeface="Calibri"/>
                        </a:rPr>
                        <a:t>StarHub not happy</a:t>
                      </a:r>
                    </a:p>
                  </a:txBody>
                  <a:tcPr marT="36576" marB="36576" anchor="ctr">
                    <a:solidFill>
                      <a:srgbClr val="F2F4F9"/>
                    </a:solidFill>
                  </a:tcPr>
                </a:tc>
                <a:tc>
                  <a:txBody>
                    <a:bodyPr/>
                    <a:lstStyle/>
                    <a:p>
                      <a:pPr algn="l"/>
                      <a:r>
                        <a:rPr sz="1500" b="0">
                          <a:solidFill>
                            <a:srgbClr val="1E293B"/>
                          </a:solidFill>
                          <a:latin typeface="Calibri"/>
                        </a:rPr>
                        <a:t>68%</a:t>
                      </a:r>
                    </a:p>
                  </a:txBody>
                  <a:tcPr marT="36576" marB="36576" anchor="ctr">
                    <a:solidFill>
                      <a:srgbClr val="F2F4F9"/>
                    </a:solidFill>
                  </a:tcPr>
                </a:tc>
                <a:tc>
                  <a:txBody>
                    <a:bodyPr/>
                    <a:lstStyle/>
                    <a:p>
                      <a:pPr algn="l"/>
                      <a:r>
                        <a:rPr sz="1500" b="0">
                          <a:solidFill>
                            <a:srgbClr val="1E293B"/>
                          </a:solidFill>
                          <a:latin typeface="Calibri"/>
                        </a:rPr>
                        <a:t>40%</a:t>
                      </a:r>
                    </a:p>
                  </a:txBody>
                  <a:tcPr marT="36576" marB="36576" anchor="ctr">
                    <a:solidFill>
                      <a:srgbClr val="F2F4F9"/>
                    </a:solidFill>
                  </a:tcPr>
                </a:tc>
                <a:extLst>
                  <a:ext uri="{0D108BD9-81ED-4DB2-BD59-A6C34878D82A}">
                    <a16:rowId xmlns:a16="http://schemas.microsoft.com/office/drawing/2014/main" val="10004"/>
                  </a:ext>
                </a:extLst>
              </a:tr>
              <a:tr h="566928">
                <a:tc>
                  <a:txBody>
                    <a:bodyPr/>
                    <a:lstStyle/>
                    <a:p>
                      <a:pPr algn="l"/>
                      <a:r>
                        <a:rPr sz="1500" b="1">
                          <a:solidFill>
                            <a:srgbClr val="1E293B"/>
                          </a:solidFill>
                          <a:latin typeface="Calibri"/>
                        </a:rPr>
                        <a:t>Share on Reddit</a:t>
                      </a:r>
                    </a:p>
                  </a:txBody>
                  <a:tcPr marT="36576" marB="36576" anchor="ctr">
                    <a:solidFill>
                      <a:srgbClr val="FBF3DF"/>
                    </a:solidFill>
                  </a:tcPr>
                </a:tc>
                <a:tc>
                  <a:txBody>
                    <a:bodyPr/>
                    <a:lstStyle/>
                    <a:p>
                      <a:pPr algn="l"/>
                      <a:r>
                        <a:rPr sz="1500" b="0">
                          <a:solidFill>
                            <a:srgbClr val="1E293B"/>
                          </a:solidFill>
                          <a:latin typeface="Calibri"/>
                        </a:rPr>
                        <a:t>99.7%</a:t>
                      </a:r>
                    </a:p>
                  </a:txBody>
                  <a:tcPr marT="36576" marB="36576" anchor="ctr">
                    <a:solidFill>
                      <a:srgbClr val="FBF3DF"/>
                    </a:solidFill>
                  </a:tcPr>
                </a:tc>
                <a:tc>
                  <a:txBody>
                    <a:bodyPr/>
                    <a:lstStyle/>
                    <a:p>
                      <a:pPr algn="l"/>
                      <a:r>
                        <a:rPr sz="1500" b="0" dirty="0">
                          <a:solidFill>
                            <a:srgbClr val="1E293B"/>
                          </a:solidFill>
                          <a:latin typeface="Calibri"/>
                        </a:rPr>
                        <a:t>57%</a:t>
                      </a:r>
                    </a:p>
                  </a:txBody>
                  <a:tcPr marT="36576" marB="36576" anchor="ctr">
                    <a:solidFill>
                      <a:srgbClr val="FBF3D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7863840" y="1691640"/>
            <a:ext cx="3776472" cy="41148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92440" y="1874520"/>
            <a:ext cx="33192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The lesson</a:t>
            </a:r>
          </a:p>
        </p:txBody>
      </p:sp>
      <p:sp>
        <p:nvSpPr>
          <p:cNvPr id="7" name="TextBox 6"/>
          <p:cNvSpPr txBox="1"/>
          <p:nvPr/>
        </p:nvSpPr>
        <p:spPr>
          <a:xfrm>
            <a:off x="8092440" y="2258568"/>
            <a:ext cx="3319272" cy="1308050"/>
          </a:xfrm>
          <a:prstGeom prst="rect">
            <a:avLst/>
          </a:prstGeom>
          <a:noFill/>
        </p:spPr>
        <p:txBody>
          <a:bodyPr wrap="square" lIns="0" tIns="0" rIns="0" bIns="0" anchor="t">
            <a:spAutoFit/>
          </a:bodyPr>
          <a:lstStyle/>
          <a:p>
            <a:pPr algn="l">
              <a:spcAft>
                <a:spcPts val="600"/>
              </a:spcAft>
            </a:pPr>
            <a:r>
              <a:rPr sz="1500" b="0" i="0" dirty="0">
                <a:solidFill>
                  <a:srgbClr val="1E293B"/>
                </a:solidFill>
                <a:latin typeface="Calibri"/>
              </a:rPr>
              <a:t>A single incident can create a brand gap and a platform gap.</a:t>
            </a:r>
          </a:p>
          <a:p>
            <a:pPr algn="l">
              <a:spcAft>
                <a:spcPts val="600"/>
              </a:spcAft>
            </a:pPr>
            <a:r>
              <a:rPr sz="1500" b="0" i="0" dirty="0">
                <a:solidFill>
                  <a:srgbClr val="1E293B"/>
                </a:solidFill>
                <a:latin typeface="Calibri"/>
              </a:rPr>
              <a:t>1,099 of 1,102 outage posts are on Reddit.</a:t>
            </a:r>
          </a:p>
          <a:p>
            <a:pPr algn="l">
              <a:spcAft>
                <a:spcPts val="600"/>
              </a:spcAft>
            </a:pPr>
            <a:r>
              <a:rPr lang="en-US" sz="1500" b="0" i="0" dirty="0">
                <a:solidFill>
                  <a:srgbClr val="1E293B"/>
                </a:solidFill>
                <a:latin typeface="Calibri"/>
              </a:rPr>
              <a:t>Action item for Singtel: </a:t>
            </a:r>
            <a:r>
              <a:rPr sz="1500" b="0" i="0" dirty="0">
                <a:solidFill>
                  <a:srgbClr val="1E293B"/>
                </a:solidFill>
                <a:latin typeface="Calibri"/>
              </a:rPr>
              <a:t>Check every finding with the incident removed.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98748" y="207477"/>
            <a:ext cx="6840000" cy="983346"/>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RQ1 Which sentiment and issue themes appear most?</a:t>
            </a:r>
          </a:p>
          <a:p>
            <a:pPr>
              <a:lnSpc>
                <a:spcPct val="95000"/>
              </a:lnSpc>
            </a:pPr>
            <a:r>
              <a:rPr lang="en-US" sz="2400" b="1" dirty="0">
                <a:solidFill>
                  <a:srgbClr val="1C2E6E"/>
                </a:solidFill>
                <a:latin typeface="Calibri"/>
              </a:rPr>
              <a:t>RQ2 How do Reddit vs HWZ and the brands differ?</a:t>
            </a:r>
          </a:p>
          <a:p>
            <a:pPr algn="l">
              <a:lnSpc>
                <a:spcPct val="95000"/>
              </a:lnSpc>
              <a:spcAft>
                <a:spcPts val="0"/>
              </a:spcAft>
            </a:pPr>
            <a:r>
              <a:rPr lang="en-US" b="1" i="0" dirty="0">
                <a:solidFill>
                  <a:srgbClr val="1C2E6E"/>
                </a:solidFill>
                <a:latin typeface="Calibri"/>
              </a:rPr>
              <a:t>Not happy breakdown by platform and by brand</a:t>
            </a:r>
            <a:endParaRPr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23</a:t>
            </a:r>
          </a:p>
        </p:txBody>
      </p:sp>
      <p:graphicFrame>
        <p:nvGraphicFramePr>
          <p:cNvPr id="4" name="Table 3"/>
          <p:cNvGraphicFramePr>
            <a:graphicFrameLocks noGrp="1"/>
          </p:cNvGraphicFramePr>
          <p:nvPr/>
        </p:nvGraphicFramePr>
        <p:xfrm>
          <a:off x="548640" y="1691640"/>
          <a:ext cx="6858000" cy="4096512"/>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12064">
                <a:tc>
                  <a:txBody>
                    <a:bodyPr/>
                    <a:lstStyle/>
                    <a:p>
                      <a:pPr algn="l"/>
                      <a:r>
                        <a:rPr sz="1400" b="1">
                          <a:solidFill>
                            <a:srgbClr val="FFFFFF"/>
                          </a:solidFill>
                          <a:latin typeface="Calibri"/>
                        </a:rPr>
                        <a:t>Not happy</a:t>
                      </a:r>
                    </a:p>
                  </a:txBody>
                  <a:tcPr marT="36576" marB="36576" anchor="ctr">
                    <a:solidFill>
                      <a:srgbClr val="1C2E6E"/>
                    </a:solidFill>
                  </a:tcPr>
                </a:tc>
                <a:tc>
                  <a:txBody>
                    <a:bodyPr/>
                    <a:lstStyle/>
                    <a:p>
                      <a:pPr algn="l"/>
                      <a:r>
                        <a:rPr sz="1400" b="1">
                          <a:solidFill>
                            <a:srgbClr val="FFFFFF"/>
                          </a:solidFill>
                          <a:latin typeface="Calibri"/>
                        </a:rPr>
                        <a:t>Posts</a:t>
                      </a:r>
                    </a:p>
                  </a:txBody>
                  <a:tcPr marT="36576" marB="36576" anchor="ctr">
                    <a:solidFill>
                      <a:srgbClr val="1C2E6E"/>
                    </a:solidFill>
                  </a:tcPr>
                </a:tc>
                <a:tc>
                  <a:txBody>
                    <a:bodyPr/>
                    <a:lstStyle/>
                    <a:p>
                      <a:pPr algn="l"/>
                      <a:r>
                        <a:rPr sz="1400" b="1">
                          <a:solidFill>
                            <a:srgbClr val="FFFFFF"/>
                          </a:solidFill>
                          <a:latin typeface="Calibri"/>
                        </a:rPr>
                        <a:t>All threads</a:t>
                      </a:r>
                    </a:p>
                  </a:txBody>
                  <a:tcPr marT="36576" marB="36576" anchor="ctr">
                    <a:solidFill>
                      <a:srgbClr val="1C2E6E"/>
                    </a:solidFill>
                  </a:tcPr>
                </a:tc>
                <a:tc>
                  <a:txBody>
                    <a:bodyPr/>
                    <a:lstStyle/>
                    <a:p>
                      <a:pPr algn="l"/>
                      <a:r>
                        <a:rPr sz="1400" b="1">
                          <a:solidFill>
                            <a:srgbClr val="FFFFFF"/>
                          </a:solidFill>
                          <a:latin typeface="Calibri"/>
                        </a:rPr>
                        <a:t>Outside outage threads</a:t>
                      </a:r>
                    </a:p>
                  </a:txBody>
                  <a:tcPr marT="36576" marB="36576" anchor="ctr">
                    <a:solidFill>
                      <a:srgbClr val="1C2E6E"/>
                    </a:solidFill>
                  </a:tcPr>
                </a:tc>
                <a:extLst>
                  <a:ext uri="{0D108BD9-81ED-4DB2-BD59-A6C34878D82A}">
                    <a16:rowId xmlns:a16="http://schemas.microsoft.com/office/drawing/2014/main" val="10000"/>
                  </a:ext>
                </a:extLst>
              </a:tr>
              <a:tr h="512064">
                <a:tc>
                  <a:txBody>
                    <a:bodyPr/>
                    <a:lstStyle/>
                    <a:p>
                      <a:pPr algn="l"/>
                      <a:r>
                        <a:rPr sz="1400" b="0">
                          <a:solidFill>
                            <a:srgbClr val="1E293B"/>
                          </a:solidFill>
                          <a:latin typeface="Calibri"/>
                        </a:rPr>
                        <a:t>Reddit</a:t>
                      </a:r>
                    </a:p>
                  </a:txBody>
                  <a:tcPr marT="36576" marB="36576" anchor="ctr">
                    <a:solidFill>
                      <a:srgbClr val="FFFFFF"/>
                    </a:solidFill>
                  </a:tcPr>
                </a:tc>
                <a:tc>
                  <a:txBody>
                    <a:bodyPr/>
                    <a:lstStyle/>
                    <a:p>
                      <a:pPr algn="l"/>
                      <a:r>
                        <a:rPr sz="1400" b="0">
                          <a:solidFill>
                            <a:srgbClr val="1E293B"/>
                          </a:solidFill>
                          <a:latin typeface="Calibri"/>
                        </a:rPr>
                        <a:t>5,711</a:t>
                      </a:r>
                    </a:p>
                  </a:txBody>
                  <a:tcPr marT="36576" marB="36576" anchor="ctr">
                    <a:solidFill>
                      <a:srgbClr val="FFFFFF"/>
                    </a:solidFill>
                  </a:tcPr>
                </a:tc>
                <a:tc>
                  <a:txBody>
                    <a:bodyPr/>
                    <a:lstStyle/>
                    <a:p>
                      <a:pPr algn="l"/>
                      <a:r>
                        <a:rPr sz="1400" b="0">
                          <a:solidFill>
                            <a:srgbClr val="1E293B"/>
                          </a:solidFill>
                          <a:latin typeface="Calibri"/>
                        </a:rPr>
                        <a:t>48%</a:t>
                      </a:r>
                    </a:p>
                  </a:txBody>
                  <a:tcPr marT="36576" marB="36576" anchor="ctr">
                    <a:solidFill>
                      <a:srgbClr val="FFFFFF"/>
                    </a:solidFill>
                  </a:tcPr>
                </a:tc>
                <a:tc>
                  <a:txBody>
                    <a:bodyPr/>
                    <a:lstStyle/>
                    <a:p>
                      <a:pPr algn="l"/>
                      <a:r>
                        <a:rPr sz="1400" b="0">
                          <a:solidFill>
                            <a:srgbClr val="1E293B"/>
                          </a:solidFill>
                          <a:latin typeface="Calibri"/>
                        </a:rPr>
                        <a:t>42%</a:t>
                      </a:r>
                    </a:p>
                  </a:txBody>
                  <a:tcPr marT="36576" marB="36576" anchor="ctr">
                    <a:solidFill>
                      <a:srgbClr val="FFFFFF"/>
                    </a:solidFill>
                  </a:tcPr>
                </a:tc>
                <a:extLst>
                  <a:ext uri="{0D108BD9-81ED-4DB2-BD59-A6C34878D82A}">
                    <a16:rowId xmlns:a16="http://schemas.microsoft.com/office/drawing/2014/main" val="10001"/>
                  </a:ext>
                </a:extLst>
              </a:tr>
              <a:tr h="512064">
                <a:tc>
                  <a:txBody>
                    <a:bodyPr/>
                    <a:lstStyle/>
                    <a:p>
                      <a:pPr algn="l"/>
                      <a:r>
                        <a:rPr sz="1400" b="0">
                          <a:solidFill>
                            <a:srgbClr val="1E293B"/>
                          </a:solidFill>
                          <a:latin typeface="Calibri"/>
                        </a:rPr>
                        <a:t>HWZ</a:t>
                      </a:r>
                    </a:p>
                  </a:txBody>
                  <a:tcPr marT="36576" marB="36576" anchor="ctr">
                    <a:solidFill>
                      <a:srgbClr val="F2F4F9"/>
                    </a:solidFill>
                  </a:tcPr>
                </a:tc>
                <a:tc>
                  <a:txBody>
                    <a:bodyPr/>
                    <a:lstStyle/>
                    <a:p>
                      <a:pPr algn="l"/>
                      <a:r>
                        <a:rPr sz="1400" b="0">
                          <a:solidFill>
                            <a:srgbClr val="1E293B"/>
                          </a:solidFill>
                          <a:latin typeface="Calibri"/>
                        </a:rPr>
                        <a:t>3,451</a:t>
                      </a:r>
                    </a:p>
                  </a:txBody>
                  <a:tcPr marT="36576" marB="36576" anchor="ctr">
                    <a:solidFill>
                      <a:srgbClr val="F2F4F9"/>
                    </a:solidFill>
                  </a:tcPr>
                </a:tc>
                <a:tc>
                  <a:txBody>
                    <a:bodyPr/>
                    <a:lstStyle/>
                    <a:p>
                      <a:pPr algn="l"/>
                      <a:r>
                        <a:rPr sz="1400" b="0">
                          <a:solidFill>
                            <a:srgbClr val="1E293B"/>
                          </a:solidFill>
                          <a:latin typeface="Calibri"/>
                        </a:rPr>
                        <a:t>37%</a:t>
                      </a:r>
                    </a:p>
                  </a:txBody>
                  <a:tcPr marT="36576" marB="36576" anchor="ctr">
                    <a:solidFill>
                      <a:srgbClr val="F2F4F9"/>
                    </a:solidFill>
                  </a:tcPr>
                </a:tc>
                <a:tc>
                  <a:txBody>
                    <a:bodyPr/>
                    <a:lstStyle/>
                    <a:p>
                      <a:pPr algn="l"/>
                      <a:r>
                        <a:rPr sz="1400" b="0">
                          <a:solidFill>
                            <a:srgbClr val="1E293B"/>
                          </a:solidFill>
                          <a:latin typeface="Calibri"/>
                        </a:rPr>
                        <a:t>37%</a:t>
                      </a:r>
                    </a:p>
                  </a:txBody>
                  <a:tcPr marT="36576" marB="36576" anchor="ctr">
                    <a:solidFill>
                      <a:srgbClr val="F2F4F9"/>
                    </a:solidFill>
                  </a:tcPr>
                </a:tc>
                <a:extLst>
                  <a:ext uri="{0D108BD9-81ED-4DB2-BD59-A6C34878D82A}">
                    <a16:rowId xmlns:a16="http://schemas.microsoft.com/office/drawing/2014/main" val="10002"/>
                  </a:ext>
                </a:extLst>
              </a:tr>
              <a:tr h="512064">
                <a:tc>
                  <a:txBody>
                    <a:bodyPr/>
                    <a:lstStyle/>
                    <a:p>
                      <a:pPr algn="l"/>
                      <a:r>
                        <a:rPr sz="1400" b="0">
                          <a:solidFill>
                            <a:srgbClr val="1E293B"/>
                          </a:solidFill>
                          <a:latin typeface="Calibri"/>
                        </a:rPr>
                        <a:t>Singtel</a:t>
                      </a:r>
                    </a:p>
                  </a:txBody>
                  <a:tcPr marT="36576" marB="36576" anchor="ctr">
                    <a:solidFill>
                      <a:srgbClr val="FFFFFF"/>
                    </a:solidFill>
                  </a:tcPr>
                </a:tc>
                <a:tc>
                  <a:txBody>
                    <a:bodyPr/>
                    <a:lstStyle/>
                    <a:p>
                      <a:pPr algn="l"/>
                      <a:r>
                        <a:rPr sz="1400" b="0">
                          <a:solidFill>
                            <a:srgbClr val="1E293B"/>
                          </a:solidFill>
                          <a:latin typeface="Calibri"/>
                        </a:rPr>
                        <a:t>3,970</a:t>
                      </a:r>
                    </a:p>
                  </a:txBody>
                  <a:tcPr marT="36576" marB="36576" anchor="ctr">
                    <a:solidFill>
                      <a:srgbClr val="FFFFFF"/>
                    </a:solidFill>
                  </a:tcPr>
                </a:tc>
                <a:tc>
                  <a:txBody>
                    <a:bodyPr/>
                    <a:lstStyle/>
                    <a:p>
                      <a:pPr algn="l"/>
                      <a:r>
                        <a:rPr sz="1400" b="0">
                          <a:solidFill>
                            <a:srgbClr val="1E293B"/>
                          </a:solidFill>
                          <a:latin typeface="Calibri"/>
                        </a:rPr>
                        <a:t>48%</a:t>
                      </a:r>
                    </a:p>
                  </a:txBody>
                  <a:tcPr marT="36576" marB="36576" anchor="ctr">
                    <a:solidFill>
                      <a:srgbClr val="FFFFFF"/>
                    </a:solidFill>
                  </a:tcPr>
                </a:tc>
                <a:tc>
                  <a:txBody>
                    <a:bodyPr/>
                    <a:lstStyle/>
                    <a:p>
                      <a:pPr algn="l"/>
                      <a:r>
                        <a:rPr sz="1400" b="0">
                          <a:solidFill>
                            <a:srgbClr val="1E293B"/>
                          </a:solidFill>
                          <a:latin typeface="Calibri"/>
                        </a:rPr>
                        <a:t>42%</a:t>
                      </a:r>
                    </a:p>
                  </a:txBody>
                  <a:tcPr marT="36576" marB="36576" anchor="ctr">
                    <a:solidFill>
                      <a:srgbClr val="FFFFFF"/>
                    </a:solidFill>
                  </a:tcPr>
                </a:tc>
                <a:extLst>
                  <a:ext uri="{0D108BD9-81ED-4DB2-BD59-A6C34878D82A}">
                    <a16:rowId xmlns:a16="http://schemas.microsoft.com/office/drawing/2014/main" val="10003"/>
                  </a:ext>
                </a:extLst>
              </a:tr>
              <a:tr h="512064">
                <a:tc>
                  <a:txBody>
                    <a:bodyPr/>
                    <a:lstStyle/>
                    <a:p>
                      <a:pPr algn="l"/>
                      <a:r>
                        <a:rPr sz="1400" b="0">
                          <a:solidFill>
                            <a:srgbClr val="1E293B"/>
                          </a:solidFill>
                          <a:latin typeface="Calibri"/>
                        </a:rPr>
                        <a:t>StarHub</a:t>
                      </a:r>
                    </a:p>
                  </a:txBody>
                  <a:tcPr marT="36576" marB="36576" anchor="ctr">
                    <a:solidFill>
                      <a:srgbClr val="F2F4F9"/>
                    </a:solidFill>
                  </a:tcPr>
                </a:tc>
                <a:tc>
                  <a:txBody>
                    <a:bodyPr/>
                    <a:lstStyle/>
                    <a:p>
                      <a:pPr algn="l"/>
                      <a:r>
                        <a:rPr sz="1400" b="0">
                          <a:solidFill>
                            <a:srgbClr val="1E293B"/>
                          </a:solidFill>
                          <a:latin typeface="Calibri"/>
                        </a:rPr>
                        <a:t>1,638</a:t>
                      </a:r>
                    </a:p>
                  </a:txBody>
                  <a:tcPr marT="36576" marB="36576" anchor="ctr">
                    <a:solidFill>
                      <a:srgbClr val="F2F4F9"/>
                    </a:solidFill>
                  </a:tcPr>
                </a:tc>
                <a:tc>
                  <a:txBody>
                    <a:bodyPr/>
                    <a:lstStyle/>
                    <a:p>
                      <a:pPr algn="l"/>
                      <a:r>
                        <a:rPr sz="1400" b="0">
                          <a:solidFill>
                            <a:srgbClr val="1E293B"/>
                          </a:solidFill>
                          <a:latin typeface="Calibri"/>
                        </a:rPr>
                        <a:t>44%</a:t>
                      </a:r>
                    </a:p>
                  </a:txBody>
                  <a:tcPr marT="36576" marB="36576" anchor="ctr">
                    <a:solidFill>
                      <a:srgbClr val="F2F4F9"/>
                    </a:solidFill>
                  </a:tcPr>
                </a:tc>
                <a:tc>
                  <a:txBody>
                    <a:bodyPr/>
                    <a:lstStyle/>
                    <a:p>
                      <a:pPr algn="l"/>
                      <a:r>
                        <a:rPr sz="1400" b="0">
                          <a:solidFill>
                            <a:srgbClr val="1E293B"/>
                          </a:solidFill>
                          <a:latin typeface="Calibri"/>
                        </a:rPr>
                        <a:t>40%</a:t>
                      </a:r>
                    </a:p>
                  </a:txBody>
                  <a:tcPr marT="36576" marB="36576" anchor="ctr">
                    <a:solidFill>
                      <a:srgbClr val="F2F4F9"/>
                    </a:solidFill>
                  </a:tcPr>
                </a:tc>
                <a:extLst>
                  <a:ext uri="{0D108BD9-81ED-4DB2-BD59-A6C34878D82A}">
                    <a16:rowId xmlns:a16="http://schemas.microsoft.com/office/drawing/2014/main" val="10004"/>
                  </a:ext>
                </a:extLst>
              </a:tr>
              <a:tr h="512064">
                <a:tc>
                  <a:txBody>
                    <a:bodyPr/>
                    <a:lstStyle/>
                    <a:p>
                      <a:pPr algn="l"/>
                      <a:r>
                        <a:rPr sz="1400" b="0">
                          <a:solidFill>
                            <a:srgbClr val="1E293B"/>
                          </a:solidFill>
                          <a:latin typeface="Calibri"/>
                        </a:rPr>
                        <a:t>SIMBA</a:t>
                      </a:r>
                    </a:p>
                  </a:txBody>
                  <a:tcPr marT="36576" marB="36576" anchor="ctr">
                    <a:solidFill>
                      <a:srgbClr val="FFFFFF"/>
                    </a:solidFill>
                  </a:tcPr>
                </a:tc>
                <a:tc>
                  <a:txBody>
                    <a:bodyPr/>
                    <a:lstStyle/>
                    <a:p>
                      <a:pPr algn="l"/>
                      <a:r>
                        <a:rPr sz="1400" b="0">
                          <a:solidFill>
                            <a:srgbClr val="1E293B"/>
                          </a:solidFill>
                          <a:latin typeface="Calibri"/>
                        </a:rPr>
                        <a:t>1,461</a:t>
                      </a:r>
                    </a:p>
                  </a:txBody>
                  <a:tcPr marT="36576" marB="36576" anchor="ctr">
                    <a:solidFill>
                      <a:srgbClr val="FFFFFF"/>
                    </a:solidFill>
                  </a:tcPr>
                </a:tc>
                <a:tc>
                  <a:txBody>
                    <a:bodyPr/>
                    <a:lstStyle/>
                    <a:p>
                      <a:pPr algn="l"/>
                      <a:r>
                        <a:rPr sz="1400" b="0">
                          <a:solidFill>
                            <a:srgbClr val="1E293B"/>
                          </a:solidFill>
                          <a:latin typeface="Calibri"/>
                        </a:rPr>
                        <a:t>44%</a:t>
                      </a:r>
                    </a:p>
                  </a:txBody>
                  <a:tcPr marT="36576" marB="36576" anchor="ctr">
                    <a:solidFill>
                      <a:srgbClr val="FFFFFF"/>
                    </a:solidFill>
                  </a:tcPr>
                </a:tc>
                <a:tc>
                  <a:txBody>
                    <a:bodyPr/>
                    <a:lstStyle/>
                    <a:p>
                      <a:pPr algn="l"/>
                      <a:r>
                        <a:rPr sz="1400" b="0">
                          <a:solidFill>
                            <a:srgbClr val="1E293B"/>
                          </a:solidFill>
                          <a:latin typeface="Calibri"/>
                        </a:rPr>
                        <a:t>43%</a:t>
                      </a:r>
                    </a:p>
                  </a:txBody>
                  <a:tcPr marT="36576" marB="36576" anchor="ctr">
                    <a:solidFill>
                      <a:srgbClr val="FFFFFF"/>
                    </a:solidFill>
                  </a:tcPr>
                </a:tc>
                <a:extLst>
                  <a:ext uri="{0D108BD9-81ED-4DB2-BD59-A6C34878D82A}">
                    <a16:rowId xmlns:a16="http://schemas.microsoft.com/office/drawing/2014/main" val="10005"/>
                  </a:ext>
                </a:extLst>
              </a:tr>
              <a:tr h="512064">
                <a:tc>
                  <a:txBody>
                    <a:bodyPr/>
                    <a:lstStyle/>
                    <a:p>
                      <a:pPr algn="l"/>
                      <a:r>
                        <a:rPr sz="1400" b="0">
                          <a:solidFill>
                            <a:srgbClr val="1E293B"/>
                          </a:solidFill>
                          <a:latin typeface="Calibri"/>
                        </a:rPr>
                        <a:t>M1</a:t>
                      </a:r>
                    </a:p>
                  </a:txBody>
                  <a:tcPr marT="36576" marB="36576" anchor="ctr">
                    <a:solidFill>
                      <a:srgbClr val="F2F4F9"/>
                    </a:solidFill>
                  </a:tcPr>
                </a:tc>
                <a:tc>
                  <a:txBody>
                    <a:bodyPr/>
                    <a:lstStyle/>
                    <a:p>
                      <a:pPr algn="l"/>
                      <a:r>
                        <a:rPr sz="1400" b="0">
                          <a:solidFill>
                            <a:srgbClr val="1E293B"/>
                          </a:solidFill>
                          <a:latin typeface="Calibri"/>
                        </a:rPr>
                        <a:t>1,415</a:t>
                      </a:r>
                    </a:p>
                  </a:txBody>
                  <a:tcPr marT="36576" marB="36576" anchor="ctr">
                    <a:solidFill>
                      <a:srgbClr val="F2F4F9"/>
                    </a:solidFill>
                  </a:tcPr>
                </a:tc>
                <a:tc>
                  <a:txBody>
                    <a:bodyPr/>
                    <a:lstStyle/>
                    <a:p>
                      <a:pPr algn="l"/>
                      <a:r>
                        <a:rPr sz="1400" b="0">
                          <a:solidFill>
                            <a:srgbClr val="1E293B"/>
                          </a:solidFill>
                          <a:latin typeface="Calibri"/>
                        </a:rPr>
                        <a:t>40%</a:t>
                      </a:r>
                    </a:p>
                  </a:txBody>
                  <a:tcPr marT="36576" marB="36576" anchor="ctr">
                    <a:solidFill>
                      <a:srgbClr val="F2F4F9"/>
                    </a:solidFill>
                  </a:tcPr>
                </a:tc>
                <a:tc>
                  <a:txBody>
                    <a:bodyPr/>
                    <a:lstStyle/>
                    <a:p>
                      <a:pPr algn="l"/>
                      <a:r>
                        <a:rPr sz="1400" b="0">
                          <a:solidFill>
                            <a:srgbClr val="1E293B"/>
                          </a:solidFill>
                          <a:latin typeface="Calibri"/>
                        </a:rPr>
                        <a:t>40%</a:t>
                      </a:r>
                    </a:p>
                  </a:txBody>
                  <a:tcPr marT="36576" marB="36576" anchor="ctr">
                    <a:solidFill>
                      <a:srgbClr val="F2F4F9"/>
                    </a:solidFill>
                  </a:tcPr>
                </a:tc>
                <a:extLst>
                  <a:ext uri="{0D108BD9-81ED-4DB2-BD59-A6C34878D82A}">
                    <a16:rowId xmlns:a16="http://schemas.microsoft.com/office/drawing/2014/main" val="10006"/>
                  </a:ext>
                </a:extLst>
              </a:tr>
              <a:tr h="512064">
                <a:tc>
                  <a:txBody>
                    <a:bodyPr/>
                    <a:lstStyle/>
                    <a:p>
                      <a:pPr algn="l"/>
                      <a:r>
                        <a:rPr sz="1400" b="1">
                          <a:solidFill>
                            <a:srgbClr val="1E293B"/>
                          </a:solidFill>
                          <a:latin typeface="Calibri"/>
                        </a:rPr>
                        <a:t>Eight</a:t>
                      </a:r>
                    </a:p>
                  </a:txBody>
                  <a:tcPr marT="36576" marB="36576" anchor="ctr">
                    <a:solidFill>
                      <a:srgbClr val="FBF3DF"/>
                    </a:solidFill>
                  </a:tcPr>
                </a:tc>
                <a:tc>
                  <a:txBody>
                    <a:bodyPr/>
                    <a:lstStyle/>
                    <a:p>
                      <a:pPr algn="l"/>
                      <a:r>
                        <a:rPr sz="1400" b="0">
                          <a:solidFill>
                            <a:srgbClr val="1E293B"/>
                          </a:solidFill>
                          <a:latin typeface="Calibri"/>
                        </a:rPr>
                        <a:t>734</a:t>
                      </a:r>
                    </a:p>
                  </a:txBody>
                  <a:tcPr marT="36576" marB="36576" anchor="ctr">
                    <a:solidFill>
                      <a:srgbClr val="FBF3DF"/>
                    </a:solidFill>
                  </a:tcPr>
                </a:tc>
                <a:tc>
                  <a:txBody>
                    <a:bodyPr/>
                    <a:lstStyle/>
                    <a:p>
                      <a:pPr algn="l"/>
                      <a:r>
                        <a:rPr sz="1400" b="0">
                          <a:solidFill>
                            <a:srgbClr val="1E293B"/>
                          </a:solidFill>
                          <a:latin typeface="Calibri"/>
                        </a:rPr>
                        <a:t>35%</a:t>
                      </a:r>
                    </a:p>
                  </a:txBody>
                  <a:tcPr marT="36576" marB="36576" anchor="ctr">
                    <a:solidFill>
                      <a:srgbClr val="FBF3DF"/>
                    </a:solidFill>
                  </a:tcPr>
                </a:tc>
                <a:tc>
                  <a:txBody>
                    <a:bodyPr/>
                    <a:lstStyle/>
                    <a:p>
                      <a:pPr algn="l"/>
                      <a:r>
                        <a:rPr sz="1400" b="0">
                          <a:solidFill>
                            <a:srgbClr val="1E293B"/>
                          </a:solidFill>
                          <a:latin typeface="Calibri"/>
                        </a:rPr>
                        <a:t>35%</a:t>
                      </a:r>
                    </a:p>
                  </a:txBody>
                  <a:tcPr marT="36576" marB="36576" anchor="ctr">
                    <a:solidFill>
                      <a:srgbClr val="FBF3D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548640" y="5852160"/>
            <a:ext cx="6858000" cy="36576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Brands ranked only with ≥92 posts and ≥10 threads; human gold: Reddit 51%, HWZ 47%</a:t>
            </a:r>
          </a:p>
        </p:txBody>
      </p:sp>
      <p:sp>
        <p:nvSpPr>
          <p:cNvPr id="6" name="Rounded Rectangle 5"/>
          <p:cNvSpPr/>
          <p:nvPr/>
        </p:nvSpPr>
        <p:spPr>
          <a:xfrm>
            <a:off x="7772400" y="1691640"/>
            <a:ext cx="3867912" cy="41148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1874520"/>
            <a:ext cx="341071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Top issues (share of posts)</a:t>
            </a:r>
          </a:p>
        </p:txBody>
      </p:sp>
      <p:sp>
        <p:nvSpPr>
          <p:cNvPr id="8" name="TextBox 7"/>
          <p:cNvSpPr txBox="1"/>
          <p:nvPr/>
        </p:nvSpPr>
        <p:spPr>
          <a:xfrm>
            <a:off x="8001000" y="2258568"/>
            <a:ext cx="3410712" cy="338328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Network Quality 41%</a:t>
            </a:r>
          </a:p>
          <a:p>
            <a:pPr algn="l">
              <a:spcAft>
                <a:spcPts val="600"/>
              </a:spcAft>
            </a:pPr>
            <a:r>
              <a:rPr sz="1500" b="0" i="0">
                <a:solidFill>
                  <a:srgbClr val="1E293B"/>
                </a:solidFill>
                <a:latin typeface="Calibri"/>
              </a:rPr>
              <a:t>Mobile Plans 14%</a:t>
            </a:r>
          </a:p>
          <a:p>
            <a:pPr algn="l">
              <a:spcAft>
                <a:spcPts val="600"/>
              </a:spcAft>
            </a:pPr>
            <a:r>
              <a:rPr sz="1500" b="0" i="0">
                <a:solidFill>
                  <a:srgbClr val="1E293B"/>
                </a:solidFill>
                <a:latin typeface="Calibri"/>
              </a:rPr>
              <a:t>Pricing &amp; Promotions 8%</a:t>
            </a:r>
          </a:p>
          <a:p>
            <a:pPr algn="l">
              <a:spcAft>
                <a:spcPts val="600"/>
              </a:spcAft>
            </a:pPr>
            <a:r>
              <a:rPr sz="1500" b="0" i="0">
                <a:solidFill>
                  <a:srgbClr val="1E293B"/>
                </a:solidFill>
                <a:latin typeface="Calibri"/>
              </a:rPr>
              <a:t>App &amp; Account 4%, in 115 threads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5096" y="362587"/>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RQ4 </a:t>
            </a:r>
            <a:r>
              <a:rPr lang="en-US" sz="2400" b="1" i="0" dirty="0">
                <a:solidFill>
                  <a:srgbClr val="1C2E6E"/>
                </a:solidFill>
                <a:latin typeface="Calibri"/>
              </a:rPr>
              <a:t>How can the signals drive operator decisions?</a:t>
            </a:r>
          </a:p>
          <a:p>
            <a:pPr>
              <a:lnSpc>
                <a:spcPct val="95000"/>
              </a:lnSpc>
            </a:pPr>
            <a:r>
              <a:rPr sz="2000" b="1" i="0" dirty="0">
                <a:solidFill>
                  <a:srgbClr val="1C2E6E"/>
                </a:solidFill>
                <a:latin typeface="Calibri"/>
              </a:rPr>
              <a:t>The dashboard runs a weekly 30-minute huddle</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25</a:t>
            </a:r>
          </a:p>
        </p:txBody>
      </p:sp>
      <p:sp>
        <p:nvSpPr>
          <p:cNvPr id="4" name="Pentagon 3"/>
          <p:cNvSpPr/>
          <p:nvPr/>
        </p:nvSpPr>
        <p:spPr>
          <a:xfrm>
            <a:off x="548640" y="1828800"/>
            <a:ext cx="2159812" cy="118872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1  Queue</a:t>
            </a:r>
          </a:p>
        </p:txBody>
      </p:sp>
      <p:sp>
        <p:nvSpPr>
          <p:cNvPr id="5" name="Chevron 4"/>
          <p:cNvSpPr/>
          <p:nvPr/>
        </p:nvSpPr>
        <p:spPr>
          <a:xfrm>
            <a:off x="2781604"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2  Open 10</a:t>
            </a:r>
          </a:p>
        </p:txBody>
      </p:sp>
      <p:sp>
        <p:nvSpPr>
          <p:cNvPr id="6" name="Chevron 5"/>
          <p:cNvSpPr/>
          <p:nvPr/>
        </p:nvSpPr>
        <p:spPr>
          <a:xfrm>
            <a:off x="5014569"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3  Match</a:t>
            </a:r>
          </a:p>
        </p:txBody>
      </p:sp>
      <p:sp>
        <p:nvSpPr>
          <p:cNvPr id="7" name="Chevron 6"/>
          <p:cNvSpPr/>
          <p:nvPr/>
        </p:nvSpPr>
        <p:spPr>
          <a:xfrm>
            <a:off x="7247534"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4  One owner</a:t>
            </a:r>
          </a:p>
        </p:txBody>
      </p:sp>
      <p:sp>
        <p:nvSpPr>
          <p:cNvPr id="8" name="Chevron 7"/>
          <p:cNvSpPr/>
          <p:nvPr/>
        </p:nvSpPr>
        <p:spPr>
          <a:xfrm>
            <a:off x="9480499"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5  Next week</a:t>
            </a:r>
          </a:p>
        </p:txBody>
      </p:sp>
      <p:sp>
        <p:nvSpPr>
          <p:cNvPr id="9" name="TextBox 8"/>
          <p:cNvSpPr txBox="1"/>
          <p:nvPr/>
        </p:nvSpPr>
        <p:spPr>
          <a:xfrm>
            <a:off x="594360"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Not-happy posts in Network, App &amp; Account, Porting; act only above 2× a normal week</a:t>
            </a:r>
          </a:p>
        </p:txBody>
      </p:sp>
      <p:sp>
        <p:nvSpPr>
          <p:cNvPr id="10" name="TextBox 9"/>
          <p:cNvSpPr txBox="1"/>
          <p:nvPr/>
        </p:nvSpPr>
        <p:spPr>
          <a:xfrm>
            <a:off x="2827324"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Read ten source posts; drop sarcasm and mislabels</a:t>
            </a:r>
          </a:p>
        </p:txBody>
      </p:sp>
      <p:sp>
        <p:nvSpPr>
          <p:cNvPr id="11" name="TextBox 10"/>
          <p:cNvSpPr txBox="1"/>
          <p:nvPr/>
        </p:nvSpPr>
        <p:spPr>
          <a:xfrm>
            <a:off x="5060289"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Tie what’s left to tickets, outages or bills</a:t>
            </a:r>
          </a:p>
        </p:txBody>
      </p:sp>
      <p:sp>
        <p:nvSpPr>
          <p:cNvPr id="12" name="TextBox 11"/>
          <p:cNvSpPr txBox="1"/>
          <p:nvPr/>
        </p:nvSpPr>
        <p:spPr>
          <a:xfrm>
            <a:off x="7293254"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Assign one squad and a response date</a:t>
            </a:r>
          </a:p>
        </p:txBody>
      </p:sp>
      <p:sp>
        <p:nvSpPr>
          <p:cNvPr id="13" name="TextBox 12"/>
          <p:cNvSpPr txBox="1"/>
          <p:nvPr/>
        </p:nvSpPr>
        <p:spPr>
          <a:xfrm>
            <a:off x="9526219"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Check whether that issue’s share fell</a:t>
            </a:r>
          </a:p>
        </p:txBody>
      </p:sp>
      <p:sp>
        <p:nvSpPr>
          <p:cNvPr id="14" name="Rounded Rectangle 13"/>
          <p:cNvSpPr/>
          <p:nvPr/>
        </p:nvSpPr>
        <p:spPr>
          <a:xfrm>
            <a:off x="548640" y="4754880"/>
            <a:ext cx="11091672" cy="11887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 y="4846320"/>
            <a:ext cx="3931920" cy="1005840"/>
          </a:xfrm>
          <a:prstGeom prst="rect">
            <a:avLst/>
          </a:prstGeom>
          <a:noFill/>
        </p:spPr>
        <p:txBody>
          <a:bodyPr wrap="square" lIns="0" tIns="0" rIns="0" bIns="0" anchor="ctr">
            <a:spAutoFit/>
          </a:bodyPr>
          <a:lstStyle/>
          <a:p>
            <a:pPr algn="l">
              <a:spcAft>
                <a:spcPts val="600"/>
              </a:spcAft>
            </a:pPr>
            <a:r>
              <a:rPr sz="2200" b="1" i="0">
                <a:solidFill>
                  <a:srgbClr val="1C2E6E"/>
                </a:solidFill>
                <a:latin typeface="Calibri"/>
              </a:rPr>
              <a:t>2 weeks </a:t>
            </a:r>
            <a:r>
              <a:rPr sz="1600" b="0" i="0">
                <a:solidFill>
                  <a:srgbClr val="1E293B"/>
                </a:solidFill>
                <a:latin typeface="Calibri"/>
              </a:rPr>
              <a:t>crossed n ≥ 115</a:t>
            </a:r>
          </a:p>
        </p:txBody>
      </p:sp>
      <p:sp>
        <p:nvSpPr>
          <p:cNvPr id="16" name="TextBox 15"/>
          <p:cNvSpPr txBox="1"/>
          <p:nvPr/>
        </p:nvSpPr>
        <p:spPr>
          <a:xfrm>
            <a:off x="4937760" y="4846320"/>
            <a:ext cx="6492240" cy="1005840"/>
          </a:xfrm>
          <a:prstGeom prst="rect">
            <a:avLst/>
          </a:prstGeom>
          <a:noFill/>
        </p:spPr>
        <p:txBody>
          <a:bodyPr wrap="square" lIns="0" tIns="0" rIns="0" bIns="0" anchor="ctr">
            <a:spAutoFit/>
          </a:bodyPr>
          <a:lstStyle/>
          <a:p>
            <a:pPr algn="l">
              <a:spcAft>
                <a:spcPts val="400"/>
              </a:spcAft>
            </a:pPr>
            <a:r>
              <a:rPr sz="1600" b="0" i="0">
                <a:solidFill>
                  <a:srgbClr val="1E293B"/>
                </a:solidFill>
                <a:latin typeface="Calibri"/>
              </a:rPr>
              <a:t>16 Mar: Singtel outage (352)  ·  14 Sep: multi-brand (149)</a:t>
            </a:r>
          </a:p>
          <a:p>
            <a:pPr algn="l">
              <a:spcAft>
                <a:spcPts val="400"/>
              </a:spcAft>
            </a:pPr>
            <a:r>
              <a:rPr sz="1600" b="0" i="0">
                <a:solidFill>
                  <a:srgbClr val="1E293B"/>
                </a:solidFill>
                <a:latin typeface="Calibri"/>
              </a:rPr>
              <a:t>Demo: open dashboard/index.html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E</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Actions and reflection</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What operators should do, and what I learned</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4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98748" y="409893"/>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RQ4 How can the signals drive operator decisions?</a:t>
            </a:r>
            <a:endParaRPr lang="en-US" sz="2400" b="1" i="0" dirty="0">
              <a:solidFill>
                <a:srgbClr val="1C2E6E"/>
              </a:solidFill>
              <a:latin typeface="Calibri"/>
            </a:endParaRPr>
          </a:p>
          <a:p>
            <a:pPr algn="l">
              <a:lnSpc>
                <a:spcPct val="95000"/>
              </a:lnSpc>
              <a:spcAft>
                <a:spcPts val="0"/>
              </a:spcAft>
            </a:pPr>
            <a:r>
              <a:rPr sz="2000" b="1" i="0" dirty="0">
                <a:solidFill>
                  <a:srgbClr val="1C2E6E"/>
                </a:solidFill>
                <a:latin typeface="Calibri"/>
              </a:rPr>
              <a:t>Recommendations, ordered by not-happy share</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27</a:t>
            </a:r>
          </a:p>
        </p:txBody>
      </p:sp>
      <p:sp>
        <p:nvSpPr>
          <p:cNvPr id="4" name="Rounded Rectangle 3"/>
          <p:cNvSpPr/>
          <p:nvPr/>
        </p:nvSpPr>
        <p:spPr>
          <a:xfrm>
            <a:off x="548640" y="1691640"/>
            <a:ext cx="3544824"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7452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1  Network</a:t>
            </a:r>
          </a:p>
        </p:txBody>
      </p:sp>
      <p:sp>
        <p:nvSpPr>
          <p:cNvPr id="6" name="TextBox 5"/>
          <p:cNvSpPr txBox="1"/>
          <p:nvPr/>
        </p:nvSpPr>
        <p:spPr>
          <a:xfrm>
            <a:off x="777240" y="233172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Status page and restoration ETA during incidents; join named-location posts to tickets</a:t>
            </a:r>
          </a:p>
        </p:txBody>
      </p:sp>
      <p:sp>
        <p:nvSpPr>
          <p:cNvPr id="7" name="TextBox 6"/>
          <p:cNvSpPr txBox="1"/>
          <p:nvPr/>
        </p:nvSpPr>
        <p:spPr>
          <a:xfrm>
            <a:off x="777240" y="315468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Faster first update; fewer tickets at that location</a:t>
            </a:r>
          </a:p>
        </p:txBody>
      </p:sp>
      <p:sp>
        <p:nvSpPr>
          <p:cNvPr id="8" name="Rounded Rectangle 7"/>
          <p:cNvSpPr/>
          <p:nvPr/>
        </p:nvSpPr>
        <p:spPr>
          <a:xfrm>
            <a:off x="4322064" y="1691640"/>
            <a:ext cx="3544824"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0664" y="187452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2  Plans &amp; pricing</a:t>
            </a:r>
          </a:p>
        </p:txBody>
      </p:sp>
      <p:sp>
        <p:nvSpPr>
          <p:cNvPr id="10" name="TextBox 9"/>
          <p:cNvSpPr txBox="1"/>
          <p:nvPr/>
        </p:nvSpPr>
        <p:spPr>
          <a:xfrm>
            <a:off x="4550664" y="233172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Show fair-use limits, add-on charges and recurring price at checkout</a:t>
            </a:r>
          </a:p>
        </p:txBody>
      </p:sp>
      <p:sp>
        <p:nvSpPr>
          <p:cNvPr id="11" name="TextBox 10"/>
          <p:cNvSpPr txBox="1"/>
          <p:nvPr/>
        </p:nvSpPr>
        <p:spPr>
          <a:xfrm>
            <a:off x="4550664" y="315468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hidden-charge threads</a:t>
            </a:r>
          </a:p>
        </p:txBody>
      </p:sp>
      <p:sp>
        <p:nvSpPr>
          <p:cNvPr id="12" name="Rounded Rectangle 11"/>
          <p:cNvSpPr/>
          <p:nvPr/>
        </p:nvSpPr>
        <p:spPr>
          <a:xfrm>
            <a:off x="8095488" y="169164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4088" y="187452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3  Devices &amp; app</a:t>
            </a:r>
          </a:p>
        </p:txBody>
      </p:sp>
      <p:sp>
        <p:nvSpPr>
          <p:cNvPr id="14" name="TextBox 13"/>
          <p:cNvSpPr txBox="1"/>
          <p:nvPr/>
        </p:nvSpPr>
        <p:spPr>
          <a:xfrm>
            <a:off x="8324088" y="2331720"/>
            <a:ext cx="3087624" cy="430887"/>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Publish router and </a:t>
            </a:r>
            <a:r>
              <a:rPr sz="1400" b="1" i="0" dirty="0" err="1">
                <a:solidFill>
                  <a:srgbClr val="1E293B"/>
                </a:solidFill>
                <a:latin typeface="Calibri"/>
              </a:rPr>
              <a:t>eSIM</a:t>
            </a:r>
            <a:r>
              <a:rPr sz="1400" b="0" i="0" dirty="0">
                <a:solidFill>
                  <a:srgbClr val="1E293B"/>
                </a:solidFill>
                <a:latin typeface="Calibri"/>
              </a:rPr>
              <a:t> requirements; watch posts after each app release</a:t>
            </a:r>
          </a:p>
        </p:txBody>
      </p:sp>
      <p:sp>
        <p:nvSpPr>
          <p:cNvPr id="15" name="TextBox 14"/>
          <p:cNvSpPr txBox="1"/>
          <p:nvPr/>
        </p:nvSpPr>
        <p:spPr>
          <a:xfrm>
            <a:off x="8324088" y="315468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equipment and “can’t log in” threads</a:t>
            </a:r>
          </a:p>
        </p:txBody>
      </p:sp>
      <p:sp>
        <p:nvSpPr>
          <p:cNvPr id="16" name="Rounded Rectangle 15"/>
          <p:cNvSpPr/>
          <p:nvPr/>
        </p:nvSpPr>
        <p:spPr>
          <a:xfrm>
            <a:off x="548640"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20624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4  Incident aftercare</a:t>
            </a:r>
          </a:p>
        </p:txBody>
      </p:sp>
      <p:sp>
        <p:nvSpPr>
          <p:cNvPr id="18" name="TextBox 17"/>
          <p:cNvSpPr txBox="1"/>
          <p:nvPr/>
        </p:nvSpPr>
        <p:spPr>
          <a:xfrm>
            <a:off x="777240" y="466344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Publish the compensation rule with the outage notice; keep self-service open</a:t>
            </a:r>
          </a:p>
        </p:txBody>
      </p:sp>
      <p:sp>
        <p:nvSpPr>
          <p:cNvPr id="19" name="TextBox 18"/>
          <p:cNvSpPr txBox="1"/>
          <p:nvPr/>
        </p:nvSpPr>
        <p:spPr>
          <a:xfrm>
            <a:off x="777240" y="548640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compensation and “can’t reach support” posts</a:t>
            </a:r>
          </a:p>
        </p:txBody>
      </p:sp>
      <p:sp>
        <p:nvSpPr>
          <p:cNvPr id="20" name="Rounded Rectangle 19"/>
          <p:cNvSpPr/>
          <p:nvPr/>
        </p:nvSpPr>
        <p:spPr>
          <a:xfrm>
            <a:off x="4322064"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50664" y="420624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5  Roaming, porting</a:t>
            </a:r>
          </a:p>
        </p:txBody>
      </p:sp>
      <p:sp>
        <p:nvSpPr>
          <p:cNvPr id="22" name="TextBox 21"/>
          <p:cNvSpPr txBox="1"/>
          <p:nvPr/>
        </p:nvSpPr>
        <p:spPr>
          <a:xfrm>
            <a:off x="4550664" y="466344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Small, mostly questions: a travel checklist and clearer port timelines</a:t>
            </a:r>
          </a:p>
        </p:txBody>
      </p:sp>
      <p:sp>
        <p:nvSpPr>
          <p:cNvPr id="23" name="TextBox 22"/>
          <p:cNvSpPr txBox="1"/>
          <p:nvPr/>
        </p:nvSpPr>
        <p:spPr>
          <a:xfrm>
            <a:off x="4550664" y="548640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No priority unless volume rises</a:t>
            </a:r>
          </a:p>
        </p:txBody>
      </p:sp>
      <p:sp>
        <p:nvSpPr>
          <p:cNvPr id="24" name="Rounded Rectangle 23"/>
          <p:cNvSpPr/>
          <p:nvPr/>
        </p:nvSpPr>
        <p:spPr>
          <a:xfrm>
            <a:off x="8095488"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4088" y="420624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6  Weekly huddle</a:t>
            </a:r>
          </a:p>
        </p:txBody>
      </p:sp>
      <p:sp>
        <p:nvSpPr>
          <p:cNvPr id="26" name="TextBox 25"/>
          <p:cNvSpPr txBox="1"/>
          <p:nvPr/>
        </p:nvSpPr>
        <p:spPr>
          <a:xfrm>
            <a:off x="8324088" y="466344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Act only when a week reaches twice a normal week; one owner, one date</a:t>
            </a:r>
          </a:p>
        </p:txBody>
      </p:sp>
      <p:sp>
        <p:nvSpPr>
          <p:cNvPr id="27" name="TextBox 26"/>
          <p:cNvSpPr txBox="1"/>
          <p:nvPr/>
        </p:nvSpPr>
        <p:spPr>
          <a:xfrm>
            <a:off x="8324088" y="548640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That issue’s share falls next week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What I found most interesting</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28</a:t>
            </a:r>
          </a:p>
        </p:txBody>
      </p:sp>
      <p:sp>
        <p:nvSpPr>
          <p:cNvPr id="4" name="Oval 3"/>
          <p:cNvSpPr/>
          <p:nvPr/>
        </p:nvSpPr>
        <p:spPr>
          <a:xfrm>
            <a:off x="548640" y="184708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1</a:t>
            </a:r>
          </a:p>
        </p:txBody>
      </p:sp>
      <p:sp>
        <p:nvSpPr>
          <p:cNvPr id="5" name="TextBox 4"/>
          <p:cNvSpPr txBox="1"/>
          <p:nvPr/>
        </p:nvSpPr>
        <p:spPr>
          <a:xfrm>
            <a:off x="1371600" y="1783080"/>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The bigger model didn’t win</a:t>
            </a:r>
          </a:p>
        </p:txBody>
      </p:sp>
      <p:sp>
        <p:nvSpPr>
          <p:cNvPr id="6" name="TextBox 5"/>
          <p:cNvSpPr txBox="1"/>
          <p:nvPr/>
        </p:nvSpPr>
        <p:spPr>
          <a:xfrm>
            <a:off x="5486400" y="1783080"/>
            <a:ext cx="6153912" cy="73152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GPT-4o ties mini on sentiment at ~17× the cost, on both gold sets.</a:t>
            </a:r>
          </a:p>
        </p:txBody>
      </p:sp>
      <p:sp>
        <p:nvSpPr>
          <p:cNvPr id="7" name="Oval 6"/>
          <p:cNvSpPr/>
          <p:nvPr/>
        </p:nvSpPr>
        <p:spPr>
          <a:xfrm>
            <a:off x="548640" y="294436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2</a:t>
            </a:r>
          </a:p>
        </p:txBody>
      </p:sp>
      <p:sp>
        <p:nvSpPr>
          <p:cNvPr id="8" name="TextBox 7"/>
          <p:cNvSpPr txBox="1"/>
          <p:nvPr/>
        </p:nvSpPr>
        <p:spPr>
          <a:xfrm>
            <a:off x="1371600" y="2880360"/>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My best method failed the held-out test</a:t>
            </a:r>
          </a:p>
        </p:txBody>
      </p:sp>
      <p:sp>
        <p:nvSpPr>
          <p:cNvPr id="9" name="TextBox 8"/>
          <p:cNvSpPr txBox="1"/>
          <p:nvPr/>
        </p:nvSpPr>
        <p:spPr>
          <a:xfrm>
            <a:off x="5486400" y="2880360"/>
            <a:ext cx="6153912" cy="73152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Hybrid: 0.680 on the set I tuned on, 0.509 on held-out posts, where GPT-4o on every post won.</a:t>
            </a:r>
          </a:p>
        </p:txBody>
      </p:sp>
      <p:sp>
        <p:nvSpPr>
          <p:cNvPr id="10" name="Oval 9"/>
          <p:cNvSpPr/>
          <p:nvPr/>
        </p:nvSpPr>
        <p:spPr>
          <a:xfrm>
            <a:off x="548640" y="40416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3</a:t>
            </a:r>
          </a:p>
        </p:txBody>
      </p:sp>
      <p:sp>
        <p:nvSpPr>
          <p:cNvPr id="11" name="TextBox 10"/>
          <p:cNvSpPr txBox="1"/>
          <p:nvPr/>
        </p:nvSpPr>
        <p:spPr>
          <a:xfrm>
            <a:off x="1371600" y="3977639"/>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Two ‘insights’ were one outage</a:t>
            </a:r>
          </a:p>
        </p:txBody>
      </p:sp>
      <p:sp>
        <p:nvSpPr>
          <p:cNvPr id="12" name="TextBox 11"/>
          <p:cNvSpPr txBox="1"/>
          <p:nvPr/>
        </p:nvSpPr>
        <p:spPr>
          <a:xfrm>
            <a:off x="5486400" y="3977639"/>
            <a:ext cx="6153912" cy="73152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Reddit vs HWZ and Singtel vs StarHub both close once the 22 outage threads are removed.</a:t>
            </a:r>
          </a:p>
        </p:txBody>
      </p:sp>
      <p:sp>
        <p:nvSpPr>
          <p:cNvPr id="13" name="Oval 12"/>
          <p:cNvSpPr/>
          <p:nvPr/>
        </p:nvSpPr>
        <p:spPr>
          <a:xfrm>
            <a:off x="548640" y="513892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4</a:t>
            </a:r>
          </a:p>
        </p:txBody>
      </p:sp>
      <p:sp>
        <p:nvSpPr>
          <p:cNvPr id="14" name="TextBox 13"/>
          <p:cNvSpPr txBox="1"/>
          <p:nvPr/>
        </p:nvSpPr>
        <p:spPr>
          <a:xfrm>
            <a:off x="1371600" y="5074920"/>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The data had bugs too</a:t>
            </a:r>
          </a:p>
        </p:txBody>
      </p:sp>
      <p:sp>
        <p:nvSpPr>
          <p:cNvPr id="15" name="TextBox 14"/>
          <p:cNvSpPr txBox="1"/>
          <p:nvPr/>
        </p:nvSpPr>
        <p:spPr>
          <a:xfrm>
            <a:off x="5486400" y="5074920"/>
            <a:ext cx="6153912" cy="73152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24,690 rows → 11,643 unique posts; HWZ scraper read only page 1 until fixed.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Limitations I’d flag to any reader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29</a:t>
            </a:r>
          </a:p>
        </p:txBody>
      </p:sp>
      <p:sp>
        <p:nvSpPr>
          <p:cNvPr id="4" name="Rounded Rectangle 3"/>
          <p:cNvSpPr/>
          <p:nvPr/>
        </p:nvSpPr>
        <p:spPr>
          <a:xfrm>
            <a:off x="548640" y="1691640"/>
            <a:ext cx="5422392" cy="39319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920240"/>
            <a:ext cx="4846320" cy="457200"/>
          </a:xfrm>
          <a:prstGeom prst="rect">
            <a:avLst/>
          </a:prstGeom>
          <a:noFill/>
        </p:spPr>
        <p:txBody>
          <a:bodyPr wrap="square" lIns="0" tIns="0" rIns="0" bIns="0" anchor="t">
            <a:spAutoFit/>
          </a:bodyPr>
          <a:lstStyle/>
          <a:p>
            <a:pPr algn="l">
              <a:spcAft>
                <a:spcPts val="600"/>
              </a:spcAft>
            </a:pPr>
            <a:r>
              <a:rPr sz="2200" b="1" i="0">
                <a:solidFill>
                  <a:srgbClr val="1C2E6E"/>
                </a:solidFill>
                <a:latin typeface="Calibri"/>
              </a:rPr>
              <a:t>Data</a:t>
            </a:r>
          </a:p>
        </p:txBody>
      </p:sp>
      <p:sp>
        <p:nvSpPr>
          <p:cNvPr id="6" name="TextBox 5"/>
          <p:cNvSpPr txBox="1"/>
          <p:nvPr/>
        </p:nvSpPr>
        <p:spPr>
          <a:xfrm>
            <a:off x="822959" y="2560320"/>
            <a:ext cx="4892040" cy="2841804"/>
          </a:xfrm>
          <a:prstGeom prst="rect">
            <a:avLst/>
          </a:prstGeom>
          <a:noFill/>
        </p:spPr>
        <p:txBody>
          <a:bodyPr wrap="square" lIns="0" tIns="0" rIns="0" bIns="0" anchor="t">
            <a:spAutoFit/>
          </a:bodyPr>
          <a:lstStyle/>
          <a:p>
            <a:pPr marL="256032" indent="-256032" algn="l">
              <a:spcAft>
                <a:spcPts val="1400"/>
              </a:spcAft>
              <a:buClr>
                <a:srgbClr val="D29B08"/>
              </a:buClr>
              <a:buFont typeface="Arial"/>
              <a:buChar char="•"/>
            </a:pPr>
            <a:r>
              <a:rPr sz="1700" b="0" i="0" dirty="0">
                <a:solidFill>
                  <a:srgbClr val="1E293B"/>
                </a:solidFill>
                <a:latin typeface="Calibri"/>
              </a:rPr>
              <a:t>Forum posters self-select; they are not all subscribers</a:t>
            </a:r>
          </a:p>
          <a:p>
            <a:pPr marL="256032" indent="-256032" algn="l">
              <a:spcAft>
                <a:spcPts val="1400"/>
              </a:spcAft>
              <a:buClr>
                <a:srgbClr val="D29B08"/>
              </a:buClr>
              <a:buFont typeface="Arial"/>
              <a:buChar char="•"/>
            </a:pPr>
            <a:r>
              <a:rPr lang="en-US" sz="1700" b="0" i="0" dirty="0">
                <a:solidFill>
                  <a:srgbClr val="1E293B"/>
                </a:solidFill>
                <a:latin typeface="Calibri"/>
              </a:rPr>
              <a:t>People post publicly to complain, so a high not-happy share is expected</a:t>
            </a:r>
          </a:p>
          <a:p>
            <a:pPr marL="256032" indent="-256032" algn="l">
              <a:spcAft>
                <a:spcPts val="1400"/>
              </a:spcAft>
              <a:buClr>
                <a:srgbClr val="D29B08"/>
              </a:buClr>
              <a:buFont typeface="Arial"/>
              <a:buChar char="•"/>
            </a:pPr>
            <a:r>
              <a:rPr sz="1700" b="0" i="0" dirty="0">
                <a:solidFill>
                  <a:srgbClr val="1E293B"/>
                </a:solidFill>
                <a:latin typeface="Calibri"/>
              </a:rPr>
              <a:t>95% of posts from 2026; replies cluster by thread</a:t>
            </a:r>
          </a:p>
          <a:p>
            <a:pPr marL="256032" indent="-256032">
              <a:spcAft>
                <a:spcPts val="1400"/>
              </a:spcAft>
              <a:buClr>
                <a:srgbClr val="D29B08"/>
              </a:buClr>
              <a:buFont typeface="Arial"/>
              <a:buChar char="•"/>
            </a:pPr>
            <a:r>
              <a:rPr sz="1700" b="0" i="0" dirty="0">
                <a:solidFill>
                  <a:srgbClr val="1E293B"/>
                </a:solidFill>
                <a:latin typeface="Calibri"/>
              </a:rPr>
              <a:t>Recent Reddit posts via a research archive</a:t>
            </a:r>
            <a:r>
              <a:rPr lang="en-US" sz="1700" b="0" i="0" dirty="0">
                <a:solidFill>
                  <a:srgbClr val="1E293B"/>
                </a:solidFill>
                <a:latin typeface="Calibri"/>
              </a:rPr>
              <a:t>,</a:t>
            </a:r>
            <a:r>
              <a:rPr lang="en-US" sz="1600" dirty="0"/>
              <a:t> which can miss deleted posts</a:t>
            </a:r>
            <a:endParaRPr sz="1700" b="0" i="0" dirty="0">
              <a:solidFill>
                <a:srgbClr val="1E293B"/>
              </a:solidFill>
              <a:latin typeface="Calibri"/>
            </a:endParaRPr>
          </a:p>
          <a:p>
            <a:pPr marL="256032" indent="-256032" algn="l">
              <a:spcAft>
                <a:spcPts val="1400"/>
              </a:spcAft>
              <a:buClr>
                <a:srgbClr val="D29B08"/>
              </a:buClr>
              <a:buFont typeface="Arial"/>
              <a:buChar char="•"/>
            </a:pPr>
            <a:r>
              <a:rPr sz="1700" b="0" i="0" dirty="0">
                <a:solidFill>
                  <a:srgbClr val="1E293B"/>
                </a:solidFill>
                <a:latin typeface="Calibri"/>
              </a:rPr>
              <a:t>No tickets, outages or NPS to validate against</a:t>
            </a:r>
          </a:p>
        </p:txBody>
      </p:sp>
      <p:sp>
        <p:nvSpPr>
          <p:cNvPr id="7" name="Rounded Rectangle 6"/>
          <p:cNvSpPr/>
          <p:nvPr/>
        </p:nvSpPr>
        <p:spPr>
          <a:xfrm>
            <a:off x="6217920" y="1691640"/>
            <a:ext cx="5422392" cy="39319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920240"/>
            <a:ext cx="4846320" cy="457200"/>
          </a:xfrm>
          <a:prstGeom prst="rect">
            <a:avLst/>
          </a:prstGeom>
          <a:noFill/>
        </p:spPr>
        <p:txBody>
          <a:bodyPr wrap="square" lIns="0" tIns="0" rIns="0" bIns="0" anchor="t">
            <a:spAutoFit/>
          </a:bodyPr>
          <a:lstStyle/>
          <a:p>
            <a:pPr algn="l">
              <a:spcAft>
                <a:spcPts val="600"/>
              </a:spcAft>
            </a:pPr>
            <a:r>
              <a:rPr sz="2200" b="1" i="0">
                <a:solidFill>
                  <a:srgbClr val="1C2E6E"/>
                </a:solidFill>
                <a:latin typeface="Calibri"/>
              </a:rPr>
              <a:t>Method</a:t>
            </a:r>
          </a:p>
        </p:txBody>
      </p:sp>
      <p:sp>
        <p:nvSpPr>
          <p:cNvPr id="9" name="TextBox 8"/>
          <p:cNvSpPr txBox="1"/>
          <p:nvPr/>
        </p:nvSpPr>
        <p:spPr>
          <a:xfrm>
            <a:off x="6492240" y="2560320"/>
            <a:ext cx="4892040" cy="1651734"/>
          </a:xfrm>
          <a:prstGeom prst="rect">
            <a:avLst/>
          </a:prstGeom>
          <a:noFill/>
        </p:spPr>
        <p:txBody>
          <a:bodyPr wrap="square" lIns="0" tIns="0" rIns="0" bIns="0" anchor="t">
            <a:spAutoFit/>
          </a:bodyPr>
          <a:lstStyle/>
          <a:p>
            <a:pPr marL="256032" indent="-256032">
              <a:spcAft>
                <a:spcPts val="1400"/>
              </a:spcAft>
              <a:buClr>
                <a:srgbClr val="D29B08"/>
              </a:buClr>
              <a:buFont typeface="Arial"/>
              <a:buChar char="•"/>
            </a:pPr>
            <a:r>
              <a:rPr sz="1700" b="0" i="0" dirty="0">
                <a:solidFill>
                  <a:srgbClr val="1E293B"/>
                </a:solidFill>
                <a:latin typeface="Calibri"/>
              </a:rPr>
              <a:t>Mini matches humans on ~2/3 of posts; humans agree at </a:t>
            </a:r>
            <a:r>
              <a:rPr lang="en-US" sz="1600" dirty="0"/>
              <a:t>kappa </a:t>
            </a:r>
            <a:r>
              <a:rPr sz="1700" b="0" i="0" dirty="0" err="1">
                <a:solidFill>
                  <a:srgbClr val="1E293B"/>
                </a:solidFill>
                <a:latin typeface="Calibri"/>
              </a:rPr>
              <a:t>κ</a:t>
            </a:r>
            <a:r>
              <a:rPr lang="en-US" sz="1700" b="0" i="0" dirty="0">
                <a:solidFill>
                  <a:srgbClr val="1E293B"/>
                </a:solidFill>
                <a:latin typeface="Calibri"/>
              </a:rPr>
              <a:t> </a:t>
            </a:r>
            <a:r>
              <a:rPr sz="1700" b="0" i="0" dirty="0">
                <a:solidFill>
                  <a:srgbClr val="1E293B"/>
                </a:solidFill>
                <a:latin typeface="Calibri"/>
              </a:rPr>
              <a:t> 0.39</a:t>
            </a:r>
          </a:p>
          <a:p>
            <a:pPr marL="256032" indent="-256032" algn="l">
              <a:spcAft>
                <a:spcPts val="1400"/>
              </a:spcAft>
              <a:buClr>
                <a:srgbClr val="D29B08"/>
              </a:buClr>
              <a:buFont typeface="Arial"/>
              <a:buChar char="•"/>
            </a:pPr>
            <a:r>
              <a:rPr sz="1700" b="0" i="0" dirty="0">
                <a:solidFill>
                  <a:srgbClr val="1E293B"/>
                </a:solidFill>
                <a:latin typeface="Calibri"/>
              </a:rPr>
              <a:t>Hybrid’s 0.680 is optimistic (0.509 held out)</a:t>
            </a:r>
          </a:p>
          <a:p>
            <a:pPr marL="256032" indent="-256032">
              <a:spcAft>
                <a:spcPts val="1400"/>
              </a:spcAft>
              <a:buClr>
                <a:srgbClr val="D29B08"/>
              </a:buClr>
              <a:buFont typeface="Arial"/>
              <a:buChar char="•"/>
            </a:pPr>
            <a:r>
              <a:rPr sz="1700" b="0" i="0" dirty="0">
                <a:solidFill>
                  <a:srgbClr val="1E293B"/>
                </a:solidFill>
                <a:latin typeface="Calibri"/>
              </a:rPr>
              <a:t>One</a:t>
            </a:r>
            <a:r>
              <a:rPr lang="en-US" sz="1600" dirty="0"/>
              <a:t> multi-brand post gives its one sentiment to every brand.</a:t>
            </a:r>
            <a:endParaRPr sz="1700" b="0" i="0" dirty="0">
              <a:solidFill>
                <a:srgbClr val="1E293B"/>
              </a:solidFill>
              <a:latin typeface="Calibri"/>
            </a:endParaRPr>
          </a:p>
        </p:txBody>
      </p:sp>
    </p:spTree>
    <p:extLst>
      <p:ext uri="{BB962C8B-B14F-4D97-AF65-F5344CB8AC3E}">
        <p14:creationId xmlns:p14="http://schemas.microsoft.com/office/powerpoint/2010/main" val="2804290051"/>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Next steps, in order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30</a:t>
            </a:r>
          </a:p>
        </p:txBody>
      </p:sp>
      <p:sp>
        <p:nvSpPr>
          <p:cNvPr id="4" name="Rounded Rectangle 3"/>
          <p:cNvSpPr/>
          <p:nvPr/>
        </p:nvSpPr>
        <p:spPr>
          <a:xfrm>
            <a:off x="548640" y="1920240"/>
            <a:ext cx="2601468" cy="3752772"/>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59"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1</a:t>
            </a:r>
          </a:p>
        </p:txBody>
      </p:sp>
      <p:sp>
        <p:nvSpPr>
          <p:cNvPr id="6" name="TextBox 5"/>
          <p:cNvSpPr txBox="1"/>
          <p:nvPr/>
        </p:nvSpPr>
        <p:spPr>
          <a:xfrm>
            <a:off x="822959"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Issue tagging</a:t>
            </a:r>
          </a:p>
        </p:txBody>
      </p:sp>
      <p:sp>
        <p:nvSpPr>
          <p:cNvPr id="7" name="TextBox 6"/>
          <p:cNvSpPr txBox="1"/>
          <p:nvPr/>
        </p:nvSpPr>
        <p:spPr>
          <a:xfrm>
            <a:off x="822959" y="4023360"/>
            <a:ext cx="2052828" cy="1477328"/>
          </a:xfrm>
          <a:prstGeom prst="rect">
            <a:avLst/>
          </a:prstGeom>
          <a:noFill/>
        </p:spPr>
        <p:txBody>
          <a:bodyPr wrap="square" lIns="0" tIns="0" rIns="0" bIns="0" anchor="t">
            <a:spAutoFit/>
          </a:bodyPr>
          <a:lstStyle/>
          <a:p>
            <a:pPr>
              <a:spcAft>
                <a:spcPts val="600"/>
              </a:spcAft>
            </a:pPr>
            <a:r>
              <a:rPr sz="1600" b="0" i="0" dirty="0">
                <a:solidFill>
                  <a:srgbClr val="1E293B"/>
                </a:solidFill>
                <a:latin typeface="Calibri"/>
              </a:rPr>
              <a:t>Lift recent-post issue F1 (0.477), starting with </a:t>
            </a:r>
            <a:r>
              <a:rPr sz="1600" b="1" i="0" dirty="0">
                <a:solidFill>
                  <a:srgbClr val="1E293B"/>
                </a:solidFill>
                <a:latin typeface="Calibri"/>
              </a:rPr>
              <a:t>Customer Service</a:t>
            </a:r>
            <a:r>
              <a:rPr lang="en-US" sz="1600" b="0" i="0" dirty="0">
                <a:solidFill>
                  <a:srgbClr val="1E293B"/>
                </a:solidFill>
                <a:latin typeface="Calibri"/>
              </a:rPr>
              <a:t>, find the</a:t>
            </a:r>
            <a:r>
              <a:rPr lang="en-US" sz="1600" dirty="0"/>
              <a:t> second annotator label part of the recent-posts gold set</a:t>
            </a:r>
            <a:endParaRPr sz="1600" b="0" i="0" dirty="0">
              <a:solidFill>
                <a:srgbClr val="1E293B"/>
              </a:solidFill>
              <a:latin typeface="Calibri"/>
            </a:endParaRPr>
          </a:p>
        </p:txBody>
      </p:sp>
      <p:sp>
        <p:nvSpPr>
          <p:cNvPr id="8" name="Rounded Rectangle 7"/>
          <p:cNvSpPr/>
          <p:nvPr/>
        </p:nvSpPr>
        <p:spPr>
          <a:xfrm>
            <a:off x="3378708"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653028"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2</a:t>
            </a:r>
          </a:p>
        </p:txBody>
      </p:sp>
      <p:sp>
        <p:nvSpPr>
          <p:cNvPr id="10" name="TextBox 9"/>
          <p:cNvSpPr txBox="1"/>
          <p:nvPr/>
        </p:nvSpPr>
        <p:spPr>
          <a:xfrm>
            <a:off x="3653028"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Adjudicate</a:t>
            </a:r>
          </a:p>
        </p:txBody>
      </p:sp>
      <p:sp>
        <p:nvSpPr>
          <p:cNvPr id="11" name="TextBox 10"/>
          <p:cNvSpPr txBox="1"/>
          <p:nvPr/>
        </p:nvSpPr>
        <p:spPr>
          <a:xfrm>
            <a:off x="3653028" y="4023360"/>
            <a:ext cx="2052828" cy="1097280"/>
          </a:xfrm>
          <a:prstGeom prst="rect">
            <a:avLst/>
          </a:prstGeom>
          <a:noFill/>
        </p:spPr>
        <p:txBody>
          <a:bodyPr wrap="square" lIns="0" tIns="0" rIns="0" bIns="0" anchor="t">
            <a:spAutoFit/>
          </a:bodyPr>
          <a:lstStyle/>
          <a:p>
            <a:pPr algn="l">
              <a:spcAft>
                <a:spcPts val="600"/>
              </a:spcAft>
            </a:pPr>
            <a:r>
              <a:rPr sz="1600" b="0" i="0">
                <a:solidFill>
                  <a:srgbClr val="1E293B"/>
                </a:solidFill>
                <a:latin typeface="Calibri"/>
              </a:rPr>
              <a:t>Resolve A–B disagreements in a separate file</a:t>
            </a:r>
          </a:p>
        </p:txBody>
      </p:sp>
      <p:sp>
        <p:nvSpPr>
          <p:cNvPr id="12" name="Rounded Rectangle 11"/>
          <p:cNvSpPr/>
          <p:nvPr/>
        </p:nvSpPr>
        <p:spPr>
          <a:xfrm>
            <a:off x="6208776"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83096"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3</a:t>
            </a:r>
          </a:p>
        </p:txBody>
      </p:sp>
      <p:sp>
        <p:nvSpPr>
          <p:cNvPr id="14" name="TextBox 13"/>
          <p:cNvSpPr txBox="1"/>
          <p:nvPr/>
        </p:nvSpPr>
        <p:spPr>
          <a:xfrm>
            <a:off x="6483096"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Fresh held-out test</a:t>
            </a:r>
          </a:p>
        </p:txBody>
      </p:sp>
      <p:sp>
        <p:nvSpPr>
          <p:cNvPr id="15" name="TextBox 14"/>
          <p:cNvSpPr txBox="1"/>
          <p:nvPr/>
        </p:nvSpPr>
        <p:spPr>
          <a:xfrm>
            <a:off x="6483096" y="4023360"/>
            <a:ext cx="2052828" cy="738664"/>
          </a:xfrm>
          <a:prstGeom prst="rect">
            <a:avLst/>
          </a:prstGeom>
          <a:noFill/>
        </p:spPr>
        <p:txBody>
          <a:bodyPr wrap="square" lIns="0" tIns="0" rIns="0" bIns="0" anchor="t">
            <a:spAutoFit/>
          </a:bodyPr>
          <a:lstStyle/>
          <a:p>
            <a:pPr algn="l">
              <a:spcAft>
                <a:spcPts val="600"/>
              </a:spcAft>
            </a:pPr>
            <a:r>
              <a:rPr sz="1600" b="0" i="0" dirty="0">
                <a:solidFill>
                  <a:srgbClr val="1E293B"/>
                </a:solidFill>
                <a:latin typeface="Calibri"/>
              </a:rPr>
              <a:t>Hybrid vs GPT-4o on </a:t>
            </a:r>
            <a:r>
              <a:rPr sz="1600" b="1" i="0" dirty="0">
                <a:solidFill>
                  <a:srgbClr val="1E293B"/>
                </a:solidFill>
                <a:latin typeface="Calibri"/>
              </a:rPr>
              <a:t>every</a:t>
            </a:r>
            <a:r>
              <a:rPr sz="1600" b="0" i="0" dirty="0">
                <a:solidFill>
                  <a:srgbClr val="1E293B"/>
                </a:solidFill>
                <a:latin typeface="Calibri"/>
              </a:rPr>
              <a:t> post, on new posts</a:t>
            </a:r>
          </a:p>
        </p:txBody>
      </p:sp>
      <p:sp>
        <p:nvSpPr>
          <p:cNvPr id="16" name="Rounded Rectangle 15"/>
          <p:cNvSpPr/>
          <p:nvPr/>
        </p:nvSpPr>
        <p:spPr>
          <a:xfrm>
            <a:off x="9038844"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313164"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4</a:t>
            </a:r>
          </a:p>
        </p:txBody>
      </p:sp>
      <p:sp>
        <p:nvSpPr>
          <p:cNvPr id="18" name="TextBox 17"/>
          <p:cNvSpPr txBox="1"/>
          <p:nvPr/>
        </p:nvSpPr>
        <p:spPr>
          <a:xfrm>
            <a:off x="9313164"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Brand-level sentiment</a:t>
            </a:r>
          </a:p>
        </p:txBody>
      </p:sp>
      <p:sp>
        <p:nvSpPr>
          <p:cNvPr id="19" name="TextBox 18"/>
          <p:cNvSpPr txBox="1"/>
          <p:nvPr/>
        </p:nvSpPr>
        <p:spPr>
          <a:xfrm>
            <a:off x="9313164" y="4023360"/>
            <a:ext cx="2052828" cy="1097280"/>
          </a:xfrm>
          <a:prstGeom prst="rect">
            <a:avLst/>
          </a:prstGeom>
          <a:noFill/>
        </p:spPr>
        <p:txBody>
          <a:bodyPr wrap="square" lIns="0" tIns="0" rIns="0" bIns="0" anchor="t">
            <a:spAutoFit/>
          </a:bodyPr>
          <a:lstStyle/>
          <a:p>
            <a:pPr algn="l">
              <a:spcAft>
                <a:spcPts val="600"/>
              </a:spcAft>
            </a:pPr>
            <a:r>
              <a:rPr sz="1600" b="0" i="0">
                <a:solidFill>
                  <a:srgbClr val="1E293B"/>
                </a:solidFill>
                <a:latin typeface="Calibri"/>
              </a:rPr>
              <a:t>One label per brand per post; validate against tickets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31</a:t>
            </a:r>
          </a:p>
        </p:txBody>
      </p:sp>
      <p:sp>
        <p:nvSpPr>
          <p:cNvPr id="3" name="TextBox 2"/>
          <p:cNvSpPr txBox="1"/>
          <p:nvPr/>
        </p:nvSpPr>
        <p:spPr>
          <a:xfrm>
            <a:off x="822959" y="1828800"/>
            <a:ext cx="10515600" cy="1097280"/>
          </a:xfrm>
          <a:prstGeom prst="rect">
            <a:avLst/>
          </a:prstGeom>
          <a:noFill/>
        </p:spPr>
        <p:txBody>
          <a:bodyPr wrap="square" lIns="0" tIns="0" rIns="0" bIns="0" anchor="t">
            <a:spAutoFit/>
          </a:bodyPr>
          <a:lstStyle/>
          <a:p>
            <a:pPr algn="l">
              <a:spcAft>
                <a:spcPts val="600"/>
              </a:spcAft>
            </a:pPr>
            <a:r>
              <a:rPr sz="4800" b="1" i="0">
                <a:solidFill>
                  <a:srgbClr val="1C2E6E"/>
                </a:solidFill>
                <a:latin typeface="Calibri"/>
              </a:rPr>
              <a:t>Thank you</a:t>
            </a:r>
          </a:p>
        </p:txBody>
      </p:sp>
      <p:sp>
        <p:nvSpPr>
          <p:cNvPr id="4" name="TextBox 3"/>
          <p:cNvSpPr txBox="1"/>
          <p:nvPr/>
        </p:nvSpPr>
        <p:spPr>
          <a:xfrm>
            <a:off x="822959" y="2926080"/>
            <a:ext cx="10515600" cy="640080"/>
          </a:xfrm>
          <a:prstGeom prst="rect">
            <a:avLst/>
          </a:prstGeom>
          <a:noFill/>
        </p:spPr>
        <p:txBody>
          <a:bodyPr wrap="square" lIns="0" tIns="0" rIns="0" bIns="0" anchor="t">
            <a:spAutoFit/>
          </a:bodyPr>
          <a:lstStyle/>
          <a:p>
            <a:pPr algn="l">
              <a:spcAft>
                <a:spcPts val="600"/>
              </a:spcAft>
            </a:pPr>
            <a:r>
              <a:rPr sz="2400" b="0" i="0">
                <a:solidFill>
                  <a:srgbClr val="5B6475"/>
                </a:solidFill>
                <a:latin typeface="Calibri"/>
              </a:rPr>
              <a:t>Questions and discussion</a:t>
            </a:r>
          </a:p>
        </p:txBody>
      </p:sp>
      <p:sp>
        <p:nvSpPr>
          <p:cNvPr id="5" name="Pentagon 4"/>
          <p:cNvSpPr/>
          <p:nvPr/>
        </p:nvSpPr>
        <p:spPr>
          <a:xfrm>
            <a:off x="822959" y="4023360"/>
            <a:ext cx="3547872" cy="100584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LLM for sentiment</a:t>
            </a:r>
          </a:p>
        </p:txBody>
      </p:sp>
      <p:sp>
        <p:nvSpPr>
          <p:cNvPr id="6" name="Chevron 5"/>
          <p:cNvSpPr/>
          <p:nvPr/>
        </p:nvSpPr>
        <p:spPr>
          <a:xfrm>
            <a:off x="4443984" y="4023360"/>
            <a:ext cx="3547872" cy="100584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Rules + targeted GPT-4o for issues</a:t>
            </a:r>
          </a:p>
        </p:txBody>
      </p:sp>
      <p:sp>
        <p:nvSpPr>
          <p:cNvPr id="7" name="Chevron 6"/>
          <p:cNvSpPr/>
          <p:nvPr/>
        </p:nvSpPr>
        <p:spPr>
          <a:xfrm>
            <a:off x="8065008" y="4023360"/>
            <a:ext cx="3547872" cy="100584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People decide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Q</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Backup: anticipated questions</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Short answers, with the evidence behind them</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a:solidFill>
                  <a:srgbClr val="D29B08"/>
                </a:solidFill>
                <a:latin typeface="Calibri"/>
              </a:rPr>
              <a:t>For Q&amp;A</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D04B91-B283-CBB3-2B79-15CEC783FE85}"/>
              </a:ext>
            </a:extLst>
          </p:cNvPr>
          <p:cNvSpPr txBox="1"/>
          <p:nvPr/>
        </p:nvSpPr>
        <p:spPr>
          <a:xfrm>
            <a:off x="5085495" y="530835"/>
            <a:ext cx="6840000" cy="350865"/>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In a glance</a:t>
            </a:r>
            <a:endParaRPr sz="2000" b="1" i="0" dirty="0">
              <a:solidFill>
                <a:srgbClr val="1C2E6E"/>
              </a:solidFill>
              <a:latin typeface="Calibri"/>
            </a:endParaRPr>
          </a:p>
        </p:txBody>
      </p:sp>
      <p:graphicFrame>
        <p:nvGraphicFramePr>
          <p:cNvPr id="5" name="Table 4">
            <a:extLst>
              <a:ext uri="{FF2B5EF4-FFF2-40B4-BE49-F238E27FC236}">
                <a16:creationId xmlns:a16="http://schemas.microsoft.com/office/drawing/2014/main" id="{8EE90225-90A8-8696-BB5A-8B523B5665BA}"/>
              </a:ext>
            </a:extLst>
          </p:cNvPr>
          <p:cNvGraphicFramePr>
            <a:graphicFrameLocks noGrp="1"/>
          </p:cNvGraphicFramePr>
          <p:nvPr/>
        </p:nvGraphicFramePr>
        <p:xfrm>
          <a:off x="1026940" y="1540412"/>
          <a:ext cx="10424161" cy="5120640"/>
        </p:xfrm>
        <a:graphic>
          <a:graphicData uri="http://schemas.openxmlformats.org/drawingml/2006/table">
            <a:tbl>
              <a:tblPr firstRow="1" bandRow="1">
                <a:tableStyleId>{5C22544A-7EE6-4342-B048-85BDC9FD1C3A}</a:tableStyleId>
              </a:tblPr>
              <a:tblGrid>
                <a:gridCol w="3740128">
                  <a:extLst>
                    <a:ext uri="{9D8B030D-6E8A-4147-A177-3AD203B41FA5}">
                      <a16:colId xmlns:a16="http://schemas.microsoft.com/office/drawing/2014/main" val="20000"/>
                    </a:ext>
                  </a:extLst>
                </a:gridCol>
                <a:gridCol w="6684033">
                  <a:extLst>
                    <a:ext uri="{9D8B030D-6E8A-4147-A177-3AD203B41FA5}">
                      <a16:colId xmlns:a16="http://schemas.microsoft.com/office/drawing/2014/main" val="20001"/>
                    </a:ext>
                  </a:extLst>
                </a:gridCol>
              </a:tblGrid>
              <a:tr h="731520">
                <a:tc>
                  <a:txBody>
                    <a:bodyPr/>
                    <a:lstStyle/>
                    <a:p>
                      <a:pPr>
                        <a:buNone/>
                      </a:pPr>
                      <a:r>
                        <a:rPr lang="en-US" dirty="0"/>
                        <a:t>What</a:t>
                      </a:r>
                    </a:p>
                  </a:txBody>
                  <a:tcPr anchor="ctr">
                    <a:solidFill>
                      <a:srgbClr val="1C2E6E"/>
                    </a:solidFill>
                  </a:tcPr>
                </a:tc>
                <a:tc>
                  <a:txBody>
                    <a:bodyPr/>
                    <a:lstStyle/>
                    <a:p>
                      <a:pPr>
                        <a:buNone/>
                      </a:pPr>
                      <a:r>
                        <a:rPr lang="en-US"/>
                        <a:t>Number</a:t>
                      </a:r>
                    </a:p>
                  </a:txBody>
                  <a:tcPr anchor="ctr">
                    <a:solidFill>
                      <a:srgbClr val="1C2E6E"/>
                    </a:solidFill>
                  </a:tcPr>
                </a:tc>
                <a:extLst>
                  <a:ext uri="{0D108BD9-81ED-4DB2-BD59-A6C34878D82A}">
                    <a16:rowId xmlns:a16="http://schemas.microsoft.com/office/drawing/2014/main" val="10000"/>
                  </a:ext>
                </a:extLst>
              </a:tr>
              <a:tr h="731520">
                <a:tc>
                  <a:txBody>
                    <a:bodyPr/>
                    <a:lstStyle/>
                    <a:p>
                      <a:pPr>
                        <a:buNone/>
                      </a:pPr>
                      <a:r>
                        <a:rPr lang="en-US" dirty="0"/>
                        <a:t>Corpus</a:t>
                      </a:r>
                    </a:p>
                  </a:txBody>
                  <a:tcPr anchor="ctr">
                    <a:solidFill>
                      <a:srgbClr val="FFFFFF"/>
                    </a:solidFill>
                  </a:tcPr>
                </a:tc>
                <a:tc>
                  <a:txBody>
                    <a:bodyPr/>
                    <a:lstStyle/>
                    <a:p>
                      <a:pPr>
                        <a:buNone/>
                      </a:pPr>
                      <a:r>
                        <a:rPr lang="en-US" dirty="0"/>
                        <a:t>24,690 raw → 11,643 unique → 9,162 posts, 349 threads</a:t>
                      </a:r>
                    </a:p>
                  </a:txBody>
                  <a:tcPr anchor="ctr">
                    <a:solidFill>
                      <a:srgbClr val="FFFFFF"/>
                    </a:solidFill>
                  </a:tcPr>
                </a:tc>
                <a:extLst>
                  <a:ext uri="{0D108BD9-81ED-4DB2-BD59-A6C34878D82A}">
                    <a16:rowId xmlns:a16="http://schemas.microsoft.com/office/drawing/2014/main" val="10001"/>
                  </a:ext>
                </a:extLst>
              </a:tr>
              <a:tr h="731520">
                <a:tc>
                  <a:txBody>
                    <a:bodyPr/>
                    <a:lstStyle/>
                    <a:p>
                      <a:pPr>
                        <a:buNone/>
                      </a:pPr>
                      <a:r>
                        <a:rPr lang="en-US" dirty="0"/>
                        <a:t>Sentiment F1</a:t>
                      </a:r>
                    </a:p>
                  </a:txBody>
                  <a:tcPr anchor="ctr">
                    <a:solidFill>
                      <a:srgbClr val="F2F4F9"/>
                    </a:solidFill>
                  </a:tcPr>
                </a:tc>
                <a:tc>
                  <a:txBody>
                    <a:bodyPr/>
                    <a:lstStyle/>
                    <a:p>
                      <a:pPr>
                        <a:buNone/>
                      </a:pPr>
                      <a:r>
                        <a:rPr lang="en-US" dirty="0"/>
                        <a:t>VADER 0.360, mini 0.631, GPT-4o 0.623 (tie, ~17× cost)</a:t>
                      </a:r>
                    </a:p>
                  </a:txBody>
                  <a:tcPr anchor="ctr">
                    <a:solidFill>
                      <a:srgbClr val="F2F4F9"/>
                    </a:solidFill>
                  </a:tcPr>
                </a:tc>
                <a:extLst>
                  <a:ext uri="{0D108BD9-81ED-4DB2-BD59-A6C34878D82A}">
                    <a16:rowId xmlns:a16="http://schemas.microsoft.com/office/drawing/2014/main" val="10002"/>
                  </a:ext>
                </a:extLst>
              </a:tr>
              <a:tr h="731520">
                <a:tc>
                  <a:txBody>
                    <a:bodyPr/>
                    <a:lstStyle/>
                    <a:p>
                      <a:pPr>
                        <a:buNone/>
                      </a:pPr>
                      <a:r>
                        <a:rPr lang="en-US"/>
                        <a:t>Issue F1, typical posts</a:t>
                      </a:r>
                    </a:p>
                  </a:txBody>
                  <a:tcPr anchor="ctr">
                    <a:solidFill>
                      <a:srgbClr val="FFFFFF"/>
                    </a:solidFill>
                  </a:tcPr>
                </a:tc>
                <a:tc>
                  <a:txBody>
                    <a:bodyPr/>
                    <a:lstStyle/>
                    <a:p>
                      <a:pPr>
                        <a:buNone/>
                      </a:pPr>
                      <a:r>
                        <a:rPr lang="en-US" dirty="0"/>
                        <a:t>rules 0.639, hybrid 0.680</a:t>
                      </a:r>
                    </a:p>
                  </a:txBody>
                  <a:tcPr anchor="ctr">
                    <a:solidFill>
                      <a:srgbClr val="FFFFFF"/>
                    </a:solidFill>
                  </a:tcPr>
                </a:tc>
                <a:extLst>
                  <a:ext uri="{0D108BD9-81ED-4DB2-BD59-A6C34878D82A}">
                    <a16:rowId xmlns:a16="http://schemas.microsoft.com/office/drawing/2014/main" val="10003"/>
                  </a:ext>
                </a:extLst>
              </a:tr>
              <a:tr h="731520">
                <a:tc>
                  <a:txBody>
                    <a:bodyPr/>
                    <a:lstStyle/>
                    <a:p>
                      <a:pPr>
                        <a:buNone/>
                      </a:pPr>
                      <a:r>
                        <a:rPr lang="en-US" dirty="0"/>
                        <a:t>Issue F1, held-out challenge set</a:t>
                      </a:r>
                    </a:p>
                  </a:txBody>
                  <a:tcPr anchor="ctr">
                    <a:solidFill>
                      <a:srgbClr val="F2F4F9"/>
                    </a:solidFill>
                  </a:tcPr>
                </a:tc>
                <a:tc>
                  <a:txBody>
                    <a:bodyPr/>
                    <a:lstStyle/>
                    <a:p>
                      <a:pPr>
                        <a:buNone/>
                      </a:pPr>
                      <a:r>
                        <a:rPr lang="en-US" dirty="0"/>
                        <a:t>rules 0.499, hybrid 0.509, GPT-4o 0.596</a:t>
                      </a:r>
                    </a:p>
                  </a:txBody>
                  <a:tcPr anchor="ctr">
                    <a:solidFill>
                      <a:srgbClr val="F2F4F9"/>
                    </a:solidFill>
                  </a:tcPr>
                </a:tc>
                <a:extLst>
                  <a:ext uri="{0D108BD9-81ED-4DB2-BD59-A6C34878D82A}">
                    <a16:rowId xmlns:a16="http://schemas.microsoft.com/office/drawing/2014/main" val="10004"/>
                  </a:ext>
                </a:extLst>
              </a:tr>
              <a:tr h="731520">
                <a:tc>
                  <a:txBody>
                    <a:bodyPr/>
                    <a:lstStyle/>
                    <a:p>
                      <a:pPr>
                        <a:buNone/>
                      </a:pPr>
                      <a:r>
                        <a:rPr lang="en-US"/>
                        <a:t>Not happy</a:t>
                      </a:r>
                    </a:p>
                  </a:txBody>
                  <a:tcPr anchor="ctr">
                    <a:solidFill>
                      <a:srgbClr val="F2F4F9"/>
                    </a:solidFill>
                  </a:tcPr>
                </a:tc>
                <a:tc>
                  <a:txBody>
                    <a:bodyPr/>
                    <a:lstStyle/>
                    <a:p>
                      <a:pPr>
                        <a:buNone/>
                      </a:pPr>
                      <a:r>
                        <a:rPr lang="en-US"/>
                        <a:t>44% overall, 40% outside outages, 71% inside outages</a:t>
                      </a:r>
                    </a:p>
                  </a:txBody>
                  <a:tcPr anchor="ctr">
                    <a:solidFill>
                      <a:srgbClr val="F2F4F9"/>
                    </a:solidFill>
                  </a:tcPr>
                </a:tc>
                <a:extLst>
                  <a:ext uri="{0D108BD9-81ED-4DB2-BD59-A6C34878D82A}">
                    <a16:rowId xmlns:a16="http://schemas.microsoft.com/office/drawing/2014/main" val="2038160827"/>
                  </a:ext>
                </a:extLst>
              </a:tr>
              <a:tr h="731520">
                <a:tc>
                  <a:txBody>
                    <a:bodyPr/>
                    <a:lstStyle/>
                    <a:p>
                      <a:pPr>
                        <a:buNone/>
                      </a:pPr>
                      <a:r>
                        <a:rPr lang="en-US"/>
                        <a:t>Human agreement</a:t>
                      </a:r>
                    </a:p>
                  </a:txBody>
                  <a:tcPr anchor="ctr">
                    <a:solidFill>
                      <a:srgbClr val="F2F4F9"/>
                    </a:solidFill>
                  </a:tcPr>
                </a:tc>
                <a:tc>
                  <a:txBody>
                    <a:bodyPr/>
                    <a:lstStyle/>
                    <a:p>
                      <a:pPr>
                        <a:buNone/>
                      </a:pPr>
                      <a:r>
                        <a:rPr lang="en-US" dirty="0" err="1"/>
                        <a:t>κ</a:t>
                      </a:r>
                      <a:r>
                        <a:rPr lang="en-US" dirty="0"/>
                        <a:t> 0.39 typical, 0.59 hard</a:t>
                      </a:r>
                    </a:p>
                  </a:txBody>
                  <a:tcPr anchor="ctr">
                    <a:solidFill>
                      <a:srgbClr val="F2F4F9"/>
                    </a:solidFill>
                  </a:tcPr>
                </a:tc>
                <a:extLst>
                  <a:ext uri="{0D108BD9-81ED-4DB2-BD59-A6C34878D82A}">
                    <a16:rowId xmlns:a16="http://schemas.microsoft.com/office/drawing/2014/main" val="790124287"/>
                  </a:ext>
                </a:extLst>
              </a:tr>
            </a:tbl>
          </a:graphicData>
        </a:graphic>
      </p:graphicFrame>
    </p:spTree>
    <p:extLst>
      <p:ext uri="{BB962C8B-B14F-4D97-AF65-F5344CB8AC3E}">
        <p14:creationId xmlns:p14="http://schemas.microsoft.com/office/powerpoint/2010/main" val="537974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Anticipated questions (1 of 3)</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33</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78308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Why not use GPT-4o for everything?</a:t>
            </a:r>
          </a:p>
        </p:txBody>
      </p:sp>
      <p:sp>
        <p:nvSpPr>
          <p:cNvPr id="6" name="TextBox 5"/>
          <p:cNvSpPr txBox="1"/>
          <p:nvPr/>
        </p:nvSpPr>
        <p:spPr>
          <a:xfrm>
            <a:off x="4572000" y="2008331"/>
            <a:ext cx="6858000" cy="692497"/>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On typical posts GPT-4o on every </a:t>
            </a:r>
            <a:r>
              <a:rPr sz="1500" i="0" dirty="0">
                <a:solidFill>
                  <a:srgbClr val="1E293B"/>
                </a:solidFill>
                <a:latin typeface="Calibri"/>
              </a:rPr>
              <a:t>post</a:t>
            </a:r>
            <a:r>
              <a:rPr sz="1500" b="1" i="0" dirty="0">
                <a:solidFill>
                  <a:srgbClr val="1E293B"/>
                </a:solidFill>
                <a:latin typeface="Calibri"/>
              </a:rPr>
              <a:t> ties rules </a:t>
            </a:r>
            <a:r>
              <a:rPr sz="1500" b="0" i="0" dirty="0">
                <a:solidFill>
                  <a:srgbClr val="1E293B"/>
                </a:solidFill>
                <a:latin typeface="Calibri"/>
              </a:rPr>
              <a:t>(0.600 vs 0.639) and </a:t>
            </a:r>
            <a:r>
              <a:rPr sz="1500" b="1" i="0" dirty="0">
                <a:solidFill>
                  <a:srgbClr val="1E293B"/>
                </a:solidFill>
                <a:latin typeface="Calibri"/>
              </a:rPr>
              <a:t>costs</a:t>
            </a:r>
            <a:r>
              <a:rPr sz="1500" b="0" i="0" dirty="0">
                <a:solidFill>
                  <a:srgbClr val="1E293B"/>
                </a:solidFill>
                <a:latin typeface="Calibri"/>
              </a:rPr>
              <a:t> ~17× mini. On hard posts it wins (0.596 vs 0.499). At ~$0.0005 a post it’s affordable on a deduplicated feed; I’d settle it on fresh held-out data.</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33756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Is the hybrid’s gain real?</a:t>
            </a:r>
          </a:p>
        </p:txBody>
      </p:sp>
      <p:sp>
        <p:nvSpPr>
          <p:cNvPr id="9" name="TextBox 8"/>
          <p:cNvSpPr txBox="1"/>
          <p:nvPr/>
        </p:nvSpPr>
        <p:spPr>
          <a:xfrm>
            <a:off x="4572000" y="333756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On the set I tuned it on, yes: +0.041, 95% CI +0.011 to +0.072. On the held-out challenge set, no: +0.010, CI −0.04 to +0.07. So I report 0.680 as optimistic.</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89204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How reliable are your labels?</a:t>
            </a:r>
          </a:p>
        </p:txBody>
      </p:sp>
      <p:sp>
        <p:nvSpPr>
          <p:cNvPr id="12" name="TextBox 11"/>
          <p:cNvSpPr txBox="1"/>
          <p:nvPr/>
        </p:nvSpPr>
        <p:spPr>
          <a:xfrm>
            <a:off x="4572000" y="5232707"/>
            <a:ext cx="6858000" cy="461665"/>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Two annotators agree at </a:t>
            </a:r>
            <a:r>
              <a:rPr sz="1500" b="0" i="0" dirty="0" err="1">
                <a:solidFill>
                  <a:srgbClr val="1E293B"/>
                </a:solidFill>
                <a:latin typeface="Calibri"/>
              </a:rPr>
              <a:t>κ</a:t>
            </a:r>
            <a:r>
              <a:rPr sz="1500" b="0" i="0" dirty="0">
                <a:solidFill>
                  <a:srgbClr val="1E293B"/>
                </a:solidFill>
                <a:latin typeface="Calibri"/>
              </a:rPr>
              <a:t> 0.39 on typical posts and 0.59 on hard ones, </a:t>
            </a:r>
            <a:r>
              <a:rPr sz="1500" b="1" i="0" dirty="0">
                <a:solidFill>
                  <a:srgbClr val="1E293B"/>
                </a:solidFill>
                <a:latin typeface="Calibri"/>
              </a:rPr>
              <a:t>mostly split on complaint</a:t>
            </a:r>
            <a:r>
              <a:rPr lang="en-US" sz="1500" b="1" i="0" dirty="0">
                <a:solidFill>
                  <a:srgbClr val="1E293B"/>
                </a:solidFill>
                <a:latin typeface="Calibri"/>
              </a:rPr>
              <a:t>(not happy)</a:t>
            </a:r>
            <a:r>
              <a:rPr sz="1500" b="1" i="0" dirty="0">
                <a:solidFill>
                  <a:srgbClr val="1E293B"/>
                </a:solidFill>
                <a:latin typeface="Calibri"/>
              </a:rPr>
              <a:t> vs neutral</a:t>
            </a:r>
            <a:r>
              <a:rPr sz="1500" b="0" i="0" dirty="0">
                <a:solidFill>
                  <a:srgbClr val="1E293B"/>
                </a:solidFill>
                <a:latin typeface="Calibri"/>
              </a:rPr>
              <a:t>. The guide now has an explicit rule for failure reports.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Anticipated questions (2 of 3)</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34</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78308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How good is GPT-4o-mini on the corpus?</a:t>
            </a:r>
          </a:p>
        </p:txBody>
      </p:sp>
      <p:sp>
        <p:nvSpPr>
          <p:cNvPr id="6" name="TextBox 5"/>
          <p:cNvSpPr txBox="1"/>
          <p:nvPr/>
        </p:nvSpPr>
        <p:spPr>
          <a:xfrm>
            <a:off x="4572000" y="178308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F1 0.631 on the representative set and 0.637 on the recent-posts set; a rerun reproduced 292 of 295 labels. On recent posts it under-calls complaints, so not-happy is likely understated.</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33756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How do you handle sarcasm and Singlish?</a:t>
            </a:r>
          </a:p>
        </p:txBody>
      </p:sp>
      <p:sp>
        <p:nvSpPr>
          <p:cNvPr id="9" name="TextBox 8"/>
          <p:cNvSpPr txBox="1"/>
          <p:nvPr/>
        </p:nvSpPr>
        <p:spPr>
          <a:xfrm>
            <a:off x="4572000" y="333756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VADER can’t; the challenge set targets these cases. There GPT-4o-mini reaches 0.773 macro F1 vs VADER 0.491 and GPT-4o 0.712.</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89204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Why keep VADER at all?</a:t>
            </a:r>
          </a:p>
        </p:txBody>
      </p:sp>
      <p:sp>
        <p:nvSpPr>
          <p:cNvPr id="12" name="TextBox 11"/>
          <p:cNvSpPr txBox="1"/>
          <p:nvPr/>
        </p:nvSpPr>
        <p:spPr>
          <a:xfrm>
            <a:off x="4572000" y="489204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It’s free, local and deterministic: a baseline to beat. I no longer use it for any headline share.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Anticipated questions (3 of 3)</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35</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78308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Is Reddit more negative than HWZ? Is Singtel worst?</a:t>
            </a:r>
          </a:p>
        </p:txBody>
      </p:sp>
      <p:sp>
        <p:nvSpPr>
          <p:cNvPr id="6" name="TextBox 5"/>
          <p:cNvSpPr txBox="1"/>
          <p:nvPr/>
        </p:nvSpPr>
        <p:spPr>
          <a:xfrm>
            <a:off x="4572000" y="178308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Outside outage threads, Reddit 42% vs HWZ 37%, mostly topic mix; brands sit within 3 points (Singtel 42%, StarHub 40%), with Eight lowest at 35%.</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33756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What about privacy and ethics?</a:t>
            </a:r>
          </a:p>
        </p:txBody>
      </p:sp>
      <p:sp>
        <p:nvSpPr>
          <p:cNvPr id="9" name="TextBox 8"/>
          <p:cNvSpPr txBox="1"/>
          <p:nvPr/>
        </p:nvSpPr>
        <p:spPr>
          <a:xfrm>
            <a:off x="4572000" y="333756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Public posts only, no usernames in outputs, no identifiers sent to the API, and API keys kept in environment variables, never in code.</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89204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Can this estimate NPS or market share?</a:t>
            </a:r>
          </a:p>
        </p:txBody>
      </p:sp>
      <p:sp>
        <p:nvSpPr>
          <p:cNvPr id="12" name="TextBox 11"/>
          <p:cNvSpPr txBox="1"/>
          <p:nvPr/>
        </p:nvSpPr>
        <p:spPr>
          <a:xfrm>
            <a:off x="4572000" y="4892040"/>
            <a:ext cx="6858000" cy="1143000"/>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No. Posters self-select, replies cluster by thread, and 95% of posts are from 2026. It’s a triage queue, not a population measure.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Backup: two humans split on complaint vs neutral</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36</a:t>
            </a:r>
          </a:p>
        </p:txBody>
      </p:sp>
      <p:graphicFrame>
        <p:nvGraphicFramePr>
          <p:cNvPr id="4" name="Table 3"/>
          <p:cNvGraphicFramePr>
            <a:graphicFrameLocks noGrp="1"/>
          </p:cNvGraphicFramePr>
          <p:nvPr/>
        </p:nvGraphicFramePr>
        <p:xfrm>
          <a:off x="548640" y="1691640"/>
          <a:ext cx="11091672" cy="16459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953512">
                  <a:extLst>
                    <a:ext uri="{9D8B030D-6E8A-4147-A177-3AD203B41FA5}">
                      <a16:colId xmlns:a16="http://schemas.microsoft.com/office/drawing/2014/main" val="20004"/>
                    </a:ext>
                  </a:extLst>
                </a:gridCol>
              </a:tblGrid>
              <a:tr h="548640">
                <a:tc>
                  <a:txBody>
                    <a:bodyPr/>
                    <a:lstStyle/>
                    <a:p>
                      <a:pPr algn="l"/>
                      <a:r>
                        <a:rPr sz="1600" b="1">
                          <a:solidFill>
                            <a:srgbClr val="FFFFFF"/>
                          </a:solidFill>
                          <a:latin typeface="Calibri"/>
                        </a:rPr>
                        <a:t>Set</a:t>
                      </a:r>
                    </a:p>
                  </a:txBody>
                  <a:tcPr marT="36576" marB="36576" anchor="ctr">
                    <a:solidFill>
                      <a:srgbClr val="1C2E6E"/>
                    </a:solidFill>
                  </a:tcPr>
                </a:tc>
                <a:tc>
                  <a:txBody>
                    <a:bodyPr/>
                    <a:lstStyle/>
                    <a:p>
                      <a:pPr algn="l"/>
                      <a:r>
                        <a:rPr sz="1600" b="1">
                          <a:solidFill>
                            <a:srgbClr val="FFFFFF"/>
                          </a:solidFill>
                          <a:latin typeface="Calibri"/>
                        </a:rPr>
                        <a:t>Posts</a:t>
                      </a:r>
                    </a:p>
                  </a:txBody>
                  <a:tcPr marT="36576" marB="36576" anchor="ctr">
                    <a:solidFill>
                      <a:srgbClr val="1C2E6E"/>
                    </a:solidFill>
                  </a:tcPr>
                </a:tc>
                <a:tc>
                  <a:txBody>
                    <a:bodyPr/>
                    <a:lstStyle/>
                    <a:p>
                      <a:pPr algn="l"/>
                      <a:r>
                        <a:rPr sz="1600" b="1">
                          <a:solidFill>
                            <a:srgbClr val="FFFFFF"/>
                          </a:solidFill>
                          <a:latin typeface="Calibri"/>
                        </a:rPr>
                        <a:t>Sentiment agreement</a:t>
                      </a:r>
                    </a:p>
                  </a:txBody>
                  <a:tcPr marT="36576" marB="36576" anchor="ctr">
                    <a:solidFill>
                      <a:srgbClr val="1C2E6E"/>
                    </a:solidFill>
                  </a:tcPr>
                </a:tc>
                <a:tc>
                  <a:txBody>
                    <a:bodyPr/>
                    <a:lstStyle/>
                    <a:p>
                      <a:pPr algn="l"/>
                      <a:r>
                        <a:rPr sz="1600" b="1">
                          <a:solidFill>
                            <a:srgbClr val="FFFFFF"/>
                          </a:solidFill>
                          <a:latin typeface="Calibri"/>
                        </a:rPr>
                        <a:t>Sentiment κ</a:t>
                      </a:r>
                    </a:p>
                  </a:txBody>
                  <a:tcPr marT="36576" marB="36576" anchor="ctr">
                    <a:solidFill>
                      <a:srgbClr val="1C2E6E"/>
                    </a:solidFill>
                  </a:tcPr>
                </a:tc>
                <a:tc>
                  <a:txBody>
                    <a:bodyPr/>
                    <a:lstStyle/>
                    <a:p>
                      <a:pPr algn="l"/>
                      <a:r>
                        <a:rPr sz="1600" b="1">
                          <a:solidFill>
                            <a:srgbClr val="FFFFFF"/>
                          </a:solidFill>
                          <a:latin typeface="Calibri"/>
                        </a:rPr>
                        <a:t>Issue overlap (Jaccard)</a:t>
                      </a:r>
                    </a:p>
                  </a:txBody>
                  <a:tcPr marT="36576" marB="36576" anchor="ctr">
                    <a:solidFill>
                      <a:srgbClr val="1C2E6E"/>
                    </a:solidFill>
                  </a:tcPr>
                </a:tc>
                <a:extLst>
                  <a:ext uri="{0D108BD9-81ED-4DB2-BD59-A6C34878D82A}">
                    <a16:rowId xmlns:a16="http://schemas.microsoft.com/office/drawing/2014/main" val="10000"/>
                  </a:ext>
                </a:extLst>
              </a:tr>
              <a:tr h="548640">
                <a:tc>
                  <a:txBody>
                    <a:bodyPr/>
                    <a:lstStyle/>
                    <a:p>
                      <a:pPr algn="l"/>
                      <a:r>
                        <a:rPr sz="1600" b="0">
                          <a:solidFill>
                            <a:srgbClr val="1E293B"/>
                          </a:solidFill>
                          <a:latin typeface="Calibri"/>
                        </a:rPr>
                        <a:t>Representative</a:t>
                      </a:r>
                    </a:p>
                  </a:txBody>
                  <a:tcPr marT="36576" marB="36576" anchor="ctr">
                    <a:solidFill>
                      <a:srgbClr val="FFFFFF"/>
                    </a:solidFill>
                  </a:tcPr>
                </a:tc>
                <a:tc>
                  <a:txBody>
                    <a:bodyPr/>
                    <a:lstStyle/>
                    <a:p>
                      <a:pPr algn="l"/>
                      <a:r>
                        <a:rPr sz="1600" b="0">
                          <a:solidFill>
                            <a:srgbClr val="1E293B"/>
                          </a:solidFill>
                          <a:latin typeface="Calibri"/>
                        </a:rPr>
                        <a:t>58</a:t>
                      </a:r>
                    </a:p>
                  </a:txBody>
                  <a:tcPr marT="36576" marB="36576" anchor="ctr">
                    <a:solidFill>
                      <a:srgbClr val="FFFFFF"/>
                    </a:solidFill>
                  </a:tcPr>
                </a:tc>
                <a:tc>
                  <a:txBody>
                    <a:bodyPr/>
                    <a:lstStyle/>
                    <a:p>
                      <a:pPr algn="l"/>
                      <a:r>
                        <a:rPr sz="1600" b="0">
                          <a:solidFill>
                            <a:srgbClr val="1E293B"/>
                          </a:solidFill>
                          <a:latin typeface="Calibri"/>
                        </a:rPr>
                        <a:t>62%</a:t>
                      </a:r>
                    </a:p>
                  </a:txBody>
                  <a:tcPr marT="36576" marB="36576" anchor="ctr">
                    <a:solidFill>
                      <a:srgbClr val="FFFFFF"/>
                    </a:solidFill>
                  </a:tcPr>
                </a:tc>
                <a:tc>
                  <a:txBody>
                    <a:bodyPr/>
                    <a:lstStyle/>
                    <a:p>
                      <a:pPr algn="l"/>
                      <a:r>
                        <a:rPr sz="1600" b="0">
                          <a:solidFill>
                            <a:srgbClr val="1E293B"/>
                          </a:solidFill>
                          <a:latin typeface="Calibri"/>
                        </a:rPr>
                        <a:t>0.39</a:t>
                      </a:r>
                    </a:p>
                  </a:txBody>
                  <a:tcPr marT="36576" marB="36576" anchor="ctr">
                    <a:solidFill>
                      <a:srgbClr val="FFFFFF"/>
                    </a:solidFill>
                  </a:tcPr>
                </a:tc>
                <a:tc>
                  <a:txBody>
                    <a:bodyPr/>
                    <a:lstStyle/>
                    <a:p>
                      <a:pPr algn="l"/>
                      <a:r>
                        <a:rPr sz="1600" b="0">
                          <a:solidFill>
                            <a:srgbClr val="1E293B"/>
                          </a:solidFill>
                          <a:latin typeface="Calibri"/>
                        </a:rPr>
                        <a:t>0.56</a:t>
                      </a:r>
                    </a:p>
                  </a:txBody>
                  <a:tcPr marT="36576" marB="36576" anchor="ctr">
                    <a:solidFill>
                      <a:srgbClr val="FFFFFF"/>
                    </a:solidFill>
                  </a:tcPr>
                </a:tc>
                <a:extLst>
                  <a:ext uri="{0D108BD9-81ED-4DB2-BD59-A6C34878D82A}">
                    <a16:rowId xmlns:a16="http://schemas.microsoft.com/office/drawing/2014/main" val="10001"/>
                  </a:ext>
                </a:extLst>
              </a:tr>
              <a:tr h="548640">
                <a:tc>
                  <a:txBody>
                    <a:bodyPr/>
                    <a:lstStyle/>
                    <a:p>
                      <a:pPr algn="l"/>
                      <a:r>
                        <a:rPr sz="1600" b="0">
                          <a:solidFill>
                            <a:srgbClr val="1E293B"/>
                          </a:solidFill>
                          <a:latin typeface="Calibri"/>
                        </a:rPr>
                        <a:t>Challenge</a:t>
                      </a:r>
                    </a:p>
                  </a:txBody>
                  <a:tcPr marT="36576" marB="36576" anchor="ctr">
                    <a:solidFill>
                      <a:srgbClr val="F2F4F9"/>
                    </a:solidFill>
                  </a:tcPr>
                </a:tc>
                <a:tc>
                  <a:txBody>
                    <a:bodyPr/>
                    <a:lstStyle/>
                    <a:p>
                      <a:pPr algn="l"/>
                      <a:r>
                        <a:rPr sz="1600" b="0">
                          <a:solidFill>
                            <a:srgbClr val="1E293B"/>
                          </a:solidFill>
                          <a:latin typeface="Calibri"/>
                        </a:rPr>
                        <a:t>40</a:t>
                      </a:r>
                    </a:p>
                  </a:txBody>
                  <a:tcPr marT="36576" marB="36576" anchor="ctr">
                    <a:solidFill>
                      <a:srgbClr val="F2F4F9"/>
                    </a:solidFill>
                  </a:tcPr>
                </a:tc>
                <a:tc>
                  <a:txBody>
                    <a:bodyPr/>
                    <a:lstStyle/>
                    <a:p>
                      <a:pPr algn="l"/>
                      <a:r>
                        <a:rPr sz="1600" b="0">
                          <a:solidFill>
                            <a:srgbClr val="1E293B"/>
                          </a:solidFill>
                          <a:latin typeface="Calibri"/>
                        </a:rPr>
                        <a:t>73%</a:t>
                      </a:r>
                    </a:p>
                  </a:txBody>
                  <a:tcPr marT="36576" marB="36576" anchor="ctr">
                    <a:solidFill>
                      <a:srgbClr val="F2F4F9"/>
                    </a:solidFill>
                  </a:tcPr>
                </a:tc>
                <a:tc>
                  <a:txBody>
                    <a:bodyPr/>
                    <a:lstStyle/>
                    <a:p>
                      <a:pPr algn="l"/>
                      <a:r>
                        <a:rPr sz="1600" b="0">
                          <a:solidFill>
                            <a:srgbClr val="1E293B"/>
                          </a:solidFill>
                          <a:latin typeface="Calibri"/>
                        </a:rPr>
                        <a:t>0.59</a:t>
                      </a:r>
                    </a:p>
                  </a:txBody>
                  <a:tcPr marT="36576" marB="36576" anchor="ctr">
                    <a:solidFill>
                      <a:srgbClr val="F2F4F9"/>
                    </a:solidFill>
                  </a:tcPr>
                </a:tc>
                <a:tc>
                  <a:txBody>
                    <a:bodyPr/>
                    <a:lstStyle/>
                    <a:p>
                      <a:pPr algn="l"/>
                      <a:r>
                        <a:rPr sz="1600" b="0">
                          <a:solidFill>
                            <a:srgbClr val="1E293B"/>
                          </a:solidFill>
                          <a:latin typeface="Calibri"/>
                        </a:rPr>
                        <a:t>0.77</a:t>
                      </a:r>
                    </a:p>
                  </a:txBody>
                  <a:tcPr marT="36576" marB="36576" anchor="ctr">
                    <a:solidFill>
                      <a:srgbClr val="F2F4F9"/>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548640" y="3703320"/>
            <a:ext cx="539496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886200"/>
            <a:ext cx="4937760" cy="365760"/>
          </a:xfrm>
          <a:prstGeom prst="rect">
            <a:avLst/>
          </a:prstGeom>
          <a:noFill/>
        </p:spPr>
        <p:txBody>
          <a:bodyPr wrap="square" lIns="0" tIns="0" rIns="0" bIns="0" anchor="t">
            <a:spAutoFit/>
          </a:bodyPr>
          <a:lstStyle/>
          <a:p>
            <a:pPr algn="l">
              <a:spcAft>
                <a:spcPts val="600"/>
              </a:spcAft>
            </a:pPr>
            <a:r>
              <a:rPr sz="1700" b="1" i="0" dirty="0">
                <a:solidFill>
                  <a:srgbClr val="1C2E6E"/>
                </a:solidFill>
                <a:latin typeface="Calibri"/>
              </a:rPr>
              <a:t>One pattern explains most of it</a:t>
            </a:r>
          </a:p>
        </p:txBody>
      </p:sp>
      <p:sp>
        <p:nvSpPr>
          <p:cNvPr id="7" name="TextBox 6"/>
          <p:cNvSpPr txBox="1"/>
          <p:nvPr/>
        </p:nvSpPr>
        <p:spPr>
          <a:xfrm>
            <a:off x="777240" y="4270248"/>
            <a:ext cx="4937760" cy="128016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9 of 22 representative disagreements (8 of 11 on challenge): I said not happy, B said neutral.</a:t>
            </a:r>
          </a:p>
        </p:txBody>
      </p:sp>
      <p:sp>
        <p:nvSpPr>
          <p:cNvPr id="8" name="Rounded Rectangle 7"/>
          <p:cNvSpPr/>
          <p:nvPr/>
        </p:nvSpPr>
        <p:spPr>
          <a:xfrm>
            <a:off x="6245352" y="3703320"/>
            <a:ext cx="539496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3952" y="3886200"/>
            <a:ext cx="4937760"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Low human ceiling on small themes</a:t>
            </a:r>
          </a:p>
        </p:txBody>
      </p:sp>
      <p:sp>
        <p:nvSpPr>
          <p:cNvPr id="10" name="TextBox 9"/>
          <p:cNvSpPr txBox="1"/>
          <p:nvPr/>
        </p:nvSpPr>
        <p:spPr>
          <a:xfrm>
            <a:off x="6473952" y="4270248"/>
            <a:ext cx="4937760" cy="128016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Issue κ: Network 0.79, but Devices 0.16, App 0.17, Customer Service 0.28.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Backup: per-class sentiment metrics (n = 295)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37</a:t>
            </a:r>
          </a:p>
        </p:txBody>
      </p:sp>
      <p:graphicFrame>
        <p:nvGraphicFramePr>
          <p:cNvPr id="4" name="Table 3"/>
          <p:cNvGraphicFramePr>
            <a:graphicFrameLocks noGrp="1"/>
          </p:cNvGraphicFramePr>
          <p:nvPr/>
        </p:nvGraphicFramePr>
        <p:xfrm>
          <a:off x="548640" y="1691640"/>
          <a:ext cx="11091672" cy="429768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tblGrid>
              <a:tr h="429768">
                <a:tc>
                  <a:txBody>
                    <a:bodyPr/>
                    <a:lstStyle/>
                    <a:p>
                      <a:pPr algn="l"/>
                      <a:r>
                        <a:rPr sz="1400" b="1">
                          <a:solidFill>
                            <a:srgbClr val="FFFFFF"/>
                          </a:solidFill>
                          <a:latin typeface="Calibri"/>
                        </a:rPr>
                        <a:t>Method</a:t>
                      </a:r>
                    </a:p>
                  </a:txBody>
                  <a:tcPr marT="36576" marB="36576" anchor="ctr">
                    <a:solidFill>
                      <a:srgbClr val="1C2E6E"/>
                    </a:solidFill>
                  </a:tcPr>
                </a:tc>
                <a:tc>
                  <a:txBody>
                    <a:bodyPr/>
                    <a:lstStyle/>
                    <a:p>
                      <a:pPr algn="l"/>
                      <a:r>
                        <a:rPr sz="1400" b="1">
                          <a:solidFill>
                            <a:srgbClr val="FFFFFF"/>
                          </a:solidFill>
                          <a:latin typeface="Calibri"/>
                        </a:rPr>
                        <a:t>Class</a:t>
                      </a:r>
                    </a:p>
                  </a:txBody>
                  <a:tcPr marT="36576" marB="36576" anchor="ctr">
                    <a:solidFill>
                      <a:srgbClr val="1C2E6E"/>
                    </a:solidFill>
                  </a:tcPr>
                </a:tc>
                <a:tc>
                  <a:txBody>
                    <a:bodyPr/>
                    <a:lstStyle/>
                    <a:p>
                      <a:pPr algn="l"/>
                      <a:r>
                        <a:rPr sz="1400" b="1">
                          <a:solidFill>
                            <a:srgbClr val="FFFFFF"/>
                          </a:solidFill>
                          <a:latin typeface="Calibri"/>
                        </a:rPr>
                        <a:t>Precision</a:t>
                      </a:r>
                    </a:p>
                  </a:txBody>
                  <a:tcPr marT="36576" marB="36576" anchor="ctr">
                    <a:solidFill>
                      <a:srgbClr val="1C2E6E"/>
                    </a:solidFill>
                  </a:tcPr>
                </a:tc>
                <a:tc>
                  <a:txBody>
                    <a:bodyPr/>
                    <a:lstStyle/>
                    <a:p>
                      <a:pPr algn="l"/>
                      <a:r>
                        <a:rPr sz="1400" b="1">
                          <a:solidFill>
                            <a:srgbClr val="FFFFFF"/>
                          </a:solidFill>
                          <a:latin typeface="Calibri"/>
                        </a:rPr>
                        <a:t>Recall</a:t>
                      </a:r>
                    </a:p>
                  </a:txBody>
                  <a:tcPr marT="36576" marB="36576" anchor="ctr">
                    <a:solidFill>
                      <a:srgbClr val="1C2E6E"/>
                    </a:solidFill>
                  </a:tcPr>
                </a:tc>
                <a:tc>
                  <a:txBody>
                    <a:bodyPr/>
                    <a:lstStyle/>
                    <a:p>
                      <a:pPr algn="l"/>
                      <a:r>
                        <a:rPr sz="1400" b="1">
                          <a:solidFill>
                            <a:srgbClr val="FFFFFF"/>
                          </a:solidFill>
                          <a:latin typeface="Calibri"/>
                        </a:rPr>
                        <a:t>F1</a:t>
                      </a:r>
                    </a:p>
                  </a:txBody>
                  <a:tcPr marT="36576" marB="36576" anchor="ctr">
                    <a:solidFill>
                      <a:srgbClr val="1C2E6E"/>
                    </a:solidFill>
                  </a:tcPr>
                </a:tc>
                <a:tc>
                  <a:txBody>
                    <a:bodyPr/>
                    <a:lstStyle/>
                    <a:p>
                      <a:pPr algn="l"/>
                      <a:r>
                        <a:rPr sz="1400" b="1">
                          <a:solidFill>
                            <a:srgbClr val="FFFFFF"/>
                          </a:solidFill>
                          <a:latin typeface="Calibri"/>
                        </a:rPr>
                        <a:t>Support</a:t>
                      </a:r>
                    </a:p>
                  </a:txBody>
                  <a:tcPr marT="36576" marB="36576" anchor="ctr">
                    <a:solidFill>
                      <a:srgbClr val="1C2E6E"/>
                    </a:solidFill>
                  </a:tcPr>
                </a:tc>
                <a:extLst>
                  <a:ext uri="{0D108BD9-81ED-4DB2-BD59-A6C34878D82A}">
                    <a16:rowId xmlns:a16="http://schemas.microsoft.com/office/drawing/2014/main" val="10000"/>
                  </a:ext>
                </a:extLst>
              </a:tr>
              <a:tr h="429768">
                <a:tc>
                  <a:txBody>
                    <a:bodyPr/>
                    <a:lstStyle/>
                    <a:p>
                      <a:pPr algn="l"/>
                      <a:r>
                        <a:rPr sz="1400" b="0">
                          <a:solidFill>
                            <a:srgbClr val="1E293B"/>
                          </a:solidFill>
                          <a:latin typeface="Calibri"/>
                        </a:rPr>
                        <a:t>VADER</a:t>
                      </a:r>
                    </a:p>
                  </a:txBody>
                  <a:tcPr marT="36576" marB="36576" anchor="ctr">
                    <a:solidFill>
                      <a:srgbClr val="FFFFFF"/>
                    </a:solidFill>
                  </a:tcPr>
                </a:tc>
                <a:tc>
                  <a:txBody>
                    <a:bodyPr/>
                    <a:lstStyle/>
                    <a:p>
                      <a:pPr algn="l"/>
                      <a:r>
                        <a:rPr sz="1400" b="0">
                          <a:solidFill>
                            <a:srgbClr val="1E293B"/>
                          </a:solidFill>
                          <a:latin typeface="Calibri"/>
                        </a:rPr>
                        <a:t>Happy</a:t>
                      </a:r>
                    </a:p>
                  </a:txBody>
                  <a:tcPr marT="36576" marB="36576" anchor="ctr">
                    <a:solidFill>
                      <a:srgbClr val="FFFFFF"/>
                    </a:solidFill>
                  </a:tcPr>
                </a:tc>
                <a:tc>
                  <a:txBody>
                    <a:bodyPr/>
                    <a:lstStyle/>
                    <a:p>
                      <a:pPr algn="l"/>
                      <a:r>
                        <a:rPr sz="1400" b="0">
                          <a:solidFill>
                            <a:srgbClr val="1E293B"/>
                          </a:solidFill>
                          <a:latin typeface="Calibri"/>
                        </a:rPr>
                        <a:t>0.226</a:t>
                      </a:r>
                    </a:p>
                  </a:txBody>
                  <a:tcPr marT="36576" marB="36576" anchor="ctr">
                    <a:solidFill>
                      <a:srgbClr val="FFFFFF"/>
                    </a:solidFill>
                  </a:tcPr>
                </a:tc>
                <a:tc>
                  <a:txBody>
                    <a:bodyPr/>
                    <a:lstStyle/>
                    <a:p>
                      <a:pPr algn="l"/>
                      <a:r>
                        <a:rPr sz="1400" b="0">
                          <a:solidFill>
                            <a:srgbClr val="1E293B"/>
                          </a:solidFill>
                          <a:latin typeface="Calibri"/>
                        </a:rPr>
                        <a:t>0.585</a:t>
                      </a:r>
                    </a:p>
                  </a:txBody>
                  <a:tcPr marT="36576" marB="36576" anchor="ctr">
                    <a:solidFill>
                      <a:srgbClr val="FFFFFF"/>
                    </a:solidFill>
                  </a:tcPr>
                </a:tc>
                <a:tc>
                  <a:txBody>
                    <a:bodyPr/>
                    <a:lstStyle/>
                    <a:p>
                      <a:pPr algn="l"/>
                      <a:r>
                        <a:rPr sz="1400" b="0">
                          <a:solidFill>
                            <a:srgbClr val="1E293B"/>
                          </a:solidFill>
                          <a:latin typeface="Calibri"/>
                        </a:rPr>
                        <a:t>0.326</a:t>
                      </a:r>
                    </a:p>
                  </a:txBody>
                  <a:tcPr marT="36576" marB="36576" anchor="ctr">
                    <a:solidFill>
                      <a:srgbClr val="FFFFFF"/>
                    </a:solidFill>
                  </a:tcPr>
                </a:tc>
                <a:tc>
                  <a:txBody>
                    <a:bodyPr/>
                    <a:lstStyle/>
                    <a:p>
                      <a:pPr algn="l"/>
                      <a:r>
                        <a:rPr sz="1400" b="0">
                          <a:solidFill>
                            <a:srgbClr val="1E293B"/>
                          </a:solidFill>
                          <a:latin typeface="Calibri"/>
                        </a:rPr>
                        <a:t>53</a:t>
                      </a:r>
                    </a:p>
                  </a:txBody>
                  <a:tcPr marT="36576" marB="36576" anchor="ctr">
                    <a:solidFill>
                      <a:srgbClr val="FFFFFF"/>
                    </a:solidFill>
                  </a:tcPr>
                </a:tc>
                <a:extLst>
                  <a:ext uri="{0D108BD9-81ED-4DB2-BD59-A6C34878D82A}">
                    <a16:rowId xmlns:a16="http://schemas.microsoft.com/office/drawing/2014/main" val="10001"/>
                  </a:ext>
                </a:extLst>
              </a:tr>
              <a:tr h="429768">
                <a:tc>
                  <a:txBody>
                    <a:bodyPr/>
                    <a:lstStyle/>
                    <a:p>
                      <a:pPr algn="l"/>
                      <a:r>
                        <a:rPr sz="1400" b="1">
                          <a:solidFill>
                            <a:srgbClr val="1E293B"/>
                          </a:solidFill>
                          <a:latin typeface="Calibri"/>
                        </a:rPr>
                        <a:t>VADER</a:t>
                      </a:r>
                    </a:p>
                  </a:txBody>
                  <a:tcPr marT="36576" marB="36576" anchor="ctr">
                    <a:solidFill>
                      <a:srgbClr val="FBF3DF"/>
                    </a:solidFill>
                  </a:tcPr>
                </a:tc>
                <a:tc>
                  <a:txBody>
                    <a:bodyPr/>
                    <a:lstStyle/>
                    <a:p>
                      <a:pPr algn="l"/>
                      <a:r>
                        <a:rPr sz="1400" b="0">
                          <a:solidFill>
                            <a:srgbClr val="1E293B"/>
                          </a:solidFill>
                          <a:latin typeface="Calibri"/>
                        </a:rPr>
                        <a:t>Not happy</a:t>
                      </a:r>
                    </a:p>
                  </a:txBody>
                  <a:tcPr marT="36576" marB="36576" anchor="ctr">
                    <a:solidFill>
                      <a:srgbClr val="FBF3DF"/>
                    </a:solidFill>
                  </a:tcPr>
                </a:tc>
                <a:tc>
                  <a:txBody>
                    <a:bodyPr/>
                    <a:lstStyle/>
                    <a:p>
                      <a:pPr algn="l"/>
                      <a:r>
                        <a:rPr sz="1400" b="0">
                          <a:solidFill>
                            <a:srgbClr val="1E293B"/>
                          </a:solidFill>
                          <a:latin typeface="Calibri"/>
                        </a:rPr>
                        <a:t>0.602</a:t>
                      </a:r>
                    </a:p>
                  </a:txBody>
                  <a:tcPr marT="36576" marB="36576" anchor="ctr">
                    <a:solidFill>
                      <a:srgbClr val="FBF3DF"/>
                    </a:solidFill>
                  </a:tcPr>
                </a:tc>
                <a:tc>
                  <a:txBody>
                    <a:bodyPr/>
                    <a:lstStyle/>
                    <a:p>
                      <a:pPr algn="l"/>
                      <a:r>
                        <a:rPr sz="1400" b="0">
                          <a:solidFill>
                            <a:srgbClr val="1E293B"/>
                          </a:solidFill>
                          <a:latin typeface="Calibri"/>
                        </a:rPr>
                        <a:t>0.340</a:t>
                      </a:r>
                    </a:p>
                  </a:txBody>
                  <a:tcPr marT="36576" marB="36576" anchor="ctr">
                    <a:solidFill>
                      <a:srgbClr val="FBF3DF"/>
                    </a:solidFill>
                  </a:tcPr>
                </a:tc>
                <a:tc>
                  <a:txBody>
                    <a:bodyPr/>
                    <a:lstStyle/>
                    <a:p>
                      <a:pPr algn="l"/>
                      <a:r>
                        <a:rPr sz="1400" b="0">
                          <a:solidFill>
                            <a:srgbClr val="1E293B"/>
                          </a:solidFill>
                          <a:latin typeface="Calibri"/>
                        </a:rPr>
                        <a:t>0.435</a:t>
                      </a:r>
                    </a:p>
                  </a:txBody>
                  <a:tcPr marT="36576" marB="36576" anchor="ctr">
                    <a:solidFill>
                      <a:srgbClr val="FBF3DF"/>
                    </a:solidFill>
                  </a:tcPr>
                </a:tc>
                <a:tc>
                  <a:txBody>
                    <a:bodyPr/>
                    <a:lstStyle/>
                    <a:p>
                      <a:pPr algn="l"/>
                      <a:r>
                        <a:rPr sz="1400" b="0">
                          <a:solidFill>
                            <a:srgbClr val="1E293B"/>
                          </a:solidFill>
                          <a:latin typeface="Calibri"/>
                        </a:rPr>
                        <a:t>147</a:t>
                      </a:r>
                    </a:p>
                  </a:txBody>
                  <a:tcPr marT="36576" marB="36576" anchor="ctr">
                    <a:solidFill>
                      <a:srgbClr val="FBF3DF"/>
                    </a:solidFill>
                  </a:tcPr>
                </a:tc>
                <a:extLst>
                  <a:ext uri="{0D108BD9-81ED-4DB2-BD59-A6C34878D82A}">
                    <a16:rowId xmlns:a16="http://schemas.microsoft.com/office/drawing/2014/main" val="10002"/>
                  </a:ext>
                </a:extLst>
              </a:tr>
              <a:tr h="429768">
                <a:tc>
                  <a:txBody>
                    <a:bodyPr/>
                    <a:lstStyle/>
                    <a:p>
                      <a:pPr algn="l"/>
                      <a:r>
                        <a:rPr sz="1400" b="0">
                          <a:solidFill>
                            <a:srgbClr val="1E293B"/>
                          </a:solidFill>
                          <a:latin typeface="Calibri"/>
                        </a:rPr>
                        <a:t>VADER</a:t>
                      </a:r>
                    </a:p>
                  </a:txBody>
                  <a:tcPr marT="36576" marB="36576" anchor="ctr">
                    <a:solidFill>
                      <a:srgbClr val="FFFFFF"/>
                    </a:solidFill>
                  </a:tcPr>
                </a:tc>
                <a:tc>
                  <a:txBody>
                    <a:bodyPr/>
                    <a:lstStyle/>
                    <a:p>
                      <a:pPr algn="l"/>
                      <a:r>
                        <a:rPr sz="1400" b="0">
                          <a:solidFill>
                            <a:srgbClr val="1E293B"/>
                          </a:solidFill>
                          <a:latin typeface="Calibri"/>
                        </a:rPr>
                        <a:t>Neutral</a:t>
                      </a:r>
                    </a:p>
                  </a:txBody>
                  <a:tcPr marT="36576" marB="36576" anchor="ctr">
                    <a:solidFill>
                      <a:srgbClr val="FFFFFF"/>
                    </a:solidFill>
                  </a:tcPr>
                </a:tc>
                <a:tc>
                  <a:txBody>
                    <a:bodyPr/>
                    <a:lstStyle/>
                    <a:p>
                      <a:pPr algn="l"/>
                      <a:r>
                        <a:rPr sz="1400" b="0">
                          <a:solidFill>
                            <a:srgbClr val="1E293B"/>
                          </a:solidFill>
                          <a:latin typeface="Calibri"/>
                        </a:rPr>
                        <a:t>0.360</a:t>
                      </a:r>
                    </a:p>
                  </a:txBody>
                  <a:tcPr marT="36576" marB="36576" anchor="ctr">
                    <a:solidFill>
                      <a:srgbClr val="FFFFFF"/>
                    </a:solidFill>
                  </a:tcPr>
                </a:tc>
                <a:tc>
                  <a:txBody>
                    <a:bodyPr/>
                    <a:lstStyle/>
                    <a:p>
                      <a:pPr algn="l"/>
                      <a:r>
                        <a:rPr sz="1400" b="0">
                          <a:solidFill>
                            <a:srgbClr val="1E293B"/>
                          </a:solidFill>
                          <a:latin typeface="Calibri"/>
                        </a:rPr>
                        <a:t>0.284</a:t>
                      </a:r>
                    </a:p>
                  </a:txBody>
                  <a:tcPr marT="36576" marB="36576" anchor="ctr">
                    <a:solidFill>
                      <a:srgbClr val="FFFFFF"/>
                    </a:solidFill>
                  </a:tcPr>
                </a:tc>
                <a:tc>
                  <a:txBody>
                    <a:bodyPr/>
                    <a:lstStyle/>
                    <a:p>
                      <a:pPr algn="l"/>
                      <a:r>
                        <a:rPr sz="1400" b="0">
                          <a:solidFill>
                            <a:srgbClr val="1E293B"/>
                          </a:solidFill>
                          <a:latin typeface="Calibri"/>
                        </a:rPr>
                        <a:t>0.318</a:t>
                      </a:r>
                    </a:p>
                  </a:txBody>
                  <a:tcPr marT="36576" marB="36576" anchor="ctr">
                    <a:solidFill>
                      <a:srgbClr val="FFFFFF"/>
                    </a:solidFill>
                  </a:tcPr>
                </a:tc>
                <a:tc>
                  <a:txBody>
                    <a:bodyPr/>
                    <a:lstStyle/>
                    <a:p>
                      <a:pPr algn="l"/>
                      <a:r>
                        <a:rPr sz="1400" b="0">
                          <a:solidFill>
                            <a:srgbClr val="1E293B"/>
                          </a:solidFill>
                          <a:latin typeface="Calibri"/>
                        </a:rPr>
                        <a:t>95</a:t>
                      </a:r>
                    </a:p>
                  </a:txBody>
                  <a:tcPr marT="36576" marB="36576" anchor="ctr">
                    <a:solidFill>
                      <a:srgbClr val="FFFFFF"/>
                    </a:solidFill>
                  </a:tcPr>
                </a:tc>
                <a:extLst>
                  <a:ext uri="{0D108BD9-81ED-4DB2-BD59-A6C34878D82A}">
                    <a16:rowId xmlns:a16="http://schemas.microsoft.com/office/drawing/2014/main" val="10003"/>
                  </a:ext>
                </a:extLst>
              </a:tr>
              <a:tr h="429768">
                <a:tc>
                  <a:txBody>
                    <a:bodyPr/>
                    <a:lstStyle/>
                    <a:p>
                      <a:pPr algn="l"/>
                      <a:r>
                        <a:rPr sz="1400" b="0">
                          <a:solidFill>
                            <a:srgbClr val="1E293B"/>
                          </a:solidFill>
                          <a:latin typeface="Calibri"/>
                        </a:rPr>
                        <a:t>GPT-4o-mini</a:t>
                      </a:r>
                    </a:p>
                  </a:txBody>
                  <a:tcPr marT="36576" marB="36576" anchor="ctr">
                    <a:solidFill>
                      <a:srgbClr val="F2F4F9"/>
                    </a:solidFill>
                  </a:tcPr>
                </a:tc>
                <a:tc>
                  <a:txBody>
                    <a:bodyPr/>
                    <a:lstStyle/>
                    <a:p>
                      <a:pPr algn="l"/>
                      <a:r>
                        <a:rPr sz="1400" b="0">
                          <a:solidFill>
                            <a:srgbClr val="1E293B"/>
                          </a:solidFill>
                          <a:latin typeface="Calibri"/>
                        </a:rPr>
                        <a:t>Happy</a:t>
                      </a:r>
                    </a:p>
                  </a:txBody>
                  <a:tcPr marT="36576" marB="36576" anchor="ctr">
                    <a:solidFill>
                      <a:srgbClr val="F2F4F9"/>
                    </a:solidFill>
                  </a:tcPr>
                </a:tc>
                <a:tc>
                  <a:txBody>
                    <a:bodyPr/>
                    <a:lstStyle/>
                    <a:p>
                      <a:pPr algn="l"/>
                      <a:r>
                        <a:rPr sz="1400" b="0">
                          <a:solidFill>
                            <a:srgbClr val="1E293B"/>
                          </a:solidFill>
                          <a:latin typeface="Calibri"/>
                        </a:rPr>
                        <a:t>0.574</a:t>
                      </a:r>
                    </a:p>
                  </a:txBody>
                  <a:tcPr marT="36576" marB="36576" anchor="ctr">
                    <a:solidFill>
                      <a:srgbClr val="F2F4F9"/>
                    </a:solidFill>
                  </a:tcPr>
                </a:tc>
                <a:tc>
                  <a:txBody>
                    <a:bodyPr/>
                    <a:lstStyle/>
                    <a:p>
                      <a:pPr algn="l"/>
                      <a:r>
                        <a:rPr sz="1400" b="0">
                          <a:solidFill>
                            <a:srgbClr val="1E293B"/>
                          </a:solidFill>
                          <a:latin typeface="Calibri"/>
                        </a:rPr>
                        <a:t>0.509</a:t>
                      </a:r>
                    </a:p>
                  </a:txBody>
                  <a:tcPr marT="36576" marB="36576" anchor="ctr">
                    <a:solidFill>
                      <a:srgbClr val="F2F4F9"/>
                    </a:solidFill>
                  </a:tcPr>
                </a:tc>
                <a:tc>
                  <a:txBody>
                    <a:bodyPr/>
                    <a:lstStyle/>
                    <a:p>
                      <a:pPr algn="l"/>
                      <a:r>
                        <a:rPr sz="1400" b="0">
                          <a:solidFill>
                            <a:srgbClr val="1E293B"/>
                          </a:solidFill>
                          <a:latin typeface="Calibri"/>
                        </a:rPr>
                        <a:t>0.540</a:t>
                      </a:r>
                    </a:p>
                  </a:txBody>
                  <a:tcPr marT="36576" marB="36576" anchor="ctr">
                    <a:solidFill>
                      <a:srgbClr val="F2F4F9"/>
                    </a:solidFill>
                  </a:tcPr>
                </a:tc>
                <a:tc>
                  <a:txBody>
                    <a:bodyPr/>
                    <a:lstStyle/>
                    <a:p>
                      <a:pPr algn="l"/>
                      <a:r>
                        <a:rPr sz="1400" b="0">
                          <a:solidFill>
                            <a:srgbClr val="1E293B"/>
                          </a:solidFill>
                          <a:latin typeface="Calibri"/>
                        </a:rPr>
                        <a:t>53</a:t>
                      </a:r>
                    </a:p>
                  </a:txBody>
                  <a:tcPr marT="36576" marB="36576" anchor="ctr">
                    <a:solidFill>
                      <a:srgbClr val="F2F4F9"/>
                    </a:solidFill>
                  </a:tcPr>
                </a:tc>
                <a:extLst>
                  <a:ext uri="{0D108BD9-81ED-4DB2-BD59-A6C34878D82A}">
                    <a16:rowId xmlns:a16="http://schemas.microsoft.com/office/drawing/2014/main" val="10004"/>
                  </a:ext>
                </a:extLst>
              </a:tr>
              <a:tr h="429768">
                <a:tc>
                  <a:txBody>
                    <a:bodyPr/>
                    <a:lstStyle/>
                    <a:p>
                      <a:pPr algn="l"/>
                      <a:r>
                        <a:rPr sz="1400" b="1">
                          <a:solidFill>
                            <a:srgbClr val="1E293B"/>
                          </a:solidFill>
                          <a:latin typeface="Calibri"/>
                        </a:rPr>
                        <a:t>GPT-4o-mini</a:t>
                      </a:r>
                    </a:p>
                  </a:txBody>
                  <a:tcPr marT="36576" marB="36576" anchor="ctr">
                    <a:solidFill>
                      <a:srgbClr val="FBF3DF"/>
                    </a:solidFill>
                  </a:tcPr>
                </a:tc>
                <a:tc>
                  <a:txBody>
                    <a:bodyPr/>
                    <a:lstStyle/>
                    <a:p>
                      <a:pPr algn="l"/>
                      <a:r>
                        <a:rPr sz="1400" b="0">
                          <a:solidFill>
                            <a:srgbClr val="1E293B"/>
                          </a:solidFill>
                          <a:latin typeface="Calibri"/>
                        </a:rPr>
                        <a:t>Not happy</a:t>
                      </a:r>
                    </a:p>
                  </a:txBody>
                  <a:tcPr marT="36576" marB="36576" anchor="ctr">
                    <a:solidFill>
                      <a:srgbClr val="FBF3DF"/>
                    </a:solidFill>
                  </a:tcPr>
                </a:tc>
                <a:tc>
                  <a:txBody>
                    <a:bodyPr/>
                    <a:lstStyle/>
                    <a:p>
                      <a:pPr algn="l"/>
                      <a:r>
                        <a:rPr sz="1400" b="0">
                          <a:solidFill>
                            <a:srgbClr val="1E293B"/>
                          </a:solidFill>
                          <a:latin typeface="Calibri"/>
                        </a:rPr>
                        <a:t>0.753</a:t>
                      </a:r>
                    </a:p>
                  </a:txBody>
                  <a:tcPr marT="36576" marB="36576" anchor="ctr">
                    <a:solidFill>
                      <a:srgbClr val="FBF3DF"/>
                    </a:solidFill>
                  </a:tcPr>
                </a:tc>
                <a:tc>
                  <a:txBody>
                    <a:bodyPr/>
                    <a:lstStyle/>
                    <a:p>
                      <a:pPr algn="l"/>
                      <a:r>
                        <a:rPr sz="1400" b="0">
                          <a:solidFill>
                            <a:srgbClr val="1E293B"/>
                          </a:solidFill>
                          <a:latin typeface="Calibri"/>
                        </a:rPr>
                        <a:t>0.789</a:t>
                      </a:r>
                    </a:p>
                  </a:txBody>
                  <a:tcPr marT="36576" marB="36576" anchor="ctr">
                    <a:solidFill>
                      <a:srgbClr val="FBF3DF"/>
                    </a:solidFill>
                  </a:tcPr>
                </a:tc>
                <a:tc>
                  <a:txBody>
                    <a:bodyPr/>
                    <a:lstStyle/>
                    <a:p>
                      <a:pPr algn="l"/>
                      <a:r>
                        <a:rPr sz="1400" b="0">
                          <a:solidFill>
                            <a:srgbClr val="1E293B"/>
                          </a:solidFill>
                          <a:latin typeface="Calibri"/>
                        </a:rPr>
                        <a:t>0.771</a:t>
                      </a:r>
                    </a:p>
                  </a:txBody>
                  <a:tcPr marT="36576" marB="36576" anchor="ctr">
                    <a:solidFill>
                      <a:srgbClr val="FBF3DF"/>
                    </a:solidFill>
                  </a:tcPr>
                </a:tc>
                <a:tc>
                  <a:txBody>
                    <a:bodyPr/>
                    <a:lstStyle/>
                    <a:p>
                      <a:pPr algn="l"/>
                      <a:r>
                        <a:rPr sz="1400" b="0">
                          <a:solidFill>
                            <a:srgbClr val="1E293B"/>
                          </a:solidFill>
                          <a:latin typeface="Calibri"/>
                        </a:rPr>
                        <a:t>147</a:t>
                      </a:r>
                    </a:p>
                  </a:txBody>
                  <a:tcPr marT="36576" marB="36576" anchor="ctr">
                    <a:solidFill>
                      <a:srgbClr val="FBF3DF"/>
                    </a:solidFill>
                  </a:tcPr>
                </a:tc>
                <a:extLst>
                  <a:ext uri="{0D108BD9-81ED-4DB2-BD59-A6C34878D82A}">
                    <a16:rowId xmlns:a16="http://schemas.microsoft.com/office/drawing/2014/main" val="10005"/>
                  </a:ext>
                </a:extLst>
              </a:tr>
              <a:tr h="429768">
                <a:tc>
                  <a:txBody>
                    <a:bodyPr/>
                    <a:lstStyle/>
                    <a:p>
                      <a:pPr algn="l"/>
                      <a:r>
                        <a:rPr sz="1400" b="0">
                          <a:solidFill>
                            <a:srgbClr val="1E293B"/>
                          </a:solidFill>
                          <a:latin typeface="Calibri"/>
                        </a:rPr>
                        <a:t>GPT-4o-mini</a:t>
                      </a:r>
                    </a:p>
                  </a:txBody>
                  <a:tcPr marT="36576" marB="36576" anchor="ctr">
                    <a:solidFill>
                      <a:srgbClr val="F2F4F9"/>
                    </a:solidFill>
                  </a:tcPr>
                </a:tc>
                <a:tc>
                  <a:txBody>
                    <a:bodyPr/>
                    <a:lstStyle/>
                    <a:p>
                      <a:pPr algn="l"/>
                      <a:r>
                        <a:rPr sz="1400" b="0">
                          <a:solidFill>
                            <a:srgbClr val="1E293B"/>
                          </a:solidFill>
                          <a:latin typeface="Calibri"/>
                        </a:rPr>
                        <a:t>Neutral</a:t>
                      </a:r>
                    </a:p>
                  </a:txBody>
                  <a:tcPr marT="36576" marB="36576" anchor="ctr">
                    <a:solidFill>
                      <a:srgbClr val="F2F4F9"/>
                    </a:solidFill>
                  </a:tcPr>
                </a:tc>
                <a:tc>
                  <a:txBody>
                    <a:bodyPr/>
                    <a:lstStyle/>
                    <a:p>
                      <a:pPr algn="l"/>
                      <a:r>
                        <a:rPr sz="1400" b="0">
                          <a:solidFill>
                            <a:srgbClr val="1E293B"/>
                          </a:solidFill>
                          <a:latin typeface="Calibri"/>
                        </a:rPr>
                        <a:t>0.585</a:t>
                      </a:r>
                    </a:p>
                  </a:txBody>
                  <a:tcPr marT="36576" marB="36576" anchor="ctr">
                    <a:solidFill>
                      <a:srgbClr val="F2F4F9"/>
                    </a:solidFill>
                  </a:tcPr>
                </a:tc>
                <a:tc>
                  <a:txBody>
                    <a:bodyPr/>
                    <a:lstStyle/>
                    <a:p>
                      <a:pPr algn="l"/>
                      <a:r>
                        <a:rPr sz="1400" b="0">
                          <a:solidFill>
                            <a:srgbClr val="1E293B"/>
                          </a:solidFill>
                          <a:latin typeface="Calibri"/>
                        </a:rPr>
                        <a:t>0.579</a:t>
                      </a:r>
                    </a:p>
                  </a:txBody>
                  <a:tcPr marT="36576" marB="36576" anchor="ctr">
                    <a:solidFill>
                      <a:srgbClr val="F2F4F9"/>
                    </a:solidFill>
                  </a:tcPr>
                </a:tc>
                <a:tc>
                  <a:txBody>
                    <a:bodyPr/>
                    <a:lstStyle/>
                    <a:p>
                      <a:pPr algn="l"/>
                      <a:r>
                        <a:rPr sz="1400" b="0">
                          <a:solidFill>
                            <a:srgbClr val="1E293B"/>
                          </a:solidFill>
                          <a:latin typeface="Calibri"/>
                        </a:rPr>
                        <a:t>0.582</a:t>
                      </a:r>
                    </a:p>
                  </a:txBody>
                  <a:tcPr marT="36576" marB="36576" anchor="ctr">
                    <a:solidFill>
                      <a:srgbClr val="F2F4F9"/>
                    </a:solidFill>
                  </a:tcPr>
                </a:tc>
                <a:tc>
                  <a:txBody>
                    <a:bodyPr/>
                    <a:lstStyle/>
                    <a:p>
                      <a:pPr algn="l"/>
                      <a:r>
                        <a:rPr sz="1400" b="0">
                          <a:solidFill>
                            <a:srgbClr val="1E293B"/>
                          </a:solidFill>
                          <a:latin typeface="Calibri"/>
                        </a:rPr>
                        <a:t>95</a:t>
                      </a:r>
                    </a:p>
                  </a:txBody>
                  <a:tcPr marT="36576" marB="36576" anchor="ctr">
                    <a:solidFill>
                      <a:srgbClr val="F2F4F9"/>
                    </a:solidFill>
                  </a:tcPr>
                </a:tc>
                <a:extLst>
                  <a:ext uri="{0D108BD9-81ED-4DB2-BD59-A6C34878D82A}">
                    <a16:rowId xmlns:a16="http://schemas.microsoft.com/office/drawing/2014/main" val="10006"/>
                  </a:ext>
                </a:extLst>
              </a:tr>
              <a:tr h="429768">
                <a:tc>
                  <a:txBody>
                    <a:bodyPr/>
                    <a:lstStyle/>
                    <a:p>
                      <a:pPr algn="l"/>
                      <a:r>
                        <a:rPr sz="1400" b="0">
                          <a:solidFill>
                            <a:srgbClr val="1E293B"/>
                          </a:solidFill>
                          <a:latin typeface="Calibri"/>
                        </a:rPr>
                        <a:t>GPT-4o</a:t>
                      </a:r>
                    </a:p>
                  </a:txBody>
                  <a:tcPr marT="36576" marB="36576" anchor="ctr">
                    <a:solidFill>
                      <a:srgbClr val="FFFFFF"/>
                    </a:solidFill>
                  </a:tcPr>
                </a:tc>
                <a:tc>
                  <a:txBody>
                    <a:bodyPr/>
                    <a:lstStyle/>
                    <a:p>
                      <a:pPr algn="l"/>
                      <a:r>
                        <a:rPr sz="1400" b="0">
                          <a:solidFill>
                            <a:srgbClr val="1E293B"/>
                          </a:solidFill>
                          <a:latin typeface="Calibri"/>
                        </a:rPr>
                        <a:t>Happy</a:t>
                      </a:r>
                    </a:p>
                  </a:txBody>
                  <a:tcPr marT="36576" marB="36576" anchor="ctr">
                    <a:solidFill>
                      <a:srgbClr val="FFFFFF"/>
                    </a:solidFill>
                  </a:tcPr>
                </a:tc>
                <a:tc>
                  <a:txBody>
                    <a:bodyPr/>
                    <a:lstStyle/>
                    <a:p>
                      <a:pPr algn="l"/>
                      <a:r>
                        <a:rPr sz="1400" b="0">
                          <a:solidFill>
                            <a:srgbClr val="1E293B"/>
                          </a:solidFill>
                          <a:latin typeface="Calibri"/>
                        </a:rPr>
                        <a:t>0.690</a:t>
                      </a:r>
                    </a:p>
                  </a:txBody>
                  <a:tcPr marT="36576" marB="36576" anchor="ctr">
                    <a:solidFill>
                      <a:srgbClr val="FFFFFF"/>
                    </a:solidFill>
                  </a:tcPr>
                </a:tc>
                <a:tc>
                  <a:txBody>
                    <a:bodyPr/>
                    <a:lstStyle/>
                    <a:p>
                      <a:pPr algn="l"/>
                      <a:r>
                        <a:rPr sz="1400" b="0">
                          <a:solidFill>
                            <a:srgbClr val="1E293B"/>
                          </a:solidFill>
                          <a:latin typeface="Calibri"/>
                        </a:rPr>
                        <a:t>0.377</a:t>
                      </a:r>
                    </a:p>
                  </a:txBody>
                  <a:tcPr marT="36576" marB="36576" anchor="ctr">
                    <a:solidFill>
                      <a:srgbClr val="FFFFFF"/>
                    </a:solidFill>
                  </a:tcPr>
                </a:tc>
                <a:tc>
                  <a:txBody>
                    <a:bodyPr/>
                    <a:lstStyle/>
                    <a:p>
                      <a:pPr algn="l"/>
                      <a:r>
                        <a:rPr sz="1400" b="0">
                          <a:solidFill>
                            <a:srgbClr val="1E293B"/>
                          </a:solidFill>
                          <a:latin typeface="Calibri"/>
                        </a:rPr>
                        <a:t>0.488</a:t>
                      </a:r>
                    </a:p>
                  </a:txBody>
                  <a:tcPr marT="36576" marB="36576" anchor="ctr">
                    <a:solidFill>
                      <a:srgbClr val="FFFFFF"/>
                    </a:solidFill>
                  </a:tcPr>
                </a:tc>
                <a:tc>
                  <a:txBody>
                    <a:bodyPr/>
                    <a:lstStyle/>
                    <a:p>
                      <a:pPr algn="l"/>
                      <a:r>
                        <a:rPr sz="1400" b="0">
                          <a:solidFill>
                            <a:srgbClr val="1E293B"/>
                          </a:solidFill>
                          <a:latin typeface="Calibri"/>
                        </a:rPr>
                        <a:t>53</a:t>
                      </a:r>
                    </a:p>
                  </a:txBody>
                  <a:tcPr marT="36576" marB="36576" anchor="ctr">
                    <a:solidFill>
                      <a:srgbClr val="FFFFFF"/>
                    </a:solidFill>
                  </a:tcPr>
                </a:tc>
                <a:extLst>
                  <a:ext uri="{0D108BD9-81ED-4DB2-BD59-A6C34878D82A}">
                    <a16:rowId xmlns:a16="http://schemas.microsoft.com/office/drawing/2014/main" val="10007"/>
                  </a:ext>
                </a:extLst>
              </a:tr>
              <a:tr h="429768">
                <a:tc>
                  <a:txBody>
                    <a:bodyPr/>
                    <a:lstStyle/>
                    <a:p>
                      <a:pPr algn="l"/>
                      <a:r>
                        <a:rPr sz="1400" b="0">
                          <a:solidFill>
                            <a:srgbClr val="1E293B"/>
                          </a:solidFill>
                          <a:latin typeface="Calibri"/>
                        </a:rPr>
                        <a:t>GPT-4o</a:t>
                      </a:r>
                    </a:p>
                  </a:txBody>
                  <a:tcPr marT="36576" marB="36576" anchor="ctr">
                    <a:solidFill>
                      <a:srgbClr val="F2F4F9"/>
                    </a:solidFill>
                  </a:tcPr>
                </a:tc>
                <a:tc>
                  <a:txBody>
                    <a:bodyPr/>
                    <a:lstStyle/>
                    <a:p>
                      <a:pPr algn="l"/>
                      <a:r>
                        <a:rPr sz="1400" b="0">
                          <a:solidFill>
                            <a:srgbClr val="1E293B"/>
                          </a:solidFill>
                          <a:latin typeface="Calibri"/>
                        </a:rPr>
                        <a:t>Not happy</a:t>
                      </a:r>
                    </a:p>
                  </a:txBody>
                  <a:tcPr marT="36576" marB="36576" anchor="ctr">
                    <a:solidFill>
                      <a:srgbClr val="F2F4F9"/>
                    </a:solidFill>
                  </a:tcPr>
                </a:tc>
                <a:tc>
                  <a:txBody>
                    <a:bodyPr/>
                    <a:lstStyle/>
                    <a:p>
                      <a:pPr algn="l"/>
                      <a:r>
                        <a:rPr sz="1400" b="0">
                          <a:solidFill>
                            <a:srgbClr val="1E293B"/>
                          </a:solidFill>
                          <a:latin typeface="Calibri"/>
                        </a:rPr>
                        <a:t>0.767</a:t>
                      </a:r>
                    </a:p>
                  </a:txBody>
                  <a:tcPr marT="36576" marB="36576" anchor="ctr">
                    <a:solidFill>
                      <a:srgbClr val="F2F4F9"/>
                    </a:solidFill>
                  </a:tcPr>
                </a:tc>
                <a:tc>
                  <a:txBody>
                    <a:bodyPr/>
                    <a:lstStyle/>
                    <a:p>
                      <a:pPr algn="l"/>
                      <a:r>
                        <a:rPr sz="1400" b="0">
                          <a:solidFill>
                            <a:srgbClr val="1E293B"/>
                          </a:solidFill>
                          <a:latin typeface="Calibri"/>
                        </a:rPr>
                        <a:t>0.782</a:t>
                      </a:r>
                    </a:p>
                  </a:txBody>
                  <a:tcPr marT="36576" marB="36576" anchor="ctr">
                    <a:solidFill>
                      <a:srgbClr val="F2F4F9"/>
                    </a:solidFill>
                  </a:tcPr>
                </a:tc>
                <a:tc>
                  <a:txBody>
                    <a:bodyPr/>
                    <a:lstStyle/>
                    <a:p>
                      <a:pPr algn="l"/>
                      <a:r>
                        <a:rPr sz="1400" b="0">
                          <a:solidFill>
                            <a:srgbClr val="1E293B"/>
                          </a:solidFill>
                          <a:latin typeface="Calibri"/>
                        </a:rPr>
                        <a:t>0.774</a:t>
                      </a:r>
                    </a:p>
                  </a:txBody>
                  <a:tcPr marT="36576" marB="36576" anchor="ctr">
                    <a:solidFill>
                      <a:srgbClr val="F2F4F9"/>
                    </a:solidFill>
                  </a:tcPr>
                </a:tc>
                <a:tc>
                  <a:txBody>
                    <a:bodyPr/>
                    <a:lstStyle/>
                    <a:p>
                      <a:pPr algn="l"/>
                      <a:r>
                        <a:rPr sz="1400" b="0">
                          <a:solidFill>
                            <a:srgbClr val="1E293B"/>
                          </a:solidFill>
                          <a:latin typeface="Calibri"/>
                        </a:rPr>
                        <a:t>147</a:t>
                      </a:r>
                    </a:p>
                  </a:txBody>
                  <a:tcPr marT="36576" marB="36576" anchor="ctr">
                    <a:solidFill>
                      <a:srgbClr val="F2F4F9"/>
                    </a:solidFill>
                  </a:tcPr>
                </a:tc>
                <a:extLst>
                  <a:ext uri="{0D108BD9-81ED-4DB2-BD59-A6C34878D82A}">
                    <a16:rowId xmlns:a16="http://schemas.microsoft.com/office/drawing/2014/main" val="10008"/>
                  </a:ext>
                </a:extLst>
              </a:tr>
              <a:tr h="429768">
                <a:tc>
                  <a:txBody>
                    <a:bodyPr/>
                    <a:lstStyle/>
                    <a:p>
                      <a:pPr algn="l"/>
                      <a:r>
                        <a:rPr sz="1400" b="0">
                          <a:solidFill>
                            <a:srgbClr val="1E293B"/>
                          </a:solidFill>
                          <a:latin typeface="Calibri"/>
                        </a:rPr>
                        <a:t>GPT-4o</a:t>
                      </a:r>
                    </a:p>
                  </a:txBody>
                  <a:tcPr marT="36576" marB="36576" anchor="ctr">
                    <a:solidFill>
                      <a:srgbClr val="FFFFFF"/>
                    </a:solidFill>
                  </a:tcPr>
                </a:tc>
                <a:tc>
                  <a:txBody>
                    <a:bodyPr/>
                    <a:lstStyle/>
                    <a:p>
                      <a:pPr algn="l"/>
                      <a:r>
                        <a:rPr sz="1400" b="0">
                          <a:solidFill>
                            <a:srgbClr val="1E293B"/>
                          </a:solidFill>
                          <a:latin typeface="Calibri"/>
                        </a:rPr>
                        <a:t>Neutral</a:t>
                      </a:r>
                    </a:p>
                  </a:txBody>
                  <a:tcPr marT="36576" marB="36576" anchor="ctr">
                    <a:solidFill>
                      <a:srgbClr val="FFFFFF"/>
                    </a:solidFill>
                  </a:tcPr>
                </a:tc>
                <a:tc>
                  <a:txBody>
                    <a:bodyPr/>
                    <a:lstStyle/>
                    <a:p>
                      <a:pPr algn="l"/>
                      <a:r>
                        <a:rPr sz="1400" b="0">
                          <a:solidFill>
                            <a:srgbClr val="1E293B"/>
                          </a:solidFill>
                          <a:latin typeface="Calibri"/>
                        </a:rPr>
                        <a:t>0.552</a:t>
                      </a:r>
                    </a:p>
                  </a:txBody>
                  <a:tcPr marT="36576" marB="36576" anchor="ctr">
                    <a:solidFill>
                      <a:srgbClr val="FFFFFF"/>
                    </a:solidFill>
                  </a:tcPr>
                </a:tc>
                <a:tc>
                  <a:txBody>
                    <a:bodyPr/>
                    <a:lstStyle/>
                    <a:p>
                      <a:pPr algn="l"/>
                      <a:r>
                        <a:rPr sz="1400" b="0">
                          <a:solidFill>
                            <a:srgbClr val="1E293B"/>
                          </a:solidFill>
                          <a:latin typeface="Calibri"/>
                        </a:rPr>
                        <a:t>0.674</a:t>
                      </a:r>
                    </a:p>
                  </a:txBody>
                  <a:tcPr marT="36576" marB="36576" anchor="ctr">
                    <a:solidFill>
                      <a:srgbClr val="FFFFFF"/>
                    </a:solidFill>
                  </a:tcPr>
                </a:tc>
                <a:tc>
                  <a:txBody>
                    <a:bodyPr/>
                    <a:lstStyle/>
                    <a:p>
                      <a:pPr algn="l"/>
                      <a:r>
                        <a:rPr sz="1400" b="0">
                          <a:solidFill>
                            <a:srgbClr val="1E293B"/>
                          </a:solidFill>
                          <a:latin typeface="Calibri"/>
                        </a:rPr>
                        <a:t>0.607</a:t>
                      </a:r>
                    </a:p>
                  </a:txBody>
                  <a:tcPr marT="36576" marB="36576" anchor="ctr">
                    <a:solidFill>
                      <a:srgbClr val="FFFFFF"/>
                    </a:solidFill>
                  </a:tcPr>
                </a:tc>
                <a:tc>
                  <a:txBody>
                    <a:bodyPr/>
                    <a:lstStyle/>
                    <a:p>
                      <a:pPr algn="l"/>
                      <a:r>
                        <a:rPr sz="1400" b="0">
                          <a:solidFill>
                            <a:srgbClr val="1E293B"/>
                          </a:solidFill>
                          <a:latin typeface="Calibri"/>
                        </a:rPr>
                        <a:t>95</a:t>
                      </a:r>
                    </a:p>
                  </a:txBody>
                  <a:tcPr marT="36576" marB="36576"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4FE177-A874-9BEA-8275-14B82EE79B9E}"/>
              </a:ext>
            </a:extLst>
          </p:cNvPr>
          <p:cNvSpPr txBox="1"/>
          <p:nvPr/>
        </p:nvSpPr>
        <p:spPr>
          <a:xfrm>
            <a:off x="5069797" y="465644"/>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Backup</a:t>
            </a:r>
            <a:r>
              <a:rPr lang="en-US" sz="2400" b="1" i="0" dirty="0">
                <a:solidFill>
                  <a:srgbClr val="1C2E6E"/>
                </a:solidFill>
                <a:latin typeface="Calibri"/>
              </a:rPr>
              <a:t>: M</a:t>
            </a:r>
            <a:r>
              <a:rPr lang="en-US" sz="2400" b="1" dirty="0">
                <a:solidFill>
                  <a:srgbClr val="1C2E6E"/>
                </a:solidFill>
                <a:latin typeface="Calibri"/>
              </a:rPr>
              <a:t>ulti </a:t>
            </a:r>
            <a:r>
              <a:rPr lang="en-US" sz="2400" b="1" dirty="0" err="1">
                <a:solidFill>
                  <a:srgbClr val="1C2E6E"/>
                </a:solidFill>
                <a:latin typeface="Calibri"/>
              </a:rPr>
              <a:t>labelas</a:t>
            </a:r>
            <a:endParaRPr sz="2400" b="1" i="0" dirty="0">
              <a:solidFill>
                <a:srgbClr val="1C2E6E"/>
              </a:solidFill>
              <a:latin typeface="Calibri"/>
            </a:endParaRPr>
          </a:p>
        </p:txBody>
      </p:sp>
      <p:sp>
        <p:nvSpPr>
          <p:cNvPr id="7" name="TextBox 6">
            <a:extLst>
              <a:ext uri="{FF2B5EF4-FFF2-40B4-BE49-F238E27FC236}">
                <a16:creationId xmlns:a16="http://schemas.microsoft.com/office/drawing/2014/main" id="{46E1083B-98D4-CF24-705B-F2C7A29B91C1}"/>
              </a:ext>
            </a:extLst>
          </p:cNvPr>
          <p:cNvSpPr txBox="1"/>
          <p:nvPr/>
        </p:nvSpPr>
        <p:spPr>
          <a:xfrm>
            <a:off x="422031" y="1497084"/>
            <a:ext cx="689317" cy="353943"/>
          </a:xfrm>
          <a:prstGeom prst="rect">
            <a:avLst/>
          </a:prstGeom>
          <a:noFill/>
        </p:spPr>
        <p:txBody>
          <a:bodyPr wrap="square">
            <a:spAutoFit/>
          </a:bodyPr>
          <a:lstStyle/>
          <a:p>
            <a:r>
              <a:rPr lang="en-US" sz="1700" b="1" i="0" dirty="0">
                <a:solidFill>
                  <a:srgbClr val="1C2E6E"/>
                </a:solidFill>
                <a:latin typeface="Calibri"/>
              </a:rPr>
              <a:t>_</a:t>
            </a:r>
            <a:endParaRPr lang="en-US" dirty="0"/>
          </a:p>
        </p:txBody>
      </p:sp>
      <p:sp>
        <p:nvSpPr>
          <p:cNvPr id="11" name="TextBox 10">
            <a:extLst>
              <a:ext uri="{FF2B5EF4-FFF2-40B4-BE49-F238E27FC236}">
                <a16:creationId xmlns:a16="http://schemas.microsoft.com/office/drawing/2014/main" id="{A9C59B15-8006-C6BD-537B-DBB57188C710}"/>
              </a:ext>
            </a:extLst>
          </p:cNvPr>
          <p:cNvSpPr txBox="1"/>
          <p:nvPr/>
        </p:nvSpPr>
        <p:spPr>
          <a:xfrm>
            <a:off x="984738" y="1497084"/>
            <a:ext cx="10426505" cy="4524315"/>
          </a:xfrm>
          <a:prstGeom prst="rect">
            <a:avLst/>
          </a:prstGeom>
          <a:noFill/>
        </p:spPr>
        <p:txBody>
          <a:bodyPr wrap="square">
            <a:spAutoFit/>
          </a:bodyPr>
          <a:lstStyle/>
          <a:p>
            <a:pPr lvl="0"/>
            <a:r>
              <a:rPr lang="en-US" b="1" i="0" kern="1200" dirty="0">
                <a:solidFill>
                  <a:schemeClr val="tx1"/>
                </a:solidFill>
                <a:effectLst/>
                <a:latin typeface="+mn-lt"/>
                <a:ea typeface="+mn-ea"/>
                <a:cs typeface="+mn-cs"/>
              </a:rPr>
              <a:t>Sentiment:</a:t>
            </a:r>
            <a:r>
              <a:rPr lang="en-US" b="0" i="0" kern="1200" dirty="0">
                <a:solidFill>
                  <a:schemeClr val="tx1"/>
                </a:solidFill>
                <a:effectLst/>
                <a:latin typeface="+mn-lt"/>
                <a:ea typeface="+mn-ea"/>
                <a:cs typeface="+mn-cs"/>
              </a:rPr>
              <a:t> GPT-4o-mini (and your gold labels) give the whole post one label. If the tone is mixed, the post gets whichever tone dominates, or "neutral" if neither does.</a:t>
            </a:r>
          </a:p>
          <a:p>
            <a:pPr lvl="0"/>
            <a:r>
              <a:rPr lang="en-US" b="1" i="0" kern="1200" dirty="0">
                <a:solidFill>
                  <a:schemeClr val="tx1"/>
                </a:solidFill>
                <a:effectLst/>
                <a:latin typeface="+mn-lt"/>
                <a:ea typeface="+mn-ea"/>
                <a:cs typeface="+mn-cs"/>
              </a:rPr>
              <a:t>Issues and brands:</a:t>
            </a:r>
            <a:r>
              <a:rPr lang="en-US" b="0" i="0" kern="1200" dirty="0">
                <a:solidFill>
                  <a:schemeClr val="tx1"/>
                </a:solidFill>
                <a:effectLst/>
                <a:latin typeface="+mn-lt"/>
                <a:ea typeface="+mn-ea"/>
                <a:cs typeface="+mn-cs"/>
              </a:rPr>
              <a:t> a post keeps every issue and brand it mentions.</a:t>
            </a:r>
          </a:p>
          <a:p>
            <a:pPr lvl="0"/>
            <a:r>
              <a:rPr lang="en-US" b="1" i="0" kern="1200" dirty="0">
                <a:solidFill>
                  <a:schemeClr val="tx1"/>
                </a:solidFill>
                <a:effectLst/>
                <a:latin typeface="+mn-lt"/>
                <a:ea typeface="+mn-ea"/>
                <a:cs typeface="+mn-cs"/>
              </a:rPr>
              <a:t>Breakdowns:</a:t>
            </a:r>
            <a:r>
              <a:rPr lang="en-US" b="0" i="0" kern="1200" dirty="0">
                <a:solidFill>
                  <a:schemeClr val="tx1"/>
                </a:solidFill>
                <a:effectLst/>
                <a:latin typeface="+mn-lt"/>
                <a:ea typeface="+mn-ea"/>
                <a:cs typeface="+mn-cs"/>
              </a:rPr>
              <a:t> when you split results by issue or by brand, that one sentiment is counted under each label the post carries.</a:t>
            </a:r>
          </a:p>
          <a:p>
            <a:pPr lvl="0"/>
            <a:endParaRPr lang="en-US" dirty="0"/>
          </a:p>
          <a:p>
            <a:r>
              <a:rPr lang="en-US" dirty="0"/>
              <a:t>Take a post that says "Singtel roaming worked great in Japan, but they overcharged my bill." It gets one sentiment, probably "not happy", plus Roaming, Billing &amp; Payment and Singtel. In the breakdowns, Roaming gets a not-happy post it doesn't deserve, and so does Billing.</a:t>
            </a:r>
          </a:p>
          <a:p>
            <a:r>
              <a:rPr lang="en-US" dirty="0"/>
              <a:t>What that does to your results:</a:t>
            </a:r>
          </a:p>
          <a:p>
            <a:endParaRPr lang="en-US" dirty="0"/>
          </a:p>
          <a:p>
            <a:pPr lvl="0"/>
            <a:r>
              <a:rPr lang="en-US" b="1" dirty="0"/>
              <a:t>Headline shares are unaffected.</a:t>
            </a:r>
            <a:r>
              <a:rPr lang="en-US" dirty="0"/>
              <a:t> The overall 44% not happy counts each post once, and so do the main-issue shares on slide 9.</a:t>
            </a:r>
          </a:p>
          <a:p>
            <a:pPr lvl="0"/>
            <a:endParaRPr lang="en-US" dirty="0"/>
          </a:p>
          <a:p>
            <a:pPr lvl="0"/>
            <a:endParaRPr lang="en-US" dirty="0"/>
          </a:p>
          <a:p>
            <a:pPr lvl="0"/>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21250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Evaluation summary: what it found</a:t>
            </a:r>
          </a:p>
        </p:txBody>
      </p:sp>
      <p:graphicFrame>
        <p:nvGraphicFramePr>
          <p:cNvPr id="3" name="Table 2"/>
          <p:cNvGraphicFramePr>
            <a:graphicFrameLocks noGrp="1"/>
          </p:cNvGraphicFramePr>
          <p:nvPr>
            <p:extLst>
              <p:ext uri="{D42A27DB-BD31-4B8C-83A1-F6EECF244321}">
                <p14:modId xmlns:p14="http://schemas.microsoft.com/office/powerpoint/2010/main" val="2213987483"/>
              </p:ext>
            </p:extLst>
          </p:nvPr>
        </p:nvGraphicFramePr>
        <p:xfrm>
          <a:off x="548640" y="1691640"/>
          <a:ext cx="6949440" cy="30175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02920">
                <a:tc>
                  <a:txBody>
                    <a:bodyPr/>
                    <a:lstStyle/>
                    <a:p>
                      <a:pPr algn="l"/>
                      <a:r>
                        <a:rPr sz="1400" b="1">
                          <a:solidFill>
                            <a:srgbClr val="FFFFFF"/>
                          </a:solidFill>
                          <a:latin typeface="Calibri"/>
                        </a:rPr>
                        <a:t>Macro F1</a:t>
                      </a:r>
                    </a:p>
                  </a:txBody>
                  <a:tcPr marT="36576" marB="36576" anchor="ctr">
                    <a:solidFill>
                      <a:srgbClr val="1C2E6E"/>
                    </a:solidFill>
                  </a:tcPr>
                </a:tc>
                <a:tc>
                  <a:txBody>
                    <a:bodyPr/>
                    <a:lstStyle/>
                    <a:p>
                      <a:pPr algn="l"/>
                      <a:r>
                        <a:rPr sz="1400" b="1">
                          <a:solidFill>
                            <a:srgbClr val="FFFFFF"/>
                          </a:solidFill>
                          <a:latin typeface="Calibri"/>
                        </a:rPr>
                        <a:t>Representative</a:t>
                      </a:r>
                    </a:p>
                  </a:txBody>
                  <a:tcPr marT="36576" marB="36576" anchor="ctr">
                    <a:solidFill>
                      <a:srgbClr val="1C2E6E"/>
                    </a:solidFill>
                  </a:tcPr>
                </a:tc>
                <a:tc>
                  <a:txBody>
                    <a:bodyPr/>
                    <a:lstStyle/>
                    <a:p>
                      <a:pPr algn="l"/>
                      <a:r>
                        <a:rPr sz="1400" b="1">
                          <a:solidFill>
                            <a:srgbClr val="FFFFFF"/>
                          </a:solidFill>
                          <a:latin typeface="Calibri"/>
                        </a:rPr>
                        <a:t>Challenge</a:t>
                      </a:r>
                    </a:p>
                  </a:txBody>
                  <a:tcPr marT="36576" marB="36576" anchor="ctr">
                    <a:solidFill>
                      <a:srgbClr val="1C2E6E"/>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FFFFF"/>
                          </a:solidFill>
                          <a:latin typeface="Calibri"/>
                        </a:rPr>
                        <a:t>Apr–Sep set</a:t>
                      </a:r>
                      <a:endParaRPr sz="1400" b="1" dirty="0">
                        <a:solidFill>
                          <a:srgbClr val="FFFFFF"/>
                        </a:solidFill>
                        <a:latin typeface="Calibri"/>
                      </a:endParaRPr>
                    </a:p>
                  </a:txBody>
                  <a:tcPr marT="36576" marB="36576" anchor="ctr">
                    <a:solidFill>
                      <a:srgbClr val="1C2E6E"/>
                    </a:solidFill>
                  </a:tcPr>
                </a:tc>
                <a:extLst>
                  <a:ext uri="{0D108BD9-81ED-4DB2-BD59-A6C34878D82A}">
                    <a16:rowId xmlns:a16="http://schemas.microsoft.com/office/drawing/2014/main" val="10000"/>
                  </a:ext>
                </a:extLst>
              </a:tr>
              <a:tr h="502920">
                <a:tc>
                  <a:txBody>
                    <a:bodyPr/>
                    <a:lstStyle/>
                    <a:p>
                      <a:pPr algn="l"/>
                      <a:r>
                        <a:rPr sz="1400" b="1">
                          <a:solidFill>
                            <a:srgbClr val="1E293B"/>
                          </a:solidFill>
                          <a:latin typeface="Calibri"/>
                        </a:rPr>
                        <a:t>Sentiment: GPT-4o-mini</a:t>
                      </a:r>
                    </a:p>
                  </a:txBody>
                  <a:tcPr marT="36576" marB="36576" anchor="ctr">
                    <a:solidFill>
                      <a:srgbClr val="FBF3DF"/>
                    </a:solidFill>
                  </a:tcPr>
                </a:tc>
                <a:tc>
                  <a:txBody>
                    <a:bodyPr/>
                    <a:lstStyle/>
                    <a:p>
                      <a:pPr algn="l"/>
                      <a:r>
                        <a:rPr sz="1400" b="0">
                          <a:solidFill>
                            <a:srgbClr val="1E293B"/>
                          </a:solidFill>
                          <a:latin typeface="Calibri"/>
                        </a:rPr>
                        <a:t>0.631</a:t>
                      </a:r>
                    </a:p>
                  </a:txBody>
                  <a:tcPr marT="36576" marB="36576" anchor="ctr">
                    <a:solidFill>
                      <a:srgbClr val="FBF3DF"/>
                    </a:solidFill>
                  </a:tcPr>
                </a:tc>
                <a:tc>
                  <a:txBody>
                    <a:bodyPr/>
                    <a:lstStyle/>
                    <a:p>
                      <a:pPr algn="l"/>
                      <a:r>
                        <a:rPr sz="1400" b="0">
                          <a:solidFill>
                            <a:srgbClr val="1E293B"/>
                          </a:solidFill>
                          <a:latin typeface="Calibri"/>
                        </a:rPr>
                        <a:t>0.773</a:t>
                      </a:r>
                    </a:p>
                  </a:txBody>
                  <a:tcPr marT="36576" marB="36576" anchor="ctr">
                    <a:solidFill>
                      <a:srgbClr val="FBF3DF"/>
                    </a:solidFill>
                  </a:tcPr>
                </a:tc>
                <a:tc>
                  <a:txBody>
                    <a:bodyPr/>
                    <a:lstStyle/>
                    <a:p>
                      <a:pPr algn="l"/>
                      <a:r>
                        <a:rPr sz="1400" b="0">
                          <a:solidFill>
                            <a:srgbClr val="1E293B"/>
                          </a:solidFill>
                          <a:latin typeface="Calibri"/>
                        </a:rPr>
                        <a:t>0.637</a:t>
                      </a:r>
                    </a:p>
                  </a:txBody>
                  <a:tcPr marT="36576" marB="36576" anchor="ctr">
                    <a:solidFill>
                      <a:srgbClr val="FBF3DF"/>
                    </a:solidFill>
                  </a:tcPr>
                </a:tc>
                <a:extLst>
                  <a:ext uri="{0D108BD9-81ED-4DB2-BD59-A6C34878D82A}">
                    <a16:rowId xmlns:a16="http://schemas.microsoft.com/office/drawing/2014/main" val="10001"/>
                  </a:ext>
                </a:extLst>
              </a:tr>
              <a:tr h="502920">
                <a:tc>
                  <a:txBody>
                    <a:bodyPr/>
                    <a:lstStyle/>
                    <a:p>
                      <a:pPr algn="l"/>
                      <a:r>
                        <a:rPr sz="1400" b="0">
                          <a:solidFill>
                            <a:srgbClr val="1E293B"/>
                          </a:solidFill>
                          <a:latin typeface="Calibri"/>
                        </a:rPr>
                        <a:t>Sentiment: VADER</a:t>
                      </a:r>
                    </a:p>
                  </a:txBody>
                  <a:tcPr marT="36576" marB="36576" anchor="ctr">
                    <a:solidFill>
                      <a:srgbClr val="F2F4F9"/>
                    </a:solidFill>
                  </a:tcPr>
                </a:tc>
                <a:tc>
                  <a:txBody>
                    <a:bodyPr/>
                    <a:lstStyle/>
                    <a:p>
                      <a:pPr algn="l"/>
                      <a:r>
                        <a:rPr sz="1400" b="0">
                          <a:solidFill>
                            <a:srgbClr val="1E293B"/>
                          </a:solidFill>
                          <a:latin typeface="Calibri"/>
                        </a:rPr>
                        <a:t>0.360</a:t>
                      </a:r>
                    </a:p>
                  </a:txBody>
                  <a:tcPr marT="36576" marB="36576" anchor="ctr">
                    <a:solidFill>
                      <a:srgbClr val="F2F4F9"/>
                    </a:solidFill>
                  </a:tcPr>
                </a:tc>
                <a:tc>
                  <a:txBody>
                    <a:bodyPr/>
                    <a:lstStyle/>
                    <a:p>
                      <a:pPr algn="l"/>
                      <a:r>
                        <a:rPr sz="1400" b="0">
                          <a:solidFill>
                            <a:srgbClr val="1E293B"/>
                          </a:solidFill>
                          <a:latin typeface="Calibri"/>
                        </a:rPr>
                        <a:t>0.491</a:t>
                      </a:r>
                    </a:p>
                  </a:txBody>
                  <a:tcPr marT="36576" marB="36576" anchor="ctr">
                    <a:solidFill>
                      <a:srgbClr val="F2F4F9"/>
                    </a:solidFill>
                  </a:tcPr>
                </a:tc>
                <a:tc>
                  <a:txBody>
                    <a:bodyPr/>
                    <a:lstStyle/>
                    <a:p>
                      <a:pPr algn="l"/>
                      <a:r>
                        <a:rPr sz="1400" b="0">
                          <a:solidFill>
                            <a:srgbClr val="1E293B"/>
                          </a:solidFill>
                          <a:latin typeface="Calibri"/>
                        </a:rPr>
                        <a:t>0.428</a:t>
                      </a:r>
                    </a:p>
                  </a:txBody>
                  <a:tcPr marT="36576" marB="36576" anchor="ctr">
                    <a:solidFill>
                      <a:srgbClr val="F2F4F9"/>
                    </a:solidFill>
                  </a:tcPr>
                </a:tc>
                <a:extLst>
                  <a:ext uri="{0D108BD9-81ED-4DB2-BD59-A6C34878D82A}">
                    <a16:rowId xmlns:a16="http://schemas.microsoft.com/office/drawing/2014/main" val="10002"/>
                  </a:ext>
                </a:extLst>
              </a:tr>
              <a:tr h="502920">
                <a:tc>
                  <a:txBody>
                    <a:bodyPr/>
                    <a:lstStyle/>
                    <a:p>
                      <a:pPr algn="l"/>
                      <a:r>
                        <a:rPr sz="1400" b="1">
                          <a:solidFill>
                            <a:srgbClr val="1E293B"/>
                          </a:solidFill>
                          <a:latin typeface="Calibri"/>
                        </a:rPr>
                        <a:t>Issues: hybrid</a:t>
                      </a:r>
                    </a:p>
                  </a:txBody>
                  <a:tcPr marT="36576" marB="36576" anchor="ctr">
                    <a:solidFill>
                      <a:srgbClr val="FBF3DF"/>
                    </a:solidFill>
                  </a:tcPr>
                </a:tc>
                <a:tc>
                  <a:txBody>
                    <a:bodyPr/>
                    <a:lstStyle/>
                    <a:p>
                      <a:pPr algn="l"/>
                      <a:r>
                        <a:rPr sz="1400" b="0">
                          <a:solidFill>
                            <a:srgbClr val="1E293B"/>
                          </a:solidFill>
                          <a:latin typeface="Calibri"/>
                        </a:rPr>
                        <a:t>0.680</a:t>
                      </a:r>
                    </a:p>
                  </a:txBody>
                  <a:tcPr marT="36576" marB="36576" anchor="ctr">
                    <a:solidFill>
                      <a:srgbClr val="FBF3DF"/>
                    </a:solidFill>
                  </a:tcPr>
                </a:tc>
                <a:tc>
                  <a:txBody>
                    <a:bodyPr/>
                    <a:lstStyle/>
                    <a:p>
                      <a:pPr algn="l"/>
                      <a:r>
                        <a:rPr sz="1400" b="0">
                          <a:solidFill>
                            <a:srgbClr val="1E293B"/>
                          </a:solidFill>
                          <a:latin typeface="Calibri"/>
                        </a:rPr>
                        <a:t>0.509</a:t>
                      </a:r>
                    </a:p>
                  </a:txBody>
                  <a:tcPr marT="36576" marB="36576" anchor="ctr">
                    <a:solidFill>
                      <a:srgbClr val="FBF3DF"/>
                    </a:solidFill>
                  </a:tcPr>
                </a:tc>
                <a:tc>
                  <a:txBody>
                    <a:bodyPr/>
                    <a:lstStyle/>
                    <a:p>
                      <a:pPr algn="l"/>
                      <a:r>
                        <a:rPr sz="1400" b="0">
                          <a:solidFill>
                            <a:srgbClr val="1E293B"/>
                          </a:solidFill>
                          <a:latin typeface="Calibri"/>
                        </a:rPr>
                        <a:t>0.477</a:t>
                      </a:r>
                    </a:p>
                  </a:txBody>
                  <a:tcPr marT="36576" marB="36576" anchor="ctr">
                    <a:solidFill>
                      <a:srgbClr val="FBF3DF"/>
                    </a:solidFill>
                  </a:tcPr>
                </a:tc>
                <a:extLst>
                  <a:ext uri="{0D108BD9-81ED-4DB2-BD59-A6C34878D82A}">
                    <a16:rowId xmlns:a16="http://schemas.microsoft.com/office/drawing/2014/main" val="10003"/>
                  </a:ext>
                </a:extLst>
              </a:tr>
              <a:tr h="502920">
                <a:tc>
                  <a:txBody>
                    <a:bodyPr/>
                    <a:lstStyle/>
                    <a:p>
                      <a:pPr algn="l"/>
                      <a:r>
                        <a:rPr sz="1400" b="0">
                          <a:solidFill>
                            <a:srgbClr val="1E293B"/>
                          </a:solidFill>
                          <a:latin typeface="Calibri"/>
                        </a:rPr>
                        <a:t>Issues: rules</a:t>
                      </a:r>
                    </a:p>
                  </a:txBody>
                  <a:tcPr marT="36576" marB="36576" anchor="ctr">
                    <a:solidFill>
                      <a:srgbClr val="F2F4F9"/>
                    </a:solidFill>
                  </a:tcPr>
                </a:tc>
                <a:tc>
                  <a:txBody>
                    <a:bodyPr/>
                    <a:lstStyle/>
                    <a:p>
                      <a:pPr algn="l"/>
                      <a:r>
                        <a:rPr sz="1400" b="0">
                          <a:solidFill>
                            <a:srgbClr val="1E293B"/>
                          </a:solidFill>
                          <a:latin typeface="Calibri"/>
                        </a:rPr>
                        <a:t>0.639</a:t>
                      </a:r>
                    </a:p>
                  </a:txBody>
                  <a:tcPr marT="36576" marB="36576" anchor="ctr">
                    <a:solidFill>
                      <a:srgbClr val="F2F4F9"/>
                    </a:solidFill>
                  </a:tcPr>
                </a:tc>
                <a:tc>
                  <a:txBody>
                    <a:bodyPr/>
                    <a:lstStyle/>
                    <a:p>
                      <a:pPr algn="l"/>
                      <a:r>
                        <a:rPr sz="1400" b="0">
                          <a:solidFill>
                            <a:srgbClr val="1E293B"/>
                          </a:solidFill>
                          <a:latin typeface="Calibri"/>
                        </a:rPr>
                        <a:t>0.499</a:t>
                      </a:r>
                    </a:p>
                  </a:txBody>
                  <a:tcPr marT="36576" marB="36576" anchor="ctr">
                    <a:solidFill>
                      <a:srgbClr val="F2F4F9"/>
                    </a:solidFill>
                  </a:tcPr>
                </a:tc>
                <a:tc>
                  <a:txBody>
                    <a:bodyPr/>
                    <a:lstStyle/>
                    <a:p>
                      <a:pPr algn="l"/>
                      <a:r>
                        <a:rPr sz="1400" b="0">
                          <a:solidFill>
                            <a:srgbClr val="1E293B"/>
                          </a:solidFill>
                          <a:latin typeface="Calibri"/>
                        </a:rPr>
                        <a:t>0.413</a:t>
                      </a:r>
                    </a:p>
                  </a:txBody>
                  <a:tcPr marT="36576" marB="36576" anchor="ctr">
                    <a:solidFill>
                      <a:srgbClr val="F2F4F9"/>
                    </a:solidFill>
                  </a:tcPr>
                </a:tc>
                <a:extLst>
                  <a:ext uri="{0D108BD9-81ED-4DB2-BD59-A6C34878D82A}">
                    <a16:rowId xmlns:a16="http://schemas.microsoft.com/office/drawing/2014/main" val="10004"/>
                  </a:ext>
                </a:extLst>
              </a:tr>
              <a:tr h="502920">
                <a:tc>
                  <a:txBody>
                    <a:bodyPr/>
                    <a:lstStyle/>
                    <a:p>
                      <a:pPr algn="l"/>
                      <a:r>
                        <a:rPr sz="1400" b="0">
                          <a:solidFill>
                            <a:srgbClr val="1E293B"/>
                          </a:solidFill>
                          <a:latin typeface="Calibri"/>
                        </a:rPr>
                        <a:t>Issues: GPT-4o every post</a:t>
                      </a:r>
                    </a:p>
                  </a:txBody>
                  <a:tcPr marT="36576" marB="36576" anchor="ctr">
                    <a:solidFill>
                      <a:srgbClr val="FFFFFF"/>
                    </a:solidFill>
                  </a:tcPr>
                </a:tc>
                <a:tc>
                  <a:txBody>
                    <a:bodyPr/>
                    <a:lstStyle/>
                    <a:p>
                      <a:pPr algn="l"/>
                      <a:r>
                        <a:rPr sz="1400" b="0">
                          <a:solidFill>
                            <a:srgbClr val="1E293B"/>
                          </a:solidFill>
                          <a:latin typeface="Calibri"/>
                        </a:rPr>
                        <a:t>0.600</a:t>
                      </a:r>
                    </a:p>
                  </a:txBody>
                  <a:tcPr marT="36576" marB="36576" anchor="ctr">
                    <a:solidFill>
                      <a:srgbClr val="FFFFFF"/>
                    </a:solidFill>
                  </a:tcPr>
                </a:tc>
                <a:tc>
                  <a:txBody>
                    <a:bodyPr/>
                    <a:lstStyle/>
                    <a:p>
                      <a:pPr algn="l"/>
                      <a:r>
                        <a:rPr sz="1400" b="0">
                          <a:solidFill>
                            <a:srgbClr val="1E293B"/>
                          </a:solidFill>
                          <a:latin typeface="Calibri"/>
                        </a:rPr>
                        <a:t>0.596</a:t>
                      </a:r>
                    </a:p>
                  </a:txBody>
                  <a:tcPr marT="36576" marB="36576" anchor="ctr">
                    <a:solidFill>
                      <a:srgbClr val="FFFFFF"/>
                    </a:solidFill>
                  </a:tcPr>
                </a:tc>
                <a:tc>
                  <a:txBody>
                    <a:bodyPr/>
                    <a:lstStyle/>
                    <a:p>
                      <a:pPr algn="l"/>
                      <a:r>
                        <a:rPr sz="1400" b="0" dirty="0">
                          <a:solidFill>
                            <a:srgbClr val="1E293B"/>
                          </a:solidFill>
                          <a:latin typeface="Calibri"/>
                        </a:rPr>
                        <a:t>—</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4800600"/>
            <a:ext cx="6949440" cy="1188720"/>
          </a:xfrm>
          <a:prstGeom prst="rect">
            <a:avLst/>
          </a:prstGeom>
          <a:noFill/>
        </p:spPr>
        <p:txBody>
          <a:bodyPr wrap="square" lIns="0" tIns="0" rIns="0" bIns="0" anchor="t">
            <a:spAutoFit/>
          </a:bodyPr>
          <a:lstStyle/>
          <a:p>
            <a:pPr marL="256032" indent="-256032" algn="l">
              <a:spcAft>
                <a:spcPts val="400"/>
              </a:spcAft>
              <a:buClr>
                <a:srgbClr val="D29B08"/>
              </a:buClr>
              <a:buFont typeface="Arial"/>
              <a:buChar char="•"/>
            </a:pPr>
            <a:r>
              <a:rPr sz="1300" b="0" i="0">
                <a:solidFill>
                  <a:srgbClr val="1E293B"/>
                </a:solidFill>
                <a:latin typeface="Calibri"/>
              </a:rPr>
              <a:t>Sentiment: mini wins on all three sets; GPT-4o ties it at ~17× the cost; a rerun matched 292/295.</a:t>
            </a:r>
          </a:p>
          <a:p>
            <a:pPr marL="256032" indent="-256032" algn="l">
              <a:spcAft>
                <a:spcPts val="400"/>
              </a:spcAft>
              <a:buClr>
                <a:srgbClr val="D29B08"/>
              </a:buClr>
              <a:buFont typeface="Arial"/>
              <a:buChar char="•"/>
            </a:pPr>
            <a:r>
              <a:rPr sz="1300" b="0" i="0">
                <a:solidFill>
                  <a:srgbClr val="1E293B"/>
                </a:solidFill>
                <a:latin typeface="Calibri"/>
              </a:rPr>
              <a:t>Issues: the hybrid's 0.680 is optimistic; held out, its lead over rules disappears.</a:t>
            </a:r>
          </a:p>
          <a:p>
            <a:pPr marL="256032" indent="-256032" algn="l">
              <a:spcAft>
                <a:spcPts val="400"/>
              </a:spcAft>
              <a:buClr>
                <a:srgbClr val="D29B08"/>
              </a:buClr>
              <a:buFont typeface="Arial"/>
              <a:buChar char="•"/>
            </a:pPr>
            <a:r>
              <a:rPr sz="1300" b="0" i="0">
                <a:solidFill>
                  <a:srgbClr val="1E293B"/>
                </a:solidFill>
                <a:latin typeface="Calibri"/>
              </a:rPr>
              <a:t>Humans agree at κ 0.39 (typical) and 0.59 (hard), so no model can score near 1.0.</a:t>
            </a:r>
          </a:p>
        </p:txBody>
      </p:sp>
      <p:sp>
        <p:nvSpPr>
          <p:cNvPr id="5" name="Rounded Rectangle 4"/>
          <p:cNvSpPr/>
          <p:nvPr/>
        </p:nvSpPr>
        <p:spPr>
          <a:xfrm>
            <a:off x="7863840" y="1691640"/>
            <a:ext cx="3776472" cy="4343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92440" y="1874520"/>
            <a:ext cx="33192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What it decided</a:t>
            </a:r>
          </a:p>
        </p:txBody>
      </p:sp>
      <p:sp>
        <p:nvSpPr>
          <p:cNvPr id="7" name="TextBox 6"/>
          <p:cNvSpPr txBox="1"/>
          <p:nvPr/>
        </p:nvSpPr>
        <p:spPr>
          <a:xfrm>
            <a:off x="8092440" y="2258568"/>
            <a:ext cx="3319272" cy="361188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GPT-4o-mini labels sentiment for all 9,162 posts.</a:t>
            </a:r>
          </a:p>
          <a:p>
            <a:pPr algn="l">
              <a:spcAft>
                <a:spcPts val="600"/>
              </a:spcAft>
            </a:pPr>
            <a:r>
              <a:rPr sz="1500" b="0" i="0">
                <a:solidFill>
                  <a:srgbClr val="1E293B"/>
                </a:solidFill>
                <a:latin typeface="Calibri"/>
              </a:rPr>
              <a:t>The hybrid labels issues: rules first, GPT-4o on the leftovers.</a:t>
            </a:r>
          </a:p>
          <a:p>
            <a:pPr algn="l">
              <a:spcAft>
                <a:spcPts val="600"/>
              </a:spcAft>
            </a:pPr>
            <a:r>
              <a:rPr sz="1500" b="0" i="0">
                <a:solidFill>
                  <a:srgbClr val="1E293B"/>
                </a:solidFill>
                <a:latin typeface="Calibri"/>
              </a:rPr>
              <a:t>Not happy (44%) is a floor: mini misses some complaints.</a:t>
            </a:r>
          </a:p>
          <a:p>
            <a:pPr algn="l">
              <a:spcAft>
                <a:spcPts val="600"/>
              </a:spcAft>
            </a:pPr>
            <a:r>
              <a:rPr sz="1500" b="0" i="0">
                <a:solidFill>
                  <a:srgbClr val="1E293B"/>
                </a:solidFill>
                <a:latin typeface="Calibri"/>
              </a:rPr>
              <a:t>Issue shares are a ranking, not exact percentages.</a:t>
            </a:r>
          </a:p>
        </p:txBody>
      </p:sp>
      <p:sp>
        <p:nvSpPr>
          <p:cNvPr id="8" name="TextBox 7"/>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0BAC1E-B5AB-8B4F-99BB-367AA74C7868}">
  <we:reference id="wa200010001" version="1.0.0.1" store="en-US" storeType="OMEX"/>
  <we:alternateReferences>
    <we:reference id="WA200010001" version="1.0.0.1" store="WA200010001" storeType="OMEX"/>
  </we:alternateReferences>
  <we:properties>
    <we:property name="claude.fileId" value="&quot;9e7721c1-9334-4529-ad70-5739d17315b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1789</TotalTime>
  <Words>8707</Words>
  <Application>Microsoft Macintosh PowerPoint</Application>
  <PresentationFormat>Widescreen</PresentationFormat>
  <Paragraphs>861</Paragraphs>
  <Slides>41</Slides>
  <Notes>40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-apple-system</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ZIXIN#</dc:creator>
  <cp:lastModifiedBy>LIAO Zixin</cp:lastModifiedBy>
  <cp:revision>24</cp:revision>
  <dcterms:created xsi:type="dcterms:W3CDTF">2026-07-06T13:08:18Z</dcterms:created>
  <dcterms:modified xsi:type="dcterms:W3CDTF">2026-10-06T01:28:24Z</dcterms:modified>
</cp:coreProperties>
</file>